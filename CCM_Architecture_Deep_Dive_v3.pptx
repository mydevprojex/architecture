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1" r:id="rId2"/>
    <p:sldId id="257" r:id="rId3"/>
    <p:sldId id="272" r:id="rId4"/>
    <p:sldId id="273" r:id="rId5"/>
    <p:sldId id="274" r:id="rId6"/>
    <p:sldId id="275" r:id="rId7"/>
    <p:sldId id="260" r:id="rId8"/>
    <p:sldId id="261" r:id="rId9"/>
    <p:sldId id="258" r:id="rId10"/>
    <p:sldId id="259" r:id="rId11"/>
    <p:sldId id="262" r:id="rId12"/>
    <p:sldId id="263" r:id="rId13"/>
    <p:sldId id="265" r:id="rId14"/>
    <p:sldId id="266" r:id="rId15"/>
    <p:sldId id="267" r:id="rId16"/>
    <p:sldId id="269" r:id="rId17"/>
    <p:sldId id="270" r:id="rId18"/>
    <p:sldId id="264"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457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stacked"/>
        <c:varyColors val="0"/>
        <c:ser>
          <c:idx val="0"/>
          <c:order val="0"/>
          <c:tx>
            <c:strRef>
              <c:f>Sheet1!$B$1</c:f>
              <c:strCache>
                <c:ptCount val="1"/>
                <c:pt idx="0">
                  <c:v>Email</c:v>
                </c:pt>
              </c:strCache>
            </c:strRef>
          </c:tx>
          <c:spPr>
            <a:solidFill>
              <a:srgbClr val="1E4FC0"/>
            </a:solidFill>
            <a:effectLst/>
          </c:spPr>
          <c:invertIfNegative val="0"/>
          <c:cat>
            <c:strRef>
              <c:f>Sheet1!$A$2:$A$11</c:f>
              <c:strCache>
                <c:ptCount val="10"/>
                <c:pt idx="0">
                  <c:v>SMS program</c:v>
                </c:pt>
                <c:pt idx="1">
                  <c:v>VIVR</c:v>
                </c:pt>
                <c:pt idx="2">
                  <c:v>Contracts</c:v>
                </c:pt>
                <c:pt idx="3">
                  <c:v>Agent</c:v>
                </c:pt>
                <c:pt idx="4">
                  <c:v>PCP</c:v>
                </c:pt>
                <c:pt idx="5">
                  <c:v>MKTA</c:v>
                </c:pt>
                <c:pt idx="6">
                  <c:v>Provider</c:v>
                </c:pt>
                <c:pt idx="7">
                  <c:v>Email Registration</c:v>
                </c:pt>
                <c:pt idx="8">
                  <c:v>CIAM</c:v>
                </c:pt>
                <c:pt idx="9">
                  <c:v>PPX</c:v>
                </c:pt>
              </c:strCache>
            </c:strRef>
          </c:cat>
          <c:val>
            <c:numRef>
              <c:f>Sheet1!$B$2:$B$11</c:f>
              <c:numCache>
                <c:formatCode>General</c:formatCode>
                <c:ptCount val="10"/>
                <c:pt idx="0">
                  <c:v>0</c:v>
                </c:pt>
                <c:pt idx="1">
                  <c:v>1587</c:v>
                </c:pt>
                <c:pt idx="2">
                  <c:v>0</c:v>
                </c:pt>
                <c:pt idx="3">
                  <c:v>544878</c:v>
                </c:pt>
                <c:pt idx="4">
                  <c:v>71157</c:v>
                </c:pt>
                <c:pt idx="5">
                  <c:v>711096</c:v>
                </c:pt>
                <c:pt idx="6">
                  <c:v>1089967</c:v>
                </c:pt>
                <c:pt idx="7">
                  <c:v>1739803</c:v>
                </c:pt>
                <c:pt idx="8">
                  <c:v>1250101</c:v>
                </c:pt>
                <c:pt idx="9">
                  <c:v>12590612</c:v>
                </c:pt>
              </c:numCache>
            </c:numRef>
          </c:val>
          <c:extLst>
            <c:ext xmlns:c16="http://schemas.microsoft.com/office/drawing/2014/chart" uri="{C3380CC4-5D6E-409C-BE32-E72D297353CC}">
              <c16:uniqueId val="{00000000-1BD0-4052-825A-8FA608B43FB2}"/>
            </c:ext>
          </c:extLst>
        </c:ser>
        <c:ser>
          <c:idx val="1"/>
          <c:order val="1"/>
          <c:tx>
            <c:strRef>
              <c:f>Sheet1!$C$1</c:f>
              <c:strCache>
                <c:ptCount val="1"/>
                <c:pt idx="0">
                  <c:v>SMS</c:v>
                </c:pt>
              </c:strCache>
            </c:strRef>
          </c:tx>
          <c:spPr>
            <a:solidFill>
              <a:srgbClr val="E4572E"/>
            </a:solidFill>
            <a:effectLst/>
          </c:spPr>
          <c:invertIfNegative val="0"/>
          <c:cat>
            <c:strRef>
              <c:f>Sheet1!$A$2:$A$11</c:f>
              <c:strCache>
                <c:ptCount val="10"/>
                <c:pt idx="0">
                  <c:v>SMS program</c:v>
                </c:pt>
                <c:pt idx="1">
                  <c:v>VIVR</c:v>
                </c:pt>
                <c:pt idx="2">
                  <c:v>Contracts</c:v>
                </c:pt>
                <c:pt idx="3">
                  <c:v>Agent</c:v>
                </c:pt>
                <c:pt idx="4">
                  <c:v>PCP</c:v>
                </c:pt>
                <c:pt idx="5">
                  <c:v>MKTA</c:v>
                </c:pt>
                <c:pt idx="6">
                  <c:v>Provider</c:v>
                </c:pt>
                <c:pt idx="7">
                  <c:v>Email Registration</c:v>
                </c:pt>
                <c:pt idx="8">
                  <c:v>CIAM</c:v>
                </c:pt>
                <c:pt idx="9">
                  <c:v>PPX</c:v>
                </c:pt>
              </c:strCache>
            </c:strRef>
          </c:cat>
          <c:val>
            <c:numRef>
              <c:f>Sheet1!$C$2:$C$11</c:f>
              <c:numCache>
                <c:formatCode>General</c:formatCode>
                <c:ptCount val="10"/>
                <c:pt idx="0">
                  <c:v>207848</c:v>
                </c:pt>
                <c:pt idx="1">
                  <c:v>327854</c:v>
                </c:pt>
                <c:pt idx="2">
                  <c:v>0</c:v>
                </c:pt>
                <c:pt idx="3">
                  <c:v>0</c:v>
                </c:pt>
                <c:pt idx="4">
                  <c:v>21904</c:v>
                </c:pt>
                <c:pt idx="5">
                  <c:v>11218</c:v>
                </c:pt>
                <c:pt idx="6">
                  <c:v>0</c:v>
                </c:pt>
                <c:pt idx="7">
                  <c:v>0</c:v>
                </c:pt>
                <c:pt idx="8">
                  <c:v>2693983</c:v>
                </c:pt>
                <c:pt idx="9">
                  <c:v>1097257</c:v>
                </c:pt>
              </c:numCache>
            </c:numRef>
          </c:val>
          <c:extLst>
            <c:ext xmlns:c16="http://schemas.microsoft.com/office/drawing/2014/chart" uri="{C3380CC4-5D6E-409C-BE32-E72D297353CC}">
              <c16:uniqueId val="{00000001-1BD0-4052-825A-8FA608B43FB2}"/>
            </c:ext>
          </c:extLst>
        </c:ser>
        <c:ser>
          <c:idx val="2"/>
          <c:order val="2"/>
          <c:tx>
            <c:strRef>
              <c:f>Sheet1!$D$1</c:f>
              <c:strCache>
                <c:ptCount val="1"/>
                <c:pt idx="0">
                  <c:v>Print</c:v>
                </c:pt>
              </c:strCache>
            </c:strRef>
          </c:tx>
          <c:spPr>
            <a:solidFill>
              <a:srgbClr val="141C2B"/>
            </a:solidFill>
            <a:effectLst/>
          </c:spPr>
          <c:invertIfNegative val="0"/>
          <c:cat>
            <c:strRef>
              <c:f>Sheet1!$A$2:$A$11</c:f>
              <c:strCache>
                <c:ptCount val="10"/>
                <c:pt idx="0">
                  <c:v>SMS program</c:v>
                </c:pt>
                <c:pt idx="1">
                  <c:v>VIVR</c:v>
                </c:pt>
                <c:pt idx="2">
                  <c:v>Contracts</c:v>
                </c:pt>
                <c:pt idx="3">
                  <c:v>Agent</c:v>
                </c:pt>
                <c:pt idx="4">
                  <c:v>PCP</c:v>
                </c:pt>
                <c:pt idx="5">
                  <c:v>MKTA</c:v>
                </c:pt>
                <c:pt idx="6">
                  <c:v>Provider</c:v>
                </c:pt>
                <c:pt idx="7">
                  <c:v>Email Registration</c:v>
                </c:pt>
                <c:pt idx="8">
                  <c:v>CIAM</c:v>
                </c:pt>
                <c:pt idx="9">
                  <c:v>PPX</c:v>
                </c:pt>
              </c:strCache>
            </c:strRef>
          </c:cat>
          <c:val>
            <c:numRef>
              <c:f>Sheet1!$D$2:$D$11</c:f>
              <c:numCache>
                <c:formatCode>General</c:formatCode>
                <c:ptCount val="10"/>
                <c:pt idx="0">
                  <c:v>0</c:v>
                </c:pt>
                <c:pt idx="1">
                  <c:v>16824</c:v>
                </c:pt>
                <c:pt idx="2">
                  <c:v>544145</c:v>
                </c:pt>
                <c:pt idx="3">
                  <c:v>0</c:v>
                </c:pt>
                <c:pt idx="4">
                  <c:v>448316</c:v>
                </c:pt>
                <c:pt idx="5">
                  <c:v>88495</c:v>
                </c:pt>
                <c:pt idx="6">
                  <c:v>0</c:v>
                </c:pt>
                <c:pt idx="7">
                  <c:v>0</c:v>
                </c:pt>
                <c:pt idx="8">
                  <c:v>0</c:v>
                </c:pt>
                <c:pt idx="9">
                  <c:v>0</c:v>
                </c:pt>
              </c:numCache>
            </c:numRef>
          </c:val>
          <c:extLst>
            <c:ext xmlns:c16="http://schemas.microsoft.com/office/drawing/2014/chart" uri="{C3380CC4-5D6E-409C-BE32-E72D297353CC}">
              <c16:uniqueId val="{00000002-1BD0-4052-825A-8FA608B43FB2}"/>
            </c:ext>
          </c:extLst>
        </c:ser>
        <c:ser>
          <c:idx val="3"/>
          <c:order val="3"/>
          <c:tx>
            <c:strRef>
              <c:f>Sheet1!$E$1</c:f>
              <c:strCache>
                <c:ptCount val="1"/>
                <c:pt idx="0">
                  <c:v>Digital</c:v>
                </c:pt>
              </c:strCache>
            </c:strRef>
          </c:tx>
          <c:spPr>
            <a:solidFill>
              <a:srgbClr val="3B8FD4"/>
            </a:solidFill>
            <a:effectLst/>
          </c:spPr>
          <c:invertIfNegative val="0"/>
          <c:cat>
            <c:strRef>
              <c:f>Sheet1!$A$2:$A$11</c:f>
              <c:strCache>
                <c:ptCount val="10"/>
                <c:pt idx="0">
                  <c:v>SMS program</c:v>
                </c:pt>
                <c:pt idx="1">
                  <c:v>VIVR</c:v>
                </c:pt>
                <c:pt idx="2">
                  <c:v>Contracts</c:v>
                </c:pt>
                <c:pt idx="3">
                  <c:v>Agent</c:v>
                </c:pt>
                <c:pt idx="4">
                  <c:v>PCP</c:v>
                </c:pt>
                <c:pt idx="5">
                  <c:v>MKTA</c:v>
                </c:pt>
                <c:pt idx="6">
                  <c:v>Provider</c:v>
                </c:pt>
                <c:pt idx="7">
                  <c:v>Email Registration</c:v>
                </c:pt>
                <c:pt idx="8">
                  <c:v>CIAM</c:v>
                </c:pt>
                <c:pt idx="9">
                  <c:v>PPX</c:v>
                </c:pt>
              </c:strCache>
            </c:strRef>
          </c:cat>
          <c:val>
            <c:numRef>
              <c:f>Sheet1!$E$2:$E$11</c:f>
              <c:numCache>
                <c:formatCode>General</c:formatCode>
                <c:ptCount val="10"/>
                <c:pt idx="0">
                  <c:v>0</c:v>
                </c:pt>
                <c:pt idx="1">
                  <c:v>0</c:v>
                </c:pt>
                <c:pt idx="2">
                  <c:v>0</c:v>
                </c:pt>
                <c:pt idx="3">
                  <c:v>0</c:v>
                </c:pt>
                <c:pt idx="4">
                  <c:v>93064</c:v>
                </c:pt>
                <c:pt idx="5">
                  <c:v>0</c:v>
                </c:pt>
                <c:pt idx="6">
                  <c:v>0</c:v>
                </c:pt>
                <c:pt idx="7">
                  <c:v>0</c:v>
                </c:pt>
                <c:pt idx="8">
                  <c:v>0</c:v>
                </c:pt>
                <c:pt idx="9">
                  <c:v>0</c:v>
                </c:pt>
              </c:numCache>
            </c:numRef>
          </c:val>
          <c:extLst>
            <c:ext xmlns:c16="http://schemas.microsoft.com/office/drawing/2014/chart" uri="{C3380CC4-5D6E-409C-BE32-E72D297353CC}">
              <c16:uniqueId val="{00000003-1BD0-4052-825A-8FA608B43FB2}"/>
            </c:ext>
          </c:extLst>
        </c:ser>
        <c:dLbls>
          <c:showLegendKey val="0"/>
          <c:showVal val="0"/>
          <c:showCatName val="0"/>
          <c:showSerName val="0"/>
          <c:showPercent val="0"/>
          <c:showBubbleSize val="0"/>
        </c:dLbls>
        <c:gapWidth val="45"/>
        <c:overlap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C2330"/>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D9DEE6"/>
              </a:solidFill>
              <a:prstDash val="solid"/>
              <a:round/>
            </a:ln>
          </c:spPr>
        </c:majorGridlines>
        <c:numFmt formatCode="0,,&quot;M&quot;"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6272"/>
                </a:solidFill>
                <a:latin typeface="Arial"/>
              </a:defRPr>
            </a:pPr>
            <a:endParaRPr lang="en-US"/>
          </a:p>
        </c:txPr>
        <c:crossAx val="2094734554"/>
        <c:crosses val="autoZero"/>
        <c:crossBetween val="between"/>
      </c:valAx>
      <c:spPr>
        <a:solidFill>
          <a:srgbClr val="E9EBEF"/>
        </a:solidFill>
        <a:ln>
          <a:noFill/>
        </a:ln>
        <a:effectLst/>
      </c:spPr>
    </c:plotArea>
    <c:legend>
      <c:legendPos val="b"/>
      <c:overlay val="0"/>
      <c:txPr>
        <a:bodyPr/>
        <a:lstStyle/>
        <a:p>
          <a:pPr>
            <a:defRPr sz="1100">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79204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CCM is the enterprise platform for composing and delivering customer communications. This deck consolidates the platform vision, architecture and operating data into one reference. Figures are from program materials; 2025 volumes are as of September 2, 2025.</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Four messages and the three strategic imperatives from the CCM vision. Detail follows: inventory (3–4), architecture (5–9), shared services (10), volume and roadmap (11–13).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constituent groups. Note the prospect-to-member transition after the binder payment can take up to 24 hours, which matters for timing of welcome communications. Delegate access is deliberately limited and does not apply to ASO groups.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three are the ways communications enter CCM. Recon, URL shortener and reporting are the shared services every communication benefits from.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 Dashboard combines the Recon UI pages and the dashboard functions from the functional overview: jobs, transactions, reprint, URL shortener and Power BI reports, plus suppression, template directory, contracts and Content Central.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C77D9C-E58A-9FCA-5529-5D51CD3E0E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53E762-9B94-7D21-7C78-C710FE5D612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8673F8E-9E34-77C1-A21A-54554CFC68D8}"/>
              </a:ext>
            </a:extLst>
          </p:cNvPr>
          <p:cNvSpPr>
            <a:spLocks noGrp="1"/>
          </p:cNvSpPr>
          <p:nvPr>
            <p:ph type="body" idx="1"/>
          </p:nvPr>
        </p:nvSpPr>
        <p:spPr/>
        <p:txBody>
          <a:bodyPr/>
          <a:lstStyle/>
          <a:p>
            <a:r>
              <a:rPr lang="en-US" dirty="0"/>
              <a:t>CCM is the enterprise platform for composing and delivering customer communications. This deck consolidates the platform vision, architecture and operating data into one reference. Figures are from program materials; 2025 volumes are as of September 2, 2025.</a:t>
            </a:r>
          </a:p>
        </p:txBody>
      </p:sp>
      <p:sp>
        <p:nvSpPr>
          <p:cNvPr id="4" name="Slide Number Placeholder 3">
            <a:extLst>
              <a:ext uri="{FF2B5EF4-FFF2-40B4-BE49-F238E27FC236}">
                <a16:creationId xmlns:a16="http://schemas.microsoft.com/office/drawing/2014/main" id="{80E692E7-5D5E-B061-1BBB-3A9EDA3CE5B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9696927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Single layered view of CCM in the IT Contact Platform pattern. The audiences column replaces a separate constituents slide: members (U65, O65, groups, Truli), prospects before binder payment, delegates including caregivers (limited access, not ASO), agents, providers, and internal business users.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Sources pick one of three entry paths. All traffic passes DataPower, is enriched with P360 and GWDP/CIP data and composed in Inspire. Vendors deliver per channel and a PDF is archived. Receipts return to Recon; Recon Services create touchpoints; Kafka tells source systems and EWoC what was sent.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Services = OpenShift deployments with routes (rejected duplicates excluded) plus the SMS/MMS response handler. API endpoints = logical endpoints named in design diagrams.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All three paths converge on the same Inspire production, delivery, archive and Recon tracking, so suppression and reporting work the same regardless of entry point. On-demand is the confirmed Option 2 design.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URL shortener: links are created in Recon Dashboard or by applications and embedded in SMS templates. SMS lookup: CCM externalizes /lookups and /commRequest to DivBiz so a number can be checked before sending; VOIP numbers are ineligible.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Totals reconcile exactly to the channel report (24,325,012). Capacity and incident planning should track the payment cycle. Full detail in the appendix.</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Milestones are the plan of record. Confirm decommission status against the end-of-2025 milestone and how many of the 168 potential 2026 templates are committed.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Source: Customer Communications Delivered by Channel, 2025, as of September 2, 2025.</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dirty="0"/>
              <a:t>Monitoring status from the physical architecture legend (2019–2020); "—" means not marked. The OpenShift API tier has no alerts and needs more logging. Duplicate rejected routes: ccm-ondemand-dns and ccm-preprocessor-services in ccm-dcs-prod. Validate hosts before operational use.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A36"/>
        </a:solidFill>
        <a:effectLst/>
      </p:bgPr>
    </p:bg>
    <p:spTree>
      <p:nvGrpSpPr>
        <p:cNvPr id="1" name=""/>
        <p:cNvGrpSpPr/>
        <p:nvPr/>
      </p:nvGrpSpPr>
      <p:grpSpPr>
        <a:xfrm>
          <a:off x="0" y="0"/>
          <a:ext cx="0" cy="0"/>
          <a:chOff x="0" y="0"/>
          <a:chExt cx="0" cy="0"/>
        </a:xfrm>
      </p:grpSpPr>
      <p:sp>
        <p:nvSpPr>
          <p:cNvPr id="3" name="Text 1"/>
          <p:cNvSpPr txBox="1"/>
          <p:nvPr/>
        </p:nvSpPr>
        <p:spPr>
          <a:xfrm>
            <a:off x="548640" y="1965960"/>
            <a:ext cx="10265540" cy="8332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Customer Communication Management (CCM)</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2">
            <a:extLst>
              <a:ext uri="{FF2B5EF4-FFF2-40B4-BE49-F238E27FC236}">
                <a16:creationId xmlns:a16="http://schemas.microsoft.com/office/drawing/2014/main" id="{534DF936-A42D-6967-6A5E-62187690C601}"/>
              </a:ext>
            </a:extLst>
          </p:cNvPr>
          <p:cNvSpPr txBox="1"/>
          <p:nvPr/>
        </p:nvSpPr>
        <p:spPr>
          <a:xfrm>
            <a:off x="548640" y="2811314"/>
            <a:ext cx="6583680" cy="445070"/>
          </a:xfrm>
          <a:prstGeom prst="rect">
            <a:avLst/>
          </a:prstGeom>
          <a:noFill/>
          <a:ln/>
        </p:spPr>
        <p:txBody>
          <a:bodyPr wrap="square" lIns="0" tIns="0" rIns="0" bIns="0" rtlCol="0" anchor="t"/>
          <a:lstStyle/>
          <a:p>
            <a:pPr marL="0" indent="0">
              <a:buNone/>
            </a:pPr>
            <a:r>
              <a:rPr lang="en-US" sz="2400" dirty="0">
                <a:solidFill>
                  <a:srgbClr val="E4572E"/>
                </a:solidFill>
                <a:latin typeface="Calibri" pitchFamily="34" charset="0"/>
                <a:ea typeface="Calibri" pitchFamily="34" charset="-122"/>
                <a:cs typeface="Calibri" pitchFamily="34" charset="-120"/>
              </a:rPr>
              <a:t>Architecture Deep Dive</a:t>
            </a:r>
            <a:endParaRPr lang="en-US" sz="2400" dirty="0">
              <a:solidFill>
                <a:srgbClr val="E4572E"/>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141C2B"/>
          </a:solidFill>
          <a:ln/>
        </p:spPr>
        <p:txBody>
          <a:bodyPr/>
          <a:lstStyle/>
          <a:p>
            <a:endParaRPr lang="en-US"/>
          </a:p>
        </p:txBody>
      </p:sp>
      <p:sp>
        <p:nvSpPr>
          <p:cNvPr id="3" name="Shape 1"/>
          <p:cNvSpPr/>
          <p:nvPr/>
        </p:nvSpPr>
        <p:spPr>
          <a:xfrm>
            <a:off x="0" y="0"/>
            <a:ext cx="12191695" cy="45720"/>
          </a:xfrm>
          <a:prstGeom prst="rect">
            <a:avLst/>
          </a:prstGeom>
          <a:solidFill>
            <a:srgbClr val="E4572E"/>
          </a:solidFill>
          <a:ln/>
        </p:spPr>
        <p:txBody>
          <a:bodyPr/>
          <a:lstStyle/>
          <a:p>
            <a:endParaRPr lang="en-US"/>
          </a:p>
        </p:txBody>
      </p:sp>
      <p:sp>
        <p:nvSpPr>
          <p:cNvPr id="4" name="Text 2"/>
          <p:cNvSpPr txBox="1"/>
          <p:nvPr/>
        </p:nvSpPr>
        <p:spPr>
          <a:xfrm>
            <a:off x="548640" y="246888"/>
            <a:ext cx="7772400" cy="256032"/>
          </a:xfrm>
          <a:prstGeom prst="rect">
            <a:avLst/>
          </a:prstGeom>
          <a:noFill/>
          <a:ln/>
        </p:spPr>
        <p:txBody>
          <a:bodyPr wrap="square" lIns="0" tIns="0" rIns="0" bIns="0" rtlCol="0" anchor="t"/>
          <a:lstStyle/>
          <a:p>
            <a:pPr marL="0" indent="0">
              <a:buNone/>
            </a:pPr>
            <a:r>
              <a:rPr lang="en-US" sz="1100" b="1" kern="0" spc="500" dirty="0">
                <a:solidFill>
                  <a:srgbClr val="E4572E"/>
                </a:solidFill>
                <a:latin typeface="Calibri" pitchFamily="34" charset="0"/>
                <a:ea typeface="Calibri" pitchFamily="34" charset="-122"/>
                <a:cs typeface="Calibri" pitchFamily="34" charset="-120"/>
              </a:rPr>
              <a:t>VISION</a:t>
            </a:r>
            <a:endParaRPr lang="en-US" sz="1100" dirty="0"/>
          </a:p>
        </p:txBody>
      </p:sp>
      <p:sp>
        <p:nvSpPr>
          <p:cNvPr id="5" name="Text 3"/>
          <p:cNvSpPr txBox="1"/>
          <p:nvPr/>
        </p:nvSpPr>
        <p:spPr>
          <a:xfrm>
            <a:off x="548640" y="502920"/>
            <a:ext cx="8558038" cy="548640"/>
          </a:xfrm>
          <a:prstGeom prst="rect">
            <a:avLst/>
          </a:prstGeom>
          <a:noFill/>
          <a:ln/>
        </p:spPr>
        <p:txBody>
          <a:bodyPr wrap="square" lIns="0" tIns="0" rIns="0" bIns="0" rtlCol="0" anchor="t"/>
          <a:lstStyle/>
          <a:p>
            <a:r>
              <a:rPr lang="en-US" sz="2700" b="1" dirty="0">
                <a:solidFill>
                  <a:srgbClr val="FFFFFF"/>
                </a:solidFill>
                <a:latin typeface="Calibri" pitchFamily="34" charset="0"/>
                <a:ea typeface="Calibri" pitchFamily="34" charset="-122"/>
                <a:cs typeface="Calibri" pitchFamily="34" charset="-120"/>
              </a:rPr>
              <a:t>A unified, configured platform for all communication needs</a:t>
            </a:r>
            <a:endParaRPr lang="en-US" sz="2700" dirty="0"/>
          </a:p>
        </p:txBody>
      </p:sp>
      <p:sp>
        <p:nvSpPr>
          <p:cNvPr id="15" name="Text 13"/>
          <p:cNvSpPr txBox="1"/>
          <p:nvPr/>
        </p:nvSpPr>
        <p:spPr>
          <a:xfrm>
            <a:off x="548640" y="6510528"/>
            <a:ext cx="5486400" cy="201168"/>
          </a:xfrm>
          <a:prstGeom prst="rect">
            <a:avLst/>
          </a:prstGeom>
          <a:noFill/>
          <a:ln/>
        </p:spPr>
        <p:txBody>
          <a:bodyPr wrap="square" lIns="0" tIns="0" rIns="0" bIns="0" rtlCol="0" anchor="t"/>
          <a:lstStyle/>
          <a:p>
            <a:pPr marL="0" indent="0">
              <a:buNone/>
            </a:pPr>
            <a:r>
              <a:rPr lang="en-US" sz="900" dirty="0">
                <a:solidFill>
                  <a:srgbClr val="5A6272"/>
                </a:solidFill>
                <a:latin typeface="Calibri" pitchFamily="34" charset="0"/>
                <a:ea typeface="Calibri" pitchFamily="34" charset="-122"/>
                <a:cs typeface="Calibri" pitchFamily="34" charset="-120"/>
              </a:rPr>
              <a:t>CCM Architecture Deep Dive  |  GuideWell internal</a:t>
            </a:r>
            <a:endParaRPr lang="en-US" sz="900" dirty="0"/>
          </a:p>
        </p:txBody>
      </p:sp>
      <p:sp>
        <p:nvSpPr>
          <p:cNvPr id="16" name="Text 14"/>
          <p:cNvSpPr txBox="1"/>
          <p:nvPr/>
        </p:nvSpPr>
        <p:spPr>
          <a:xfrm>
            <a:off x="10728655" y="6510528"/>
            <a:ext cx="914400" cy="201168"/>
          </a:xfrm>
          <a:prstGeom prst="rect">
            <a:avLst/>
          </a:prstGeom>
          <a:noFill/>
          <a:ln/>
        </p:spPr>
        <p:txBody>
          <a:bodyPr wrap="square" lIns="0" tIns="0" rIns="0" bIns="0" rtlCol="0" anchor="t"/>
          <a:lstStyle/>
          <a:p>
            <a:pPr marL="0" indent="0" algn="r">
              <a:buNone/>
            </a:pPr>
            <a:r>
              <a:rPr lang="en-US" sz="900" dirty="0">
                <a:solidFill>
                  <a:srgbClr val="5A6272"/>
                </a:solidFill>
                <a:latin typeface="Calibri" pitchFamily="34" charset="0"/>
                <a:ea typeface="Calibri" pitchFamily="34" charset="-122"/>
                <a:cs typeface="Calibri" pitchFamily="34" charset="-120"/>
              </a:rPr>
              <a:t>2</a:t>
            </a:r>
            <a:endParaRPr lang="en-US" sz="900" dirty="0"/>
          </a:p>
        </p:txBody>
      </p:sp>
      <p:sp>
        <p:nvSpPr>
          <p:cNvPr id="17" name="Shape 15"/>
          <p:cNvSpPr/>
          <p:nvPr/>
        </p:nvSpPr>
        <p:spPr>
          <a:xfrm>
            <a:off x="548640" y="1417320"/>
            <a:ext cx="6720840" cy="4846320"/>
          </a:xfrm>
          <a:prstGeom prst="rect">
            <a:avLst/>
          </a:prstGeom>
          <a:solidFill>
            <a:srgbClr val="E9EBEF"/>
          </a:solidFill>
          <a:ln/>
        </p:spPr>
        <p:txBody>
          <a:bodyPr/>
          <a:lstStyle/>
          <a:p>
            <a:endParaRPr lang="en-US"/>
          </a:p>
        </p:txBody>
      </p:sp>
      <p:sp>
        <p:nvSpPr>
          <p:cNvPr id="18" name="Shape 16"/>
          <p:cNvSpPr/>
          <p:nvPr/>
        </p:nvSpPr>
        <p:spPr>
          <a:xfrm>
            <a:off x="548640" y="1417320"/>
            <a:ext cx="6720840" cy="54864"/>
          </a:xfrm>
          <a:prstGeom prst="rect">
            <a:avLst/>
          </a:prstGeom>
          <a:solidFill>
            <a:srgbClr val="2A3585"/>
          </a:solidFill>
          <a:ln/>
        </p:spPr>
        <p:txBody>
          <a:bodyPr/>
          <a:lstStyle/>
          <a:p>
            <a:endParaRPr lang="en-US"/>
          </a:p>
        </p:txBody>
      </p:sp>
      <p:sp>
        <p:nvSpPr>
          <p:cNvPr id="19" name="Shape 17"/>
          <p:cNvSpPr/>
          <p:nvPr/>
        </p:nvSpPr>
        <p:spPr>
          <a:xfrm>
            <a:off x="548640" y="1417320"/>
            <a:ext cx="54864" cy="4846320"/>
          </a:xfrm>
          <a:prstGeom prst="rect">
            <a:avLst/>
          </a:prstGeom>
          <a:solidFill>
            <a:srgbClr val="2A3585"/>
          </a:solidFill>
          <a:ln/>
        </p:spPr>
        <p:txBody>
          <a:bodyPr/>
          <a:lstStyle/>
          <a:p>
            <a:endParaRPr lang="en-US"/>
          </a:p>
        </p:txBody>
      </p:sp>
      <p:sp>
        <p:nvSpPr>
          <p:cNvPr id="20" name="Text 18"/>
          <p:cNvSpPr txBox="1"/>
          <p:nvPr/>
        </p:nvSpPr>
        <p:spPr>
          <a:xfrm>
            <a:off x="731520" y="1536192"/>
            <a:ext cx="6446520" cy="237744"/>
          </a:xfrm>
          <a:prstGeom prst="rect">
            <a:avLst/>
          </a:prstGeom>
          <a:noFill/>
          <a:ln/>
        </p:spPr>
        <p:txBody>
          <a:bodyPr wrap="square" lIns="0" tIns="0" rIns="0" bIns="0" rtlCol="0" anchor="t"/>
          <a:lstStyle/>
          <a:p>
            <a:pPr marL="0" indent="0">
              <a:buNone/>
            </a:pPr>
            <a:r>
              <a:rPr lang="en-US" sz="900" b="1" kern="0" spc="300" dirty="0">
                <a:solidFill>
                  <a:srgbClr val="2A3585"/>
                </a:solidFill>
                <a:latin typeface="Calibri" pitchFamily="34" charset="0"/>
                <a:ea typeface="Calibri" pitchFamily="34" charset="-122"/>
                <a:cs typeface="Calibri" pitchFamily="34" charset="-120"/>
              </a:rPr>
              <a:t>WHAT CCM DOES</a:t>
            </a:r>
            <a:endParaRPr lang="en-US" sz="900" dirty="0"/>
          </a:p>
        </p:txBody>
      </p:sp>
      <p:sp>
        <p:nvSpPr>
          <p:cNvPr id="21" name="Shape 19"/>
          <p:cNvSpPr/>
          <p:nvPr/>
        </p:nvSpPr>
        <p:spPr>
          <a:xfrm>
            <a:off x="777240" y="1810512"/>
            <a:ext cx="6263640" cy="960120"/>
          </a:xfrm>
          <a:prstGeom prst="rect">
            <a:avLst/>
          </a:prstGeom>
          <a:solidFill>
            <a:srgbClr val="FFFFFF"/>
          </a:solidFill>
          <a:ln w="9525">
            <a:solidFill>
              <a:srgbClr val="D3D8DF"/>
            </a:solidFill>
            <a:prstDash val="solid"/>
          </a:ln>
        </p:spPr>
        <p:txBody>
          <a:bodyPr/>
          <a:lstStyle/>
          <a:p>
            <a:endParaRPr lang="en-US"/>
          </a:p>
        </p:txBody>
      </p:sp>
      <p:sp>
        <p:nvSpPr>
          <p:cNvPr id="22" name="Shape 20"/>
          <p:cNvSpPr/>
          <p:nvPr/>
        </p:nvSpPr>
        <p:spPr>
          <a:xfrm>
            <a:off x="960120" y="2011680"/>
            <a:ext cx="548640" cy="548640"/>
          </a:xfrm>
          <a:prstGeom prst="ellipse">
            <a:avLst/>
          </a:prstGeom>
          <a:solidFill>
            <a:srgbClr val="2A3585"/>
          </a:solidFill>
          <a:ln/>
        </p:spPr>
        <p:txBody>
          <a:bodyPr/>
          <a:lstStyle/>
          <a:p>
            <a:endParaRPr lang="en-US"/>
          </a:p>
        </p:txBody>
      </p:sp>
      <p:pic>
        <p:nvPicPr>
          <p:cNvPr id="23" name="Image 0" descr="preencoded.png"/>
          <p:cNvPicPr>
            <a:picLocks noChangeAspect="1"/>
          </p:cNvPicPr>
          <p:nvPr/>
        </p:nvPicPr>
        <p:blipFill>
          <a:blip r:embed="rId3"/>
          <a:stretch>
            <a:fillRect/>
          </a:stretch>
        </p:blipFill>
        <p:spPr>
          <a:xfrm>
            <a:off x="1097280" y="2148840"/>
            <a:ext cx="274320" cy="274320"/>
          </a:xfrm>
          <a:prstGeom prst="rect">
            <a:avLst/>
          </a:prstGeom>
        </p:spPr>
      </p:pic>
      <p:sp>
        <p:nvSpPr>
          <p:cNvPr id="24" name="Text 21"/>
          <p:cNvSpPr txBox="1"/>
          <p:nvPr/>
        </p:nvSpPr>
        <p:spPr>
          <a:xfrm>
            <a:off x="1691640" y="1938528"/>
            <a:ext cx="5212080" cy="777240"/>
          </a:xfrm>
          <a:prstGeom prst="rect">
            <a:avLst/>
          </a:prstGeom>
          <a:noFill/>
          <a:ln/>
        </p:spPr>
        <p:txBody>
          <a:bodyPr wrap="square" lIns="0" tIns="0" rIns="0" bIns="0" rtlCol="0" anchor="t"/>
          <a:lstStyle/>
          <a:p>
            <a:pPr marL="0" indent="0">
              <a:buNone/>
            </a:pPr>
            <a:r>
              <a:rPr lang="en-US" sz="1500" b="1" dirty="0">
                <a:solidFill>
                  <a:srgbClr val="1C2330"/>
                </a:solidFill>
                <a:latin typeface="Calibri" pitchFamily="34" charset="0"/>
                <a:ea typeface="Calibri" pitchFamily="34" charset="-122"/>
                <a:cs typeface="Calibri" pitchFamily="34" charset="-120"/>
              </a:rPr>
              <a:t>One platform, every channel</a:t>
            </a:r>
            <a:endParaRPr lang="en-US" sz="1500" dirty="0"/>
          </a:p>
          <a:p>
            <a:pPr marL="0" indent="0">
              <a:buNone/>
            </a:pPr>
            <a:r>
              <a:rPr lang="en-US" sz="1250" dirty="0">
                <a:solidFill>
                  <a:srgbClr val="5A6272"/>
                </a:solidFill>
                <a:latin typeface="Calibri" pitchFamily="34" charset="0"/>
                <a:ea typeface="Calibri" pitchFamily="34" charset="-122"/>
                <a:cs typeface="Calibri" pitchFamily="34" charset="-120"/>
              </a:rPr>
              <a:t>Composes and delivers email, SMS/MMS, print and digital communications to members, prospects, delegates, agents and providers.</a:t>
            </a:r>
            <a:endParaRPr lang="en-US" sz="1500" dirty="0"/>
          </a:p>
        </p:txBody>
      </p:sp>
      <p:sp>
        <p:nvSpPr>
          <p:cNvPr id="25" name="Shape 22"/>
          <p:cNvSpPr/>
          <p:nvPr/>
        </p:nvSpPr>
        <p:spPr>
          <a:xfrm>
            <a:off x="777240" y="2907792"/>
            <a:ext cx="6263640" cy="960120"/>
          </a:xfrm>
          <a:prstGeom prst="rect">
            <a:avLst/>
          </a:prstGeom>
          <a:solidFill>
            <a:srgbClr val="FFFFFF"/>
          </a:solidFill>
          <a:ln w="9525">
            <a:solidFill>
              <a:srgbClr val="D3D8DF"/>
            </a:solidFill>
            <a:prstDash val="solid"/>
          </a:ln>
        </p:spPr>
        <p:txBody>
          <a:bodyPr/>
          <a:lstStyle/>
          <a:p>
            <a:endParaRPr lang="en-US"/>
          </a:p>
        </p:txBody>
      </p:sp>
      <p:sp>
        <p:nvSpPr>
          <p:cNvPr id="26" name="Shape 23"/>
          <p:cNvSpPr/>
          <p:nvPr/>
        </p:nvSpPr>
        <p:spPr>
          <a:xfrm>
            <a:off x="960120" y="3108960"/>
            <a:ext cx="548640" cy="548640"/>
          </a:xfrm>
          <a:prstGeom prst="ellipse">
            <a:avLst/>
          </a:prstGeom>
          <a:solidFill>
            <a:srgbClr val="2A3585"/>
          </a:solidFill>
          <a:ln/>
        </p:spPr>
        <p:txBody>
          <a:bodyPr/>
          <a:lstStyle/>
          <a:p>
            <a:endParaRPr lang="en-US"/>
          </a:p>
        </p:txBody>
      </p:sp>
      <p:pic>
        <p:nvPicPr>
          <p:cNvPr id="27" name="Image 1" descr="preencoded.png"/>
          <p:cNvPicPr>
            <a:picLocks noChangeAspect="1"/>
          </p:cNvPicPr>
          <p:nvPr/>
        </p:nvPicPr>
        <p:blipFill>
          <a:blip r:embed="rId4"/>
          <a:stretch>
            <a:fillRect/>
          </a:stretch>
        </p:blipFill>
        <p:spPr>
          <a:xfrm>
            <a:off x="1097280" y="3246120"/>
            <a:ext cx="274320" cy="274320"/>
          </a:xfrm>
          <a:prstGeom prst="rect">
            <a:avLst/>
          </a:prstGeom>
        </p:spPr>
      </p:pic>
      <p:sp>
        <p:nvSpPr>
          <p:cNvPr id="28" name="Text 24"/>
          <p:cNvSpPr txBox="1"/>
          <p:nvPr/>
        </p:nvSpPr>
        <p:spPr>
          <a:xfrm>
            <a:off x="1691640" y="3035808"/>
            <a:ext cx="5212080" cy="777240"/>
          </a:xfrm>
          <a:prstGeom prst="rect">
            <a:avLst/>
          </a:prstGeom>
          <a:noFill/>
          <a:ln/>
        </p:spPr>
        <p:txBody>
          <a:bodyPr wrap="square" lIns="0" tIns="0" rIns="0" bIns="0" rtlCol="0" anchor="t"/>
          <a:lstStyle/>
          <a:p>
            <a:pPr marL="0" indent="0">
              <a:buNone/>
            </a:pPr>
            <a:r>
              <a:rPr lang="en-US" sz="1500" b="1" dirty="0">
                <a:solidFill>
                  <a:srgbClr val="1C2330"/>
                </a:solidFill>
                <a:latin typeface="Calibri" pitchFamily="34" charset="0"/>
                <a:ea typeface="Calibri" pitchFamily="34" charset="-122"/>
                <a:cs typeface="Calibri" pitchFamily="34" charset="-120"/>
              </a:rPr>
              <a:t>Three Integrations Types</a:t>
            </a:r>
            <a:endParaRPr lang="en-US" sz="1500" dirty="0"/>
          </a:p>
          <a:p>
            <a:pPr marL="0" indent="0">
              <a:buNone/>
            </a:pPr>
            <a:r>
              <a:rPr lang="en-US" sz="1250" dirty="0">
                <a:solidFill>
                  <a:srgbClr val="5A6272"/>
                </a:solidFill>
                <a:latin typeface="Calibri" pitchFamily="34" charset="0"/>
                <a:ea typeface="Calibri" pitchFamily="34" charset="-122"/>
                <a:cs typeface="Calibri" pitchFamily="34" charset="-120"/>
              </a:rPr>
              <a:t>Real-time API, scheduled batch, and an on-demand letter builder embedded in EWoC, Claims Workflow and OPL/Quest.</a:t>
            </a:r>
            <a:endParaRPr lang="en-US" sz="1500" dirty="0"/>
          </a:p>
        </p:txBody>
      </p:sp>
      <p:sp>
        <p:nvSpPr>
          <p:cNvPr id="29" name="Shape 25"/>
          <p:cNvSpPr/>
          <p:nvPr/>
        </p:nvSpPr>
        <p:spPr>
          <a:xfrm>
            <a:off x="777240" y="4005072"/>
            <a:ext cx="6263640" cy="960120"/>
          </a:xfrm>
          <a:prstGeom prst="rect">
            <a:avLst/>
          </a:prstGeom>
          <a:solidFill>
            <a:srgbClr val="FFFFFF"/>
          </a:solidFill>
          <a:ln w="9525">
            <a:solidFill>
              <a:srgbClr val="D3D8DF"/>
            </a:solidFill>
            <a:prstDash val="solid"/>
          </a:ln>
        </p:spPr>
        <p:txBody>
          <a:bodyPr/>
          <a:lstStyle/>
          <a:p>
            <a:endParaRPr lang="en-US"/>
          </a:p>
        </p:txBody>
      </p:sp>
      <p:sp>
        <p:nvSpPr>
          <p:cNvPr id="30" name="Shape 26"/>
          <p:cNvSpPr/>
          <p:nvPr/>
        </p:nvSpPr>
        <p:spPr>
          <a:xfrm>
            <a:off x="960120" y="4206240"/>
            <a:ext cx="548640" cy="548640"/>
          </a:xfrm>
          <a:prstGeom prst="ellipse">
            <a:avLst/>
          </a:prstGeom>
          <a:solidFill>
            <a:srgbClr val="2A3585"/>
          </a:solidFill>
          <a:ln/>
        </p:spPr>
        <p:txBody>
          <a:bodyPr/>
          <a:lstStyle/>
          <a:p>
            <a:endParaRPr lang="en-US"/>
          </a:p>
        </p:txBody>
      </p:sp>
      <p:pic>
        <p:nvPicPr>
          <p:cNvPr id="31" name="Image 2" descr="preencoded.png"/>
          <p:cNvPicPr>
            <a:picLocks noChangeAspect="1"/>
          </p:cNvPicPr>
          <p:nvPr/>
        </p:nvPicPr>
        <p:blipFill>
          <a:blip r:embed="rId5"/>
          <a:stretch>
            <a:fillRect/>
          </a:stretch>
        </p:blipFill>
        <p:spPr>
          <a:xfrm>
            <a:off x="1097280" y="4343400"/>
            <a:ext cx="274320" cy="274320"/>
          </a:xfrm>
          <a:prstGeom prst="rect">
            <a:avLst/>
          </a:prstGeom>
        </p:spPr>
      </p:pic>
      <p:sp>
        <p:nvSpPr>
          <p:cNvPr id="32" name="Text 27"/>
          <p:cNvSpPr txBox="1"/>
          <p:nvPr/>
        </p:nvSpPr>
        <p:spPr>
          <a:xfrm>
            <a:off x="1691640" y="4133088"/>
            <a:ext cx="5212080" cy="777240"/>
          </a:xfrm>
          <a:prstGeom prst="rect">
            <a:avLst/>
          </a:prstGeom>
          <a:noFill/>
          <a:ln/>
        </p:spPr>
        <p:txBody>
          <a:bodyPr wrap="square" lIns="0" tIns="0" rIns="0" bIns="0" rtlCol="0" anchor="t"/>
          <a:lstStyle/>
          <a:p>
            <a:pPr marL="0" indent="0">
              <a:buNone/>
            </a:pPr>
            <a:r>
              <a:rPr lang="en-US" sz="1500" b="1" dirty="0">
                <a:solidFill>
                  <a:srgbClr val="1C2330"/>
                </a:solidFill>
                <a:latin typeface="Calibri" pitchFamily="34" charset="0"/>
                <a:ea typeface="Calibri" pitchFamily="34" charset="-122"/>
                <a:cs typeface="Calibri" pitchFamily="34" charset="-120"/>
              </a:rPr>
              <a:t>Operating at scale</a:t>
            </a:r>
            <a:endParaRPr lang="en-US" sz="1500" dirty="0"/>
          </a:p>
          <a:p>
            <a:pPr marL="0" indent="0">
              <a:buNone/>
            </a:pPr>
            <a:r>
              <a:rPr lang="en-US" sz="1250" dirty="0">
                <a:solidFill>
                  <a:srgbClr val="5A6272"/>
                </a:solidFill>
                <a:latin typeface="Calibri" pitchFamily="34" charset="0"/>
                <a:ea typeface="Calibri" pitchFamily="34" charset="-122"/>
                <a:cs typeface="Calibri" pitchFamily="34" charset="-120"/>
              </a:rPr>
              <a:t>24.3M communications delivered Jan 1 – Sep 2, 2025. Payments (PPX) alone drives 56%.</a:t>
            </a:r>
            <a:endParaRPr lang="en-US" sz="1500" dirty="0"/>
          </a:p>
        </p:txBody>
      </p:sp>
      <p:sp>
        <p:nvSpPr>
          <p:cNvPr id="33" name="Shape 28"/>
          <p:cNvSpPr/>
          <p:nvPr/>
        </p:nvSpPr>
        <p:spPr>
          <a:xfrm>
            <a:off x="777240" y="5102352"/>
            <a:ext cx="6263640" cy="960120"/>
          </a:xfrm>
          <a:prstGeom prst="rect">
            <a:avLst/>
          </a:prstGeom>
          <a:solidFill>
            <a:srgbClr val="FFFFFF"/>
          </a:solidFill>
          <a:ln w="9525">
            <a:solidFill>
              <a:srgbClr val="D3D8DF"/>
            </a:solidFill>
            <a:prstDash val="solid"/>
          </a:ln>
        </p:spPr>
        <p:txBody>
          <a:bodyPr/>
          <a:lstStyle/>
          <a:p>
            <a:endParaRPr lang="en-US"/>
          </a:p>
        </p:txBody>
      </p:sp>
      <p:sp>
        <p:nvSpPr>
          <p:cNvPr id="34" name="Shape 29"/>
          <p:cNvSpPr/>
          <p:nvPr/>
        </p:nvSpPr>
        <p:spPr>
          <a:xfrm>
            <a:off x="960120" y="5303520"/>
            <a:ext cx="548640" cy="548640"/>
          </a:xfrm>
          <a:prstGeom prst="ellipse">
            <a:avLst/>
          </a:prstGeom>
          <a:solidFill>
            <a:srgbClr val="2A3585"/>
          </a:solidFill>
          <a:ln/>
        </p:spPr>
        <p:txBody>
          <a:bodyPr/>
          <a:lstStyle/>
          <a:p>
            <a:endParaRPr lang="en-US"/>
          </a:p>
        </p:txBody>
      </p:sp>
      <p:pic>
        <p:nvPicPr>
          <p:cNvPr id="35" name="Image 3" descr="preencoded.png"/>
          <p:cNvPicPr>
            <a:picLocks noChangeAspect="1"/>
          </p:cNvPicPr>
          <p:nvPr/>
        </p:nvPicPr>
        <p:blipFill>
          <a:blip r:embed="rId6"/>
          <a:stretch>
            <a:fillRect/>
          </a:stretch>
        </p:blipFill>
        <p:spPr>
          <a:xfrm>
            <a:off x="1097280" y="5440680"/>
            <a:ext cx="274320" cy="274320"/>
          </a:xfrm>
          <a:prstGeom prst="rect">
            <a:avLst/>
          </a:prstGeom>
        </p:spPr>
      </p:pic>
      <p:sp>
        <p:nvSpPr>
          <p:cNvPr id="36" name="Text 30"/>
          <p:cNvSpPr txBox="1"/>
          <p:nvPr/>
        </p:nvSpPr>
        <p:spPr>
          <a:xfrm>
            <a:off x="1691640" y="5230368"/>
            <a:ext cx="5212080" cy="777240"/>
          </a:xfrm>
          <a:prstGeom prst="rect">
            <a:avLst/>
          </a:prstGeom>
          <a:noFill/>
          <a:ln/>
        </p:spPr>
        <p:txBody>
          <a:bodyPr wrap="square" lIns="0" tIns="0" rIns="0" bIns="0" rtlCol="0" anchor="t"/>
          <a:lstStyle/>
          <a:p>
            <a:pPr marL="0" indent="0">
              <a:buNone/>
            </a:pPr>
            <a:r>
              <a:rPr lang="en-US" sz="1500" b="1" dirty="0">
                <a:solidFill>
                  <a:srgbClr val="1C2330"/>
                </a:solidFill>
                <a:latin typeface="Calibri" pitchFamily="34" charset="0"/>
                <a:ea typeface="Calibri" pitchFamily="34" charset="-122"/>
                <a:cs typeface="Calibri" pitchFamily="34" charset="-120"/>
              </a:rPr>
              <a:t>Tracked end to end</a:t>
            </a:r>
            <a:endParaRPr lang="en-US" sz="1500" dirty="0"/>
          </a:p>
          <a:p>
            <a:pPr marL="0" indent="0">
              <a:buNone/>
            </a:pPr>
            <a:r>
              <a:rPr lang="en-US" sz="1250" dirty="0">
                <a:solidFill>
                  <a:srgbClr val="5A6272"/>
                </a:solidFill>
                <a:latin typeface="Calibri" pitchFamily="34" charset="0"/>
                <a:ea typeface="Calibri" pitchFamily="34" charset="-122"/>
                <a:cs typeface="Calibri" pitchFamily="34" charset="-120"/>
              </a:rPr>
              <a:t>Every request, delivery receipt and archived PDF lands in Recon, powering self-service tracking, suppression, reprint and audit.</a:t>
            </a:r>
            <a:endParaRPr lang="en-US" sz="1500" dirty="0"/>
          </a:p>
        </p:txBody>
      </p:sp>
      <p:sp>
        <p:nvSpPr>
          <p:cNvPr id="37" name="Shape 31"/>
          <p:cNvSpPr/>
          <p:nvPr/>
        </p:nvSpPr>
        <p:spPr>
          <a:xfrm>
            <a:off x="7498080" y="1417320"/>
            <a:ext cx="4144975" cy="4846320"/>
          </a:xfrm>
          <a:prstGeom prst="rect">
            <a:avLst/>
          </a:prstGeom>
          <a:solidFill>
            <a:srgbClr val="E9EBEF"/>
          </a:solidFill>
          <a:ln/>
        </p:spPr>
        <p:txBody>
          <a:bodyPr/>
          <a:lstStyle/>
          <a:p>
            <a:endParaRPr lang="en-US"/>
          </a:p>
        </p:txBody>
      </p:sp>
      <p:sp>
        <p:nvSpPr>
          <p:cNvPr id="38" name="Shape 32"/>
          <p:cNvSpPr/>
          <p:nvPr/>
        </p:nvSpPr>
        <p:spPr>
          <a:xfrm>
            <a:off x="7498080" y="1417320"/>
            <a:ext cx="4144975" cy="54864"/>
          </a:xfrm>
          <a:prstGeom prst="rect">
            <a:avLst/>
          </a:prstGeom>
          <a:solidFill>
            <a:srgbClr val="E4572E"/>
          </a:solidFill>
          <a:ln/>
        </p:spPr>
        <p:txBody>
          <a:bodyPr/>
          <a:lstStyle/>
          <a:p>
            <a:endParaRPr lang="en-US"/>
          </a:p>
        </p:txBody>
      </p:sp>
      <p:sp>
        <p:nvSpPr>
          <p:cNvPr id="39" name="Shape 33"/>
          <p:cNvSpPr/>
          <p:nvPr/>
        </p:nvSpPr>
        <p:spPr>
          <a:xfrm>
            <a:off x="7498080" y="1417320"/>
            <a:ext cx="54864" cy="4846320"/>
          </a:xfrm>
          <a:prstGeom prst="rect">
            <a:avLst/>
          </a:prstGeom>
          <a:solidFill>
            <a:srgbClr val="E4572E"/>
          </a:solidFill>
          <a:ln/>
        </p:spPr>
        <p:txBody>
          <a:bodyPr/>
          <a:lstStyle/>
          <a:p>
            <a:endParaRPr lang="en-US"/>
          </a:p>
        </p:txBody>
      </p:sp>
      <p:sp>
        <p:nvSpPr>
          <p:cNvPr id="40" name="Text 34"/>
          <p:cNvSpPr txBox="1"/>
          <p:nvPr/>
        </p:nvSpPr>
        <p:spPr>
          <a:xfrm>
            <a:off x="7680960" y="1536192"/>
            <a:ext cx="3870655" cy="237744"/>
          </a:xfrm>
          <a:prstGeom prst="rect">
            <a:avLst/>
          </a:prstGeom>
          <a:noFill/>
          <a:ln/>
        </p:spPr>
        <p:txBody>
          <a:bodyPr wrap="square" lIns="0" tIns="0" rIns="0" bIns="0" rtlCol="0" anchor="t"/>
          <a:lstStyle/>
          <a:p>
            <a:pPr marL="0" indent="0">
              <a:buNone/>
            </a:pPr>
            <a:r>
              <a:rPr lang="en-US" sz="900" b="1" kern="0" spc="300" dirty="0">
                <a:solidFill>
                  <a:srgbClr val="E4572E"/>
                </a:solidFill>
                <a:latin typeface="Calibri" pitchFamily="34" charset="0"/>
                <a:ea typeface="Calibri" pitchFamily="34" charset="-122"/>
                <a:cs typeface="Calibri" pitchFamily="34" charset="-120"/>
              </a:rPr>
              <a:t>STRATEGIC IMPERATIVES</a:t>
            </a:r>
            <a:endParaRPr lang="en-US" sz="900" dirty="0"/>
          </a:p>
        </p:txBody>
      </p:sp>
      <p:sp>
        <p:nvSpPr>
          <p:cNvPr id="41" name="Shape 35"/>
          <p:cNvSpPr/>
          <p:nvPr/>
        </p:nvSpPr>
        <p:spPr>
          <a:xfrm>
            <a:off x="7726680" y="1810512"/>
            <a:ext cx="3733495" cy="1298448"/>
          </a:xfrm>
          <a:prstGeom prst="rect">
            <a:avLst/>
          </a:prstGeom>
          <a:solidFill>
            <a:srgbClr val="FFFFFF"/>
          </a:solidFill>
          <a:ln w="9525">
            <a:solidFill>
              <a:srgbClr val="D3D8DF"/>
            </a:solidFill>
            <a:prstDash val="solid"/>
          </a:ln>
        </p:spPr>
        <p:txBody>
          <a:bodyPr/>
          <a:lstStyle/>
          <a:p>
            <a:endParaRPr lang="en-US"/>
          </a:p>
        </p:txBody>
      </p:sp>
      <p:sp>
        <p:nvSpPr>
          <p:cNvPr id="42" name="Shape 36"/>
          <p:cNvSpPr/>
          <p:nvPr/>
        </p:nvSpPr>
        <p:spPr>
          <a:xfrm>
            <a:off x="7909560" y="2084832"/>
            <a:ext cx="658368" cy="658368"/>
          </a:xfrm>
          <a:prstGeom prst="ellipse">
            <a:avLst/>
          </a:prstGeom>
          <a:solidFill>
            <a:srgbClr val="2F8F57"/>
          </a:solidFill>
          <a:ln/>
        </p:spPr>
        <p:txBody>
          <a:bodyPr/>
          <a:lstStyle/>
          <a:p>
            <a:endParaRPr lang="en-US"/>
          </a:p>
        </p:txBody>
      </p:sp>
      <p:sp>
        <p:nvSpPr>
          <p:cNvPr id="43" name="Text 37"/>
          <p:cNvSpPr txBox="1"/>
          <p:nvPr/>
        </p:nvSpPr>
        <p:spPr>
          <a:xfrm>
            <a:off x="7909560" y="2084832"/>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T</a:t>
            </a:r>
            <a:endParaRPr lang="en-US" sz="2600" dirty="0"/>
          </a:p>
        </p:txBody>
      </p:sp>
      <p:sp>
        <p:nvSpPr>
          <p:cNvPr id="44" name="Text 38"/>
          <p:cNvSpPr txBox="1"/>
          <p:nvPr/>
        </p:nvSpPr>
        <p:spPr>
          <a:xfrm>
            <a:off x="8732520" y="2011680"/>
            <a:ext cx="2544775" cy="1005840"/>
          </a:xfrm>
          <a:prstGeom prst="rect">
            <a:avLst/>
          </a:prstGeom>
          <a:noFill/>
          <a:ln/>
        </p:spPr>
        <p:txBody>
          <a:bodyPr wrap="square" lIns="0" tIns="0" rIns="0" bIns="0" rtlCol="0" anchor="t"/>
          <a:lstStyle/>
          <a:p>
            <a:pPr marL="0" indent="0">
              <a:buNone/>
            </a:pPr>
            <a:r>
              <a:rPr lang="en-US" sz="1600" b="1" dirty="0">
                <a:solidFill>
                  <a:srgbClr val="1C2330"/>
                </a:solidFill>
                <a:latin typeface="Calibri" pitchFamily="34" charset="0"/>
                <a:ea typeface="Calibri" pitchFamily="34" charset="-122"/>
                <a:cs typeface="Calibri" pitchFamily="34" charset="-120"/>
              </a:rPr>
              <a:t>Templates</a:t>
            </a:r>
            <a:endParaRPr lang="en-US" sz="1600" dirty="0"/>
          </a:p>
          <a:p>
            <a:pPr marL="0" indent="0">
              <a:buNone/>
            </a:pPr>
            <a:r>
              <a:rPr lang="en-US" sz="1250" dirty="0">
                <a:solidFill>
                  <a:srgbClr val="5A6272"/>
                </a:solidFill>
                <a:latin typeface="Calibri" pitchFamily="34" charset="0"/>
                <a:ea typeface="Calibri" pitchFamily="34" charset="-122"/>
                <a:cs typeface="Calibri" pitchFamily="34" charset="-120"/>
              </a:rPr>
              <a:t>Business onboards new communications quickly.</a:t>
            </a:r>
            <a:endParaRPr lang="en-US" sz="1600" dirty="0"/>
          </a:p>
        </p:txBody>
      </p:sp>
      <p:sp>
        <p:nvSpPr>
          <p:cNvPr id="45" name="Shape 39"/>
          <p:cNvSpPr/>
          <p:nvPr/>
        </p:nvSpPr>
        <p:spPr>
          <a:xfrm>
            <a:off x="7726680" y="3273552"/>
            <a:ext cx="3733495" cy="1298448"/>
          </a:xfrm>
          <a:prstGeom prst="rect">
            <a:avLst/>
          </a:prstGeom>
          <a:solidFill>
            <a:srgbClr val="FFFFFF"/>
          </a:solidFill>
          <a:ln w="9525">
            <a:solidFill>
              <a:srgbClr val="D3D8DF"/>
            </a:solidFill>
            <a:prstDash val="solid"/>
          </a:ln>
        </p:spPr>
        <p:txBody>
          <a:bodyPr/>
          <a:lstStyle/>
          <a:p>
            <a:endParaRPr lang="en-US"/>
          </a:p>
        </p:txBody>
      </p:sp>
      <p:sp>
        <p:nvSpPr>
          <p:cNvPr id="46" name="Shape 40"/>
          <p:cNvSpPr/>
          <p:nvPr/>
        </p:nvSpPr>
        <p:spPr>
          <a:xfrm>
            <a:off x="7909560" y="3547872"/>
            <a:ext cx="658368" cy="658368"/>
          </a:xfrm>
          <a:prstGeom prst="ellipse">
            <a:avLst/>
          </a:prstGeom>
          <a:solidFill>
            <a:srgbClr val="E4572E"/>
          </a:solidFill>
          <a:ln/>
        </p:spPr>
        <p:txBody>
          <a:bodyPr/>
          <a:lstStyle/>
          <a:p>
            <a:endParaRPr lang="en-US"/>
          </a:p>
        </p:txBody>
      </p:sp>
      <p:sp>
        <p:nvSpPr>
          <p:cNvPr id="47" name="Text 41"/>
          <p:cNvSpPr txBox="1"/>
          <p:nvPr/>
        </p:nvSpPr>
        <p:spPr>
          <a:xfrm>
            <a:off x="7909560" y="3547872"/>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I</a:t>
            </a:r>
            <a:endParaRPr lang="en-US" sz="2600" dirty="0"/>
          </a:p>
        </p:txBody>
      </p:sp>
      <p:sp>
        <p:nvSpPr>
          <p:cNvPr id="48" name="Text 42"/>
          <p:cNvSpPr txBox="1"/>
          <p:nvPr/>
        </p:nvSpPr>
        <p:spPr>
          <a:xfrm>
            <a:off x="8732520" y="3474720"/>
            <a:ext cx="2544775" cy="1005840"/>
          </a:xfrm>
          <a:prstGeom prst="rect">
            <a:avLst/>
          </a:prstGeom>
          <a:noFill/>
          <a:ln/>
        </p:spPr>
        <p:txBody>
          <a:bodyPr wrap="square" lIns="0" tIns="0" rIns="0" bIns="0" rtlCol="0" anchor="t"/>
          <a:lstStyle/>
          <a:p>
            <a:pPr marL="0" indent="0">
              <a:buNone/>
            </a:pPr>
            <a:r>
              <a:rPr lang="en-US" sz="1600" b="1" dirty="0">
                <a:solidFill>
                  <a:srgbClr val="1C2330"/>
                </a:solidFill>
                <a:latin typeface="Calibri" pitchFamily="34" charset="0"/>
                <a:ea typeface="Calibri" pitchFamily="34" charset="-122"/>
                <a:cs typeface="Calibri" pitchFamily="34" charset="-120"/>
              </a:rPr>
              <a:t>Integration</a:t>
            </a:r>
            <a:endParaRPr lang="en-US" sz="1600" dirty="0"/>
          </a:p>
          <a:p>
            <a:pPr marL="0" indent="0">
              <a:buNone/>
            </a:pPr>
            <a:r>
              <a:rPr lang="en-US" sz="1250" dirty="0">
                <a:solidFill>
                  <a:srgbClr val="5A6272"/>
                </a:solidFill>
                <a:latin typeface="Calibri" pitchFamily="34" charset="0"/>
                <a:ea typeface="Calibri" pitchFamily="34" charset="-122"/>
                <a:cs typeface="Calibri" pitchFamily="34" charset="-120"/>
              </a:rPr>
              <a:t>Delivered the way the member asked (P360). EWoC, MWS and PPX today; OPL and Quest next.</a:t>
            </a:r>
            <a:endParaRPr lang="en-US" sz="1600" dirty="0"/>
          </a:p>
        </p:txBody>
      </p:sp>
      <p:sp>
        <p:nvSpPr>
          <p:cNvPr id="49" name="Shape 43"/>
          <p:cNvSpPr/>
          <p:nvPr/>
        </p:nvSpPr>
        <p:spPr>
          <a:xfrm>
            <a:off x="7726680" y="4736592"/>
            <a:ext cx="3733495" cy="1298448"/>
          </a:xfrm>
          <a:prstGeom prst="rect">
            <a:avLst/>
          </a:prstGeom>
          <a:solidFill>
            <a:srgbClr val="FFFFFF"/>
          </a:solidFill>
          <a:ln w="9525">
            <a:solidFill>
              <a:srgbClr val="D3D8DF"/>
            </a:solidFill>
            <a:prstDash val="solid"/>
          </a:ln>
        </p:spPr>
        <p:txBody>
          <a:bodyPr/>
          <a:lstStyle/>
          <a:p>
            <a:endParaRPr lang="en-US"/>
          </a:p>
        </p:txBody>
      </p:sp>
      <p:sp>
        <p:nvSpPr>
          <p:cNvPr id="50" name="Shape 44"/>
          <p:cNvSpPr/>
          <p:nvPr/>
        </p:nvSpPr>
        <p:spPr>
          <a:xfrm>
            <a:off x="7909560" y="5010912"/>
            <a:ext cx="658368" cy="658368"/>
          </a:xfrm>
          <a:prstGeom prst="ellipse">
            <a:avLst/>
          </a:prstGeom>
          <a:solidFill>
            <a:srgbClr val="3B8FD4"/>
          </a:solidFill>
          <a:ln/>
        </p:spPr>
        <p:txBody>
          <a:bodyPr/>
          <a:lstStyle/>
          <a:p>
            <a:endParaRPr lang="en-US"/>
          </a:p>
        </p:txBody>
      </p:sp>
      <p:sp>
        <p:nvSpPr>
          <p:cNvPr id="51" name="Text 45"/>
          <p:cNvSpPr txBox="1"/>
          <p:nvPr/>
        </p:nvSpPr>
        <p:spPr>
          <a:xfrm>
            <a:off x="7909560" y="5010912"/>
            <a:ext cx="658368" cy="65836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M</a:t>
            </a:r>
            <a:endParaRPr lang="en-US" sz="2600" dirty="0"/>
          </a:p>
        </p:txBody>
      </p:sp>
      <p:sp>
        <p:nvSpPr>
          <p:cNvPr id="52" name="Text 46"/>
          <p:cNvSpPr txBox="1"/>
          <p:nvPr/>
        </p:nvSpPr>
        <p:spPr>
          <a:xfrm>
            <a:off x="8732520" y="4937760"/>
            <a:ext cx="2544775" cy="1005840"/>
          </a:xfrm>
          <a:prstGeom prst="rect">
            <a:avLst/>
          </a:prstGeom>
          <a:noFill/>
          <a:ln/>
        </p:spPr>
        <p:txBody>
          <a:bodyPr wrap="square" lIns="0" tIns="0" rIns="0" bIns="0" rtlCol="0" anchor="t"/>
          <a:lstStyle/>
          <a:p>
            <a:pPr marL="0" indent="0">
              <a:buNone/>
            </a:pPr>
            <a:r>
              <a:rPr lang="en-US" sz="1600" b="1" dirty="0">
                <a:solidFill>
                  <a:srgbClr val="1C2330"/>
                </a:solidFill>
                <a:latin typeface="Calibri" pitchFamily="34" charset="0"/>
                <a:ea typeface="Calibri" pitchFamily="34" charset="-122"/>
                <a:cs typeface="Calibri" pitchFamily="34" charset="-120"/>
              </a:rPr>
              <a:t>Maintenance</a:t>
            </a:r>
            <a:endParaRPr lang="en-US" sz="1600" dirty="0"/>
          </a:p>
          <a:p>
            <a:pPr marL="0" indent="0">
              <a:buNone/>
            </a:pPr>
            <a:r>
              <a:rPr lang="en-US" sz="1250" dirty="0">
                <a:solidFill>
                  <a:srgbClr val="5A6272"/>
                </a:solidFill>
                <a:latin typeface="Calibri" pitchFamily="34" charset="0"/>
                <a:ea typeface="Calibri" pitchFamily="34" charset="-122"/>
                <a:cs typeface="Calibri" pitchFamily="34" charset="-120"/>
              </a:rPr>
              <a:t>Business maintains communications with minimal IT impact.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txBody>
          <a:bodyPr/>
          <a:lstStyle/>
          <a:p>
            <a:endParaRPr lang="en-US"/>
          </a:p>
        </p:txBody>
      </p:sp>
      <p:sp>
        <p:nvSpPr>
          <p:cNvPr id="3" name="Text 1"/>
          <p:cNvSpPr txBox="1"/>
          <p:nvPr/>
        </p:nvSpPr>
        <p:spPr>
          <a:xfrm>
            <a:off x="548640" y="237744"/>
            <a:ext cx="7772400" cy="256032"/>
          </a:xfrm>
          <a:prstGeom prst="rect">
            <a:avLst/>
          </a:prstGeom>
          <a:noFill/>
          <a:ln/>
        </p:spPr>
        <p:txBody>
          <a:bodyPr wrap="square" lIns="0" tIns="0" rIns="0" bIns="0" rtlCol="0" anchor="t"/>
          <a:lstStyle/>
          <a:p>
            <a:pPr marL="0" indent="0">
              <a:buNone/>
            </a:pPr>
            <a:r>
              <a:rPr lang="en-US" sz="1100" b="1" kern="0" spc="400" dirty="0">
                <a:solidFill>
                  <a:srgbClr val="E8612C"/>
                </a:solidFill>
                <a:latin typeface="Calibri" pitchFamily="34" charset="0"/>
                <a:ea typeface="Calibri" pitchFamily="34" charset="-122"/>
                <a:cs typeface="Calibri" pitchFamily="34" charset="-120"/>
              </a:rPr>
              <a:t>AUDIENCES</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Who CCM communicates with</a:t>
            </a:r>
            <a:endParaRPr lang="en-US" sz="27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marL="0" indent="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marL="0" indent="0" algn="r">
              <a:buNone/>
            </a:pPr>
            <a:r>
              <a:rPr lang="en-US" sz="900" dirty="0">
                <a:solidFill>
                  <a:srgbClr val="596273"/>
                </a:solidFill>
                <a:latin typeface="Calibri" pitchFamily="34" charset="0"/>
                <a:ea typeface="Calibri" pitchFamily="34" charset="-122"/>
                <a:cs typeface="Calibri" pitchFamily="34" charset="-120"/>
              </a:rPr>
              <a:t>9</a:t>
            </a:r>
            <a:endParaRPr lang="en-US" sz="900" dirty="0"/>
          </a:p>
        </p:txBody>
      </p:sp>
      <p:sp>
        <p:nvSpPr>
          <p:cNvPr id="9" name="Shape 7"/>
          <p:cNvSpPr/>
          <p:nvPr/>
        </p:nvSpPr>
        <p:spPr>
          <a:xfrm>
            <a:off x="548640" y="1554480"/>
            <a:ext cx="2036003" cy="4572000"/>
          </a:xfrm>
          <a:prstGeom prst="roundRect">
            <a:avLst>
              <a:gd name="adj" fmla="val 2695"/>
            </a:avLst>
          </a:prstGeom>
          <a:solidFill>
            <a:srgbClr val="F1F3F6"/>
          </a:solidFill>
          <a:ln/>
        </p:spPr>
        <p:txBody>
          <a:bodyPr/>
          <a:lstStyle/>
          <a:p>
            <a:endParaRPr lang="en-US"/>
          </a:p>
        </p:txBody>
      </p:sp>
      <p:sp>
        <p:nvSpPr>
          <p:cNvPr id="10" name="Shape 8"/>
          <p:cNvSpPr/>
          <p:nvPr/>
        </p:nvSpPr>
        <p:spPr>
          <a:xfrm>
            <a:off x="822960" y="1874520"/>
            <a:ext cx="731520" cy="731520"/>
          </a:xfrm>
          <a:prstGeom prst="ellipse">
            <a:avLst/>
          </a:prstGeom>
          <a:solidFill>
            <a:srgbClr val="1F4FB8"/>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1013155" y="2064715"/>
            <a:ext cx="351130" cy="351130"/>
          </a:xfrm>
          <a:prstGeom prst="rect">
            <a:avLst/>
          </a:prstGeom>
        </p:spPr>
      </p:pic>
      <p:sp>
        <p:nvSpPr>
          <p:cNvPr id="12" name="Text 9"/>
          <p:cNvSpPr txBox="1"/>
          <p:nvPr/>
        </p:nvSpPr>
        <p:spPr>
          <a:xfrm>
            <a:off x="822960" y="2788920"/>
            <a:ext cx="1487363" cy="365760"/>
          </a:xfrm>
          <a:prstGeom prst="rect">
            <a:avLst/>
          </a:prstGeom>
          <a:noFill/>
          <a:ln/>
        </p:spPr>
        <p:txBody>
          <a:bodyPr wrap="square" lIns="0" tIns="0" rIns="0" bIns="0" rtlCol="0" anchor="t"/>
          <a:lstStyle/>
          <a:p>
            <a:pPr marL="0" indent="0">
              <a:buNone/>
            </a:pPr>
            <a:r>
              <a:rPr lang="en-US" sz="1800" b="1" dirty="0">
                <a:solidFill>
                  <a:srgbClr val="1C2330"/>
                </a:solidFill>
                <a:latin typeface="Calibri" pitchFamily="34" charset="0"/>
                <a:ea typeface="Calibri" pitchFamily="34" charset="-122"/>
                <a:cs typeface="Calibri" pitchFamily="34" charset="-120"/>
              </a:rPr>
              <a:t>Members</a:t>
            </a:r>
            <a:endParaRPr lang="en-US" sz="1800" dirty="0"/>
          </a:p>
        </p:txBody>
      </p:sp>
      <p:sp>
        <p:nvSpPr>
          <p:cNvPr id="13" name="Text 10"/>
          <p:cNvSpPr txBox="1"/>
          <p:nvPr/>
        </p:nvSpPr>
        <p:spPr>
          <a:xfrm>
            <a:off x="822960" y="3246120"/>
            <a:ext cx="1487363" cy="2651760"/>
          </a:xfrm>
          <a:prstGeom prst="rect">
            <a:avLst/>
          </a:prstGeom>
          <a:noFill/>
          <a:ln/>
        </p:spPr>
        <p:txBody>
          <a:bodyPr wrap="square" lIns="0" tIns="0" rIns="0" bIns="0" rtlCol="0" anchor="t"/>
          <a:lstStyle/>
          <a:p>
            <a:pPr marL="0" indent="0">
              <a:buNone/>
            </a:pPr>
            <a:r>
              <a:rPr lang="en-US" sz="1350" dirty="0">
                <a:solidFill>
                  <a:srgbClr val="1C2330"/>
                </a:solidFill>
                <a:latin typeface="Calibri" pitchFamily="34" charset="0"/>
                <a:ea typeface="Calibri" pitchFamily="34" charset="-122"/>
                <a:cs typeface="Calibri" pitchFamily="34" charset="-120"/>
              </a:rPr>
              <a:t>Subscribers and dependents over 18.</a:t>
            </a:r>
            <a:endParaRPr lang="en-US" sz="1350" dirty="0"/>
          </a:p>
        </p:txBody>
      </p:sp>
      <p:sp>
        <p:nvSpPr>
          <p:cNvPr id="14" name="Shape 11"/>
          <p:cNvSpPr/>
          <p:nvPr/>
        </p:nvSpPr>
        <p:spPr>
          <a:xfrm>
            <a:off x="822960" y="3886200"/>
            <a:ext cx="822960" cy="347472"/>
          </a:xfrm>
          <a:prstGeom prst="roundRect">
            <a:avLst>
              <a:gd name="adj" fmla="val 50000"/>
            </a:avLst>
          </a:prstGeom>
          <a:solidFill>
            <a:srgbClr val="FFFFFF"/>
          </a:solidFill>
          <a:ln w="12700">
            <a:solidFill>
              <a:srgbClr val="CCD3DD"/>
            </a:solidFill>
            <a:prstDash val="solid"/>
          </a:ln>
        </p:spPr>
        <p:txBody>
          <a:bodyPr/>
          <a:lstStyle/>
          <a:p>
            <a:endParaRPr lang="en-US"/>
          </a:p>
        </p:txBody>
      </p:sp>
      <p:sp>
        <p:nvSpPr>
          <p:cNvPr id="15" name="Text 12"/>
          <p:cNvSpPr txBox="1"/>
          <p:nvPr/>
        </p:nvSpPr>
        <p:spPr>
          <a:xfrm>
            <a:off x="822960" y="3886200"/>
            <a:ext cx="822960" cy="347472"/>
          </a:xfrm>
          <a:prstGeom prst="rect">
            <a:avLst/>
          </a:prstGeom>
          <a:noFill/>
          <a:ln/>
        </p:spPr>
        <p:txBody>
          <a:bodyPr wrap="square" lIns="0" tIns="0" rIns="0" bIns="0" rtlCol="0" anchor="ctr"/>
          <a:lstStyle/>
          <a:p>
            <a:pPr marL="0" indent="0" algn="ctr">
              <a:buNone/>
            </a:pPr>
            <a:r>
              <a:rPr lang="en-US" sz="1100" b="1" dirty="0">
                <a:solidFill>
                  <a:srgbClr val="16398A"/>
                </a:solidFill>
                <a:latin typeface="Calibri" pitchFamily="34" charset="0"/>
                <a:ea typeface="Calibri" pitchFamily="34" charset="-122"/>
                <a:cs typeface="Calibri" pitchFamily="34" charset="-120"/>
              </a:rPr>
              <a:t>U65</a:t>
            </a:r>
            <a:endParaRPr lang="en-US" sz="1100" dirty="0"/>
          </a:p>
        </p:txBody>
      </p:sp>
      <p:sp>
        <p:nvSpPr>
          <p:cNvPr id="16" name="Shape 13"/>
          <p:cNvSpPr/>
          <p:nvPr/>
        </p:nvSpPr>
        <p:spPr>
          <a:xfrm>
            <a:off x="1737360" y="3886200"/>
            <a:ext cx="822960" cy="347472"/>
          </a:xfrm>
          <a:prstGeom prst="roundRect">
            <a:avLst>
              <a:gd name="adj" fmla="val 50000"/>
            </a:avLst>
          </a:prstGeom>
          <a:solidFill>
            <a:srgbClr val="FFFFFF"/>
          </a:solidFill>
          <a:ln w="12700">
            <a:solidFill>
              <a:srgbClr val="CCD3DD"/>
            </a:solidFill>
            <a:prstDash val="solid"/>
          </a:ln>
        </p:spPr>
        <p:txBody>
          <a:bodyPr/>
          <a:lstStyle/>
          <a:p>
            <a:endParaRPr lang="en-US"/>
          </a:p>
        </p:txBody>
      </p:sp>
      <p:sp>
        <p:nvSpPr>
          <p:cNvPr id="17" name="Text 14"/>
          <p:cNvSpPr txBox="1"/>
          <p:nvPr/>
        </p:nvSpPr>
        <p:spPr>
          <a:xfrm>
            <a:off x="1737360" y="3886200"/>
            <a:ext cx="822960" cy="347472"/>
          </a:xfrm>
          <a:prstGeom prst="rect">
            <a:avLst/>
          </a:prstGeom>
          <a:noFill/>
          <a:ln/>
        </p:spPr>
        <p:txBody>
          <a:bodyPr wrap="square" lIns="0" tIns="0" rIns="0" bIns="0" rtlCol="0" anchor="ctr"/>
          <a:lstStyle/>
          <a:p>
            <a:pPr marL="0" indent="0" algn="ctr">
              <a:buNone/>
            </a:pPr>
            <a:r>
              <a:rPr lang="en-US" sz="1100" b="1" dirty="0">
                <a:solidFill>
                  <a:srgbClr val="16398A"/>
                </a:solidFill>
                <a:latin typeface="Calibri" pitchFamily="34" charset="0"/>
                <a:ea typeface="Calibri" pitchFamily="34" charset="-122"/>
                <a:cs typeface="Calibri" pitchFamily="34" charset="-120"/>
              </a:rPr>
              <a:t>O65</a:t>
            </a:r>
            <a:endParaRPr lang="en-US" sz="1100" dirty="0"/>
          </a:p>
        </p:txBody>
      </p:sp>
      <p:sp>
        <p:nvSpPr>
          <p:cNvPr id="18" name="Shape 15"/>
          <p:cNvSpPr/>
          <p:nvPr/>
        </p:nvSpPr>
        <p:spPr>
          <a:xfrm>
            <a:off x="822960" y="4343400"/>
            <a:ext cx="822960" cy="347472"/>
          </a:xfrm>
          <a:prstGeom prst="roundRect">
            <a:avLst>
              <a:gd name="adj" fmla="val 50000"/>
            </a:avLst>
          </a:prstGeom>
          <a:solidFill>
            <a:srgbClr val="FFFFFF"/>
          </a:solidFill>
          <a:ln w="12700">
            <a:solidFill>
              <a:srgbClr val="CCD3DD"/>
            </a:solidFill>
            <a:prstDash val="solid"/>
          </a:ln>
        </p:spPr>
        <p:txBody>
          <a:bodyPr/>
          <a:lstStyle/>
          <a:p>
            <a:endParaRPr lang="en-US"/>
          </a:p>
        </p:txBody>
      </p:sp>
      <p:sp>
        <p:nvSpPr>
          <p:cNvPr id="19" name="Text 16"/>
          <p:cNvSpPr txBox="1"/>
          <p:nvPr/>
        </p:nvSpPr>
        <p:spPr>
          <a:xfrm>
            <a:off x="822960" y="4343400"/>
            <a:ext cx="822960" cy="347472"/>
          </a:xfrm>
          <a:prstGeom prst="rect">
            <a:avLst/>
          </a:prstGeom>
          <a:noFill/>
          <a:ln/>
        </p:spPr>
        <p:txBody>
          <a:bodyPr wrap="square" lIns="0" tIns="0" rIns="0" bIns="0" rtlCol="0" anchor="ctr"/>
          <a:lstStyle/>
          <a:p>
            <a:pPr marL="0" indent="0" algn="ctr">
              <a:buNone/>
            </a:pPr>
            <a:r>
              <a:rPr lang="en-US" sz="1100" b="1" dirty="0">
                <a:solidFill>
                  <a:srgbClr val="16398A"/>
                </a:solidFill>
                <a:latin typeface="Calibri" pitchFamily="34" charset="0"/>
                <a:ea typeface="Calibri" pitchFamily="34" charset="-122"/>
                <a:cs typeface="Calibri" pitchFamily="34" charset="-120"/>
              </a:rPr>
              <a:t>Groups</a:t>
            </a:r>
            <a:endParaRPr lang="en-US" sz="1100" dirty="0"/>
          </a:p>
        </p:txBody>
      </p:sp>
      <p:sp>
        <p:nvSpPr>
          <p:cNvPr id="20" name="Shape 17"/>
          <p:cNvSpPr/>
          <p:nvPr/>
        </p:nvSpPr>
        <p:spPr>
          <a:xfrm>
            <a:off x="1737360" y="4343400"/>
            <a:ext cx="822960" cy="347472"/>
          </a:xfrm>
          <a:prstGeom prst="roundRect">
            <a:avLst>
              <a:gd name="adj" fmla="val 50000"/>
            </a:avLst>
          </a:prstGeom>
          <a:solidFill>
            <a:srgbClr val="FFFFFF"/>
          </a:solidFill>
          <a:ln w="12700">
            <a:solidFill>
              <a:srgbClr val="CCD3DD"/>
            </a:solidFill>
            <a:prstDash val="solid"/>
          </a:ln>
        </p:spPr>
        <p:txBody>
          <a:bodyPr/>
          <a:lstStyle/>
          <a:p>
            <a:endParaRPr lang="en-US"/>
          </a:p>
        </p:txBody>
      </p:sp>
      <p:sp>
        <p:nvSpPr>
          <p:cNvPr id="21" name="Text 18"/>
          <p:cNvSpPr txBox="1"/>
          <p:nvPr/>
        </p:nvSpPr>
        <p:spPr>
          <a:xfrm>
            <a:off x="1737360" y="4343400"/>
            <a:ext cx="822960" cy="347472"/>
          </a:xfrm>
          <a:prstGeom prst="rect">
            <a:avLst/>
          </a:prstGeom>
          <a:noFill/>
          <a:ln/>
        </p:spPr>
        <p:txBody>
          <a:bodyPr wrap="square" lIns="0" tIns="0" rIns="0" bIns="0" rtlCol="0" anchor="ctr"/>
          <a:lstStyle/>
          <a:p>
            <a:pPr marL="0" indent="0" algn="ctr">
              <a:buNone/>
            </a:pPr>
            <a:r>
              <a:rPr lang="en-US" sz="1100" b="1" dirty="0">
                <a:solidFill>
                  <a:srgbClr val="16398A"/>
                </a:solidFill>
                <a:latin typeface="Calibri" pitchFamily="34" charset="0"/>
                <a:ea typeface="Calibri" pitchFamily="34" charset="-122"/>
                <a:cs typeface="Calibri" pitchFamily="34" charset="-120"/>
              </a:rPr>
              <a:t>Truli</a:t>
            </a:r>
            <a:endParaRPr lang="en-US" sz="1100" dirty="0"/>
          </a:p>
        </p:txBody>
      </p:sp>
      <p:sp>
        <p:nvSpPr>
          <p:cNvPr id="22" name="Shape 19"/>
          <p:cNvSpPr/>
          <p:nvPr/>
        </p:nvSpPr>
        <p:spPr>
          <a:xfrm>
            <a:off x="2813243" y="1554480"/>
            <a:ext cx="2036003" cy="4572000"/>
          </a:xfrm>
          <a:prstGeom prst="roundRect">
            <a:avLst>
              <a:gd name="adj" fmla="val 2695"/>
            </a:avLst>
          </a:prstGeom>
          <a:solidFill>
            <a:srgbClr val="F1F3F6"/>
          </a:solidFill>
          <a:ln/>
        </p:spPr>
        <p:txBody>
          <a:bodyPr/>
          <a:lstStyle/>
          <a:p>
            <a:endParaRPr lang="en-US"/>
          </a:p>
        </p:txBody>
      </p:sp>
      <p:sp>
        <p:nvSpPr>
          <p:cNvPr id="23" name="Shape 20"/>
          <p:cNvSpPr/>
          <p:nvPr/>
        </p:nvSpPr>
        <p:spPr>
          <a:xfrm>
            <a:off x="3087563" y="1874520"/>
            <a:ext cx="731520" cy="731520"/>
          </a:xfrm>
          <a:prstGeom prst="ellipse">
            <a:avLst/>
          </a:prstGeom>
          <a:solidFill>
            <a:srgbClr val="1F4FB8"/>
          </a:solidFill>
          <a:ln/>
        </p:spPr>
        <p:txBody>
          <a:bodyPr/>
          <a:lstStyle/>
          <a:p>
            <a:endParaRPr lang="en-US"/>
          </a:p>
        </p:txBody>
      </p:sp>
      <p:pic>
        <p:nvPicPr>
          <p:cNvPr id="24" name="Image 1" descr="preencoded.png"/>
          <p:cNvPicPr>
            <a:picLocks noChangeAspect="1"/>
          </p:cNvPicPr>
          <p:nvPr/>
        </p:nvPicPr>
        <p:blipFill>
          <a:blip r:embed="rId4"/>
          <a:stretch>
            <a:fillRect/>
          </a:stretch>
        </p:blipFill>
        <p:spPr>
          <a:xfrm>
            <a:off x="3277758" y="2064715"/>
            <a:ext cx="351130" cy="351130"/>
          </a:xfrm>
          <a:prstGeom prst="rect">
            <a:avLst/>
          </a:prstGeom>
        </p:spPr>
      </p:pic>
      <p:sp>
        <p:nvSpPr>
          <p:cNvPr id="25" name="Text 21"/>
          <p:cNvSpPr txBox="1"/>
          <p:nvPr/>
        </p:nvSpPr>
        <p:spPr>
          <a:xfrm>
            <a:off x="3087563" y="2788920"/>
            <a:ext cx="1487363" cy="365760"/>
          </a:xfrm>
          <a:prstGeom prst="rect">
            <a:avLst/>
          </a:prstGeom>
          <a:noFill/>
          <a:ln/>
        </p:spPr>
        <p:txBody>
          <a:bodyPr wrap="square" lIns="0" tIns="0" rIns="0" bIns="0" rtlCol="0" anchor="t"/>
          <a:lstStyle/>
          <a:p>
            <a:pPr marL="0" indent="0">
              <a:buNone/>
            </a:pPr>
            <a:r>
              <a:rPr lang="en-US" sz="1800" b="1" dirty="0">
                <a:solidFill>
                  <a:srgbClr val="1C2330"/>
                </a:solidFill>
                <a:latin typeface="Calibri" pitchFamily="34" charset="0"/>
                <a:ea typeface="Calibri" pitchFamily="34" charset="-122"/>
                <a:cs typeface="Calibri" pitchFamily="34" charset="-120"/>
              </a:rPr>
              <a:t>Prospects</a:t>
            </a:r>
            <a:endParaRPr lang="en-US" sz="1800" dirty="0"/>
          </a:p>
        </p:txBody>
      </p:sp>
      <p:sp>
        <p:nvSpPr>
          <p:cNvPr id="26" name="Text 22"/>
          <p:cNvSpPr txBox="1"/>
          <p:nvPr/>
        </p:nvSpPr>
        <p:spPr>
          <a:xfrm>
            <a:off x="3087563" y="3246120"/>
            <a:ext cx="1487363" cy="2651760"/>
          </a:xfrm>
          <a:prstGeom prst="rect">
            <a:avLst/>
          </a:prstGeom>
          <a:noFill/>
          <a:ln/>
        </p:spPr>
        <p:txBody>
          <a:bodyPr wrap="square" lIns="0" tIns="0" rIns="0" bIns="0" rtlCol="0" anchor="t"/>
          <a:lstStyle/>
          <a:p>
            <a:pPr marL="0" indent="0">
              <a:buNone/>
            </a:pPr>
            <a:r>
              <a:rPr lang="en-US" sz="1350" dirty="0">
                <a:solidFill>
                  <a:srgbClr val="1C2330"/>
                </a:solidFill>
                <a:latin typeface="Calibri" pitchFamily="34" charset="0"/>
                <a:ea typeface="Calibri" pitchFamily="34" charset="-122"/>
                <a:cs typeface="Calibri" pitchFamily="34" charset="-120"/>
              </a:rPr>
              <a:t>Potential customers early in the sales process who have not yet made a binder payment. Once paid, they become members, with a delay of up to 24 hours.</a:t>
            </a:r>
            <a:endParaRPr lang="en-US" sz="1350" dirty="0"/>
          </a:p>
        </p:txBody>
      </p:sp>
      <p:sp>
        <p:nvSpPr>
          <p:cNvPr id="27" name="Shape 23"/>
          <p:cNvSpPr/>
          <p:nvPr/>
        </p:nvSpPr>
        <p:spPr>
          <a:xfrm>
            <a:off x="5077846" y="1554480"/>
            <a:ext cx="2036003" cy="4572000"/>
          </a:xfrm>
          <a:prstGeom prst="roundRect">
            <a:avLst>
              <a:gd name="adj" fmla="val 2695"/>
            </a:avLst>
          </a:prstGeom>
          <a:solidFill>
            <a:srgbClr val="F1F3F6"/>
          </a:solidFill>
          <a:ln/>
        </p:spPr>
        <p:txBody>
          <a:bodyPr/>
          <a:lstStyle/>
          <a:p>
            <a:endParaRPr lang="en-US"/>
          </a:p>
        </p:txBody>
      </p:sp>
      <p:sp>
        <p:nvSpPr>
          <p:cNvPr id="28" name="Shape 24"/>
          <p:cNvSpPr/>
          <p:nvPr/>
        </p:nvSpPr>
        <p:spPr>
          <a:xfrm>
            <a:off x="5352166" y="1874520"/>
            <a:ext cx="731520" cy="731520"/>
          </a:xfrm>
          <a:prstGeom prst="ellipse">
            <a:avLst/>
          </a:prstGeom>
          <a:solidFill>
            <a:srgbClr val="1F4FB8"/>
          </a:solidFill>
          <a:ln/>
        </p:spPr>
        <p:txBody>
          <a:bodyPr/>
          <a:lstStyle/>
          <a:p>
            <a:endParaRPr lang="en-US"/>
          </a:p>
        </p:txBody>
      </p:sp>
      <p:pic>
        <p:nvPicPr>
          <p:cNvPr id="29" name="Image 2" descr="preencoded.png"/>
          <p:cNvPicPr>
            <a:picLocks noChangeAspect="1"/>
          </p:cNvPicPr>
          <p:nvPr/>
        </p:nvPicPr>
        <p:blipFill>
          <a:blip r:embed="rId5"/>
          <a:stretch>
            <a:fillRect/>
          </a:stretch>
        </p:blipFill>
        <p:spPr>
          <a:xfrm>
            <a:off x="5542361" y="2064715"/>
            <a:ext cx="351130" cy="351130"/>
          </a:xfrm>
          <a:prstGeom prst="rect">
            <a:avLst/>
          </a:prstGeom>
        </p:spPr>
      </p:pic>
      <p:sp>
        <p:nvSpPr>
          <p:cNvPr id="30" name="Text 25"/>
          <p:cNvSpPr txBox="1"/>
          <p:nvPr/>
        </p:nvSpPr>
        <p:spPr>
          <a:xfrm>
            <a:off x="5352166" y="2788920"/>
            <a:ext cx="1487363" cy="365760"/>
          </a:xfrm>
          <a:prstGeom prst="rect">
            <a:avLst/>
          </a:prstGeom>
          <a:noFill/>
          <a:ln/>
        </p:spPr>
        <p:txBody>
          <a:bodyPr wrap="square" lIns="0" tIns="0" rIns="0" bIns="0" rtlCol="0" anchor="t"/>
          <a:lstStyle/>
          <a:p>
            <a:pPr marL="0" indent="0">
              <a:buNone/>
            </a:pPr>
            <a:r>
              <a:rPr lang="en-US" sz="1800" b="1" dirty="0">
                <a:solidFill>
                  <a:srgbClr val="1C2330"/>
                </a:solidFill>
                <a:latin typeface="Calibri" pitchFamily="34" charset="0"/>
                <a:ea typeface="Calibri" pitchFamily="34" charset="-122"/>
                <a:cs typeface="Calibri" pitchFamily="34" charset="-120"/>
              </a:rPr>
              <a:t>Delegates</a:t>
            </a:r>
            <a:endParaRPr lang="en-US" sz="1800" dirty="0"/>
          </a:p>
        </p:txBody>
      </p:sp>
      <p:sp>
        <p:nvSpPr>
          <p:cNvPr id="31" name="Text 26"/>
          <p:cNvSpPr txBox="1"/>
          <p:nvPr/>
        </p:nvSpPr>
        <p:spPr>
          <a:xfrm>
            <a:off x="5352166" y="3246120"/>
            <a:ext cx="1487363" cy="2651760"/>
          </a:xfrm>
          <a:prstGeom prst="rect">
            <a:avLst/>
          </a:prstGeom>
          <a:noFill/>
          <a:ln/>
        </p:spPr>
        <p:txBody>
          <a:bodyPr wrap="square" lIns="0" tIns="0" rIns="0" bIns="0" rtlCol="0" anchor="t"/>
          <a:lstStyle/>
          <a:p>
            <a:pPr marL="0" indent="0">
              <a:buNone/>
            </a:pPr>
            <a:r>
              <a:rPr lang="en-US" sz="1350" dirty="0">
                <a:solidFill>
                  <a:srgbClr val="1C2330"/>
                </a:solidFill>
                <a:latin typeface="Calibri" pitchFamily="34" charset="0"/>
                <a:ea typeface="Calibri" pitchFamily="34" charset="-122"/>
                <a:cs typeface="Calibri" pitchFamily="34" charset="-120"/>
              </a:rPr>
              <a:t>Member-designated users, including caregivers, with read and write access to the member experience. Limited capabilities, no digital interoperability, not applicable to ASO.</a:t>
            </a:r>
            <a:endParaRPr lang="en-US" sz="1350" dirty="0"/>
          </a:p>
        </p:txBody>
      </p:sp>
      <p:sp>
        <p:nvSpPr>
          <p:cNvPr id="32" name="Shape 27"/>
          <p:cNvSpPr/>
          <p:nvPr/>
        </p:nvSpPr>
        <p:spPr>
          <a:xfrm>
            <a:off x="7342449" y="1554480"/>
            <a:ext cx="2036003" cy="4572000"/>
          </a:xfrm>
          <a:prstGeom prst="roundRect">
            <a:avLst>
              <a:gd name="adj" fmla="val 2695"/>
            </a:avLst>
          </a:prstGeom>
          <a:solidFill>
            <a:srgbClr val="F1F3F6"/>
          </a:solidFill>
          <a:ln/>
        </p:spPr>
        <p:txBody>
          <a:bodyPr/>
          <a:lstStyle/>
          <a:p>
            <a:endParaRPr lang="en-US"/>
          </a:p>
        </p:txBody>
      </p:sp>
      <p:sp>
        <p:nvSpPr>
          <p:cNvPr id="33" name="Shape 28"/>
          <p:cNvSpPr/>
          <p:nvPr/>
        </p:nvSpPr>
        <p:spPr>
          <a:xfrm>
            <a:off x="7616769" y="1874520"/>
            <a:ext cx="731520" cy="731520"/>
          </a:xfrm>
          <a:prstGeom prst="ellipse">
            <a:avLst/>
          </a:prstGeom>
          <a:solidFill>
            <a:srgbClr val="1F4FB8"/>
          </a:solidFill>
          <a:ln/>
        </p:spPr>
        <p:txBody>
          <a:bodyPr/>
          <a:lstStyle/>
          <a:p>
            <a:endParaRPr lang="en-US"/>
          </a:p>
        </p:txBody>
      </p:sp>
      <p:pic>
        <p:nvPicPr>
          <p:cNvPr id="34" name="Image 3" descr="preencoded.png"/>
          <p:cNvPicPr>
            <a:picLocks noChangeAspect="1"/>
          </p:cNvPicPr>
          <p:nvPr/>
        </p:nvPicPr>
        <p:blipFill>
          <a:blip r:embed="rId6"/>
          <a:stretch>
            <a:fillRect/>
          </a:stretch>
        </p:blipFill>
        <p:spPr>
          <a:xfrm>
            <a:off x="7806964" y="2064715"/>
            <a:ext cx="351130" cy="351130"/>
          </a:xfrm>
          <a:prstGeom prst="rect">
            <a:avLst/>
          </a:prstGeom>
        </p:spPr>
      </p:pic>
      <p:sp>
        <p:nvSpPr>
          <p:cNvPr id="35" name="Text 29"/>
          <p:cNvSpPr txBox="1"/>
          <p:nvPr/>
        </p:nvSpPr>
        <p:spPr>
          <a:xfrm>
            <a:off x="7616769" y="2788920"/>
            <a:ext cx="1487363" cy="365760"/>
          </a:xfrm>
          <a:prstGeom prst="rect">
            <a:avLst/>
          </a:prstGeom>
          <a:noFill/>
          <a:ln/>
        </p:spPr>
        <p:txBody>
          <a:bodyPr wrap="square" lIns="0" tIns="0" rIns="0" bIns="0" rtlCol="0" anchor="t"/>
          <a:lstStyle/>
          <a:p>
            <a:pPr marL="0" indent="0">
              <a:buNone/>
            </a:pPr>
            <a:r>
              <a:rPr lang="en-US" sz="1800" b="1" dirty="0">
                <a:solidFill>
                  <a:srgbClr val="1C2330"/>
                </a:solidFill>
                <a:latin typeface="Calibri" pitchFamily="34" charset="0"/>
                <a:ea typeface="Calibri" pitchFamily="34" charset="-122"/>
                <a:cs typeface="Calibri" pitchFamily="34" charset="-120"/>
              </a:rPr>
              <a:t>Agents</a:t>
            </a:r>
            <a:endParaRPr lang="en-US" sz="1800" dirty="0"/>
          </a:p>
        </p:txBody>
      </p:sp>
      <p:sp>
        <p:nvSpPr>
          <p:cNvPr id="36" name="Text 30"/>
          <p:cNvSpPr txBox="1"/>
          <p:nvPr/>
        </p:nvSpPr>
        <p:spPr>
          <a:xfrm>
            <a:off x="7616769" y="3246120"/>
            <a:ext cx="1487363" cy="2651760"/>
          </a:xfrm>
          <a:prstGeom prst="rect">
            <a:avLst/>
          </a:prstGeom>
          <a:noFill/>
          <a:ln/>
        </p:spPr>
        <p:txBody>
          <a:bodyPr wrap="square" lIns="0" tIns="0" rIns="0" bIns="0" rtlCol="0" anchor="t"/>
          <a:lstStyle/>
          <a:p>
            <a:pPr marL="0" indent="0">
              <a:buNone/>
            </a:pPr>
            <a:r>
              <a:rPr lang="en-US" sz="1350" dirty="0">
                <a:solidFill>
                  <a:srgbClr val="1C2330"/>
                </a:solidFill>
                <a:latin typeface="Calibri" pitchFamily="34" charset="0"/>
                <a:ea typeface="Calibri" pitchFamily="34" charset="-122"/>
                <a:cs typeface="Calibri" pitchFamily="34" charset="-120"/>
              </a:rPr>
              <a:t>Licensed professionals who help individuals, families and employers select and enroll in coverage.</a:t>
            </a:r>
            <a:endParaRPr lang="en-US" sz="1350" dirty="0"/>
          </a:p>
        </p:txBody>
      </p:sp>
      <p:sp>
        <p:nvSpPr>
          <p:cNvPr id="37" name="Shape 31"/>
          <p:cNvSpPr/>
          <p:nvPr/>
        </p:nvSpPr>
        <p:spPr>
          <a:xfrm>
            <a:off x="9607052" y="1554480"/>
            <a:ext cx="2036003" cy="4572000"/>
          </a:xfrm>
          <a:prstGeom prst="roundRect">
            <a:avLst>
              <a:gd name="adj" fmla="val 2695"/>
            </a:avLst>
          </a:prstGeom>
          <a:solidFill>
            <a:srgbClr val="F1F3F6"/>
          </a:solidFill>
          <a:ln/>
        </p:spPr>
        <p:txBody>
          <a:bodyPr/>
          <a:lstStyle/>
          <a:p>
            <a:endParaRPr lang="en-US"/>
          </a:p>
        </p:txBody>
      </p:sp>
      <p:sp>
        <p:nvSpPr>
          <p:cNvPr id="38" name="Shape 32"/>
          <p:cNvSpPr/>
          <p:nvPr/>
        </p:nvSpPr>
        <p:spPr>
          <a:xfrm>
            <a:off x="9881372" y="1874520"/>
            <a:ext cx="731520" cy="731520"/>
          </a:xfrm>
          <a:prstGeom prst="ellipse">
            <a:avLst/>
          </a:prstGeom>
          <a:solidFill>
            <a:srgbClr val="1F4FB8"/>
          </a:solidFill>
          <a:ln/>
        </p:spPr>
        <p:txBody>
          <a:bodyPr/>
          <a:lstStyle/>
          <a:p>
            <a:endParaRPr lang="en-US"/>
          </a:p>
        </p:txBody>
      </p:sp>
      <p:pic>
        <p:nvPicPr>
          <p:cNvPr id="39" name="Image 4" descr="preencoded.png"/>
          <p:cNvPicPr>
            <a:picLocks noChangeAspect="1"/>
          </p:cNvPicPr>
          <p:nvPr/>
        </p:nvPicPr>
        <p:blipFill>
          <a:blip r:embed="rId7"/>
          <a:stretch>
            <a:fillRect/>
          </a:stretch>
        </p:blipFill>
        <p:spPr>
          <a:xfrm>
            <a:off x="10071567" y="2064715"/>
            <a:ext cx="351130" cy="351130"/>
          </a:xfrm>
          <a:prstGeom prst="rect">
            <a:avLst/>
          </a:prstGeom>
        </p:spPr>
      </p:pic>
      <p:sp>
        <p:nvSpPr>
          <p:cNvPr id="40" name="Text 33"/>
          <p:cNvSpPr txBox="1"/>
          <p:nvPr/>
        </p:nvSpPr>
        <p:spPr>
          <a:xfrm>
            <a:off x="9881372" y="2788920"/>
            <a:ext cx="1487363" cy="365760"/>
          </a:xfrm>
          <a:prstGeom prst="rect">
            <a:avLst/>
          </a:prstGeom>
          <a:noFill/>
          <a:ln/>
        </p:spPr>
        <p:txBody>
          <a:bodyPr wrap="square" lIns="0" tIns="0" rIns="0" bIns="0" rtlCol="0" anchor="t"/>
          <a:lstStyle/>
          <a:p>
            <a:pPr marL="0" indent="0">
              <a:buNone/>
            </a:pPr>
            <a:r>
              <a:rPr lang="en-US" sz="1800" b="1" dirty="0">
                <a:solidFill>
                  <a:srgbClr val="1C2330"/>
                </a:solidFill>
                <a:latin typeface="Calibri" pitchFamily="34" charset="0"/>
                <a:ea typeface="Calibri" pitchFamily="34" charset="-122"/>
                <a:cs typeface="Calibri" pitchFamily="34" charset="-120"/>
              </a:rPr>
              <a:t>Providers</a:t>
            </a:r>
            <a:endParaRPr lang="en-US" sz="1800" dirty="0"/>
          </a:p>
        </p:txBody>
      </p:sp>
      <p:sp>
        <p:nvSpPr>
          <p:cNvPr id="41" name="Text 34"/>
          <p:cNvSpPr txBox="1"/>
          <p:nvPr/>
        </p:nvSpPr>
        <p:spPr>
          <a:xfrm>
            <a:off x="9881372" y="3246120"/>
            <a:ext cx="1487363" cy="2651760"/>
          </a:xfrm>
          <a:prstGeom prst="rect">
            <a:avLst/>
          </a:prstGeom>
          <a:noFill/>
          <a:ln/>
        </p:spPr>
        <p:txBody>
          <a:bodyPr wrap="square" lIns="0" tIns="0" rIns="0" bIns="0" rtlCol="0" anchor="t"/>
          <a:lstStyle/>
          <a:p>
            <a:pPr marL="0" indent="0">
              <a:buNone/>
            </a:pPr>
            <a:r>
              <a:rPr lang="en-US" sz="1350" dirty="0">
                <a:solidFill>
                  <a:srgbClr val="1C2330"/>
                </a:solidFill>
                <a:latin typeface="Calibri" pitchFamily="34" charset="0"/>
                <a:ea typeface="Calibri" pitchFamily="34" charset="-122"/>
                <a:cs typeface="Calibri" pitchFamily="34" charset="-120"/>
              </a:rPr>
              <a:t>Healthcare professionals and facilities that deliver medical services to insured members.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txBody>
          <a:bodyPr/>
          <a:lstStyle/>
          <a:p>
            <a:endParaRPr lang="en-US"/>
          </a:p>
        </p:txBody>
      </p:sp>
      <p:sp>
        <p:nvSpPr>
          <p:cNvPr id="3" name="Text 1"/>
          <p:cNvSpPr txBox="1"/>
          <p:nvPr/>
        </p:nvSpPr>
        <p:spPr>
          <a:xfrm>
            <a:off x="548640" y="237744"/>
            <a:ext cx="7772400" cy="256032"/>
          </a:xfrm>
          <a:prstGeom prst="rect">
            <a:avLst/>
          </a:prstGeom>
          <a:noFill/>
          <a:ln/>
        </p:spPr>
        <p:txBody>
          <a:bodyPr wrap="square" lIns="0" tIns="0" rIns="0" bIns="0" rtlCol="0" anchor="t"/>
          <a:lstStyle/>
          <a:p>
            <a:pPr marL="0" indent="0">
              <a:buNone/>
            </a:pPr>
            <a:r>
              <a:rPr lang="en-US" sz="1100" b="1" kern="0" spc="400" dirty="0">
                <a:solidFill>
                  <a:srgbClr val="E8612C"/>
                </a:solidFill>
                <a:latin typeface="Calibri" pitchFamily="34" charset="0"/>
                <a:ea typeface="Calibri" pitchFamily="34" charset="-122"/>
                <a:cs typeface="Calibri" pitchFamily="34" charset="-120"/>
              </a:rPr>
              <a:t>CAPABILITIES</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Six platform capabilities</a:t>
            </a:r>
            <a:endParaRPr lang="en-US" sz="27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marL="0" indent="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marL="0" indent="0" algn="r">
              <a:buNone/>
            </a:pPr>
            <a:r>
              <a:rPr lang="en-US" sz="900" dirty="0">
                <a:solidFill>
                  <a:srgbClr val="596273"/>
                </a:solidFill>
                <a:latin typeface="Calibri" pitchFamily="34" charset="0"/>
                <a:ea typeface="Calibri" pitchFamily="34" charset="-122"/>
                <a:cs typeface="Calibri" pitchFamily="34" charset="-120"/>
              </a:rPr>
              <a:t>10</a:t>
            </a:r>
            <a:endParaRPr lang="en-US" sz="900" dirty="0"/>
          </a:p>
        </p:txBody>
      </p:sp>
      <p:sp>
        <p:nvSpPr>
          <p:cNvPr id="9" name="Shape 7"/>
          <p:cNvSpPr/>
          <p:nvPr/>
        </p:nvSpPr>
        <p:spPr>
          <a:xfrm>
            <a:off x="548640" y="1508760"/>
            <a:ext cx="3515258" cy="2240280"/>
          </a:xfrm>
          <a:prstGeom prst="roundRect">
            <a:avLst>
              <a:gd name="adj" fmla="val 2449"/>
            </a:avLst>
          </a:prstGeom>
          <a:solidFill>
            <a:srgbClr val="F1F3F6"/>
          </a:solidFill>
          <a:ln/>
        </p:spPr>
        <p:txBody>
          <a:bodyPr/>
          <a:lstStyle/>
          <a:p>
            <a:endParaRPr lang="en-US"/>
          </a:p>
        </p:txBody>
      </p:sp>
      <p:sp>
        <p:nvSpPr>
          <p:cNvPr id="10" name="Shape 8"/>
          <p:cNvSpPr/>
          <p:nvPr/>
        </p:nvSpPr>
        <p:spPr>
          <a:xfrm>
            <a:off x="822960" y="1783080"/>
            <a:ext cx="566928" cy="566928"/>
          </a:xfrm>
          <a:prstGeom prst="ellipse">
            <a:avLst/>
          </a:prstGeom>
          <a:solidFill>
            <a:srgbClr val="1F4FB8"/>
          </a:solidFill>
          <a:ln/>
        </p:spPr>
        <p:txBody>
          <a:bodyPr/>
          <a:lstStyle/>
          <a:p>
            <a:endParaRPr lang="en-US"/>
          </a:p>
        </p:txBody>
      </p:sp>
      <p:pic>
        <p:nvPicPr>
          <p:cNvPr id="11" name="Image 0" descr="preencoded.png"/>
          <p:cNvPicPr>
            <a:picLocks noChangeAspect="1"/>
          </p:cNvPicPr>
          <p:nvPr/>
        </p:nvPicPr>
        <p:blipFill>
          <a:blip r:embed="rId3"/>
          <a:stretch>
            <a:fillRect/>
          </a:stretch>
        </p:blipFill>
        <p:spPr>
          <a:xfrm>
            <a:off x="970361" y="1930481"/>
            <a:ext cx="272125" cy="272125"/>
          </a:xfrm>
          <a:prstGeom prst="rect">
            <a:avLst/>
          </a:prstGeom>
        </p:spPr>
      </p:pic>
      <p:sp>
        <p:nvSpPr>
          <p:cNvPr id="12" name="Text 9"/>
          <p:cNvSpPr txBox="1"/>
          <p:nvPr/>
        </p:nvSpPr>
        <p:spPr>
          <a:xfrm>
            <a:off x="1554480" y="1783080"/>
            <a:ext cx="2326538" cy="566928"/>
          </a:xfrm>
          <a:prstGeom prst="rect">
            <a:avLst/>
          </a:prstGeom>
          <a:noFill/>
          <a:ln/>
        </p:spPr>
        <p:txBody>
          <a:bodyPr wrap="square" lIns="0" tIns="0" rIns="0" bIns="0" rtlCol="0" anchor="ctr"/>
          <a:lstStyle/>
          <a:p>
            <a:pPr marL="0" indent="0">
              <a:buNone/>
            </a:pPr>
            <a:r>
              <a:rPr lang="en-US" sz="1700" b="1" dirty="0">
                <a:solidFill>
                  <a:srgbClr val="1C2330"/>
                </a:solidFill>
                <a:latin typeface="Calibri" pitchFamily="34" charset="0"/>
                <a:ea typeface="Calibri" pitchFamily="34" charset="-122"/>
                <a:cs typeface="Calibri" pitchFamily="34" charset="-120"/>
              </a:rPr>
              <a:t>Preprocessor (batch)</a:t>
            </a:r>
            <a:endParaRPr lang="en-US" sz="1700" dirty="0"/>
          </a:p>
        </p:txBody>
      </p:sp>
      <p:sp>
        <p:nvSpPr>
          <p:cNvPr id="13" name="Text 10"/>
          <p:cNvSpPr txBox="1"/>
          <p:nvPr/>
        </p:nvSpPr>
        <p:spPr>
          <a:xfrm>
            <a:off x="822960" y="2514600"/>
            <a:ext cx="2966618" cy="1143000"/>
          </a:xfrm>
          <a:prstGeom prst="rect">
            <a:avLst/>
          </a:prstGeom>
          <a:noFill/>
          <a:ln/>
        </p:spPr>
        <p:txBody>
          <a:bodyPr wrap="square" lIns="0" tIns="0" rIns="0" bIns="0" rtlCol="0" anchor="t"/>
          <a:lstStyle/>
          <a:p>
            <a:pPr marL="0" indent="0">
              <a:buNone/>
            </a:pPr>
            <a:r>
              <a:rPr lang="en-US" sz="1400" dirty="0">
                <a:solidFill>
                  <a:srgbClr val="1C2330"/>
                </a:solidFill>
                <a:latin typeface="Calibri" pitchFamily="34" charset="0"/>
                <a:ea typeface="Calibri" pitchFamily="34" charset="-122"/>
                <a:cs typeface="Calibri" pitchFamily="34" charset="-120"/>
              </a:rPr>
              <a:t>High-volume, scheduled communications. IT and business users create and maintain print, email and SMS/MMS communications from input files.</a:t>
            </a:r>
            <a:endParaRPr lang="en-US" sz="1400" dirty="0"/>
          </a:p>
        </p:txBody>
      </p:sp>
      <p:sp>
        <p:nvSpPr>
          <p:cNvPr id="14" name="Shape 11"/>
          <p:cNvSpPr/>
          <p:nvPr/>
        </p:nvSpPr>
        <p:spPr>
          <a:xfrm>
            <a:off x="4338218" y="1508760"/>
            <a:ext cx="3515258" cy="2240280"/>
          </a:xfrm>
          <a:prstGeom prst="roundRect">
            <a:avLst>
              <a:gd name="adj" fmla="val 2449"/>
            </a:avLst>
          </a:prstGeom>
          <a:solidFill>
            <a:srgbClr val="F1F3F6"/>
          </a:solidFill>
          <a:ln/>
        </p:spPr>
        <p:txBody>
          <a:bodyPr/>
          <a:lstStyle/>
          <a:p>
            <a:endParaRPr lang="en-US"/>
          </a:p>
        </p:txBody>
      </p:sp>
      <p:sp>
        <p:nvSpPr>
          <p:cNvPr id="15" name="Shape 12"/>
          <p:cNvSpPr/>
          <p:nvPr/>
        </p:nvSpPr>
        <p:spPr>
          <a:xfrm>
            <a:off x="4612538" y="1783080"/>
            <a:ext cx="566928" cy="566928"/>
          </a:xfrm>
          <a:prstGeom prst="ellipse">
            <a:avLst/>
          </a:prstGeom>
          <a:solidFill>
            <a:srgbClr val="1F4FB8"/>
          </a:solidFill>
          <a:ln/>
        </p:spPr>
        <p:txBody>
          <a:bodyPr/>
          <a:lstStyle/>
          <a:p>
            <a:endParaRPr lang="en-US"/>
          </a:p>
        </p:txBody>
      </p:sp>
      <p:pic>
        <p:nvPicPr>
          <p:cNvPr id="16" name="Image 1" descr="preencoded.png"/>
          <p:cNvPicPr>
            <a:picLocks noChangeAspect="1"/>
          </p:cNvPicPr>
          <p:nvPr/>
        </p:nvPicPr>
        <p:blipFill>
          <a:blip r:embed="rId4"/>
          <a:stretch>
            <a:fillRect/>
          </a:stretch>
        </p:blipFill>
        <p:spPr>
          <a:xfrm>
            <a:off x="4759940" y="1930481"/>
            <a:ext cx="272125" cy="272125"/>
          </a:xfrm>
          <a:prstGeom prst="rect">
            <a:avLst/>
          </a:prstGeom>
        </p:spPr>
      </p:pic>
      <p:sp>
        <p:nvSpPr>
          <p:cNvPr id="17" name="Text 13"/>
          <p:cNvSpPr txBox="1"/>
          <p:nvPr/>
        </p:nvSpPr>
        <p:spPr>
          <a:xfrm>
            <a:off x="5344058" y="1783080"/>
            <a:ext cx="2326538" cy="566928"/>
          </a:xfrm>
          <a:prstGeom prst="rect">
            <a:avLst/>
          </a:prstGeom>
          <a:noFill/>
          <a:ln/>
        </p:spPr>
        <p:txBody>
          <a:bodyPr wrap="square" lIns="0" tIns="0" rIns="0" bIns="0" rtlCol="0" anchor="ctr"/>
          <a:lstStyle/>
          <a:p>
            <a:pPr marL="0" indent="0">
              <a:buNone/>
            </a:pPr>
            <a:r>
              <a:rPr lang="en-US" sz="1700" b="1" dirty="0">
                <a:solidFill>
                  <a:srgbClr val="1C2330"/>
                </a:solidFill>
                <a:latin typeface="Calibri" pitchFamily="34" charset="0"/>
                <a:ea typeface="Calibri" pitchFamily="34" charset="-122"/>
                <a:cs typeface="Calibri" pitchFamily="34" charset="-120"/>
              </a:rPr>
              <a:t>CCM API (real-time)</a:t>
            </a:r>
            <a:endParaRPr lang="en-US" sz="1700" dirty="0"/>
          </a:p>
        </p:txBody>
      </p:sp>
      <p:sp>
        <p:nvSpPr>
          <p:cNvPr id="18" name="Text 14"/>
          <p:cNvSpPr txBox="1"/>
          <p:nvPr/>
        </p:nvSpPr>
        <p:spPr>
          <a:xfrm>
            <a:off x="4612538" y="2514600"/>
            <a:ext cx="2966618" cy="1143000"/>
          </a:xfrm>
          <a:prstGeom prst="rect">
            <a:avLst/>
          </a:prstGeom>
          <a:noFill/>
          <a:ln/>
        </p:spPr>
        <p:txBody>
          <a:bodyPr wrap="square" lIns="0" tIns="0" rIns="0" bIns="0" rtlCol="0" anchor="t"/>
          <a:lstStyle/>
          <a:p>
            <a:pPr marL="0" indent="0">
              <a:buNone/>
            </a:pPr>
            <a:r>
              <a:rPr lang="en-US" sz="1400" dirty="0">
                <a:solidFill>
                  <a:srgbClr val="1C2330"/>
                </a:solidFill>
                <a:latin typeface="Calibri" pitchFamily="34" charset="0"/>
                <a:ea typeface="Calibri" pitchFamily="34" charset="-122"/>
                <a:cs typeface="Calibri" pitchFamily="34" charset="-120"/>
              </a:rPr>
              <a:t>REST service that validates, ingests and enriches data from source systems for Inspire, one request at a time.</a:t>
            </a:r>
            <a:endParaRPr lang="en-US" sz="1400" dirty="0"/>
          </a:p>
        </p:txBody>
      </p:sp>
      <p:sp>
        <p:nvSpPr>
          <p:cNvPr id="19" name="Shape 15"/>
          <p:cNvSpPr/>
          <p:nvPr/>
        </p:nvSpPr>
        <p:spPr>
          <a:xfrm>
            <a:off x="8127797" y="1508760"/>
            <a:ext cx="3515258" cy="2240280"/>
          </a:xfrm>
          <a:prstGeom prst="roundRect">
            <a:avLst>
              <a:gd name="adj" fmla="val 2449"/>
            </a:avLst>
          </a:prstGeom>
          <a:solidFill>
            <a:srgbClr val="F1F3F6"/>
          </a:solidFill>
          <a:ln/>
        </p:spPr>
        <p:txBody>
          <a:bodyPr/>
          <a:lstStyle/>
          <a:p>
            <a:endParaRPr lang="en-US"/>
          </a:p>
        </p:txBody>
      </p:sp>
      <p:sp>
        <p:nvSpPr>
          <p:cNvPr id="20" name="Shape 16"/>
          <p:cNvSpPr/>
          <p:nvPr/>
        </p:nvSpPr>
        <p:spPr>
          <a:xfrm>
            <a:off x="8402117" y="1783080"/>
            <a:ext cx="566928" cy="566928"/>
          </a:xfrm>
          <a:prstGeom prst="ellipse">
            <a:avLst/>
          </a:prstGeom>
          <a:solidFill>
            <a:srgbClr val="1F4FB8"/>
          </a:solidFill>
          <a:ln/>
        </p:spPr>
        <p:txBody>
          <a:bodyPr/>
          <a:lstStyle/>
          <a:p>
            <a:endParaRPr lang="en-US"/>
          </a:p>
        </p:txBody>
      </p:sp>
      <p:pic>
        <p:nvPicPr>
          <p:cNvPr id="21" name="Image 2" descr="preencoded.png"/>
          <p:cNvPicPr>
            <a:picLocks noChangeAspect="1"/>
          </p:cNvPicPr>
          <p:nvPr/>
        </p:nvPicPr>
        <p:blipFill>
          <a:blip r:embed="rId5"/>
          <a:stretch>
            <a:fillRect/>
          </a:stretch>
        </p:blipFill>
        <p:spPr>
          <a:xfrm>
            <a:off x="8549518" y="1930481"/>
            <a:ext cx="272125" cy="272125"/>
          </a:xfrm>
          <a:prstGeom prst="rect">
            <a:avLst/>
          </a:prstGeom>
        </p:spPr>
      </p:pic>
      <p:sp>
        <p:nvSpPr>
          <p:cNvPr id="22" name="Text 17"/>
          <p:cNvSpPr txBox="1"/>
          <p:nvPr/>
        </p:nvSpPr>
        <p:spPr>
          <a:xfrm>
            <a:off x="9133637" y="1783080"/>
            <a:ext cx="2326538" cy="566928"/>
          </a:xfrm>
          <a:prstGeom prst="rect">
            <a:avLst/>
          </a:prstGeom>
          <a:noFill/>
          <a:ln/>
        </p:spPr>
        <p:txBody>
          <a:bodyPr wrap="square" lIns="0" tIns="0" rIns="0" bIns="0" rtlCol="0" anchor="ctr"/>
          <a:lstStyle/>
          <a:p>
            <a:pPr marL="0" indent="0">
              <a:buNone/>
            </a:pPr>
            <a:r>
              <a:rPr lang="en-US" sz="1700" b="1" dirty="0">
                <a:solidFill>
                  <a:srgbClr val="1C2330"/>
                </a:solidFill>
                <a:latin typeface="Calibri" pitchFamily="34" charset="0"/>
                <a:ea typeface="Calibri" pitchFamily="34" charset="-122"/>
                <a:cs typeface="Calibri" pitchFamily="34" charset="-120"/>
              </a:rPr>
              <a:t>On-demand reusable UI</a:t>
            </a:r>
            <a:endParaRPr lang="en-US" sz="1700" dirty="0"/>
          </a:p>
        </p:txBody>
      </p:sp>
      <p:sp>
        <p:nvSpPr>
          <p:cNvPr id="23" name="Text 18"/>
          <p:cNvSpPr txBox="1"/>
          <p:nvPr/>
        </p:nvSpPr>
        <p:spPr>
          <a:xfrm>
            <a:off x="8402117" y="2514600"/>
            <a:ext cx="2966618" cy="1143000"/>
          </a:xfrm>
          <a:prstGeom prst="rect">
            <a:avLst/>
          </a:prstGeom>
          <a:noFill/>
          <a:ln/>
        </p:spPr>
        <p:txBody>
          <a:bodyPr wrap="square" lIns="0" tIns="0" rIns="0" bIns="0" rtlCol="0" anchor="t"/>
          <a:lstStyle/>
          <a:p>
            <a:pPr marL="0" indent="0">
              <a:buNone/>
            </a:pPr>
            <a:r>
              <a:rPr lang="en-US" sz="1400" dirty="0">
                <a:solidFill>
                  <a:srgbClr val="1C2330"/>
                </a:solidFill>
                <a:latin typeface="Calibri" pitchFamily="34" charset="0"/>
                <a:ea typeface="Calibri" pitchFamily="34" charset="-122"/>
                <a:cs typeface="Calibri" pitchFamily="34" charset="-120"/>
              </a:rPr>
              <a:t>Embedded letter builder. Staff in EWoC, Claims Workflow and OPL/Quest choose an entitled template and compose the letter in Inspire Interactive.</a:t>
            </a:r>
            <a:endParaRPr lang="en-US" sz="1400" dirty="0"/>
          </a:p>
        </p:txBody>
      </p:sp>
      <p:sp>
        <p:nvSpPr>
          <p:cNvPr id="24" name="Shape 19"/>
          <p:cNvSpPr/>
          <p:nvPr/>
        </p:nvSpPr>
        <p:spPr>
          <a:xfrm>
            <a:off x="548640" y="4023360"/>
            <a:ext cx="3515258" cy="2240280"/>
          </a:xfrm>
          <a:prstGeom prst="roundRect">
            <a:avLst>
              <a:gd name="adj" fmla="val 2449"/>
            </a:avLst>
          </a:prstGeom>
          <a:solidFill>
            <a:srgbClr val="F1F3F6"/>
          </a:solidFill>
          <a:ln/>
        </p:spPr>
        <p:txBody>
          <a:bodyPr/>
          <a:lstStyle/>
          <a:p>
            <a:endParaRPr lang="en-US"/>
          </a:p>
        </p:txBody>
      </p:sp>
      <p:sp>
        <p:nvSpPr>
          <p:cNvPr id="25" name="Shape 20"/>
          <p:cNvSpPr/>
          <p:nvPr/>
        </p:nvSpPr>
        <p:spPr>
          <a:xfrm>
            <a:off x="822960" y="4297680"/>
            <a:ext cx="566928" cy="566928"/>
          </a:xfrm>
          <a:prstGeom prst="ellipse">
            <a:avLst/>
          </a:prstGeom>
          <a:solidFill>
            <a:srgbClr val="1F4FB8"/>
          </a:solidFill>
          <a:ln/>
        </p:spPr>
        <p:txBody>
          <a:bodyPr/>
          <a:lstStyle/>
          <a:p>
            <a:endParaRPr lang="en-US"/>
          </a:p>
        </p:txBody>
      </p:sp>
      <p:pic>
        <p:nvPicPr>
          <p:cNvPr id="26" name="Image 3" descr="preencoded.png"/>
          <p:cNvPicPr>
            <a:picLocks noChangeAspect="1"/>
          </p:cNvPicPr>
          <p:nvPr/>
        </p:nvPicPr>
        <p:blipFill>
          <a:blip r:embed="rId6"/>
          <a:stretch>
            <a:fillRect/>
          </a:stretch>
        </p:blipFill>
        <p:spPr>
          <a:xfrm>
            <a:off x="970361" y="4445081"/>
            <a:ext cx="272125" cy="272125"/>
          </a:xfrm>
          <a:prstGeom prst="rect">
            <a:avLst/>
          </a:prstGeom>
        </p:spPr>
      </p:pic>
      <p:sp>
        <p:nvSpPr>
          <p:cNvPr id="27" name="Text 21"/>
          <p:cNvSpPr txBox="1"/>
          <p:nvPr/>
        </p:nvSpPr>
        <p:spPr>
          <a:xfrm>
            <a:off x="1554480" y="4297680"/>
            <a:ext cx="2326538" cy="566928"/>
          </a:xfrm>
          <a:prstGeom prst="rect">
            <a:avLst/>
          </a:prstGeom>
          <a:noFill/>
          <a:ln/>
        </p:spPr>
        <p:txBody>
          <a:bodyPr wrap="square" lIns="0" tIns="0" rIns="0" bIns="0" rtlCol="0" anchor="ctr"/>
          <a:lstStyle/>
          <a:p>
            <a:pPr marL="0" indent="0">
              <a:buNone/>
            </a:pPr>
            <a:r>
              <a:rPr lang="en-US" sz="1700" b="1" dirty="0">
                <a:solidFill>
                  <a:srgbClr val="1C2330"/>
                </a:solidFill>
                <a:latin typeface="Calibri" pitchFamily="34" charset="0"/>
                <a:ea typeface="Calibri" pitchFamily="34" charset="-122"/>
                <a:cs typeface="Calibri" pitchFamily="34" charset="-120"/>
              </a:rPr>
              <a:t>Reconciliation (Recon)</a:t>
            </a:r>
            <a:endParaRPr lang="en-US" sz="1700" dirty="0"/>
          </a:p>
        </p:txBody>
      </p:sp>
      <p:sp>
        <p:nvSpPr>
          <p:cNvPr id="28" name="Text 22"/>
          <p:cNvSpPr txBox="1"/>
          <p:nvPr/>
        </p:nvSpPr>
        <p:spPr>
          <a:xfrm>
            <a:off x="822960" y="5029200"/>
            <a:ext cx="2966618" cy="1143000"/>
          </a:xfrm>
          <a:prstGeom prst="rect">
            <a:avLst/>
          </a:prstGeom>
          <a:noFill/>
          <a:ln/>
        </p:spPr>
        <p:txBody>
          <a:bodyPr wrap="square" lIns="0" tIns="0" rIns="0" bIns="0" rtlCol="0" anchor="t"/>
          <a:lstStyle/>
          <a:p>
            <a:pPr marL="0" indent="0">
              <a:buNone/>
            </a:pPr>
            <a:r>
              <a:rPr lang="en-US" sz="1400" dirty="0">
                <a:solidFill>
                  <a:srgbClr val="1C2330"/>
                </a:solidFill>
                <a:latin typeface="Calibri" pitchFamily="34" charset="0"/>
                <a:ea typeface="Calibri" pitchFamily="34" charset="-122"/>
                <a:cs typeface="Calibri" pitchFamily="34" charset="-120"/>
              </a:rPr>
              <a:t>System of record for every request, delivery status and archived content ID. Supports holds, cancels, suppression and reprints.</a:t>
            </a:r>
            <a:endParaRPr lang="en-US" sz="1400" dirty="0"/>
          </a:p>
        </p:txBody>
      </p:sp>
      <p:sp>
        <p:nvSpPr>
          <p:cNvPr id="29" name="Shape 23"/>
          <p:cNvSpPr/>
          <p:nvPr/>
        </p:nvSpPr>
        <p:spPr>
          <a:xfrm>
            <a:off x="4338218" y="4023360"/>
            <a:ext cx="3515258" cy="2240280"/>
          </a:xfrm>
          <a:prstGeom prst="roundRect">
            <a:avLst>
              <a:gd name="adj" fmla="val 2449"/>
            </a:avLst>
          </a:prstGeom>
          <a:solidFill>
            <a:srgbClr val="F1F3F6"/>
          </a:solidFill>
          <a:ln/>
        </p:spPr>
        <p:txBody>
          <a:bodyPr/>
          <a:lstStyle/>
          <a:p>
            <a:endParaRPr lang="en-US"/>
          </a:p>
        </p:txBody>
      </p:sp>
      <p:sp>
        <p:nvSpPr>
          <p:cNvPr id="30" name="Shape 24"/>
          <p:cNvSpPr/>
          <p:nvPr/>
        </p:nvSpPr>
        <p:spPr>
          <a:xfrm>
            <a:off x="4612538" y="4297680"/>
            <a:ext cx="566928" cy="566928"/>
          </a:xfrm>
          <a:prstGeom prst="ellipse">
            <a:avLst/>
          </a:prstGeom>
          <a:solidFill>
            <a:srgbClr val="1F4FB8"/>
          </a:solidFill>
          <a:ln/>
        </p:spPr>
        <p:txBody>
          <a:bodyPr/>
          <a:lstStyle/>
          <a:p>
            <a:endParaRPr lang="en-US"/>
          </a:p>
        </p:txBody>
      </p:sp>
      <p:pic>
        <p:nvPicPr>
          <p:cNvPr id="31" name="Image 4" descr="preencoded.png"/>
          <p:cNvPicPr>
            <a:picLocks noChangeAspect="1"/>
          </p:cNvPicPr>
          <p:nvPr/>
        </p:nvPicPr>
        <p:blipFill>
          <a:blip r:embed="rId7"/>
          <a:stretch>
            <a:fillRect/>
          </a:stretch>
        </p:blipFill>
        <p:spPr>
          <a:xfrm>
            <a:off x="4759940" y="4445081"/>
            <a:ext cx="272125" cy="272125"/>
          </a:xfrm>
          <a:prstGeom prst="rect">
            <a:avLst/>
          </a:prstGeom>
        </p:spPr>
      </p:pic>
      <p:sp>
        <p:nvSpPr>
          <p:cNvPr id="32" name="Text 25"/>
          <p:cNvSpPr txBox="1"/>
          <p:nvPr/>
        </p:nvSpPr>
        <p:spPr>
          <a:xfrm>
            <a:off x="5344058" y="4297680"/>
            <a:ext cx="2326538" cy="566928"/>
          </a:xfrm>
          <a:prstGeom prst="rect">
            <a:avLst/>
          </a:prstGeom>
          <a:noFill/>
          <a:ln/>
        </p:spPr>
        <p:txBody>
          <a:bodyPr wrap="square" lIns="0" tIns="0" rIns="0" bIns="0" rtlCol="0" anchor="ctr"/>
          <a:lstStyle/>
          <a:p>
            <a:pPr marL="0" indent="0">
              <a:buNone/>
            </a:pPr>
            <a:r>
              <a:rPr lang="en-US" sz="1700" b="1" dirty="0">
                <a:solidFill>
                  <a:srgbClr val="1C2330"/>
                </a:solidFill>
                <a:latin typeface="Calibri" pitchFamily="34" charset="0"/>
                <a:ea typeface="Calibri" pitchFamily="34" charset="-122"/>
                <a:cs typeface="Calibri" pitchFamily="34" charset="-120"/>
              </a:rPr>
              <a:t>URL shortener</a:t>
            </a:r>
            <a:endParaRPr lang="en-US" sz="1700" dirty="0"/>
          </a:p>
        </p:txBody>
      </p:sp>
      <p:sp>
        <p:nvSpPr>
          <p:cNvPr id="33" name="Text 26"/>
          <p:cNvSpPr txBox="1"/>
          <p:nvPr/>
        </p:nvSpPr>
        <p:spPr>
          <a:xfrm>
            <a:off x="4612538" y="5029200"/>
            <a:ext cx="2966618" cy="1143000"/>
          </a:xfrm>
          <a:prstGeom prst="rect">
            <a:avLst/>
          </a:prstGeom>
          <a:noFill/>
          <a:ln/>
        </p:spPr>
        <p:txBody>
          <a:bodyPr wrap="square" lIns="0" tIns="0" rIns="0" bIns="0" rtlCol="0" anchor="t"/>
          <a:lstStyle/>
          <a:p>
            <a:pPr marL="0" indent="0">
              <a:buNone/>
            </a:pPr>
            <a:r>
              <a:rPr lang="en-US" sz="1400" dirty="0">
                <a:solidFill>
                  <a:srgbClr val="1C2330"/>
                </a:solidFill>
                <a:latin typeface="Calibri" pitchFamily="34" charset="0"/>
                <a:ea typeface="Calibri" pitchFamily="34" charset="-122"/>
                <a:cs typeface="Calibri" pitchFamily="34" charset="-120"/>
              </a:rPr>
              <a:t>Creates short links for SMS and digital content through the Recon Dashboard or a REST API.</a:t>
            </a:r>
            <a:endParaRPr lang="en-US" sz="1400" dirty="0"/>
          </a:p>
        </p:txBody>
      </p:sp>
      <p:sp>
        <p:nvSpPr>
          <p:cNvPr id="34" name="Shape 27"/>
          <p:cNvSpPr/>
          <p:nvPr/>
        </p:nvSpPr>
        <p:spPr>
          <a:xfrm>
            <a:off x="8127797" y="4023360"/>
            <a:ext cx="3515258" cy="2240280"/>
          </a:xfrm>
          <a:prstGeom prst="roundRect">
            <a:avLst>
              <a:gd name="adj" fmla="val 2449"/>
            </a:avLst>
          </a:prstGeom>
          <a:solidFill>
            <a:srgbClr val="F1F3F6"/>
          </a:solidFill>
          <a:ln/>
        </p:spPr>
        <p:txBody>
          <a:bodyPr/>
          <a:lstStyle/>
          <a:p>
            <a:endParaRPr lang="en-US"/>
          </a:p>
        </p:txBody>
      </p:sp>
      <p:sp>
        <p:nvSpPr>
          <p:cNvPr id="35" name="Shape 28"/>
          <p:cNvSpPr/>
          <p:nvPr/>
        </p:nvSpPr>
        <p:spPr>
          <a:xfrm>
            <a:off x="8402117" y="4297680"/>
            <a:ext cx="566928" cy="566928"/>
          </a:xfrm>
          <a:prstGeom prst="ellipse">
            <a:avLst/>
          </a:prstGeom>
          <a:solidFill>
            <a:srgbClr val="1F4FB8"/>
          </a:solidFill>
          <a:ln/>
        </p:spPr>
        <p:txBody>
          <a:bodyPr/>
          <a:lstStyle/>
          <a:p>
            <a:endParaRPr lang="en-US"/>
          </a:p>
        </p:txBody>
      </p:sp>
      <p:pic>
        <p:nvPicPr>
          <p:cNvPr id="36" name="Image 5" descr="preencoded.png"/>
          <p:cNvPicPr>
            <a:picLocks noChangeAspect="1"/>
          </p:cNvPicPr>
          <p:nvPr/>
        </p:nvPicPr>
        <p:blipFill>
          <a:blip r:embed="rId8"/>
          <a:stretch>
            <a:fillRect/>
          </a:stretch>
        </p:blipFill>
        <p:spPr>
          <a:xfrm>
            <a:off x="8549518" y="4445081"/>
            <a:ext cx="272125" cy="272125"/>
          </a:xfrm>
          <a:prstGeom prst="rect">
            <a:avLst/>
          </a:prstGeom>
        </p:spPr>
      </p:pic>
      <p:sp>
        <p:nvSpPr>
          <p:cNvPr id="37" name="Text 29"/>
          <p:cNvSpPr txBox="1"/>
          <p:nvPr/>
        </p:nvSpPr>
        <p:spPr>
          <a:xfrm>
            <a:off x="9133637" y="4297680"/>
            <a:ext cx="2326538" cy="566928"/>
          </a:xfrm>
          <a:prstGeom prst="rect">
            <a:avLst/>
          </a:prstGeom>
          <a:noFill/>
          <a:ln/>
        </p:spPr>
        <p:txBody>
          <a:bodyPr wrap="square" lIns="0" tIns="0" rIns="0" bIns="0" rtlCol="0" anchor="ctr"/>
          <a:lstStyle/>
          <a:p>
            <a:pPr marL="0" indent="0">
              <a:buNone/>
            </a:pPr>
            <a:r>
              <a:rPr lang="en-US" sz="1700" b="1" dirty="0">
                <a:solidFill>
                  <a:srgbClr val="1C2330"/>
                </a:solidFill>
                <a:latin typeface="Calibri" pitchFamily="34" charset="0"/>
                <a:ea typeface="Calibri" pitchFamily="34" charset="-122"/>
                <a:cs typeface="Calibri" pitchFamily="34" charset="-120"/>
              </a:rPr>
              <a:t>Reporting</a:t>
            </a:r>
            <a:endParaRPr lang="en-US" sz="1700" dirty="0"/>
          </a:p>
        </p:txBody>
      </p:sp>
      <p:sp>
        <p:nvSpPr>
          <p:cNvPr id="38" name="Text 30"/>
          <p:cNvSpPr txBox="1"/>
          <p:nvPr/>
        </p:nvSpPr>
        <p:spPr>
          <a:xfrm>
            <a:off x="8402117" y="5029200"/>
            <a:ext cx="2966618" cy="1143000"/>
          </a:xfrm>
          <a:prstGeom prst="rect">
            <a:avLst/>
          </a:prstGeom>
          <a:noFill/>
          <a:ln/>
        </p:spPr>
        <p:txBody>
          <a:bodyPr wrap="square" lIns="0" tIns="0" rIns="0" bIns="0" rtlCol="0" anchor="t"/>
          <a:lstStyle/>
          <a:p>
            <a:pPr marL="0" indent="0">
              <a:buNone/>
            </a:pPr>
            <a:r>
              <a:rPr lang="en-US" sz="1400" dirty="0">
                <a:solidFill>
                  <a:srgbClr val="1C2330"/>
                </a:solidFill>
                <a:latin typeface="Calibri" pitchFamily="34" charset="0"/>
                <a:ea typeface="Calibri" pitchFamily="34" charset="-122"/>
                <a:cs typeface="Calibri" pitchFamily="34" charset="-120"/>
              </a:rPr>
              <a:t>Power BI reports on email, SMS/MMS, print and URL activity for auditing, with data extract.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0F1B2D"/>
          </a:solidFill>
          <a:ln/>
        </p:spPr>
        <p:txBody>
          <a:bodyPr/>
          <a:lstStyle/>
          <a:p>
            <a:endParaRPr lang="en-US"/>
          </a:p>
        </p:txBody>
      </p:sp>
      <p:sp>
        <p:nvSpPr>
          <p:cNvPr id="3" name="Text 1"/>
          <p:cNvSpPr txBox="1"/>
          <p:nvPr/>
        </p:nvSpPr>
        <p:spPr>
          <a:xfrm>
            <a:off x="548640" y="237744"/>
            <a:ext cx="7772400" cy="256032"/>
          </a:xfrm>
          <a:prstGeom prst="rect">
            <a:avLst/>
          </a:prstGeom>
          <a:noFill/>
          <a:ln/>
        </p:spPr>
        <p:txBody>
          <a:bodyPr wrap="square" lIns="0" tIns="0" rIns="0" bIns="0" rtlCol="0" anchor="t"/>
          <a:lstStyle/>
          <a:p>
            <a:pPr marL="0" indent="0">
              <a:buNone/>
            </a:pPr>
            <a:r>
              <a:rPr lang="en-US" sz="1100" b="1" kern="0" spc="400" dirty="0">
                <a:solidFill>
                  <a:srgbClr val="E8612C"/>
                </a:solidFill>
                <a:latin typeface="Calibri" pitchFamily="34" charset="0"/>
                <a:ea typeface="Calibri" pitchFamily="34" charset="-122"/>
                <a:cs typeface="Calibri" pitchFamily="34" charset="-120"/>
              </a:rPr>
              <a:t>BUSINESS SELF-SERVICE</a:t>
            </a:r>
            <a:endParaRPr lang="en-US" sz="1100" dirty="0"/>
          </a:p>
        </p:txBody>
      </p:sp>
      <p:sp>
        <p:nvSpPr>
          <p:cNvPr id="4" name="Text 2"/>
          <p:cNvSpPr txBox="1"/>
          <p:nvPr/>
        </p:nvSpPr>
        <p:spPr>
          <a:xfrm>
            <a:off x="548640" y="502920"/>
            <a:ext cx="932688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Recon Dashboard: the business window into CCM</a:t>
            </a:r>
            <a:endParaRPr lang="en-US" sz="2700" dirty="0"/>
          </a:p>
        </p:txBody>
      </p:sp>
      <p:sp>
        <p:nvSpPr>
          <p:cNvPr id="7" name="Text 5"/>
          <p:cNvSpPr txBox="1"/>
          <p:nvPr/>
        </p:nvSpPr>
        <p:spPr>
          <a:xfrm>
            <a:off x="548640" y="6492240"/>
            <a:ext cx="5486400" cy="201168"/>
          </a:xfrm>
          <a:prstGeom prst="rect">
            <a:avLst/>
          </a:prstGeom>
          <a:noFill/>
          <a:ln/>
        </p:spPr>
        <p:txBody>
          <a:bodyPr wrap="square" lIns="0" tIns="0" rIns="0" bIns="0" rtlCol="0" anchor="t"/>
          <a:lstStyle/>
          <a:p>
            <a:pPr marL="0" indent="0">
              <a:buNone/>
            </a:pPr>
            <a:r>
              <a:rPr lang="en-US" sz="900" dirty="0">
                <a:solidFill>
                  <a:srgbClr val="596273"/>
                </a:solidFill>
                <a:latin typeface="Calibri" pitchFamily="34" charset="0"/>
                <a:ea typeface="Calibri" pitchFamily="34" charset="-122"/>
                <a:cs typeface="Calibri" pitchFamily="34" charset="-120"/>
              </a:rPr>
              <a:t>CCM Architecture Deep Dive  |  GuideWell internal</a:t>
            </a:r>
            <a:endParaRPr lang="en-US" sz="900" dirty="0"/>
          </a:p>
        </p:txBody>
      </p:sp>
      <p:sp>
        <p:nvSpPr>
          <p:cNvPr id="8" name="Text 6"/>
          <p:cNvSpPr txBox="1"/>
          <p:nvPr/>
        </p:nvSpPr>
        <p:spPr>
          <a:xfrm>
            <a:off x="10728655" y="6492240"/>
            <a:ext cx="914400" cy="201168"/>
          </a:xfrm>
          <a:prstGeom prst="rect">
            <a:avLst/>
          </a:prstGeom>
          <a:noFill/>
          <a:ln/>
        </p:spPr>
        <p:txBody>
          <a:bodyPr wrap="square" lIns="0" tIns="0" rIns="0" bIns="0" rtlCol="0" anchor="t"/>
          <a:lstStyle/>
          <a:p>
            <a:pPr marL="0" indent="0" algn="r">
              <a:buNone/>
            </a:pPr>
            <a:r>
              <a:rPr lang="en-US" sz="900" dirty="0">
                <a:solidFill>
                  <a:srgbClr val="596273"/>
                </a:solidFill>
                <a:latin typeface="Calibri" pitchFamily="34" charset="0"/>
                <a:ea typeface="Calibri" pitchFamily="34" charset="-122"/>
                <a:cs typeface="Calibri" pitchFamily="34" charset="-120"/>
              </a:rPr>
              <a:t>11</a:t>
            </a:r>
            <a:endParaRPr lang="en-US" sz="900" dirty="0"/>
          </a:p>
        </p:txBody>
      </p:sp>
      <p:sp>
        <p:nvSpPr>
          <p:cNvPr id="9" name="Shape 7"/>
          <p:cNvSpPr/>
          <p:nvPr/>
        </p:nvSpPr>
        <p:spPr>
          <a:xfrm>
            <a:off x="548640" y="1508760"/>
            <a:ext cx="3566160" cy="4663440"/>
          </a:xfrm>
          <a:prstGeom prst="roundRect">
            <a:avLst>
              <a:gd name="adj" fmla="val 1538"/>
            </a:avLst>
          </a:prstGeom>
          <a:solidFill>
            <a:srgbClr val="0F1B2D"/>
          </a:solidFill>
          <a:ln/>
        </p:spPr>
        <p:txBody>
          <a:bodyPr/>
          <a:lstStyle/>
          <a:p>
            <a:endParaRPr lang="en-US"/>
          </a:p>
        </p:txBody>
      </p:sp>
      <p:sp>
        <p:nvSpPr>
          <p:cNvPr id="10" name="Text 8"/>
          <p:cNvSpPr txBox="1"/>
          <p:nvPr/>
        </p:nvSpPr>
        <p:spPr>
          <a:xfrm>
            <a:off x="868680" y="1783080"/>
            <a:ext cx="2926080" cy="411480"/>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Recon Dashboard</a:t>
            </a:r>
            <a:endParaRPr lang="en-US" sz="2200" dirty="0"/>
          </a:p>
        </p:txBody>
      </p:sp>
      <p:sp>
        <p:nvSpPr>
          <p:cNvPr id="11" name="Text 9"/>
          <p:cNvSpPr txBox="1"/>
          <p:nvPr/>
        </p:nvSpPr>
        <p:spPr>
          <a:xfrm>
            <a:off x="868680" y="2286000"/>
            <a:ext cx="2926080" cy="1188720"/>
          </a:xfrm>
          <a:prstGeom prst="rect">
            <a:avLst/>
          </a:prstGeom>
          <a:noFill/>
          <a:ln/>
        </p:spPr>
        <p:txBody>
          <a:bodyPr wrap="square" lIns="0" tIns="0" rIns="0" bIns="0" rtlCol="0" anchor="t"/>
          <a:lstStyle/>
          <a:p>
            <a:pPr marL="0" indent="0">
              <a:buNone/>
            </a:pPr>
            <a:r>
              <a:rPr lang="en-US" sz="1400" dirty="0">
                <a:solidFill>
                  <a:srgbClr val="D5DEEE"/>
                </a:solidFill>
                <a:latin typeface="Calibri" pitchFamily="34" charset="0"/>
                <a:ea typeface="Calibri" pitchFamily="34" charset="-122"/>
                <a:cs typeface="Calibri" pitchFamily="34" charset="-120"/>
              </a:rPr>
              <a:t>Authorized business and IT users track, control and audit communications directly, without raising a ticket.</a:t>
            </a:r>
            <a:endParaRPr lang="en-US" sz="1400" dirty="0"/>
          </a:p>
        </p:txBody>
      </p:sp>
      <p:sp>
        <p:nvSpPr>
          <p:cNvPr id="12" name="Text 10"/>
          <p:cNvSpPr txBox="1"/>
          <p:nvPr/>
        </p:nvSpPr>
        <p:spPr>
          <a:xfrm>
            <a:off x="868680" y="3657600"/>
            <a:ext cx="2926080" cy="2286000"/>
          </a:xfrm>
          <a:prstGeom prst="rect">
            <a:avLst/>
          </a:prstGeom>
          <a:noFill/>
          <a:ln/>
        </p:spPr>
        <p:txBody>
          <a:bodyPr wrap="square" lIns="0" tIns="0" rIns="0" bIns="0" rtlCol="0" anchor="t"/>
          <a:lstStyle/>
          <a:p>
            <a:pPr marL="0" indent="0">
              <a:buNone/>
            </a:pPr>
            <a:r>
              <a:rPr lang="en-US" sz="1250" b="1" dirty="0">
                <a:solidFill>
                  <a:srgbClr val="FFD84D"/>
                </a:solidFill>
                <a:latin typeface="Calibri" pitchFamily="34" charset="0"/>
                <a:ea typeface="Calibri" pitchFamily="34" charset="-122"/>
                <a:cs typeface="Calibri" pitchFamily="34" charset="-120"/>
              </a:rPr>
              <a:t>Access</a:t>
            </a:r>
            <a:endParaRPr lang="en-US" sz="1250" dirty="0"/>
          </a:p>
          <a:p>
            <a:pPr marL="0" indent="0">
              <a:buNone/>
            </a:pPr>
            <a:r>
              <a:rPr lang="en-US" sz="1250" dirty="0">
                <a:solidFill>
                  <a:srgbClr val="D5DEEE"/>
                </a:solidFill>
                <a:latin typeface="Calibri" pitchFamily="34" charset="0"/>
                <a:ea typeface="Calibri" pitchFamily="34" charset="-122"/>
                <a:cs typeface="Calibri" pitchFamily="34" charset="-120"/>
              </a:rPr>
              <a:t>PMI-enabled application; capabilities are granted by role.</a:t>
            </a:r>
            <a:endParaRPr lang="en-US" sz="1250" dirty="0"/>
          </a:p>
          <a:p>
            <a:pPr marL="0" indent="0">
              <a:buNone/>
            </a:pPr>
            <a:r>
              <a:rPr lang="en-US" sz="1250" dirty="0">
                <a:solidFill>
                  <a:srgbClr val="D5DEEE"/>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FFD84D"/>
                </a:solidFill>
                <a:latin typeface="Calibri" pitchFamily="34" charset="0"/>
                <a:ea typeface="Calibri" pitchFamily="34" charset="-122"/>
                <a:cs typeface="Calibri" pitchFamily="34" charset="-120"/>
              </a:rPr>
              <a:t>Data</a:t>
            </a:r>
            <a:endParaRPr lang="en-US" sz="1250" dirty="0"/>
          </a:p>
          <a:p>
            <a:pPr marL="0" indent="0">
              <a:buNone/>
            </a:pPr>
            <a:r>
              <a:rPr lang="en-US" sz="1250" dirty="0">
                <a:solidFill>
                  <a:srgbClr val="D5DEEE"/>
                </a:solidFill>
                <a:latin typeface="Calibri" pitchFamily="34" charset="0"/>
                <a:ea typeface="Calibri" pitchFamily="34" charset="-122"/>
                <a:cs typeface="Calibri" pitchFamily="34" charset="-120"/>
              </a:rPr>
              <a:t>Reads the Recon SQL Server store, which receives every request and delivery receipt.</a:t>
            </a:r>
            <a:endParaRPr lang="en-US" sz="1250" dirty="0"/>
          </a:p>
        </p:txBody>
      </p:sp>
      <p:sp>
        <p:nvSpPr>
          <p:cNvPr id="13" name="Shape 11"/>
          <p:cNvSpPr/>
          <p:nvPr/>
        </p:nvSpPr>
        <p:spPr>
          <a:xfrm>
            <a:off x="4434840" y="1508760"/>
            <a:ext cx="3489808" cy="1005840"/>
          </a:xfrm>
          <a:prstGeom prst="roundRect">
            <a:avLst>
              <a:gd name="adj" fmla="val 5455"/>
            </a:avLst>
          </a:prstGeom>
          <a:solidFill>
            <a:srgbClr val="F1F3F6"/>
          </a:solidFill>
          <a:ln/>
        </p:spPr>
        <p:txBody>
          <a:bodyPr/>
          <a:lstStyle/>
          <a:p>
            <a:endParaRPr lang="en-US"/>
          </a:p>
        </p:txBody>
      </p:sp>
      <p:sp>
        <p:nvSpPr>
          <p:cNvPr id="14" name="Shape 12"/>
          <p:cNvSpPr/>
          <p:nvPr/>
        </p:nvSpPr>
        <p:spPr>
          <a:xfrm>
            <a:off x="4663440" y="1737360"/>
            <a:ext cx="457200" cy="457200"/>
          </a:xfrm>
          <a:prstGeom prst="ellipse">
            <a:avLst/>
          </a:prstGeom>
          <a:solidFill>
            <a:srgbClr val="E7EEFB"/>
          </a:solidFill>
          <a:ln/>
        </p:spPr>
        <p:txBody>
          <a:bodyPr/>
          <a:lstStyle/>
          <a:p>
            <a:endParaRPr lang="en-US"/>
          </a:p>
        </p:txBody>
      </p:sp>
      <p:pic>
        <p:nvPicPr>
          <p:cNvPr id="15" name="Image 0" descr="preencoded.png"/>
          <p:cNvPicPr>
            <a:picLocks noChangeAspect="1"/>
          </p:cNvPicPr>
          <p:nvPr/>
        </p:nvPicPr>
        <p:blipFill>
          <a:blip r:embed="rId3"/>
          <a:stretch>
            <a:fillRect/>
          </a:stretch>
        </p:blipFill>
        <p:spPr>
          <a:xfrm>
            <a:off x="4782312" y="1856232"/>
            <a:ext cx="219456" cy="219456"/>
          </a:xfrm>
          <a:prstGeom prst="rect">
            <a:avLst/>
          </a:prstGeom>
        </p:spPr>
      </p:pic>
      <p:sp>
        <p:nvSpPr>
          <p:cNvPr id="16" name="Text 13"/>
          <p:cNvSpPr txBox="1"/>
          <p:nvPr/>
        </p:nvSpPr>
        <p:spPr>
          <a:xfrm>
            <a:off x="5303520" y="1664208"/>
            <a:ext cx="2438248" cy="292608"/>
          </a:xfrm>
          <a:prstGeom prst="rect">
            <a:avLst/>
          </a:prstGeom>
          <a:noFill/>
          <a:ln/>
        </p:spPr>
        <p:txBody>
          <a:bodyPr wrap="square" lIns="0" tIns="0" rIns="0" bIns="0" rtlCol="0" anchor="t"/>
          <a:lstStyle/>
          <a:p>
            <a:pPr marL="0" indent="0">
              <a:buNone/>
            </a:pPr>
            <a:r>
              <a:rPr lang="en-US" sz="1400" b="1" dirty="0">
                <a:solidFill>
                  <a:srgbClr val="1C2330"/>
                </a:solidFill>
                <a:latin typeface="Calibri" pitchFamily="34" charset="0"/>
                <a:ea typeface="Calibri" pitchFamily="34" charset="-122"/>
                <a:cs typeface="Calibri" pitchFamily="34" charset="-120"/>
              </a:rPr>
              <a:t>Transactions and files</a:t>
            </a:r>
            <a:endParaRPr lang="en-US" sz="1400" dirty="0"/>
          </a:p>
        </p:txBody>
      </p:sp>
      <p:sp>
        <p:nvSpPr>
          <p:cNvPr id="17" name="Text 14"/>
          <p:cNvSpPr txBox="1"/>
          <p:nvPr/>
        </p:nvSpPr>
        <p:spPr>
          <a:xfrm>
            <a:off x="5303520" y="1965960"/>
            <a:ext cx="2438248" cy="502920"/>
          </a:xfrm>
          <a:prstGeom prst="rect">
            <a:avLst/>
          </a:prstGeom>
          <a:noFill/>
          <a:ln/>
        </p:spPr>
        <p:txBody>
          <a:bodyPr wrap="square" lIns="0" tIns="0" rIns="0" bIns="0" rtlCol="0" anchor="t"/>
          <a:lstStyle/>
          <a:p>
            <a:pPr marL="0" indent="0">
              <a:buNone/>
            </a:pPr>
            <a:r>
              <a:rPr lang="en-US" sz="1150" dirty="0">
                <a:solidFill>
                  <a:srgbClr val="596273"/>
                </a:solidFill>
                <a:latin typeface="Calibri" pitchFamily="34" charset="0"/>
                <a:ea typeface="Calibri" pitchFamily="34" charset="-122"/>
                <a:cs typeface="Calibri" pitchFamily="34" charset="-120"/>
              </a:rPr>
              <a:t>Track each communication and its delivery status.</a:t>
            </a:r>
            <a:endParaRPr lang="en-US" sz="1150" dirty="0"/>
          </a:p>
        </p:txBody>
      </p:sp>
      <p:sp>
        <p:nvSpPr>
          <p:cNvPr id="18" name="Shape 15"/>
          <p:cNvSpPr/>
          <p:nvPr/>
        </p:nvSpPr>
        <p:spPr>
          <a:xfrm>
            <a:off x="8153248" y="1508760"/>
            <a:ext cx="3489808" cy="1005840"/>
          </a:xfrm>
          <a:prstGeom prst="roundRect">
            <a:avLst>
              <a:gd name="adj" fmla="val 5455"/>
            </a:avLst>
          </a:prstGeom>
          <a:solidFill>
            <a:srgbClr val="F1F3F6"/>
          </a:solidFill>
          <a:ln/>
        </p:spPr>
        <p:txBody>
          <a:bodyPr/>
          <a:lstStyle/>
          <a:p>
            <a:endParaRPr lang="en-US"/>
          </a:p>
        </p:txBody>
      </p:sp>
      <p:sp>
        <p:nvSpPr>
          <p:cNvPr id="19" name="Shape 16"/>
          <p:cNvSpPr/>
          <p:nvPr/>
        </p:nvSpPr>
        <p:spPr>
          <a:xfrm>
            <a:off x="8381848" y="1737360"/>
            <a:ext cx="457200" cy="457200"/>
          </a:xfrm>
          <a:prstGeom prst="ellipse">
            <a:avLst/>
          </a:prstGeom>
          <a:solidFill>
            <a:srgbClr val="E7EEFB"/>
          </a:solidFill>
          <a:ln/>
        </p:spPr>
        <p:txBody>
          <a:bodyPr/>
          <a:lstStyle/>
          <a:p>
            <a:endParaRPr lang="en-US"/>
          </a:p>
        </p:txBody>
      </p:sp>
      <p:pic>
        <p:nvPicPr>
          <p:cNvPr id="20" name="Image 1" descr="preencoded.png"/>
          <p:cNvPicPr>
            <a:picLocks noChangeAspect="1"/>
          </p:cNvPicPr>
          <p:nvPr/>
        </p:nvPicPr>
        <p:blipFill>
          <a:blip r:embed="rId4"/>
          <a:stretch>
            <a:fillRect/>
          </a:stretch>
        </p:blipFill>
        <p:spPr>
          <a:xfrm>
            <a:off x="8500720" y="1856232"/>
            <a:ext cx="219456" cy="219456"/>
          </a:xfrm>
          <a:prstGeom prst="rect">
            <a:avLst/>
          </a:prstGeom>
        </p:spPr>
      </p:pic>
      <p:sp>
        <p:nvSpPr>
          <p:cNvPr id="21" name="Text 17"/>
          <p:cNvSpPr txBox="1"/>
          <p:nvPr/>
        </p:nvSpPr>
        <p:spPr>
          <a:xfrm>
            <a:off x="9021928" y="1664208"/>
            <a:ext cx="2438248" cy="292608"/>
          </a:xfrm>
          <a:prstGeom prst="rect">
            <a:avLst/>
          </a:prstGeom>
          <a:noFill/>
          <a:ln/>
        </p:spPr>
        <p:txBody>
          <a:bodyPr wrap="square" lIns="0" tIns="0" rIns="0" bIns="0" rtlCol="0" anchor="t"/>
          <a:lstStyle/>
          <a:p>
            <a:pPr marL="0" indent="0">
              <a:buNone/>
            </a:pPr>
            <a:r>
              <a:rPr lang="en-US" sz="1400" b="1" dirty="0">
                <a:solidFill>
                  <a:srgbClr val="1C2330"/>
                </a:solidFill>
                <a:latin typeface="Calibri" pitchFamily="34" charset="0"/>
                <a:ea typeface="Calibri" pitchFamily="34" charset="-122"/>
                <a:cs typeface="Calibri" pitchFamily="34" charset="-120"/>
              </a:rPr>
              <a:t>Jobs and reprint</a:t>
            </a:r>
            <a:endParaRPr lang="en-US" sz="1400" dirty="0"/>
          </a:p>
        </p:txBody>
      </p:sp>
      <p:sp>
        <p:nvSpPr>
          <p:cNvPr id="22" name="Text 18"/>
          <p:cNvSpPr txBox="1"/>
          <p:nvPr/>
        </p:nvSpPr>
        <p:spPr>
          <a:xfrm>
            <a:off x="9021928" y="1965960"/>
            <a:ext cx="2438248" cy="502920"/>
          </a:xfrm>
          <a:prstGeom prst="rect">
            <a:avLst/>
          </a:prstGeom>
          <a:noFill/>
          <a:ln/>
        </p:spPr>
        <p:txBody>
          <a:bodyPr wrap="square" lIns="0" tIns="0" rIns="0" bIns="0" rtlCol="0" anchor="t"/>
          <a:lstStyle/>
          <a:p>
            <a:pPr marL="0" indent="0">
              <a:buNone/>
            </a:pPr>
            <a:r>
              <a:rPr lang="en-US" sz="1150" dirty="0">
                <a:solidFill>
                  <a:srgbClr val="596273"/>
                </a:solidFill>
                <a:latin typeface="Calibri" pitchFamily="34" charset="0"/>
                <a:ea typeface="Calibri" pitchFamily="34" charset="-122"/>
                <a:cs typeface="Calibri" pitchFamily="34" charset="-120"/>
              </a:rPr>
              <a:t>Monitor batch jobs and reprint a communication.</a:t>
            </a:r>
            <a:endParaRPr lang="en-US" sz="1150" dirty="0"/>
          </a:p>
        </p:txBody>
      </p:sp>
      <p:sp>
        <p:nvSpPr>
          <p:cNvPr id="23" name="Shape 19"/>
          <p:cNvSpPr/>
          <p:nvPr/>
        </p:nvSpPr>
        <p:spPr>
          <a:xfrm>
            <a:off x="4434840" y="2727655"/>
            <a:ext cx="3489808" cy="1005840"/>
          </a:xfrm>
          <a:prstGeom prst="roundRect">
            <a:avLst>
              <a:gd name="adj" fmla="val 5455"/>
            </a:avLst>
          </a:prstGeom>
          <a:solidFill>
            <a:srgbClr val="F1F3F6"/>
          </a:solidFill>
          <a:ln/>
        </p:spPr>
        <p:txBody>
          <a:bodyPr/>
          <a:lstStyle/>
          <a:p>
            <a:endParaRPr lang="en-US"/>
          </a:p>
        </p:txBody>
      </p:sp>
      <p:sp>
        <p:nvSpPr>
          <p:cNvPr id="24" name="Shape 20"/>
          <p:cNvSpPr/>
          <p:nvPr/>
        </p:nvSpPr>
        <p:spPr>
          <a:xfrm>
            <a:off x="4663440" y="2956255"/>
            <a:ext cx="457200" cy="457200"/>
          </a:xfrm>
          <a:prstGeom prst="ellipse">
            <a:avLst/>
          </a:prstGeom>
          <a:solidFill>
            <a:srgbClr val="E7EEFB"/>
          </a:solidFill>
          <a:ln/>
        </p:spPr>
        <p:txBody>
          <a:bodyPr/>
          <a:lstStyle/>
          <a:p>
            <a:endParaRPr lang="en-US"/>
          </a:p>
        </p:txBody>
      </p:sp>
      <p:pic>
        <p:nvPicPr>
          <p:cNvPr id="25" name="Image 2" descr="preencoded.png"/>
          <p:cNvPicPr>
            <a:picLocks noChangeAspect="1"/>
          </p:cNvPicPr>
          <p:nvPr/>
        </p:nvPicPr>
        <p:blipFill>
          <a:blip r:embed="rId5"/>
          <a:stretch>
            <a:fillRect/>
          </a:stretch>
        </p:blipFill>
        <p:spPr>
          <a:xfrm>
            <a:off x="4782312" y="3075127"/>
            <a:ext cx="219456" cy="219456"/>
          </a:xfrm>
          <a:prstGeom prst="rect">
            <a:avLst/>
          </a:prstGeom>
        </p:spPr>
      </p:pic>
      <p:sp>
        <p:nvSpPr>
          <p:cNvPr id="26" name="Text 21"/>
          <p:cNvSpPr txBox="1"/>
          <p:nvPr/>
        </p:nvSpPr>
        <p:spPr>
          <a:xfrm>
            <a:off x="5303520" y="2883103"/>
            <a:ext cx="2438248" cy="292608"/>
          </a:xfrm>
          <a:prstGeom prst="rect">
            <a:avLst/>
          </a:prstGeom>
          <a:noFill/>
          <a:ln/>
        </p:spPr>
        <p:txBody>
          <a:bodyPr wrap="square" lIns="0" tIns="0" rIns="0" bIns="0" rtlCol="0" anchor="t"/>
          <a:lstStyle/>
          <a:p>
            <a:pPr marL="0" indent="0">
              <a:buNone/>
            </a:pPr>
            <a:r>
              <a:rPr lang="en-US" sz="1400" b="1" dirty="0">
                <a:solidFill>
                  <a:srgbClr val="1C2330"/>
                </a:solidFill>
                <a:latin typeface="Calibri" pitchFamily="34" charset="0"/>
                <a:ea typeface="Calibri" pitchFamily="34" charset="-122"/>
                <a:cs typeface="Calibri" pitchFamily="34" charset="-120"/>
              </a:rPr>
              <a:t>Suppress</a:t>
            </a:r>
            <a:endParaRPr lang="en-US" sz="1400" dirty="0"/>
          </a:p>
        </p:txBody>
      </p:sp>
      <p:sp>
        <p:nvSpPr>
          <p:cNvPr id="27" name="Text 22"/>
          <p:cNvSpPr txBox="1"/>
          <p:nvPr/>
        </p:nvSpPr>
        <p:spPr>
          <a:xfrm>
            <a:off x="5303520" y="3184855"/>
            <a:ext cx="2438248" cy="502920"/>
          </a:xfrm>
          <a:prstGeom prst="rect">
            <a:avLst/>
          </a:prstGeom>
          <a:noFill/>
          <a:ln/>
        </p:spPr>
        <p:txBody>
          <a:bodyPr wrap="square" lIns="0" tIns="0" rIns="0" bIns="0" rtlCol="0" anchor="t"/>
          <a:lstStyle/>
          <a:p>
            <a:pPr marL="0" indent="0">
              <a:buNone/>
            </a:pPr>
            <a:r>
              <a:rPr lang="en-US" sz="1150" dirty="0">
                <a:solidFill>
                  <a:srgbClr val="596273"/>
                </a:solidFill>
                <a:latin typeface="Calibri" pitchFamily="34" charset="0"/>
                <a:ea typeface="Calibri" pitchFamily="34" charset="-122"/>
                <a:cs typeface="Calibri" pitchFamily="34" charset="-120"/>
              </a:rPr>
              <a:t>Stop delivery by name, contract number, source, group and more.</a:t>
            </a:r>
            <a:endParaRPr lang="en-US" sz="1150" dirty="0"/>
          </a:p>
        </p:txBody>
      </p:sp>
      <p:sp>
        <p:nvSpPr>
          <p:cNvPr id="28" name="Shape 23"/>
          <p:cNvSpPr/>
          <p:nvPr/>
        </p:nvSpPr>
        <p:spPr>
          <a:xfrm>
            <a:off x="8153248" y="2727655"/>
            <a:ext cx="3489808" cy="1005840"/>
          </a:xfrm>
          <a:prstGeom prst="roundRect">
            <a:avLst>
              <a:gd name="adj" fmla="val 5455"/>
            </a:avLst>
          </a:prstGeom>
          <a:solidFill>
            <a:srgbClr val="F1F3F6"/>
          </a:solidFill>
          <a:ln/>
        </p:spPr>
        <p:txBody>
          <a:bodyPr/>
          <a:lstStyle/>
          <a:p>
            <a:endParaRPr lang="en-US"/>
          </a:p>
        </p:txBody>
      </p:sp>
      <p:sp>
        <p:nvSpPr>
          <p:cNvPr id="29" name="Shape 24"/>
          <p:cNvSpPr/>
          <p:nvPr/>
        </p:nvSpPr>
        <p:spPr>
          <a:xfrm>
            <a:off x="8381848" y="2956255"/>
            <a:ext cx="457200" cy="457200"/>
          </a:xfrm>
          <a:prstGeom prst="ellipse">
            <a:avLst/>
          </a:prstGeom>
          <a:solidFill>
            <a:srgbClr val="E7EEFB"/>
          </a:solidFill>
          <a:ln/>
        </p:spPr>
        <p:txBody>
          <a:bodyPr/>
          <a:lstStyle/>
          <a:p>
            <a:endParaRPr lang="en-US"/>
          </a:p>
        </p:txBody>
      </p:sp>
      <p:pic>
        <p:nvPicPr>
          <p:cNvPr id="30" name="Image 3" descr="preencoded.png"/>
          <p:cNvPicPr>
            <a:picLocks noChangeAspect="1"/>
          </p:cNvPicPr>
          <p:nvPr/>
        </p:nvPicPr>
        <p:blipFill>
          <a:blip r:embed="rId6"/>
          <a:stretch>
            <a:fillRect/>
          </a:stretch>
        </p:blipFill>
        <p:spPr>
          <a:xfrm>
            <a:off x="8500720" y="3075127"/>
            <a:ext cx="219456" cy="219456"/>
          </a:xfrm>
          <a:prstGeom prst="rect">
            <a:avLst/>
          </a:prstGeom>
        </p:spPr>
      </p:pic>
      <p:sp>
        <p:nvSpPr>
          <p:cNvPr id="31" name="Text 25"/>
          <p:cNvSpPr txBox="1"/>
          <p:nvPr/>
        </p:nvSpPr>
        <p:spPr>
          <a:xfrm>
            <a:off x="9021928" y="2883103"/>
            <a:ext cx="2438248" cy="292608"/>
          </a:xfrm>
          <a:prstGeom prst="rect">
            <a:avLst/>
          </a:prstGeom>
          <a:noFill/>
          <a:ln/>
        </p:spPr>
        <p:txBody>
          <a:bodyPr wrap="square" lIns="0" tIns="0" rIns="0" bIns="0" rtlCol="0" anchor="t"/>
          <a:lstStyle/>
          <a:p>
            <a:pPr marL="0" indent="0">
              <a:buNone/>
            </a:pPr>
            <a:r>
              <a:rPr lang="en-US" sz="1400" b="1" dirty="0">
                <a:solidFill>
                  <a:srgbClr val="1C2330"/>
                </a:solidFill>
                <a:latin typeface="Calibri" pitchFamily="34" charset="0"/>
                <a:ea typeface="Calibri" pitchFamily="34" charset="-122"/>
                <a:cs typeface="Calibri" pitchFamily="34" charset="-120"/>
              </a:rPr>
              <a:t>Template directory</a:t>
            </a:r>
            <a:endParaRPr lang="en-US" sz="1400" dirty="0"/>
          </a:p>
        </p:txBody>
      </p:sp>
      <p:sp>
        <p:nvSpPr>
          <p:cNvPr id="32" name="Text 26"/>
          <p:cNvSpPr txBox="1"/>
          <p:nvPr/>
        </p:nvSpPr>
        <p:spPr>
          <a:xfrm>
            <a:off x="9021928" y="3184855"/>
            <a:ext cx="2438248" cy="502920"/>
          </a:xfrm>
          <a:prstGeom prst="rect">
            <a:avLst/>
          </a:prstGeom>
          <a:noFill/>
          <a:ln/>
        </p:spPr>
        <p:txBody>
          <a:bodyPr wrap="square" lIns="0" tIns="0" rIns="0" bIns="0" rtlCol="0" anchor="t"/>
          <a:lstStyle/>
          <a:p>
            <a:pPr marL="0" indent="0">
              <a:buNone/>
            </a:pPr>
            <a:r>
              <a:rPr lang="en-US" sz="1150" dirty="0">
                <a:solidFill>
                  <a:srgbClr val="596273"/>
                </a:solidFill>
                <a:latin typeface="Calibri" pitchFamily="34" charset="0"/>
                <a:ea typeface="Calibri" pitchFamily="34" charset="-122"/>
                <a:cs typeface="Calibri" pitchFamily="34" charset="-120"/>
              </a:rPr>
              <a:t>See every template delivered through CCM; update template metadata.</a:t>
            </a:r>
            <a:endParaRPr lang="en-US" sz="1150" dirty="0"/>
          </a:p>
        </p:txBody>
      </p:sp>
      <p:sp>
        <p:nvSpPr>
          <p:cNvPr id="33" name="Shape 27"/>
          <p:cNvSpPr/>
          <p:nvPr/>
        </p:nvSpPr>
        <p:spPr>
          <a:xfrm>
            <a:off x="4434840" y="3946550"/>
            <a:ext cx="3489808" cy="1005840"/>
          </a:xfrm>
          <a:prstGeom prst="roundRect">
            <a:avLst>
              <a:gd name="adj" fmla="val 5455"/>
            </a:avLst>
          </a:prstGeom>
          <a:solidFill>
            <a:srgbClr val="F1F3F6"/>
          </a:solidFill>
          <a:ln/>
        </p:spPr>
        <p:txBody>
          <a:bodyPr/>
          <a:lstStyle/>
          <a:p>
            <a:endParaRPr lang="en-US"/>
          </a:p>
        </p:txBody>
      </p:sp>
      <p:sp>
        <p:nvSpPr>
          <p:cNvPr id="34" name="Shape 28"/>
          <p:cNvSpPr/>
          <p:nvPr/>
        </p:nvSpPr>
        <p:spPr>
          <a:xfrm>
            <a:off x="4663440" y="4175150"/>
            <a:ext cx="457200" cy="457200"/>
          </a:xfrm>
          <a:prstGeom prst="ellipse">
            <a:avLst/>
          </a:prstGeom>
          <a:solidFill>
            <a:srgbClr val="E7EEFB"/>
          </a:solidFill>
          <a:ln/>
        </p:spPr>
        <p:txBody>
          <a:bodyPr/>
          <a:lstStyle/>
          <a:p>
            <a:endParaRPr lang="en-US"/>
          </a:p>
        </p:txBody>
      </p:sp>
      <p:pic>
        <p:nvPicPr>
          <p:cNvPr id="35" name="Image 4" descr="preencoded.png"/>
          <p:cNvPicPr>
            <a:picLocks noChangeAspect="1"/>
          </p:cNvPicPr>
          <p:nvPr/>
        </p:nvPicPr>
        <p:blipFill>
          <a:blip r:embed="rId7"/>
          <a:stretch>
            <a:fillRect/>
          </a:stretch>
        </p:blipFill>
        <p:spPr>
          <a:xfrm>
            <a:off x="4782312" y="4294022"/>
            <a:ext cx="219456" cy="219456"/>
          </a:xfrm>
          <a:prstGeom prst="rect">
            <a:avLst/>
          </a:prstGeom>
        </p:spPr>
      </p:pic>
      <p:sp>
        <p:nvSpPr>
          <p:cNvPr id="36" name="Text 29"/>
          <p:cNvSpPr txBox="1"/>
          <p:nvPr/>
        </p:nvSpPr>
        <p:spPr>
          <a:xfrm>
            <a:off x="5303520" y="4101998"/>
            <a:ext cx="2438248" cy="292608"/>
          </a:xfrm>
          <a:prstGeom prst="rect">
            <a:avLst/>
          </a:prstGeom>
          <a:noFill/>
          <a:ln/>
        </p:spPr>
        <p:txBody>
          <a:bodyPr wrap="square" lIns="0" tIns="0" rIns="0" bIns="0" rtlCol="0" anchor="t"/>
          <a:lstStyle/>
          <a:p>
            <a:pPr marL="0" indent="0">
              <a:buNone/>
            </a:pPr>
            <a:r>
              <a:rPr lang="en-US" sz="1400" b="1" dirty="0">
                <a:solidFill>
                  <a:srgbClr val="1C2330"/>
                </a:solidFill>
                <a:latin typeface="Calibri" pitchFamily="34" charset="0"/>
                <a:ea typeface="Calibri" pitchFamily="34" charset="-122"/>
                <a:cs typeface="Calibri" pitchFamily="34" charset="-120"/>
              </a:rPr>
              <a:t>Contracts</a:t>
            </a:r>
            <a:endParaRPr lang="en-US" sz="1400" dirty="0"/>
          </a:p>
        </p:txBody>
      </p:sp>
      <p:sp>
        <p:nvSpPr>
          <p:cNvPr id="37" name="Text 30"/>
          <p:cNvSpPr txBox="1"/>
          <p:nvPr/>
        </p:nvSpPr>
        <p:spPr>
          <a:xfrm>
            <a:off x="5303520" y="4403750"/>
            <a:ext cx="2438248" cy="502920"/>
          </a:xfrm>
          <a:prstGeom prst="rect">
            <a:avLst/>
          </a:prstGeom>
          <a:noFill/>
          <a:ln/>
        </p:spPr>
        <p:txBody>
          <a:bodyPr wrap="square" lIns="0" tIns="0" rIns="0" bIns="0" rtlCol="0" anchor="t"/>
          <a:lstStyle/>
          <a:p>
            <a:pPr marL="0" indent="0">
              <a:buNone/>
            </a:pPr>
            <a:r>
              <a:rPr lang="en-US" sz="1150" dirty="0">
                <a:solidFill>
                  <a:srgbClr val="596273"/>
                </a:solidFill>
                <a:latin typeface="Calibri" pitchFamily="34" charset="0"/>
                <a:ea typeface="Calibri" pitchFamily="34" charset="-122"/>
                <a:cs typeface="Calibri" pitchFamily="34" charset="-120"/>
              </a:rPr>
              <a:t>Renew non-standard contracts and test them by downloading PDFs.</a:t>
            </a:r>
            <a:endParaRPr lang="en-US" sz="1150" dirty="0"/>
          </a:p>
        </p:txBody>
      </p:sp>
      <p:sp>
        <p:nvSpPr>
          <p:cNvPr id="38" name="Shape 31"/>
          <p:cNvSpPr/>
          <p:nvPr/>
        </p:nvSpPr>
        <p:spPr>
          <a:xfrm>
            <a:off x="8153248" y="3946550"/>
            <a:ext cx="3489808" cy="1005840"/>
          </a:xfrm>
          <a:prstGeom prst="roundRect">
            <a:avLst>
              <a:gd name="adj" fmla="val 5455"/>
            </a:avLst>
          </a:prstGeom>
          <a:solidFill>
            <a:srgbClr val="F1F3F6"/>
          </a:solidFill>
          <a:ln/>
        </p:spPr>
        <p:txBody>
          <a:bodyPr/>
          <a:lstStyle/>
          <a:p>
            <a:endParaRPr lang="en-US"/>
          </a:p>
        </p:txBody>
      </p:sp>
      <p:sp>
        <p:nvSpPr>
          <p:cNvPr id="39" name="Shape 32"/>
          <p:cNvSpPr/>
          <p:nvPr/>
        </p:nvSpPr>
        <p:spPr>
          <a:xfrm>
            <a:off x="8381848" y="4175150"/>
            <a:ext cx="457200" cy="457200"/>
          </a:xfrm>
          <a:prstGeom prst="ellipse">
            <a:avLst/>
          </a:prstGeom>
          <a:solidFill>
            <a:srgbClr val="E7EEFB"/>
          </a:solidFill>
          <a:ln/>
        </p:spPr>
        <p:txBody>
          <a:bodyPr/>
          <a:lstStyle/>
          <a:p>
            <a:endParaRPr lang="en-US"/>
          </a:p>
        </p:txBody>
      </p:sp>
      <p:pic>
        <p:nvPicPr>
          <p:cNvPr id="40" name="Image 5" descr="preencoded.png"/>
          <p:cNvPicPr>
            <a:picLocks noChangeAspect="1"/>
          </p:cNvPicPr>
          <p:nvPr/>
        </p:nvPicPr>
        <p:blipFill>
          <a:blip r:embed="rId8"/>
          <a:stretch>
            <a:fillRect/>
          </a:stretch>
        </p:blipFill>
        <p:spPr>
          <a:xfrm>
            <a:off x="8500720" y="4294022"/>
            <a:ext cx="219456" cy="219456"/>
          </a:xfrm>
          <a:prstGeom prst="rect">
            <a:avLst/>
          </a:prstGeom>
        </p:spPr>
      </p:pic>
      <p:sp>
        <p:nvSpPr>
          <p:cNvPr id="41" name="Text 33"/>
          <p:cNvSpPr txBox="1"/>
          <p:nvPr/>
        </p:nvSpPr>
        <p:spPr>
          <a:xfrm>
            <a:off x="9021928" y="4101998"/>
            <a:ext cx="2438248" cy="292608"/>
          </a:xfrm>
          <a:prstGeom prst="rect">
            <a:avLst/>
          </a:prstGeom>
          <a:noFill/>
          <a:ln/>
        </p:spPr>
        <p:txBody>
          <a:bodyPr wrap="square" lIns="0" tIns="0" rIns="0" bIns="0" rtlCol="0" anchor="t"/>
          <a:lstStyle/>
          <a:p>
            <a:pPr marL="0" indent="0">
              <a:buNone/>
            </a:pPr>
            <a:r>
              <a:rPr lang="en-US" sz="1400" b="1" dirty="0">
                <a:solidFill>
                  <a:srgbClr val="1C2330"/>
                </a:solidFill>
                <a:latin typeface="Calibri" pitchFamily="34" charset="0"/>
                <a:ea typeface="Calibri" pitchFamily="34" charset="-122"/>
                <a:cs typeface="Calibri" pitchFamily="34" charset="-120"/>
              </a:rPr>
              <a:t>URL shortener</a:t>
            </a:r>
            <a:endParaRPr lang="en-US" sz="1400" dirty="0"/>
          </a:p>
        </p:txBody>
      </p:sp>
      <p:sp>
        <p:nvSpPr>
          <p:cNvPr id="42" name="Text 34"/>
          <p:cNvSpPr txBox="1"/>
          <p:nvPr/>
        </p:nvSpPr>
        <p:spPr>
          <a:xfrm>
            <a:off x="9021928" y="4403750"/>
            <a:ext cx="2438248" cy="502920"/>
          </a:xfrm>
          <a:prstGeom prst="rect">
            <a:avLst/>
          </a:prstGeom>
          <a:noFill/>
          <a:ln/>
        </p:spPr>
        <p:txBody>
          <a:bodyPr wrap="square" lIns="0" tIns="0" rIns="0" bIns="0" rtlCol="0" anchor="t"/>
          <a:lstStyle/>
          <a:p>
            <a:pPr marL="0" indent="0">
              <a:buNone/>
            </a:pPr>
            <a:r>
              <a:rPr lang="en-US" sz="1150" dirty="0">
                <a:solidFill>
                  <a:srgbClr val="596273"/>
                </a:solidFill>
                <a:latin typeface="Calibri" pitchFamily="34" charset="0"/>
                <a:ea typeface="Calibri" pitchFamily="34" charset="-122"/>
                <a:cs typeface="Calibri" pitchFamily="34" charset="-120"/>
              </a:rPr>
              <a:t>Create and view short URLs for customer messages.</a:t>
            </a:r>
            <a:endParaRPr lang="en-US" sz="1150" dirty="0"/>
          </a:p>
        </p:txBody>
      </p:sp>
      <p:sp>
        <p:nvSpPr>
          <p:cNvPr id="43" name="Shape 35"/>
          <p:cNvSpPr/>
          <p:nvPr/>
        </p:nvSpPr>
        <p:spPr>
          <a:xfrm>
            <a:off x="4434840" y="5165446"/>
            <a:ext cx="3489808" cy="1005840"/>
          </a:xfrm>
          <a:prstGeom prst="roundRect">
            <a:avLst>
              <a:gd name="adj" fmla="val 5455"/>
            </a:avLst>
          </a:prstGeom>
          <a:solidFill>
            <a:srgbClr val="F1F3F6"/>
          </a:solidFill>
          <a:ln/>
        </p:spPr>
        <p:txBody>
          <a:bodyPr/>
          <a:lstStyle/>
          <a:p>
            <a:endParaRPr lang="en-US"/>
          </a:p>
        </p:txBody>
      </p:sp>
      <p:sp>
        <p:nvSpPr>
          <p:cNvPr id="44" name="Shape 36"/>
          <p:cNvSpPr/>
          <p:nvPr/>
        </p:nvSpPr>
        <p:spPr>
          <a:xfrm>
            <a:off x="4663440" y="5394046"/>
            <a:ext cx="457200" cy="457200"/>
          </a:xfrm>
          <a:prstGeom prst="ellipse">
            <a:avLst/>
          </a:prstGeom>
          <a:solidFill>
            <a:srgbClr val="E7EEFB"/>
          </a:solidFill>
          <a:ln/>
        </p:spPr>
        <p:txBody>
          <a:bodyPr/>
          <a:lstStyle/>
          <a:p>
            <a:endParaRPr lang="en-US"/>
          </a:p>
        </p:txBody>
      </p:sp>
      <p:pic>
        <p:nvPicPr>
          <p:cNvPr id="45" name="Image 6" descr="preencoded.png"/>
          <p:cNvPicPr>
            <a:picLocks noChangeAspect="1"/>
          </p:cNvPicPr>
          <p:nvPr/>
        </p:nvPicPr>
        <p:blipFill>
          <a:blip r:embed="rId9"/>
          <a:stretch>
            <a:fillRect/>
          </a:stretch>
        </p:blipFill>
        <p:spPr>
          <a:xfrm>
            <a:off x="4782312" y="5512918"/>
            <a:ext cx="219456" cy="219456"/>
          </a:xfrm>
          <a:prstGeom prst="rect">
            <a:avLst/>
          </a:prstGeom>
        </p:spPr>
      </p:pic>
      <p:sp>
        <p:nvSpPr>
          <p:cNvPr id="46" name="Text 37"/>
          <p:cNvSpPr txBox="1"/>
          <p:nvPr/>
        </p:nvSpPr>
        <p:spPr>
          <a:xfrm>
            <a:off x="5303520" y="5320894"/>
            <a:ext cx="2438248" cy="292608"/>
          </a:xfrm>
          <a:prstGeom prst="rect">
            <a:avLst/>
          </a:prstGeom>
          <a:noFill/>
          <a:ln/>
        </p:spPr>
        <p:txBody>
          <a:bodyPr wrap="square" lIns="0" tIns="0" rIns="0" bIns="0" rtlCol="0" anchor="t"/>
          <a:lstStyle/>
          <a:p>
            <a:pPr marL="0" indent="0">
              <a:buNone/>
            </a:pPr>
            <a:r>
              <a:rPr lang="en-US" sz="1400" b="1" dirty="0">
                <a:solidFill>
                  <a:srgbClr val="1C2330"/>
                </a:solidFill>
                <a:latin typeface="Calibri" pitchFamily="34" charset="0"/>
                <a:ea typeface="Calibri" pitchFamily="34" charset="-122"/>
                <a:cs typeface="Calibri" pitchFamily="34" charset="-120"/>
              </a:rPr>
              <a:t>Power BI reports</a:t>
            </a:r>
            <a:endParaRPr lang="en-US" sz="1400" dirty="0"/>
          </a:p>
        </p:txBody>
      </p:sp>
      <p:sp>
        <p:nvSpPr>
          <p:cNvPr id="47" name="Text 38"/>
          <p:cNvSpPr txBox="1"/>
          <p:nvPr/>
        </p:nvSpPr>
        <p:spPr>
          <a:xfrm>
            <a:off x="5303520" y="5622646"/>
            <a:ext cx="2438248" cy="502920"/>
          </a:xfrm>
          <a:prstGeom prst="rect">
            <a:avLst/>
          </a:prstGeom>
          <a:noFill/>
          <a:ln/>
        </p:spPr>
        <p:txBody>
          <a:bodyPr wrap="square" lIns="0" tIns="0" rIns="0" bIns="0" rtlCol="0" anchor="t"/>
          <a:lstStyle/>
          <a:p>
            <a:pPr marL="0" indent="0">
              <a:buNone/>
            </a:pPr>
            <a:r>
              <a:rPr lang="en-US" sz="1150" dirty="0">
                <a:solidFill>
                  <a:srgbClr val="596273"/>
                </a:solidFill>
                <a:latin typeface="Calibri" pitchFamily="34" charset="0"/>
                <a:ea typeface="Calibri" pitchFamily="34" charset="-122"/>
                <a:cs typeface="Calibri" pitchFamily="34" charset="-120"/>
              </a:rPr>
              <a:t>Print, SMS and email audit reports with data extract.</a:t>
            </a:r>
            <a:endParaRPr lang="en-US" sz="1150" dirty="0"/>
          </a:p>
        </p:txBody>
      </p:sp>
      <p:sp>
        <p:nvSpPr>
          <p:cNvPr id="48" name="Shape 39"/>
          <p:cNvSpPr/>
          <p:nvPr/>
        </p:nvSpPr>
        <p:spPr>
          <a:xfrm>
            <a:off x="8153248" y="5165446"/>
            <a:ext cx="3489808" cy="1005840"/>
          </a:xfrm>
          <a:prstGeom prst="roundRect">
            <a:avLst>
              <a:gd name="adj" fmla="val 5455"/>
            </a:avLst>
          </a:prstGeom>
          <a:solidFill>
            <a:srgbClr val="F1F3F6"/>
          </a:solidFill>
          <a:ln/>
        </p:spPr>
        <p:txBody>
          <a:bodyPr/>
          <a:lstStyle/>
          <a:p>
            <a:endParaRPr lang="en-US"/>
          </a:p>
        </p:txBody>
      </p:sp>
      <p:sp>
        <p:nvSpPr>
          <p:cNvPr id="49" name="Shape 40"/>
          <p:cNvSpPr/>
          <p:nvPr/>
        </p:nvSpPr>
        <p:spPr>
          <a:xfrm>
            <a:off x="8381848" y="5394046"/>
            <a:ext cx="457200" cy="457200"/>
          </a:xfrm>
          <a:prstGeom prst="ellipse">
            <a:avLst/>
          </a:prstGeom>
          <a:solidFill>
            <a:srgbClr val="E7EEFB"/>
          </a:solidFill>
          <a:ln/>
        </p:spPr>
        <p:txBody>
          <a:bodyPr/>
          <a:lstStyle/>
          <a:p>
            <a:endParaRPr lang="en-US"/>
          </a:p>
        </p:txBody>
      </p:sp>
      <p:pic>
        <p:nvPicPr>
          <p:cNvPr id="50" name="Image 7" descr="preencoded.png"/>
          <p:cNvPicPr>
            <a:picLocks noChangeAspect="1"/>
          </p:cNvPicPr>
          <p:nvPr/>
        </p:nvPicPr>
        <p:blipFill>
          <a:blip r:embed="rId10"/>
          <a:stretch>
            <a:fillRect/>
          </a:stretch>
        </p:blipFill>
        <p:spPr>
          <a:xfrm>
            <a:off x="8500720" y="5512918"/>
            <a:ext cx="219456" cy="219456"/>
          </a:xfrm>
          <a:prstGeom prst="rect">
            <a:avLst/>
          </a:prstGeom>
        </p:spPr>
      </p:pic>
      <p:sp>
        <p:nvSpPr>
          <p:cNvPr id="51" name="Text 41"/>
          <p:cNvSpPr txBox="1"/>
          <p:nvPr/>
        </p:nvSpPr>
        <p:spPr>
          <a:xfrm>
            <a:off x="9021928" y="5320894"/>
            <a:ext cx="2438248" cy="292608"/>
          </a:xfrm>
          <a:prstGeom prst="rect">
            <a:avLst/>
          </a:prstGeom>
          <a:noFill/>
          <a:ln/>
        </p:spPr>
        <p:txBody>
          <a:bodyPr wrap="square" lIns="0" tIns="0" rIns="0" bIns="0" rtlCol="0" anchor="t"/>
          <a:lstStyle/>
          <a:p>
            <a:pPr marL="0" indent="0">
              <a:buNone/>
            </a:pPr>
            <a:r>
              <a:rPr lang="en-US" sz="1400" b="1" dirty="0">
                <a:solidFill>
                  <a:srgbClr val="1C2330"/>
                </a:solidFill>
                <a:latin typeface="Calibri" pitchFamily="34" charset="0"/>
                <a:ea typeface="Calibri" pitchFamily="34" charset="-122"/>
                <a:cs typeface="Calibri" pitchFamily="34" charset="-120"/>
              </a:rPr>
              <a:t>Content Central</a:t>
            </a:r>
            <a:endParaRPr lang="en-US" sz="1400" dirty="0"/>
          </a:p>
        </p:txBody>
      </p:sp>
      <p:sp>
        <p:nvSpPr>
          <p:cNvPr id="52" name="Text 42"/>
          <p:cNvSpPr txBox="1"/>
          <p:nvPr/>
        </p:nvSpPr>
        <p:spPr>
          <a:xfrm>
            <a:off x="9021928" y="5622646"/>
            <a:ext cx="2438248" cy="502920"/>
          </a:xfrm>
          <a:prstGeom prst="rect">
            <a:avLst/>
          </a:prstGeom>
          <a:noFill/>
          <a:ln/>
        </p:spPr>
        <p:txBody>
          <a:bodyPr wrap="square" lIns="0" tIns="0" rIns="0" bIns="0" rtlCol="0" anchor="t"/>
          <a:lstStyle/>
          <a:p>
            <a:pPr marL="0" indent="0">
              <a:buNone/>
            </a:pPr>
            <a:r>
              <a:rPr lang="en-US" sz="1150" dirty="0">
                <a:solidFill>
                  <a:srgbClr val="596273"/>
                </a:solidFill>
                <a:latin typeface="Calibri" pitchFamily="34" charset="0"/>
                <a:ea typeface="Calibri" pitchFamily="34" charset="-122"/>
                <a:cs typeface="Calibri" pitchFamily="34" charset="-120"/>
              </a:rPr>
              <a:t>View stored copies of communications, also visible in Customer Connect.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2A36"/>
        </a:solidFill>
        <a:effectLst/>
      </p:bgPr>
    </p:bg>
    <p:spTree>
      <p:nvGrpSpPr>
        <p:cNvPr id="1" name="">
          <a:extLst>
            <a:ext uri="{FF2B5EF4-FFF2-40B4-BE49-F238E27FC236}">
              <a16:creationId xmlns:a16="http://schemas.microsoft.com/office/drawing/2014/main" id="{751B90A5-1A11-B0BB-CFAF-06B3D3508E7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0427E872-D6E8-63F2-F278-A895AE129997}"/>
              </a:ext>
            </a:extLst>
          </p:cNvPr>
          <p:cNvSpPr txBox="1"/>
          <p:nvPr/>
        </p:nvSpPr>
        <p:spPr>
          <a:xfrm>
            <a:off x="548640" y="1965960"/>
            <a:ext cx="10265540" cy="8332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Architecture deep dive</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2">
            <a:extLst>
              <a:ext uri="{FF2B5EF4-FFF2-40B4-BE49-F238E27FC236}">
                <a16:creationId xmlns:a16="http://schemas.microsoft.com/office/drawing/2014/main" id="{E27C58F6-CE0F-34B3-9599-935F40F6728F}"/>
              </a:ext>
            </a:extLst>
          </p:cNvPr>
          <p:cNvSpPr txBox="1"/>
          <p:nvPr/>
        </p:nvSpPr>
        <p:spPr>
          <a:xfrm>
            <a:off x="548640" y="2811314"/>
            <a:ext cx="10638764" cy="445070"/>
          </a:xfrm>
          <a:prstGeom prst="rect">
            <a:avLst/>
          </a:prstGeom>
          <a:noFill/>
          <a:ln/>
        </p:spPr>
        <p:txBody>
          <a:bodyPr wrap="square" lIns="0" tIns="0" rIns="0" bIns="0" rtlCol="0" anchor="t"/>
          <a:lstStyle/>
          <a:p>
            <a:r>
              <a:rPr lang="en-US" sz="2400" dirty="0">
                <a:solidFill>
                  <a:srgbClr val="E4572E"/>
                </a:solidFill>
                <a:latin typeface="Calibri" pitchFamily="34" charset="0"/>
                <a:ea typeface="Calibri" pitchFamily="34" charset="-122"/>
                <a:cs typeface="Calibri" pitchFamily="34" charset="-120"/>
              </a:rPr>
              <a:t>How requests enter CCM, are composed in Inspire, reach customers and report back.</a:t>
            </a:r>
          </a:p>
        </p:txBody>
      </p:sp>
    </p:spTree>
    <p:extLst>
      <p:ext uri="{BB962C8B-B14F-4D97-AF65-F5344CB8AC3E}">
        <p14:creationId xmlns:p14="http://schemas.microsoft.com/office/powerpoint/2010/main" val="421995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141C2B"/>
          </a:solidFill>
          <a:ln/>
        </p:spPr>
        <p:txBody>
          <a:bodyPr/>
          <a:lstStyle/>
          <a:p>
            <a:endParaRPr lang="en-US"/>
          </a:p>
        </p:txBody>
      </p:sp>
      <p:sp>
        <p:nvSpPr>
          <p:cNvPr id="3" name="Shape 1"/>
          <p:cNvSpPr/>
          <p:nvPr/>
        </p:nvSpPr>
        <p:spPr>
          <a:xfrm>
            <a:off x="0" y="0"/>
            <a:ext cx="12191695" cy="45720"/>
          </a:xfrm>
          <a:prstGeom prst="rect">
            <a:avLst/>
          </a:prstGeom>
          <a:solidFill>
            <a:srgbClr val="E4572E"/>
          </a:solidFill>
          <a:ln/>
        </p:spPr>
        <p:txBody>
          <a:bodyPr/>
          <a:lstStyle/>
          <a:p>
            <a:endParaRPr lang="en-US"/>
          </a:p>
        </p:txBody>
      </p:sp>
      <p:sp>
        <p:nvSpPr>
          <p:cNvPr id="4" name="Text 2"/>
          <p:cNvSpPr txBox="1"/>
          <p:nvPr/>
        </p:nvSpPr>
        <p:spPr>
          <a:xfrm>
            <a:off x="548640" y="246888"/>
            <a:ext cx="7772400" cy="256032"/>
          </a:xfrm>
          <a:prstGeom prst="rect">
            <a:avLst/>
          </a:prstGeom>
          <a:noFill/>
          <a:ln/>
        </p:spPr>
        <p:txBody>
          <a:bodyPr wrap="square" lIns="0" tIns="0" rIns="0" bIns="0" rtlCol="0" anchor="t"/>
          <a:lstStyle/>
          <a:p>
            <a:pPr marL="0" indent="0">
              <a:buNone/>
            </a:pPr>
            <a:r>
              <a:rPr lang="en-US" sz="1100" b="1" kern="0" spc="500" dirty="0">
                <a:solidFill>
                  <a:srgbClr val="E4572E"/>
                </a:solidFill>
                <a:latin typeface="Calibri" pitchFamily="34" charset="0"/>
                <a:ea typeface="Calibri" pitchFamily="34" charset="-122"/>
                <a:cs typeface="Calibri" pitchFamily="34" charset="-120"/>
              </a:rPr>
              <a:t>ARCHITECTURE</a:t>
            </a:r>
            <a:endParaRPr lang="en-US" sz="1100" dirty="0"/>
          </a:p>
        </p:txBody>
      </p:sp>
      <p:sp>
        <p:nvSpPr>
          <p:cNvPr id="5" name="Text 3"/>
          <p:cNvSpPr txBox="1"/>
          <p:nvPr/>
        </p:nvSpPr>
        <p:spPr>
          <a:xfrm>
            <a:off x="548640" y="502920"/>
            <a:ext cx="749808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CCM architecture by layer</a:t>
            </a:r>
            <a:endParaRPr lang="en-US" sz="2700" dirty="0"/>
          </a:p>
        </p:txBody>
      </p:sp>
      <p:sp>
        <p:nvSpPr>
          <p:cNvPr id="6" name="Shape 4"/>
          <p:cNvSpPr/>
          <p:nvPr/>
        </p:nvSpPr>
        <p:spPr>
          <a:xfrm>
            <a:off x="8268919" y="155448"/>
            <a:ext cx="1051560" cy="877824"/>
          </a:xfrm>
          <a:prstGeom prst="rect">
            <a:avLst/>
          </a:prstGeom>
          <a:solidFill>
            <a:srgbClr val="1E4FC0"/>
          </a:solidFill>
          <a:ln/>
        </p:spPr>
        <p:txBody>
          <a:bodyPr/>
          <a:lstStyle/>
          <a:p>
            <a:endParaRPr lang="en-US"/>
          </a:p>
        </p:txBody>
      </p:sp>
      <p:sp>
        <p:nvSpPr>
          <p:cNvPr id="7" name="Text 5"/>
          <p:cNvSpPr txBox="1"/>
          <p:nvPr/>
        </p:nvSpPr>
        <p:spPr>
          <a:xfrm>
            <a:off x="8268919" y="182880"/>
            <a:ext cx="10515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6</a:t>
            </a:r>
            <a:endParaRPr lang="en-US" sz="2600" dirty="0"/>
          </a:p>
        </p:txBody>
      </p:sp>
      <p:sp>
        <p:nvSpPr>
          <p:cNvPr id="8" name="Text 6"/>
          <p:cNvSpPr txBox="1"/>
          <p:nvPr/>
        </p:nvSpPr>
        <p:spPr>
          <a:xfrm>
            <a:off x="8268919" y="676656"/>
            <a:ext cx="1051560" cy="292608"/>
          </a:xfrm>
          <a:prstGeom prst="rect">
            <a:avLst/>
          </a:prstGeom>
          <a:noFill/>
          <a:ln/>
        </p:spPr>
        <p:txBody>
          <a:bodyPr wrap="square" lIns="0" tIns="0" rIns="0" bIns="0" rtlCol="0" anchor="ctr"/>
          <a:lstStyle/>
          <a:p>
            <a:pPr marL="0" indent="0" algn="ctr">
              <a:buNone/>
            </a:pPr>
            <a:r>
              <a:rPr lang="en-US" sz="900" dirty="0">
                <a:solidFill>
                  <a:srgbClr val="DCE6FA"/>
                </a:solidFill>
                <a:latin typeface="Calibri" pitchFamily="34" charset="0"/>
                <a:ea typeface="Calibri" pitchFamily="34" charset="-122"/>
                <a:cs typeface="Calibri" pitchFamily="34" charset="-120"/>
              </a:rPr>
              <a:t>Vendors</a:t>
            </a:r>
            <a:endParaRPr lang="en-US" sz="900" dirty="0"/>
          </a:p>
        </p:txBody>
      </p:sp>
      <p:sp>
        <p:nvSpPr>
          <p:cNvPr id="9" name="Shape 7"/>
          <p:cNvSpPr/>
          <p:nvPr/>
        </p:nvSpPr>
        <p:spPr>
          <a:xfrm>
            <a:off x="9430207" y="155448"/>
            <a:ext cx="1051560" cy="877824"/>
          </a:xfrm>
          <a:prstGeom prst="rect">
            <a:avLst/>
          </a:prstGeom>
          <a:solidFill>
            <a:srgbClr val="1E4FC0"/>
          </a:solidFill>
          <a:ln/>
        </p:spPr>
        <p:txBody>
          <a:bodyPr/>
          <a:lstStyle/>
          <a:p>
            <a:endParaRPr lang="en-US"/>
          </a:p>
        </p:txBody>
      </p:sp>
      <p:sp>
        <p:nvSpPr>
          <p:cNvPr id="10" name="Text 8"/>
          <p:cNvSpPr txBox="1"/>
          <p:nvPr/>
        </p:nvSpPr>
        <p:spPr>
          <a:xfrm>
            <a:off x="9430207" y="182880"/>
            <a:ext cx="10515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4</a:t>
            </a:r>
            <a:endParaRPr lang="en-US" sz="2600" dirty="0"/>
          </a:p>
        </p:txBody>
      </p:sp>
      <p:sp>
        <p:nvSpPr>
          <p:cNvPr id="11" name="Text 9"/>
          <p:cNvSpPr txBox="1"/>
          <p:nvPr/>
        </p:nvSpPr>
        <p:spPr>
          <a:xfrm>
            <a:off x="9430207" y="676656"/>
            <a:ext cx="1051560" cy="292608"/>
          </a:xfrm>
          <a:prstGeom prst="rect">
            <a:avLst/>
          </a:prstGeom>
          <a:noFill/>
          <a:ln/>
        </p:spPr>
        <p:txBody>
          <a:bodyPr wrap="square" lIns="0" tIns="0" rIns="0" bIns="0" rtlCol="0" anchor="ctr"/>
          <a:lstStyle/>
          <a:p>
            <a:pPr marL="0" indent="0" algn="ctr">
              <a:buNone/>
            </a:pPr>
            <a:r>
              <a:rPr lang="en-US" sz="900" dirty="0">
                <a:solidFill>
                  <a:srgbClr val="DCE6FA"/>
                </a:solidFill>
                <a:latin typeface="Calibri" pitchFamily="34" charset="0"/>
                <a:ea typeface="Calibri" pitchFamily="34" charset="-122"/>
                <a:cs typeface="Calibri" pitchFamily="34" charset="-120"/>
              </a:rPr>
              <a:t>Channels</a:t>
            </a:r>
            <a:endParaRPr lang="en-US" sz="900" dirty="0"/>
          </a:p>
        </p:txBody>
      </p:sp>
      <p:sp>
        <p:nvSpPr>
          <p:cNvPr id="12" name="Shape 10"/>
          <p:cNvSpPr/>
          <p:nvPr/>
        </p:nvSpPr>
        <p:spPr>
          <a:xfrm>
            <a:off x="10591495" y="155448"/>
            <a:ext cx="1051560" cy="877824"/>
          </a:xfrm>
          <a:prstGeom prst="rect">
            <a:avLst/>
          </a:prstGeom>
          <a:solidFill>
            <a:srgbClr val="1E4FC0"/>
          </a:solidFill>
          <a:ln/>
        </p:spPr>
        <p:txBody>
          <a:bodyPr/>
          <a:lstStyle/>
          <a:p>
            <a:endParaRPr lang="en-US"/>
          </a:p>
        </p:txBody>
      </p:sp>
      <p:sp>
        <p:nvSpPr>
          <p:cNvPr id="13" name="Text 11"/>
          <p:cNvSpPr txBox="1"/>
          <p:nvPr/>
        </p:nvSpPr>
        <p:spPr>
          <a:xfrm>
            <a:off x="10591495" y="182880"/>
            <a:ext cx="10515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6</a:t>
            </a:r>
            <a:endParaRPr lang="en-US" sz="2600" dirty="0"/>
          </a:p>
        </p:txBody>
      </p:sp>
      <p:sp>
        <p:nvSpPr>
          <p:cNvPr id="14" name="Text 12"/>
          <p:cNvSpPr txBox="1"/>
          <p:nvPr/>
        </p:nvSpPr>
        <p:spPr>
          <a:xfrm>
            <a:off x="10591495" y="676656"/>
            <a:ext cx="1051560" cy="292608"/>
          </a:xfrm>
          <a:prstGeom prst="rect">
            <a:avLst/>
          </a:prstGeom>
          <a:noFill/>
          <a:ln/>
        </p:spPr>
        <p:txBody>
          <a:bodyPr wrap="square" lIns="0" tIns="0" rIns="0" bIns="0" rtlCol="0" anchor="ctr"/>
          <a:lstStyle/>
          <a:p>
            <a:pPr marL="0" indent="0" algn="ctr">
              <a:buNone/>
            </a:pPr>
            <a:r>
              <a:rPr lang="en-US" sz="900" dirty="0">
                <a:solidFill>
                  <a:srgbClr val="DCE6FA"/>
                </a:solidFill>
                <a:latin typeface="Calibri" pitchFamily="34" charset="0"/>
                <a:ea typeface="Calibri" pitchFamily="34" charset="-122"/>
                <a:cs typeface="Calibri" pitchFamily="34" charset="-120"/>
              </a:rPr>
              <a:t>Audiences</a:t>
            </a:r>
            <a:endParaRPr lang="en-US" sz="900" dirty="0"/>
          </a:p>
        </p:txBody>
      </p:sp>
      <p:sp>
        <p:nvSpPr>
          <p:cNvPr id="16" name="Text 14"/>
          <p:cNvSpPr txBox="1"/>
          <p:nvPr/>
        </p:nvSpPr>
        <p:spPr>
          <a:xfrm>
            <a:off x="10728655" y="6510528"/>
            <a:ext cx="914400" cy="201168"/>
          </a:xfrm>
          <a:prstGeom prst="rect">
            <a:avLst/>
          </a:prstGeom>
          <a:noFill/>
          <a:ln/>
        </p:spPr>
        <p:txBody>
          <a:bodyPr wrap="square" lIns="0" tIns="0" rIns="0" bIns="0" rtlCol="0" anchor="t"/>
          <a:lstStyle/>
          <a:p>
            <a:pPr marL="0" indent="0" algn="r">
              <a:buNone/>
            </a:pPr>
            <a:r>
              <a:rPr lang="en-US" sz="900" dirty="0">
                <a:solidFill>
                  <a:srgbClr val="5A6272"/>
                </a:solidFill>
                <a:latin typeface="Calibri" pitchFamily="34" charset="0"/>
                <a:ea typeface="Calibri" pitchFamily="34" charset="-122"/>
                <a:cs typeface="Calibri" pitchFamily="34" charset="-120"/>
              </a:rPr>
              <a:t>5</a:t>
            </a:r>
            <a:endParaRPr lang="en-US" sz="900" dirty="0"/>
          </a:p>
        </p:txBody>
      </p:sp>
      <p:sp>
        <p:nvSpPr>
          <p:cNvPr id="17" name="Text 15"/>
          <p:cNvSpPr txBox="1"/>
          <p:nvPr/>
        </p:nvSpPr>
        <p:spPr>
          <a:xfrm>
            <a:off x="548640" y="1371600"/>
            <a:ext cx="1463040" cy="237744"/>
          </a:xfrm>
          <a:prstGeom prst="rect">
            <a:avLst/>
          </a:prstGeom>
          <a:noFill/>
          <a:ln/>
        </p:spPr>
        <p:txBody>
          <a:bodyPr wrap="square" lIns="0" tIns="0" rIns="0" bIns="0" rtlCol="0" anchor="t"/>
          <a:lstStyle/>
          <a:p>
            <a:pPr marL="0" indent="0">
              <a:buNone/>
            </a:pPr>
            <a:r>
              <a:rPr lang="en-US" sz="850" b="1" kern="0" spc="300" dirty="0">
                <a:solidFill>
                  <a:srgbClr val="3D4757"/>
                </a:solidFill>
                <a:latin typeface="Calibri" pitchFamily="34" charset="0"/>
                <a:ea typeface="Calibri" pitchFamily="34" charset="-122"/>
                <a:cs typeface="Calibri" pitchFamily="34" charset="-120"/>
              </a:rPr>
              <a:t>AUDIENCES</a:t>
            </a:r>
            <a:endParaRPr lang="en-US" sz="850" dirty="0"/>
          </a:p>
        </p:txBody>
      </p:sp>
      <p:sp>
        <p:nvSpPr>
          <p:cNvPr id="18" name="Shape 16"/>
          <p:cNvSpPr/>
          <p:nvPr/>
        </p:nvSpPr>
        <p:spPr>
          <a:xfrm>
            <a:off x="548640" y="1645920"/>
            <a:ext cx="1371600" cy="356616"/>
          </a:xfrm>
          <a:prstGeom prst="rect">
            <a:avLst/>
          </a:prstGeom>
          <a:solidFill>
            <a:srgbClr val="FFFFFF"/>
          </a:solidFill>
          <a:ln w="9525">
            <a:solidFill>
              <a:srgbClr val="D3D8DF"/>
            </a:solidFill>
            <a:prstDash val="solid"/>
          </a:ln>
        </p:spPr>
        <p:txBody>
          <a:bodyPr/>
          <a:lstStyle/>
          <a:p>
            <a:endParaRPr lang="en-US"/>
          </a:p>
        </p:txBody>
      </p:sp>
      <p:pic>
        <p:nvPicPr>
          <p:cNvPr id="19" name="Image 0" descr="preencoded.png"/>
          <p:cNvPicPr>
            <a:picLocks noChangeAspect="1"/>
          </p:cNvPicPr>
          <p:nvPr/>
        </p:nvPicPr>
        <p:blipFill>
          <a:blip r:embed="rId3"/>
          <a:stretch>
            <a:fillRect/>
          </a:stretch>
        </p:blipFill>
        <p:spPr>
          <a:xfrm>
            <a:off x="640080" y="1728216"/>
            <a:ext cx="192024" cy="192024"/>
          </a:xfrm>
          <a:prstGeom prst="rect">
            <a:avLst/>
          </a:prstGeom>
        </p:spPr>
      </p:pic>
      <p:sp>
        <p:nvSpPr>
          <p:cNvPr id="20" name="Text 17"/>
          <p:cNvSpPr txBox="1"/>
          <p:nvPr/>
        </p:nvSpPr>
        <p:spPr>
          <a:xfrm>
            <a:off x="914400" y="1645920"/>
            <a:ext cx="987552" cy="356616"/>
          </a:xfrm>
          <a:prstGeom prst="rect">
            <a:avLst/>
          </a:prstGeom>
          <a:noFill/>
          <a:ln/>
        </p:spPr>
        <p:txBody>
          <a:bodyPr wrap="square" lIns="0" tIns="0" rIns="0" bIns="0" rtlCol="0" anchor="ctr"/>
          <a:lstStyle/>
          <a:p>
            <a:pPr marL="0" indent="0">
              <a:buNone/>
            </a:pPr>
            <a:r>
              <a:rPr lang="en-US" sz="950" b="1" dirty="0">
                <a:solidFill>
                  <a:srgbClr val="1E4FC0"/>
                </a:solidFill>
                <a:latin typeface="Calibri" pitchFamily="34" charset="0"/>
                <a:ea typeface="Calibri" pitchFamily="34" charset="-122"/>
                <a:cs typeface="Calibri" pitchFamily="34" charset="-120"/>
              </a:rPr>
              <a:t>Member</a:t>
            </a:r>
            <a:endParaRPr lang="en-US" sz="950" dirty="0"/>
          </a:p>
        </p:txBody>
      </p:sp>
      <p:sp>
        <p:nvSpPr>
          <p:cNvPr id="21" name="Shape 18"/>
          <p:cNvSpPr/>
          <p:nvPr/>
        </p:nvSpPr>
        <p:spPr>
          <a:xfrm>
            <a:off x="548640" y="2066544"/>
            <a:ext cx="1371600" cy="356616"/>
          </a:xfrm>
          <a:prstGeom prst="rect">
            <a:avLst/>
          </a:prstGeom>
          <a:solidFill>
            <a:srgbClr val="FFFFFF"/>
          </a:solidFill>
          <a:ln w="9525">
            <a:solidFill>
              <a:srgbClr val="D3D8DF"/>
            </a:solidFill>
            <a:prstDash val="solid"/>
          </a:ln>
        </p:spPr>
        <p:txBody>
          <a:bodyPr/>
          <a:lstStyle/>
          <a:p>
            <a:endParaRPr lang="en-US"/>
          </a:p>
        </p:txBody>
      </p:sp>
      <p:pic>
        <p:nvPicPr>
          <p:cNvPr id="22" name="Image 1" descr="preencoded.png"/>
          <p:cNvPicPr>
            <a:picLocks noChangeAspect="1"/>
          </p:cNvPicPr>
          <p:nvPr/>
        </p:nvPicPr>
        <p:blipFill>
          <a:blip r:embed="rId4"/>
          <a:stretch>
            <a:fillRect/>
          </a:stretch>
        </p:blipFill>
        <p:spPr>
          <a:xfrm>
            <a:off x="640080" y="2148840"/>
            <a:ext cx="192024" cy="192024"/>
          </a:xfrm>
          <a:prstGeom prst="rect">
            <a:avLst/>
          </a:prstGeom>
        </p:spPr>
      </p:pic>
      <p:sp>
        <p:nvSpPr>
          <p:cNvPr id="23" name="Text 19"/>
          <p:cNvSpPr txBox="1"/>
          <p:nvPr/>
        </p:nvSpPr>
        <p:spPr>
          <a:xfrm>
            <a:off x="914400" y="2066544"/>
            <a:ext cx="987552" cy="356616"/>
          </a:xfrm>
          <a:prstGeom prst="rect">
            <a:avLst/>
          </a:prstGeom>
          <a:noFill/>
          <a:ln/>
        </p:spPr>
        <p:txBody>
          <a:bodyPr wrap="square" lIns="0" tIns="0" rIns="0" bIns="0" rtlCol="0" anchor="ctr"/>
          <a:lstStyle/>
          <a:p>
            <a:pPr marL="0" indent="0">
              <a:buNone/>
            </a:pPr>
            <a:r>
              <a:rPr lang="en-US" sz="950" b="1" dirty="0">
                <a:solidFill>
                  <a:srgbClr val="2F8F57"/>
                </a:solidFill>
                <a:latin typeface="Calibri" pitchFamily="34" charset="0"/>
                <a:ea typeface="Calibri" pitchFamily="34" charset="-122"/>
                <a:cs typeface="Calibri" pitchFamily="34" charset="-120"/>
              </a:rPr>
              <a:t>Prospect</a:t>
            </a:r>
            <a:endParaRPr lang="en-US" sz="950" dirty="0"/>
          </a:p>
        </p:txBody>
      </p:sp>
      <p:sp>
        <p:nvSpPr>
          <p:cNvPr id="24" name="Shape 20"/>
          <p:cNvSpPr/>
          <p:nvPr/>
        </p:nvSpPr>
        <p:spPr>
          <a:xfrm>
            <a:off x="548640" y="2487168"/>
            <a:ext cx="1371600" cy="356616"/>
          </a:xfrm>
          <a:prstGeom prst="rect">
            <a:avLst/>
          </a:prstGeom>
          <a:solidFill>
            <a:srgbClr val="FFFFFF"/>
          </a:solidFill>
          <a:ln w="9525">
            <a:solidFill>
              <a:srgbClr val="D3D8DF"/>
            </a:solidFill>
            <a:prstDash val="solid"/>
          </a:ln>
        </p:spPr>
        <p:txBody>
          <a:bodyPr/>
          <a:lstStyle/>
          <a:p>
            <a:endParaRPr lang="en-US"/>
          </a:p>
        </p:txBody>
      </p:sp>
      <p:pic>
        <p:nvPicPr>
          <p:cNvPr id="25" name="Image 2" descr="preencoded.png"/>
          <p:cNvPicPr>
            <a:picLocks noChangeAspect="1"/>
          </p:cNvPicPr>
          <p:nvPr/>
        </p:nvPicPr>
        <p:blipFill>
          <a:blip r:embed="rId5"/>
          <a:stretch>
            <a:fillRect/>
          </a:stretch>
        </p:blipFill>
        <p:spPr>
          <a:xfrm>
            <a:off x="640080" y="2569464"/>
            <a:ext cx="192024" cy="192024"/>
          </a:xfrm>
          <a:prstGeom prst="rect">
            <a:avLst/>
          </a:prstGeom>
        </p:spPr>
      </p:pic>
      <p:sp>
        <p:nvSpPr>
          <p:cNvPr id="26" name="Text 21"/>
          <p:cNvSpPr txBox="1"/>
          <p:nvPr/>
        </p:nvSpPr>
        <p:spPr>
          <a:xfrm>
            <a:off x="914400" y="2487168"/>
            <a:ext cx="987552" cy="356616"/>
          </a:xfrm>
          <a:prstGeom prst="rect">
            <a:avLst/>
          </a:prstGeom>
          <a:noFill/>
          <a:ln/>
        </p:spPr>
        <p:txBody>
          <a:bodyPr wrap="square" lIns="0" tIns="0" rIns="0" bIns="0" rtlCol="0" anchor="ctr"/>
          <a:lstStyle/>
          <a:p>
            <a:pPr marL="0" indent="0">
              <a:buNone/>
            </a:pPr>
            <a:r>
              <a:rPr lang="en-US" sz="950" b="1" dirty="0">
                <a:solidFill>
                  <a:srgbClr val="6A30D8"/>
                </a:solidFill>
                <a:latin typeface="Calibri" pitchFamily="34" charset="0"/>
                <a:ea typeface="Calibri" pitchFamily="34" charset="-122"/>
                <a:cs typeface="Calibri" pitchFamily="34" charset="-120"/>
              </a:rPr>
              <a:t>Delegate</a:t>
            </a:r>
            <a:endParaRPr lang="en-US" sz="950" dirty="0"/>
          </a:p>
        </p:txBody>
      </p:sp>
      <p:sp>
        <p:nvSpPr>
          <p:cNvPr id="27" name="Shape 22"/>
          <p:cNvSpPr/>
          <p:nvPr/>
        </p:nvSpPr>
        <p:spPr>
          <a:xfrm>
            <a:off x="548640" y="2907792"/>
            <a:ext cx="1371600" cy="356616"/>
          </a:xfrm>
          <a:prstGeom prst="rect">
            <a:avLst/>
          </a:prstGeom>
          <a:solidFill>
            <a:srgbClr val="FFFFFF"/>
          </a:solidFill>
          <a:ln w="9525">
            <a:solidFill>
              <a:srgbClr val="D3D8DF"/>
            </a:solidFill>
            <a:prstDash val="solid"/>
          </a:ln>
        </p:spPr>
        <p:txBody>
          <a:bodyPr/>
          <a:lstStyle/>
          <a:p>
            <a:endParaRPr lang="en-US"/>
          </a:p>
        </p:txBody>
      </p:sp>
      <p:pic>
        <p:nvPicPr>
          <p:cNvPr id="28" name="Image 3" descr="preencoded.png"/>
          <p:cNvPicPr>
            <a:picLocks noChangeAspect="1"/>
          </p:cNvPicPr>
          <p:nvPr/>
        </p:nvPicPr>
        <p:blipFill>
          <a:blip r:embed="rId6"/>
          <a:stretch>
            <a:fillRect/>
          </a:stretch>
        </p:blipFill>
        <p:spPr>
          <a:xfrm>
            <a:off x="640080" y="2990088"/>
            <a:ext cx="192024" cy="192024"/>
          </a:xfrm>
          <a:prstGeom prst="rect">
            <a:avLst/>
          </a:prstGeom>
        </p:spPr>
      </p:pic>
      <p:sp>
        <p:nvSpPr>
          <p:cNvPr id="29" name="Text 23"/>
          <p:cNvSpPr txBox="1"/>
          <p:nvPr/>
        </p:nvSpPr>
        <p:spPr>
          <a:xfrm>
            <a:off x="914400" y="2907792"/>
            <a:ext cx="987552" cy="356616"/>
          </a:xfrm>
          <a:prstGeom prst="rect">
            <a:avLst/>
          </a:prstGeom>
          <a:noFill/>
          <a:ln/>
        </p:spPr>
        <p:txBody>
          <a:bodyPr wrap="square" lIns="0" tIns="0" rIns="0" bIns="0" rtlCol="0" anchor="ctr"/>
          <a:lstStyle/>
          <a:p>
            <a:pPr marL="0" indent="0">
              <a:buNone/>
            </a:pPr>
            <a:r>
              <a:rPr lang="en-US" sz="950" b="1" dirty="0">
                <a:solidFill>
                  <a:srgbClr val="2E7D6B"/>
                </a:solidFill>
                <a:latin typeface="Calibri" pitchFamily="34" charset="0"/>
                <a:ea typeface="Calibri" pitchFamily="34" charset="-122"/>
                <a:cs typeface="Calibri" pitchFamily="34" charset="-120"/>
              </a:rPr>
              <a:t>Agent</a:t>
            </a:r>
            <a:endParaRPr lang="en-US" sz="950" dirty="0"/>
          </a:p>
        </p:txBody>
      </p:sp>
      <p:sp>
        <p:nvSpPr>
          <p:cNvPr id="30" name="Shape 24"/>
          <p:cNvSpPr/>
          <p:nvPr/>
        </p:nvSpPr>
        <p:spPr>
          <a:xfrm>
            <a:off x="548640" y="3328416"/>
            <a:ext cx="1371600" cy="356616"/>
          </a:xfrm>
          <a:prstGeom prst="rect">
            <a:avLst/>
          </a:prstGeom>
          <a:solidFill>
            <a:srgbClr val="FFFFFF"/>
          </a:solidFill>
          <a:ln w="9525">
            <a:solidFill>
              <a:srgbClr val="D3D8DF"/>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640080" y="3410712"/>
            <a:ext cx="192024" cy="192024"/>
          </a:xfrm>
          <a:prstGeom prst="rect">
            <a:avLst/>
          </a:prstGeom>
        </p:spPr>
      </p:pic>
      <p:sp>
        <p:nvSpPr>
          <p:cNvPr id="32" name="Text 25"/>
          <p:cNvSpPr txBox="1"/>
          <p:nvPr/>
        </p:nvSpPr>
        <p:spPr>
          <a:xfrm>
            <a:off x="914400" y="3328416"/>
            <a:ext cx="987552" cy="356616"/>
          </a:xfrm>
          <a:prstGeom prst="rect">
            <a:avLst/>
          </a:prstGeom>
          <a:noFill/>
          <a:ln/>
        </p:spPr>
        <p:txBody>
          <a:bodyPr wrap="square" lIns="0" tIns="0" rIns="0" bIns="0" rtlCol="0" anchor="ctr"/>
          <a:lstStyle/>
          <a:p>
            <a:pPr marL="0" indent="0">
              <a:buNone/>
            </a:pPr>
            <a:r>
              <a:rPr lang="en-US" sz="950" b="1" dirty="0">
                <a:solidFill>
                  <a:srgbClr val="3B8FD4"/>
                </a:solidFill>
                <a:latin typeface="Calibri" pitchFamily="34" charset="0"/>
                <a:ea typeface="Calibri" pitchFamily="34" charset="-122"/>
                <a:cs typeface="Calibri" pitchFamily="34" charset="-120"/>
              </a:rPr>
              <a:t>Provider</a:t>
            </a:r>
            <a:endParaRPr lang="en-US" sz="950" dirty="0"/>
          </a:p>
        </p:txBody>
      </p:sp>
      <p:sp>
        <p:nvSpPr>
          <p:cNvPr id="33" name="Shape 26"/>
          <p:cNvSpPr/>
          <p:nvPr/>
        </p:nvSpPr>
        <p:spPr>
          <a:xfrm>
            <a:off x="548640" y="3749040"/>
            <a:ext cx="1371600" cy="356616"/>
          </a:xfrm>
          <a:prstGeom prst="rect">
            <a:avLst/>
          </a:prstGeom>
          <a:solidFill>
            <a:srgbClr val="FFFFFF"/>
          </a:solidFill>
          <a:ln w="9525">
            <a:solidFill>
              <a:srgbClr val="D3D8DF"/>
            </a:solidFill>
            <a:prstDash val="solid"/>
          </a:ln>
        </p:spPr>
        <p:txBody>
          <a:bodyPr/>
          <a:lstStyle/>
          <a:p>
            <a:endParaRPr lang="en-US"/>
          </a:p>
        </p:txBody>
      </p:sp>
      <p:pic>
        <p:nvPicPr>
          <p:cNvPr id="34" name="Image 5" descr="preencoded.png"/>
          <p:cNvPicPr>
            <a:picLocks noChangeAspect="1"/>
          </p:cNvPicPr>
          <p:nvPr/>
        </p:nvPicPr>
        <p:blipFill>
          <a:blip r:embed="rId8"/>
          <a:stretch>
            <a:fillRect/>
          </a:stretch>
        </p:blipFill>
        <p:spPr>
          <a:xfrm>
            <a:off x="640080" y="3831336"/>
            <a:ext cx="192024" cy="192024"/>
          </a:xfrm>
          <a:prstGeom prst="rect">
            <a:avLst/>
          </a:prstGeom>
        </p:spPr>
      </p:pic>
      <p:sp>
        <p:nvSpPr>
          <p:cNvPr id="35" name="Text 27"/>
          <p:cNvSpPr txBox="1"/>
          <p:nvPr/>
        </p:nvSpPr>
        <p:spPr>
          <a:xfrm>
            <a:off x="914400" y="3749040"/>
            <a:ext cx="987552" cy="356616"/>
          </a:xfrm>
          <a:prstGeom prst="rect">
            <a:avLst/>
          </a:prstGeom>
          <a:noFill/>
          <a:ln/>
        </p:spPr>
        <p:txBody>
          <a:bodyPr wrap="square" lIns="0" tIns="0" rIns="0" bIns="0" rtlCol="0" anchor="ctr"/>
          <a:lstStyle/>
          <a:p>
            <a:pPr marL="0" indent="0">
              <a:buNone/>
            </a:pPr>
            <a:r>
              <a:rPr lang="en-US" sz="950" b="1" dirty="0">
                <a:solidFill>
                  <a:srgbClr val="E4572E"/>
                </a:solidFill>
                <a:latin typeface="Calibri" pitchFamily="34" charset="0"/>
                <a:ea typeface="Calibri" pitchFamily="34" charset="-122"/>
                <a:cs typeface="Calibri" pitchFamily="34" charset="-120"/>
              </a:rPr>
              <a:t>Business user</a:t>
            </a:r>
            <a:endParaRPr lang="en-US" sz="950" dirty="0"/>
          </a:p>
        </p:txBody>
      </p:sp>
      <p:sp>
        <p:nvSpPr>
          <p:cNvPr id="37" name="Shape 29"/>
          <p:cNvSpPr/>
          <p:nvPr/>
        </p:nvSpPr>
        <p:spPr>
          <a:xfrm>
            <a:off x="548640" y="4553712"/>
            <a:ext cx="36576" cy="932688"/>
          </a:xfrm>
          <a:prstGeom prst="rect">
            <a:avLst/>
          </a:prstGeom>
          <a:solidFill>
            <a:srgbClr val="6A30D8"/>
          </a:solidFill>
          <a:ln/>
        </p:spPr>
        <p:txBody>
          <a:bodyPr/>
          <a:lstStyle/>
          <a:p>
            <a:endParaRPr lang="en-US"/>
          </a:p>
        </p:txBody>
      </p:sp>
      <p:sp>
        <p:nvSpPr>
          <p:cNvPr id="38" name="Text 30"/>
          <p:cNvSpPr txBox="1"/>
          <p:nvPr/>
        </p:nvSpPr>
        <p:spPr>
          <a:xfrm>
            <a:off x="658368" y="4535424"/>
            <a:ext cx="1353312" cy="1005840"/>
          </a:xfrm>
          <a:prstGeom prst="rect">
            <a:avLst/>
          </a:prstGeom>
          <a:noFill/>
          <a:ln/>
        </p:spPr>
        <p:txBody>
          <a:bodyPr wrap="square" lIns="0" tIns="0" rIns="0" bIns="0" rtlCol="0" anchor="t"/>
          <a:lstStyle/>
          <a:p>
            <a:pPr marL="0" indent="0">
              <a:buNone/>
            </a:pPr>
            <a:r>
              <a:rPr lang="en-US" sz="850" dirty="0">
                <a:solidFill>
                  <a:srgbClr val="1C2330"/>
                </a:solidFill>
                <a:latin typeface="Calibri" pitchFamily="34" charset="0"/>
                <a:ea typeface="Calibri" pitchFamily="34" charset="-122"/>
                <a:cs typeface="Calibri" pitchFamily="34" charset="-120"/>
              </a:rPr>
              <a:t>CCM/Inspire is a Shared Service. Its APIs sit behind the API gateway; its events flow on the event bus.</a:t>
            </a:r>
            <a:endParaRPr lang="en-US" sz="850" dirty="0"/>
          </a:p>
        </p:txBody>
      </p:sp>
      <p:sp>
        <p:nvSpPr>
          <p:cNvPr id="39" name="Shape 31"/>
          <p:cNvSpPr/>
          <p:nvPr/>
        </p:nvSpPr>
        <p:spPr>
          <a:xfrm>
            <a:off x="2057400" y="1371600"/>
            <a:ext cx="7955280" cy="662940"/>
          </a:xfrm>
          <a:prstGeom prst="rect">
            <a:avLst/>
          </a:prstGeom>
          <a:solidFill>
            <a:srgbClr val="E9EBEF"/>
          </a:solidFill>
          <a:ln/>
        </p:spPr>
        <p:txBody>
          <a:bodyPr/>
          <a:lstStyle/>
          <a:p>
            <a:endParaRPr lang="en-US"/>
          </a:p>
        </p:txBody>
      </p:sp>
      <p:sp>
        <p:nvSpPr>
          <p:cNvPr id="40" name="Shape 32"/>
          <p:cNvSpPr/>
          <p:nvPr/>
        </p:nvSpPr>
        <p:spPr>
          <a:xfrm>
            <a:off x="2057400" y="1371600"/>
            <a:ext cx="7955280" cy="45720"/>
          </a:xfrm>
          <a:prstGeom prst="rect">
            <a:avLst/>
          </a:prstGeom>
          <a:solidFill>
            <a:srgbClr val="2F8F57"/>
          </a:solidFill>
          <a:ln/>
        </p:spPr>
        <p:txBody>
          <a:bodyPr/>
          <a:lstStyle/>
          <a:p>
            <a:endParaRPr lang="en-US"/>
          </a:p>
        </p:txBody>
      </p:sp>
      <p:sp>
        <p:nvSpPr>
          <p:cNvPr id="41" name="Shape 33"/>
          <p:cNvSpPr/>
          <p:nvPr/>
        </p:nvSpPr>
        <p:spPr>
          <a:xfrm>
            <a:off x="2057400" y="1371600"/>
            <a:ext cx="45720" cy="662940"/>
          </a:xfrm>
          <a:prstGeom prst="rect">
            <a:avLst/>
          </a:prstGeom>
          <a:solidFill>
            <a:srgbClr val="2F8F57"/>
          </a:solidFill>
          <a:ln/>
        </p:spPr>
        <p:txBody>
          <a:bodyPr/>
          <a:lstStyle/>
          <a:p>
            <a:endParaRPr lang="en-US"/>
          </a:p>
        </p:txBody>
      </p:sp>
      <p:sp>
        <p:nvSpPr>
          <p:cNvPr id="42" name="Text 34"/>
          <p:cNvSpPr txBox="1"/>
          <p:nvPr/>
        </p:nvSpPr>
        <p:spPr>
          <a:xfrm>
            <a:off x="2221992" y="1435608"/>
            <a:ext cx="7955280" cy="237744"/>
          </a:xfrm>
          <a:prstGeom prst="rect">
            <a:avLst/>
          </a:prstGeom>
          <a:noFill/>
          <a:ln/>
        </p:spPr>
        <p:txBody>
          <a:bodyPr wrap="square" lIns="0" tIns="0" rIns="0" bIns="0" rtlCol="0" anchor="t"/>
          <a:lstStyle/>
          <a:p>
            <a:pPr marL="0" indent="0">
              <a:buNone/>
            </a:pPr>
            <a:r>
              <a:rPr lang="en-US" sz="800" b="1" kern="0" spc="300" dirty="0">
                <a:solidFill>
                  <a:srgbClr val="2F8F57"/>
                </a:solidFill>
                <a:latin typeface="Calibri" pitchFamily="34" charset="0"/>
                <a:ea typeface="Calibri" pitchFamily="34" charset="-122"/>
                <a:cs typeface="Calibri" pitchFamily="34" charset="-120"/>
              </a:rPr>
              <a:t>CHANNELS &amp; DELIVERY</a:t>
            </a:r>
            <a:endParaRPr lang="en-US" sz="800" dirty="0"/>
          </a:p>
        </p:txBody>
      </p:sp>
      <p:sp>
        <p:nvSpPr>
          <p:cNvPr id="43" name="Shape 35"/>
          <p:cNvSpPr/>
          <p:nvPr/>
        </p:nvSpPr>
        <p:spPr>
          <a:xfrm>
            <a:off x="2221992" y="1645920"/>
            <a:ext cx="1477670" cy="333756"/>
          </a:xfrm>
          <a:prstGeom prst="rect">
            <a:avLst/>
          </a:prstGeom>
          <a:solidFill>
            <a:srgbClr val="FFFFFF"/>
          </a:solidFill>
          <a:ln w="9525">
            <a:solidFill>
              <a:srgbClr val="D3D8DF"/>
            </a:solidFill>
            <a:prstDash val="solid"/>
          </a:ln>
        </p:spPr>
        <p:txBody>
          <a:bodyPr/>
          <a:lstStyle/>
          <a:p>
            <a:endParaRPr lang="en-US"/>
          </a:p>
        </p:txBody>
      </p:sp>
      <p:sp>
        <p:nvSpPr>
          <p:cNvPr id="44" name="Text 36"/>
          <p:cNvSpPr txBox="1"/>
          <p:nvPr/>
        </p:nvSpPr>
        <p:spPr>
          <a:xfrm>
            <a:off x="2295144" y="1673352"/>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EMAIL</a:t>
            </a:r>
            <a:endParaRPr lang="en-US" sz="700" dirty="0"/>
          </a:p>
        </p:txBody>
      </p:sp>
      <p:sp>
        <p:nvSpPr>
          <p:cNvPr id="45" name="Text 37"/>
          <p:cNvSpPr txBox="1"/>
          <p:nvPr/>
        </p:nvSpPr>
        <p:spPr>
          <a:xfrm>
            <a:off x="2295144" y="1810512"/>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SFMC</a:t>
            </a:r>
            <a:endParaRPr lang="en-US" sz="750" dirty="0"/>
          </a:p>
        </p:txBody>
      </p:sp>
      <p:sp>
        <p:nvSpPr>
          <p:cNvPr id="46" name="Shape 38"/>
          <p:cNvSpPr/>
          <p:nvPr/>
        </p:nvSpPr>
        <p:spPr>
          <a:xfrm>
            <a:off x="3772814" y="1645920"/>
            <a:ext cx="1477670" cy="333756"/>
          </a:xfrm>
          <a:prstGeom prst="rect">
            <a:avLst/>
          </a:prstGeom>
          <a:solidFill>
            <a:srgbClr val="FFFFFF"/>
          </a:solidFill>
          <a:ln w="9525">
            <a:solidFill>
              <a:srgbClr val="D3D8DF"/>
            </a:solidFill>
            <a:prstDash val="solid"/>
          </a:ln>
        </p:spPr>
        <p:txBody>
          <a:bodyPr/>
          <a:lstStyle/>
          <a:p>
            <a:endParaRPr lang="en-US"/>
          </a:p>
        </p:txBody>
      </p:sp>
      <p:sp>
        <p:nvSpPr>
          <p:cNvPr id="47" name="Text 39"/>
          <p:cNvSpPr txBox="1"/>
          <p:nvPr/>
        </p:nvSpPr>
        <p:spPr>
          <a:xfrm>
            <a:off x="3845966" y="1673352"/>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SMS / MMS</a:t>
            </a:r>
            <a:endParaRPr lang="en-US" sz="700" dirty="0"/>
          </a:p>
        </p:txBody>
      </p:sp>
      <p:sp>
        <p:nvSpPr>
          <p:cNvPr id="48" name="Text 40"/>
          <p:cNvSpPr txBox="1"/>
          <p:nvPr/>
        </p:nvSpPr>
        <p:spPr>
          <a:xfrm>
            <a:off x="3845966" y="1810512"/>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Twilio</a:t>
            </a:r>
            <a:endParaRPr lang="en-US" sz="750" dirty="0"/>
          </a:p>
        </p:txBody>
      </p:sp>
      <p:sp>
        <p:nvSpPr>
          <p:cNvPr id="49" name="Shape 41"/>
          <p:cNvSpPr/>
          <p:nvPr/>
        </p:nvSpPr>
        <p:spPr>
          <a:xfrm>
            <a:off x="5323637" y="1645920"/>
            <a:ext cx="1477670" cy="333756"/>
          </a:xfrm>
          <a:prstGeom prst="rect">
            <a:avLst/>
          </a:prstGeom>
          <a:solidFill>
            <a:srgbClr val="FFFFFF"/>
          </a:solidFill>
          <a:ln w="9525">
            <a:solidFill>
              <a:srgbClr val="D3D8DF"/>
            </a:solidFill>
            <a:prstDash val="solid"/>
          </a:ln>
        </p:spPr>
        <p:txBody>
          <a:bodyPr/>
          <a:lstStyle/>
          <a:p>
            <a:endParaRPr lang="en-US"/>
          </a:p>
        </p:txBody>
      </p:sp>
      <p:sp>
        <p:nvSpPr>
          <p:cNvPr id="50" name="Text 42"/>
          <p:cNvSpPr txBox="1"/>
          <p:nvPr/>
        </p:nvSpPr>
        <p:spPr>
          <a:xfrm>
            <a:off x="5396789" y="1673352"/>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PRINT</a:t>
            </a:r>
            <a:endParaRPr lang="en-US" sz="700" dirty="0"/>
          </a:p>
        </p:txBody>
      </p:sp>
      <p:sp>
        <p:nvSpPr>
          <p:cNvPr id="51" name="Text 43"/>
          <p:cNvSpPr txBox="1"/>
          <p:nvPr/>
        </p:nvSpPr>
        <p:spPr>
          <a:xfrm>
            <a:off x="5396789" y="1810512"/>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O’Neil, Highmark</a:t>
            </a:r>
            <a:endParaRPr lang="en-US" sz="750" dirty="0"/>
          </a:p>
        </p:txBody>
      </p:sp>
      <p:sp>
        <p:nvSpPr>
          <p:cNvPr id="52" name="Shape 44"/>
          <p:cNvSpPr/>
          <p:nvPr/>
        </p:nvSpPr>
        <p:spPr>
          <a:xfrm>
            <a:off x="6874459" y="1645920"/>
            <a:ext cx="1477670" cy="333756"/>
          </a:xfrm>
          <a:prstGeom prst="rect">
            <a:avLst/>
          </a:prstGeom>
          <a:solidFill>
            <a:srgbClr val="FFFFFF"/>
          </a:solidFill>
          <a:ln w="9525">
            <a:solidFill>
              <a:srgbClr val="D3D8DF"/>
            </a:solidFill>
            <a:prstDash val="solid"/>
          </a:ln>
        </p:spPr>
        <p:txBody>
          <a:bodyPr/>
          <a:lstStyle/>
          <a:p>
            <a:endParaRPr lang="en-US"/>
          </a:p>
        </p:txBody>
      </p:sp>
      <p:sp>
        <p:nvSpPr>
          <p:cNvPr id="53" name="Text 45"/>
          <p:cNvSpPr txBox="1"/>
          <p:nvPr/>
        </p:nvSpPr>
        <p:spPr>
          <a:xfrm>
            <a:off x="6947611" y="1673352"/>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DIGITAL</a:t>
            </a:r>
            <a:endParaRPr lang="en-US" sz="700" dirty="0"/>
          </a:p>
        </p:txBody>
      </p:sp>
      <p:sp>
        <p:nvSpPr>
          <p:cNvPr id="54" name="Text 46"/>
          <p:cNvSpPr txBox="1"/>
          <p:nvPr/>
        </p:nvSpPr>
        <p:spPr>
          <a:xfrm>
            <a:off x="6947611" y="1810512"/>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Message Center</a:t>
            </a:r>
            <a:endParaRPr lang="en-US" sz="750" dirty="0"/>
          </a:p>
        </p:txBody>
      </p:sp>
      <p:sp>
        <p:nvSpPr>
          <p:cNvPr id="55" name="Shape 47"/>
          <p:cNvSpPr/>
          <p:nvPr/>
        </p:nvSpPr>
        <p:spPr>
          <a:xfrm>
            <a:off x="8425282" y="1645920"/>
            <a:ext cx="1477670" cy="333756"/>
          </a:xfrm>
          <a:prstGeom prst="rect">
            <a:avLst/>
          </a:prstGeom>
          <a:solidFill>
            <a:srgbClr val="FFFFFF"/>
          </a:solidFill>
          <a:ln w="9525">
            <a:solidFill>
              <a:srgbClr val="D3D8DF"/>
            </a:solidFill>
            <a:prstDash val="solid"/>
          </a:ln>
        </p:spPr>
        <p:txBody>
          <a:bodyPr/>
          <a:lstStyle/>
          <a:p>
            <a:endParaRPr lang="en-US"/>
          </a:p>
        </p:txBody>
      </p:sp>
      <p:sp>
        <p:nvSpPr>
          <p:cNvPr id="56" name="Text 48"/>
          <p:cNvSpPr txBox="1"/>
          <p:nvPr/>
        </p:nvSpPr>
        <p:spPr>
          <a:xfrm>
            <a:off x="8498434" y="1673352"/>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ARCHIVE</a:t>
            </a:r>
            <a:endParaRPr lang="en-US" sz="700" dirty="0"/>
          </a:p>
        </p:txBody>
      </p:sp>
      <p:sp>
        <p:nvSpPr>
          <p:cNvPr id="57" name="Text 49"/>
          <p:cNvSpPr txBox="1"/>
          <p:nvPr/>
        </p:nvSpPr>
        <p:spPr>
          <a:xfrm>
            <a:off x="8498434" y="1810512"/>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ECMS / Content Central</a:t>
            </a:r>
            <a:endParaRPr lang="en-US" sz="750" dirty="0"/>
          </a:p>
        </p:txBody>
      </p:sp>
      <p:sp>
        <p:nvSpPr>
          <p:cNvPr id="58" name="Shape 50"/>
          <p:cNvSpPr/>
          <p:nvPr/>
        </p:nvSpPr>
        <p:spPr>
          <a:xfrm>
            <a:off x="2057400" y="2098548"/>
            <a:ext cx="7955280" cy="662940"/>
          </a:xfrm>
          <a:prstGeom prst="rect">
            <a:avLst/>
          </a:prstGeom>
          <a:solidFill>
            <a:srgbClr val="E9EBEF"/>
          </a:solidFill>
          <a:ln/>
        </p:spPr>
        <p:txBody>
          <a:bodyPr/>
          <a:lstStyle/>
          <a:p>
            <a:endParaRPr lang="en-US"/>
          </a:p>
        </p:txBody>
      </p:sp>
      <p:sp>
        <p:nvSpPr>
          <p:cNvPr id="59" name="Shape 51"/>
          <p:cNvSpPr/>
          <p:nvPr/>
        </p:nvSpPr>
        <p:spPr>
          <a:xfrm>
            <a:off x="2057400" y="2098548"/>
            <a:ext cx="7955280" cy="45720"/>
          </a:xfrm>
          <a:prstGeom prst="rect">
            <a:avLst/>
          </a:prstGeom>
          <a:solidFill>
            <a:srgbClr val="2A3585"/>
          </a:solidFill>
          <a:ln/>
        </p:spPr>
        <p:txBody>
          <a:bodyPr/>
          <a:lstStyle/>
          <a:p>
            <a:endParaRPr lang="en-US"/>
          </a:p>
        </p:txBody>
      </p:sp>
      <p:sp>
        <p:nvSpPr>
          <p:cNvPr id="60" name="Shape 52"/>
          <p:cNvSpPr/>
          <p:nvPr/>
        </p:nvSpPr>
        <p:spPr>
          <a:xfrm>
            <a:off x="2057400" y="2098548"/>
            <a:ext cx="45720" cy="662940"/>
          </a:xfrm>
          <a:prstGeom prst="rect">
            <a:avLst/>
          </a:prstGeom>
          <a:solidFill>
            <a:srgbClr val="2A3585"/>
          </a:solidFill>
          <a:ln/>
        </p:spPr>
        <p:txBody>
          <a:bodyPr/>
          <a:lstStyle/>
          <a:p>
            <a:endParaRPr lang="en-US"/>
          </a:p>
        </p:txBody>
      </p:sp>
      <p:sp>
        <p:nvSpPr>
          <p:cNvPr id="61" name="Text 53"/>
          <p:cNvSpPr txBox="1"/>
          <p:nvPr/>
        </p:nvSpPr>
        <p:spPr>
          <a:xfrm>
            <a:off x="2221992" y="2162556"/>
            <a:ext cx="7955280" cy="237744"/>
          </a:xfrm>
          <a:prstGeom prst="rect">
            <a:avLst/>
          </a:prstGeom>
          <a:noFill/>
          <a:ln/>
        </p:spPr>
        <p:txBody>
          <a:bodyPr wrap="square" lIns="0" tIns="0" rIns="0" bIns="0" rtlCol="0" anchor="t"/>
          <a:lstStyle/>
          <a:p>
            <a:pPr marL="0" indent="0">
              <a:buNone/>
            </a:pPr>
            <a:r>
              <a:rPr lang="en-US" sz="800" b="1" kern="0" spc="300" dirty="0">
                <a:solidFill>
                  <a:srgbClr val="2A3585"/>
                </a:solidFill>
                <a:latin typeface="Calibri" pitchFamily="34" charset="0"/>
                <a:ea typeface="Calibri" pitchFamily="34" charset="-122"/>
                <a:cs typeface="Calibri" pitchFamily="34" charset="-120"/>
              </a:rPr>
              <a:t>ACCESS &amp; IDENTITY</a:t>
            </a:r>
            <a:endParaRPr lang="en-US" sz="800" dirty="0"/>
          </a:p>
        </p:txBody>
      </p:sp>
      <p:sp>
        <p:nvSpPr>
          <p:cNvPr id="62" name="Shape 54"/>
          <p:cNvSpPr/>
          <p:nvPr/>
        </p:nvSpPr>
        <p:spPr>
          <a:xfrm>
            <a:off x="2221992" y="2372868"/>
            <a:ext cx="1865376" cy="333756"/>
          </a:xfrm>
          <a:prstGeom prst="rect">
            <a:avLst/>
          </a:prstGeom>
          <a:solidFill>
            <a:srgbClr val="FFFFFF"/>
          </a:solidFill>
          <a:ln w="9525">
            <a:solidFill>
              <a:srgbClr val="D3D8DF"/>
            </a:solidFill>
            <a:prstDash val="solid"/>
          </a:ln>
        </p:spPr>
        <p:txBody>
          <a:bodyPr/>
          <a:lstStyle/>
          <a:p>
            <a:endParaRPr lang="en-US"/>
          </a:p>
        </p:txBody>
      </p:sp>
      <p:sp>
        <p:nvSpPr>
          <p:cNvPr id="63" name="Text 55"/>
          <p:cNvSpPr txBox="1"/>
          <p:nvPr/>
        </p:nvSpPr>
        <p:spPr>
          <a:xfrm>
            <a:off x="2295144" y="2400300"/>
            <a:ext cx="1719072"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PMI POLICIES</a:t>
            </a:r>
            <a:endParaRPr lang="en-US" sz="700" dirty="0"/>
          </a:p>
        </p:txBody>
      </p:sp>
      <p:sp>
        <p:nvSpPr>
          <p:cNvPr id="64" name="Text 56"/>
          <p:cNvSpPr txBox="1"/>
          <p:nvPr/>
        </p:nvSpPr>
        <p:spPr>
          <a:xfrm>
            <a:off x="2295144" y="2537460"/>
            <a:ext cx="1719072"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Role-based access</a:t>
            </a:r>
            <a:endParaRPr lang="en-US" sz="750" dirty="0"/>
          </a:p>
        </p:txBody>
      </p:sp>
      <p:sp>
        <p:nvSpPr>
          <p:cNvPr id="65" name="Shape 57"/>
          <p:cNvSpPr/>
          <p:nvPr/>
        </p:nvSpPr>
        <p:spPr>
          <a:xfrm>
            <a:off x="4160520" y="2372868"/>
            <a:ext cx="1865376" cy="333756"/>
          </a:xfrm>
          <a:prstGeom prst="rect">
            <a:avLst/>
          </a:prstGeom>
          <a:solidFill>
            <a:srgbClr val="FFFFFF"/>
          </a:solidFill>
          <a:ln w="9525">
            <a:solidFill>
              <a:srgbClr val="D3D8DF"/>
            </a:solidFill>
            <a:prstDash val="solid"/>
          </a:ln>
        </p:spPr>
        <p:txBody>
          <a:bodyPr/>
          <a:lstStyle/>
          <a:p>
            <a:endParaRPr lang="en-US"/>
          </a:p>
        </p:txBody>
      </p:sp>
      <p:sp>
        <p:nvSpPr>
          <p:cNvPr id="66" name="Text 58"/>
          <p:cNvSpPr txBox="1"/>
          <p:nvPr/>
        </p:nvSpPr>
        <p:spPr>
          <a:xfrm>
            <a:off x="4233672" y="2400300"/>
            <a:ext cx="1719072"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JWT + ROLE CHECKS</a:t>
            </a:r>
            <a:endParaRPr lang="en-US" sz="700" dirty="0"/>
          </a:p>
        </p:txBody>
      </p:sp>
      <p:sp>
        <p:nvSpPr>
          <p:cNvPr id="67" name="Text 59"/>
          <p:cNvSpPr txBox="1"/>
          <p:nvPr/>
        </p:nvSpPr>
        <p:spPr>
          <a:xfrm>
            <a:off x="4233672" y="2537460"/>
            <a:ext cx="1719072"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On-demand path</a:t>
            </a:r>
            <a:endParaRPr lang="en-US" sz="750" dirty="0"/>
          </a:p>
        </p:txBody>
      </p:sp>
      <p:sp>
        <p:nvSpPr>
          <p:cNvPr id="68" name="Shape 60"/>
          <p:cNvSpPr/>
          <p:nvPr/>
        </p:nvSpPr>
        <p:spPr>
          <a:xfrm>
            <a:off x="6099048" y="2372868"/>
            <a:ext cx="1865376" cy="333756"/>
          </a:xfrm>
          <a:prstGeom prst="rect">
            <a:avLst/>
          </a:prstGeom>
          <a:solidFill>
            <a:srgbClr val="FFFFFF"/>
          </a:solidFill>
          <a:ln w="9525">
            <a:solidFill>
              <a:srgbClr val="D3D8DF"/>
            </a:solidFill>
            <a:prstDash val="solid"/>
          </a:ln>
        </p:spPr>
        <p:txBody>
          <a:bodyPr/>
          <a:lstStyle/>
          <a:p>
            <a:endParaRPr lang="en-US"/>
          </a:p>
        </p:txBody>
      </p:sp>
      <p:sp>
        <p:nvSpPr>
          <p:cNvPr id="69" name="Text 61"/>
          <p:cNvSpPr txBox="1"/>
          <p:nvPr/>
        </p:nvSpPr>
        <p:spPr>
          <a:xfrm>
            <a:off x="6172200" y="2400300"/>
            <a:ext cx="1719072"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ENTITLEMENT VALIDATION</a:t>
            </a:r>
            <a:endParaRPr lang="en-US" sz="700" dirty="0"/>
          </a:p>
        </p:txBody>
      </p:sp>
      <p:sp>
        <p:nvSpPr>
          <p:cNvPr id="70" name="Text 62"/>
          <p:cNvSpPr txBox="1"/>
          <p:nvPr/>
        </p:nvSpPr>
        <p:spPr>
          <a:xfrm>
            <a:off x="6172200" y="2537460"/>
            <a:ext cx="1719072"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Every API request</a:t>
            </a:r>
            <a:endParaRPr lang="en-US" sz="750" dirty="0"/>
          </a:p>
        </p:txBody>
      </p:sp>
      <p:sp>
        <p:nvSpPr>
          <p:cNvPr id="71" name="Shape 63"/>
          <p:cNvSpPr/>
          <p:nvPr/>
        </p:nvSpPr>
        <p:spPr>
          <a:xfrm>
            <a:off x="8037576" y="2372868"/>
            <a:ext cx="1865376" cy="333756"/>
          </a:xfrm>
          <a:prstGeom prst="rect">
            <a:avLst/>
          </a:prstGeom>
          <a:solidFill>
            <a:srgbClr val="FFFFFF"/>
          </a:solidFill>
          <a:ln w="9525">
            <a:solidFill>
              <a:srgbClr val="D3D8DF"/>
            </a:solidFill>
            <a:prstDash val="solid"/>
          </a:ln>
        </p:spPr>
        <p:txBody>
          <a:bodyPr/>
          <a:lstStyle/>
          <a:p>
            <a:endParaRPr lang="en-US"/>
          </a:p>
        </p:txBody>
      </p:sp>
      <p:sp>
        <p:nvSpPr>
          <p:cNvPr id="72" name="Text 64"/>
          <p:cNvSpPr txBox="1"/>
          <p:nvPr/>
        </p:nvSpPr>
        <p:spPr>
          <a:xfrm>
            <a:off x="8110728" y="2400300"/>
            <a:ext cx="1719072"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DNS WHITELIST</a:t>
            </a:r>
            <a:endParaRPr lang="en-US" sz="700" dirty="0"/>
          </a:p>
        </p:txBody>
      </p:sp>
      <p:sp>
        <p:nvSpPr>
          <p:cNvPr id="73" name="Text 65"/>
          <p:cNvSpPr txBox="1"/>
          <p:nvPr/>
        </p:nvSpPr>
        <p:spPr>
          <a:xfrm>
            <a:off x="8110728" y="2537460"/>
            <a:ext cx="1719072"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Links and URLs</a:t>
            </a:r>
            <a:endParaRPr lang="en-US" sz="750" dirty="0"/>
          </a:p>
        </p:txBody>
      </p:sp>
      <p:sp>
        <p:nvSpPr>
          <p:cNvPr id="74" name="Shape 66"/>
          <p:cNvSpPr/>
          <p:nvPr/>
        </p:nvSpPr>
        <p:spPr>
          <a:xfrm>
            <a:off x="2057400" y="2825496"/>
            <a:ext cx="7955280" cy="662940"/>
          </a:xfrm>
          <a:prstGeom prst="rect">
            <a:avLst/>
          </a:prstGeom>
          <a:solidFill>
            <a:srgbClr val="E9EBEF"/>
          </a:solidFill>
          <a:ln/>
        </p:spPr>
        <p:txBody>
          <a:bodyPr/>
          <a:lstStyle/>
          <a:p>
            <a:endParaRPr lang="en-US"/>
          </a:p>
        </p:txBody>
      </p:sp>
      <p:sp>
        <p:nvSpPr>
          <p:cNvPr id="75" name="Shape 67"/>
          <p:cNvSpPr/>
          <p:nvPr/>
        </p:nvSpPr>
        <p:spPr>
          <a:xfrm>
            <a:off x="2057400" y="2825496"/>
            <a:ext cx="7955280" cy="45720"/>
          </a:xfrm>
          <a:prstGeom prst="rect">
            <a:avLst/>
          </a:prstGeom>
          <a:solidFill>
            <a:srgbClr val="3B8FD4"/>
          </a:solidFill>
          <a:ln/>
        </p:spPr>
        <p:txBody>
          <a:bodyPr/>
          <a:lstStyle/>
          <a:p>
            <a:endParaRPr lang="en-US"/>
          </a:p>
        </p:txBody>
      </p:sp>
      <p:sp>
        <p:nvSpPr>
          <p:cNvPr id="76" name="Shape 68"/>
          <p:cNvSpPr/>
          <p:nvPr/>
        </p:nvSpPr>
        <p:spPr>
          <a:xfrm>
            <a:off x="2057400" y="2825496"/>
            <a:ext cx="45720" cy="662940"/>
          </a:xfrm>
          <a:prstGeom prst="rect">
            <a:avLst/>
          </a:prstGeom>
          <a:solidFill>
            <a:srgbClr val="3B8FD4"/>
          </a:solidFill>
          <a:ln/>
        </p:spPr>
        <p:txBody>
          <a:bodyPr/>
          <a:lstStyle/>
          <a:p>
            <a:endParaRPr lang="en-US"/>
          </a:p>
        </p:txBody>
      </p:sp>
      <p:sp>
        <p:nvSpPr>
          <p:cNvPr id="77" name="Text 69"/>
          <p:cNvSpPr txBox="1"/>
          <p:nvPr/>
        </p:nvSpPr>
        <p:spPr>
          <a:xfrm>
            <a:off x="2221992" y="2889504"/>
            <a:ext cx="7955280" cy="237744"/>
          </a:xfrm>
          <a:prstGeom prst="rect">
            <a:avLst/>
          </a:prstGeom>
          <a:noFill/>
          <a:ln/>
        </p:spPr>
        <p:txBody>
          <a:bodyPr wrap="square" lIns="0" tIns="0" rIns="0" bIns="0" rtlCol="0" anchor="t"/>
          <a:lstStyle/>
          <a:p>
            <a:pPr marL="0" indent="0">
              <a:buNone/>
            </a:pPr>
            <a:r>
              <a:rPr lang="en-US" sz="800" b="1" kern="0" spc="300" dirty="0">
                <a:solidFill>
                  <a:srgbClr val="3B8FD4"/>
                </a:solidFill>
                <a:latin typeface="Calibri" pitchFamily="34" charset="0"/>
                <a:ea typeface="Calibri" pitchFamily="34" charset="-122"/>
                <a:cs typeface="Calibri" pitchFamily="34" charset="-120"/>
              </a:rPr>
              <a:t>EXPERIENCE</a:t>
            </a:r>
            <a:endParaRPr lang="en-US" sz="800" dirty="0"/>
          </a:p>
        </p:txBody>
      </p:sp>
      <p:sp>
        <p:nvSpPr>
          <p:cNvPr id="78" name="Shape 70"/>
          <p:cNvSpPr/>
          <p:nvPr/>
        </p:nvSpPr>
        <p:spPr>
          <a:xfrm>
            <a:off x="2221992" y="3099816"/>
            <a:ext cx="1865376" cy="333756"/>
          </a:xfrm>
          <a:prstGeom prst="rect">
            <a:avLst/>
          </a:prstGeom>
          <a:solidFill>
            <a:srgbClr val="FFFFFF"/>
          </a:solidFill>
          <a:ln w="9525">
            <a:solidFill>
              <a:srgbClr val="D3D8DF"/>
            </a:solidFill>
            <a:prstDash val="solid"/>
          </a:ln>
        </p:spPr>
        <p:txBody>
          <a:bodyPr/>
          <a:lstStyle/>
          <a:p>
            <a:endParaRPr lang="en-US"/>
          </a:p>
        </p:txBody>
      </p:sp>
      <p:sp>
        <p:nvSpPr>
          <p:cNvPr id="79" name="Text 71"/>
          <p:cNvSpPr txBox="1"/>
          <p:nvPr/>
        </p:nvSpPr>
        <p:spPr>
          <a:xfrm>
            <a:off x="2295144" y="3127248"/>
            <a:ext cx="1719072"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RECON DASHBOARD</a:t>
            </a:r>
            <a:endParaRPr lang="en-US" sz="700" dirty="0"/>
          </a:p>
        </p:txBody>
      </p:sp>
      <p:sp>
        <p:nvSpPr>
          <p:cNvPr id="80" name="Text 72"/>
          <p:cNvSpPr txBox="1"/>
          <p:nvPr/>
        </p:nvSpPr>
        <p:spPr>
          <a:xfrm>
            <a:off x="2295144" y="3264408"/>
            <a:ext cx="1719072"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Business self-service</a:t>
            </a:r>
            <a:endParaRPr lang="en-US" sz="750" dirty="0"/>
          </a:p>
        </p:txBody>
      </p:sp>
      <p:sp>
        <p:nvSpPr>
          <p:cNvPr id="81" name="Shape 73"/>
          <p:cNvSpPr/>
          <p:nvPr/>
        </p:nvSpPr>
        <p:spPr>
          <a:xfrm>
            <a:off x="4160520" y="3099816"/>
            <a:ext cx="1865376" cy="333756"/>
          </a:xfrm>
          <a:prstGeom prst="rect">
            <a:avLst/>
          </a:prstGeom>
          <a:solidFill>
            <a:srgbClr val="FFFFFF"/>
          </a:solidFill>
          <a:ln w="9525">
            <a:solidFill>
              <a:srgbClr val="D3D8DF"/>
            </a:solidFill>
            <a:prstDash val="solid"/>
          </a:ln>
        </p:spPr>
        <p:txBody>
          <a:bodyPr/>
          <a:lstStyle/>
          <a:p>
            <a:endParaRPr lang="en-US"/>
          </a:p>
        </p:txBody>
      </p:sp>
      <p:sp>
        <p:nvSpPr>
          <p:cNvPr id="82" name="Text 74"/>
          <p:cNvSpPr txBox="1"/>
          <p:nvPr/>
        </p:nvSpPr>
        <p:spPr>
          <a:xfrm>
            <a:off x="4233672" y="3127248"/>
            <a:ext cx="1719072"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ON-DEMAND UI</a:t>
            </a:r>
            <a:endParaRPr lang="en-US" sz="700" dirty="0"/>
          </a:p>
        </p:txBody>
      </p:sp>
      <p:sp>
        <p:nvSpPr>
          <p:cNvPr id="83" name="Text 75"/>
          <p:cNvSpPr txBox="1"/>
          <p:nvPr/>
        </p:nvSpPr>
        <p:spPr>
          <a:xfrm>
            <a:off x="4233672" y="3264408"/>
            <a:ext cx="1719072"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Staff letter builder</a:t>
            </a:r>
            <a:endParaRPr lang="en-US" sz="750" dirty="0"/>
          </a:p>
        </p:txBody>
      </p:sp>
      <p:sp>
        <p:nvSpPr>
          <p:cNvPr id="84" name="Shape 76"/>
          <p:cNvSpPr/>
          <p:nvPr/>
        </p:nvSpPr>
        <p:spPr>
          <a:xfrm>
            <a:off x="6099048" y="3099816"/>
            <a:ext cx="1865376" cy="333756"/>
          </a:xfrm>
          <a:prstGeom prst="rect">
            <a:avLst/>
          </a:prstGeom>
          <a:solidFill>
            <a:srgbClr val="FFFFFF"/>
          </a:solidFill>
          <a:ln w="9525">
            <a:solidFill>
              <a:srgbClr val="D3D8DF"/>
            </a:solidFill>
            <a:prstDash val="solid"/>
          </a:ln>
        </p:spPr>
        <p:txBody>
          <a:bodyPr/>
          <a:lstStyle/>
          <a:p>
            <a:endParaRPr lang="en-US"/>
          </a:p>
        </p:txBody>
      </p:sp>
      <p:sp>
        <p:nvSpPr>
          <p:cNvPr id="85" name="Text 77"/>
          <p:cNvSpPr txBox="1"/>
          <p:nvPr/>
        </p:nvSpPr>
        <p:spPr>
          <a:xfrm>
            <a:off x="6172200" y="3127248"/>
            <a:ext cx="1719072"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INSPIRE INTERACTIVE</a:t>
            </a:r>
            <a:endParaRPr lang="en-US" sz="700" dirty="0"/>
          </a:p>
        </p:txBody>
      </p:sp>
      <p:sp>
        <p:nvSpPr>
          <p:cNvPr id="86" name="Text 78"/>
          <p:cNvSpPr txBox="1"/>
          <p:nvPr/>
        </p:nvSpPr>
        <p:spPr>
          <a:xfrm>
            <a:off x="6172200" y="3264408"/>
            <a:ext cx="1719072"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Authoring, approval</a:t>
            </a:r>
            <a:endParaRPr lang="en-US" sz="750" dirty="0"/>
          </a:p>
        </p:txBody>
      </p:sp>
      <p:sp>
        <p:nvSpPr>
          <p:cNvPr id="87" name="Shape 79"/>
          <p:cNvSpPr/>
          <p:nvPr/>
        </p:nvSpPr>
        <p:spPr>
          <a:xfrm>
            <a:off x="8037576" y="3099816"/>
            <a:ext cx="1865376" cy="333756"/>
          </a:xfrm>
          <a:prstGeom prst="rect">
            <a:avLst/>
          </a:prstGeom>
          <a:solidFill>
            <a:srgbClr val="FFFFFF"/>
          </a:solidFill>
          <a:ln w="9525">
            <a:solidFill>
              <a:srgbClr val="D3D8DF"/>
            </a:solidFill>
            <a:prstDash val="solid"/>
          </a:ln>
        </p:spPr>
        <p:txBody>
          <a:bodyPr/>
          <a:lstStyle/>
          <a:p>
            <a:endParaRPr lang="en-US"/>
          </a:p>
        </p:txBody>
      </p:sp>
      <p:sp>
        <p:nvSpPr>
          <p:cNvPr id="88" name="Text 80"/>
          <p:cNvSpPr txBox="1"/>
          <p:nvPr/>
        </p:nvSpPr>
        <p:spPr>
          <a:xfrm>
            <a:off x="8110728" y="3127248"/>
            <a:ext cx="1719072"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POWER BI</a:t>
            </a:r>
            <a:endParaRPr lang="en-US" sz="700" dirty="0"/>
          </a:p>
        </p:txBody>
      </p:sp>
      <p:sp>
        <p:nvSpPr>
          <p:cNvPr id="89" name="Text 81"/>
          <p:cNvSpPr txBox="1"/>
          <p:nvPr/>
        </p:nvSpPr>
        <p:spPr>
          <a:xfrm>
            <a:off x="8110728" y="3264408"/>
            <a:ext cx="1719072"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Audit reporting</a:t>
            </a:r>
            <a:endParaRPr lang="en-US" sz="750" dirty="0"/>
          </a:p>
        </p:txBody>
      </p:sp>
      <p:sp>
        <p:nvSpPr>
          <p:cNvPr id="90" name="Shape 82"/>
          <p:cNvSpPr/>
          <p:nvPr/>
        </p:nvSpPr>
        <p:spPr>
          <a:xfrm>
            <a:off x="2057400" y="3552444"/>
            <a:ext cx="7955280" cy="662940"/>
          </a:xfrm>
          <a:prstGeom prst="rect">
            <a:avLst/>
          </a:prstGeom>
          <a:solidFill>
            <a:srgbClr val="E9EBEF"/>
          </a:solidFill>
          <a:ln/>
        </p:spPr>
        <p:txBody>
          <a:bodyPr/>
          <a:lstStyle/>
          <a:p>
            <a:endParaRPr lang="en-US"/>
          </a:p>
        </p:txBody>
      </p:sp>
      <p:sp>
        <p:nvSpPr>
          <p:cNvPr id="91" name="Shape 83"/>
          <p:cNvSpPr/>
          <p:nvPr/>
        </p:nvSpPr>
        <p:spPr>
          <a:xfrm>
            <a:off x="2057400" y="3552444"/>
            <a:ext cx="7955280" cy="45720"/>
          </a:xfrm>
          <a:prstGeom prst="rect">
            <a:avLst/>
          </a:prstGeom>
          <a:solidFill>
            <a:srgbClr val="E4572E"/>
          </a:solidFill>
          <a:ln/>
        </p:spPr>
        <p:txBody>
          <a:bodyPr/>
          <a:lstStyle/>
          <a:p>
            <a:endParaRPr lang="en-US"/>
          </a:p>
        </p:txBody>
      </p:sp>
      <p:sp>
        <p:nvSpPr>
          <p:cNvPr id="92" name="Shape 84"/>
          <p:cNvSpPr/>
          <p:nvPr/>
        </p:nvSpPr>
        <p:spPr>
          <a:xfrm>
            <a:off x="2057400" y="3552444"/>
            <a:ext cx="45720" cy="662940"/>
          </a:xfrm>
          <a:prstGeom prst="rect">
            <a:avLst/>
          </a:prstGeom>
          <a:solidFill>
            <a:srgbClr val="E4572E"/>
          </a:solidFill>
          <a:ln/>
        </p:spPr>
        <p:txBody>
          <a:bodyPr/>
          <a:lstStyle/>
          <a:p>
            <a:endParaRPr lang="en-US"/>
          </a:p>
        </p:txBody>
      </p:sp>
      <p:sp>
        <p:nvSpPr>
          <p:cNvPr id="93" name="Text 85"/>
          <p:cNvSpPr txBox="1"/>
          <p:nvPr/>
        </p:nvSpPr>
        <p:spPr>
          <a:xfrm>
            <a:off x="2221992" y="3616452"/>
            <a:ext cx="7955280" cy="237744"/>
          </a:xfrm>
          <a:prstGeom prst="rect">
            <a:avLst/>
          </a:prstGeom>
          <a:noFill/>
          <a:ln/>
        </p:spPr>
        <p:txBody>
          <a:bodyPr wrap="square" lIns="0" tIns="0" rIns="0" bIns="0" rtlCol="0" anchor="t"/>
          <a:lstStyle/>
          <a:p>
            <a:pPr marL="0" indent="0">
              <a:buNone/>
            </a:pPr>
            <a:r>
              <a:rPr lang="en-US" sz="800" b="1" kern="0" spc="300" dirty="0">
                <a:solidFill>
                  <a:srgbClr val="E4572E"/>
                </a:solidFill>
                <a:latin typeface="Calibri" pitchFamily="34" charset="0"/>
                <a:ea typeface="Calibri" pitchFamily="34" charset="-122"/>
                <a:cs typeface="Calibri" pitchFamily="34" charset="-120"/>
              </a:rPr>
              <a:t>APPLICATION SERVICES</a:t>
            </a:r>
            <a:endParaRPr lang="en-US" sz="800" dirty="0"/>
          </a:p>
        </p:txBody>
      </p:sp>
      <p:sp>
        <p:nvSpPr>
          <p:cNvPr id="94" name="Shape 86"/>
          <p:cNvSpPr/>
          <p:nvPr/>
        </p:nvSpPr>
        <p:spPr>
          <a:xfrm>
            <a:off x="2221992" y="3826764"/>
            <a:ext cx="1477670" cy="333756"/>
          </a:xfrm>
          <a:prstGeom prst="rect">
            <a:avLst/>
          </a:prstGeom>
          <a:solidFill>
            <a:srgbClr val="FFFFFF"/>
          </a:solidFill>
          <a:ln w="9525">
            <a:solidFill>
              <a:srgbClr val="D3D8DF"/>
            </a:solidFill>
            <a:prstDash val="solid"/>
          </a:ln>
        </p:spPr>
        <p:txBody>
          <a:bodyPr/>
          <a:lstStyle/>
          <a:p>
            <a:endParaRPr lang="en-US"/>
          </a:p>
        </p:txBody>
      </p:sp>
      <p:sp>
        <p:nvSpPr>
          <p:cNvPr id="95" name="Text 87"/>
          <p:cNvSpPr txBox="1"/>
          <p:nvPr/>
        </p:nvSpPr>
        <p:spPr>
          <a:xfrm>
            <a:off x="2295144" y="3854196"/>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CCM API</a:t>
            </a:r>
            <a:endParaRPr lang="en-US" sz="700" dirty="0"/>
          </a:p>
        </p:txBody>
      </p:sp>
      <p:sp>
        <p:nvSpPr>
          <p:cNvPr id="96" name="Text 88"/>
          <p:cNvSpPr txBox="1"/>
          <p:nvPr/>
        </p:nvSpPr>
        <p:spPr>
          <a:xfrm>
            <a:off x="2295144" y="3991356"/>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Real-time REST</a:t>
            </a:r>
            <a:endParaRPr lang="en-US" sz="750" dirty="0"/>
          </a:p>
        </p:txBody>
      </p:sp>
      <p:sp>
        <p:nvSpPr>
          <p:cNvPr id="97" name="Shape 89"/>
          <p:cNvSpPr/>
          <p:nvPr/>
        </p:nvSpPr>
        <p:spPr>
          <a:xfrm>
            <a:off x="3772814" y="3826764"/>
            <a:ext cx="1477670" cy="333756"/>
          </a:xfrm>
          <a:prstGeom prst="rect">
            <a:avLst/>
          </a:prstGeom>
          <a:solidFill>
            <a:srgbClr val="FFFFFF"/>
          </a:solidFill>
          <a:ln w="9525">
            <a:solidFill>
              <a:srgbClr val="D3D8DF"/>
            </a:solidFill>
            <a:prstDash val="solid"/>
          </a:ln>
        </p:spPr>
        <p:txBody>
          <a:bodyPr/>
          <a:lstStyle/>
          <a:p>
            <a:endParaRPr lang="en-US"/>
          </a:p>
        </p:txBody>
      </p:sp>
      <p:sp>
        <p:nvSpPr>
          <p:cNvPr id="98" name="Text 90"/>
          <p:cNvSpPr txBox="1"/>
          <p:nvPr/>
        </p:nvSpPr>
        <p:spPr>
          <a:xfrm>
            <a:off x="3845966" y="3854196"/>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PREPROCESSOR</a:t>
            </a:r>
            <a:endParaRPr lang="en-US" sz="700" dirty="0"/>
          </a:p>
        </p:txBody>
      </p:sp>
      <p:sp>
        <p:nvSpPr>
          <p:cNvPr id="99" name="Text 91"/>
          <p:cNvSpPr txBox="1"/>
          <p:nvPr/>
        </p:nvSpPr>
        <p:spPr>
          <a:xfrm>
            <a:off x="3845966" y="3991356"/>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Batch, Comm Request</a:t>
            </a:r>
            <a:endParaRPr lang="en-US" sz="750" dirty="0"/>
          </a:p>
        </p:txBody>
      </p:sp>
      <p:sp>
        <p:nvSpPr>
          <p:cNvPr id="100" name="Shape 92"/>
          <p:cNvSpPr/>
          <p:nvPr/>
        </p:nvSpPr>
        <p:spPr>
          <a:xfrm>
            <a:off x="5323637" y="3826764"/>
            <a:ext cx="1477670" cy="333756"/>
          </a:xfrm>
          <a:prstGeom prst="rect">
            <a:avLst/>
          </a:prstGeom>
          <a:solidFill>
            <a:srgbClr val="FFFFFF"/>
          </a:solidFill>
          <a:ln w="9525">
            <a:solidFill>
              <a:srgbClr val="D3D8DF"/>
            </a:solidFill>
            <a:prstDash val="solid"/>
          </a:ln>
        </p:spPr>
        <p:txBody>
          <a:bodyPr/>
          <a:lstStyle/>
          <a:p>
            <a:endParaRPr lang="en-US"/>
          </a:p>
        </p:txBody>
      </p:sp>
      <p:sp>
        <p:nvSpPr>
          <p:cNvPr id="101" name="Text 93"/>
          <p:cNvSpPr txBox="1"/>
          <p:nvPr/>
        </p:nvSpPr>
        <p:spPr>
          <a:xfrm>
            <a:off x="5396789" y="3854196"/>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URL SHORTENER</a:t>
            </a:r>
            <a:endParaRPr lang="en-US" sz="700" dirty="0"/>
          </a:p>
        </p:txBody>
      </p:sp>
      <p:sp>
        <p:nvSpPr>
          <p:cNvPr id="102" name="Text 94"/>
          <p:cNvSpPr txBox="1"/>
          <p:nvPr/>
        </p:nvSpPr>
        <p:spPr>
          <a:xfrm>
            <a:off x="5396789" y="3991356"/>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short links</a:t>
            </a:r>
            <a:endParaRPr lang="en-US" sz="750" dirty="0"/>
          </a:p>
        </p:txBody>
      </p:sp>
      <p:sp>
        <p:nvSpPr>
          <p:cNvPr id="103" name="Shape 95"/>
          <p:cNvSpPr/>
          <p:nvPr/>
        </p:nvSpPr>
        <p:spPr>
          <a:xfrm>
            <a:off x="6874459" y="3826764"/>
            <a:ext cx="1477670" cy="333756"/>
          </a:xfrm>
          <a:prstGeom prst="rect">
            <a:avLst/>
          </a:prstGeom>
          <a:solidFill>
            <a:srgbClr val="FFFFFF"/>
          </a:solidFill>
          <a:ln w="9525">
            <a:solidFill>
              <a:srgbClr val="D3D8DF"/>
            </a:solidFill>
            <a:prstDash val="solid"/>
          </a:ln>
        </p:spPr>
        <p:txBody>
          <a:bodyPr/>
          <a:lstStyle/>
          <a:p>
            <a:endParaRPr lang="en-US"/>
          </a:p>
        </p:txBody>
      </p:sp>
      <p:sp>
        <p:nvSpPr>
          <p:cNvPr id="104" name="Text 96"/>
          <p:cNvSpPr txBox="1"/>
          <p:nvPr/>
        </p:nvSpPr>
        <p:spPr>
          <a:xfrm>
            <a:off x="6947611" y="3854196"/>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KAFKA SERVICES</a:t>
            </a:r>
            <a:endParaRPr lang="en-US" sz="700" dirty="0"/>
          </a:p>
        </p:txBody>
      </p:sp>
      <p:sp>
        <p:nvSpPr>
          <p:cNvPr id="105" name="Text 97"/>
          <p:cNvSpPr txBox="1"/>
          <p:nvPr/>
        </p:nvSpPr>
        <p:spPr>
          <a:xfrm>
            <a:off x="6947611" y="3991356"/>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Content ID events</a:t>
            </a:r>
            <a:endParaRPr lang="en-US" sz="750" dirty="0"/>
          </a:p>
        </p:txBody>
      </p:sp>
      <p:sp>
        <p:nvSpPr>
          <p:cNvPr id="106" name="Shape 98"/>
          <p:cNvSpPr/>
          <p:nvPr/>
        </p:nvSpPr>
        <p:spPr>
          <a:xfrm>
            <a:off x="8425282" y="3826764"/>
            <a:ext cx="1477670" cy="333756"/>
          </a:xfrm>
          <a:prstGeom prst="rect">
            <a:avLst/>
          </a:prstGeom>
          <a:solidFill>
            <a:srgbClr val="FFFFFF"/>
          </a:solidFill>
          <a:ln w="9525">
            <a:solidFill>
              <a:srgbClr val="D3D8DF"/>
            </a:solidFill>
            <a:prstDash val="solid"/>
          </a:ln>
        </p:spPr>
        <p:txBody>
          <a:bodyPr/>
          <a:lstStyle/>
          <a:p>
            <a:endParaRPr lang="en-US"/>
          </a:p>
        </p:txBody>
      </p:sp>
      <p:sp>
        <p:nvSpPr>
          <p:cNvPr id="107" name="Text 99"/>
          <p:cNvSpPr txBox="1"/>
          <p:nvPr/>
        </p:nvSpPr>
        <p:spPr>
          <a:xfrm>
            <a:off x="8498434" y="3854196"/>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RECON SERVICES</a:t>
            </a:r>
            <a:endParaRPr lang="en-US" sz="700" dirty="0"/>
          </a:p>
        </p:txBody>
      </p:sp>
      <p:sp>
        <p:nvSpPr>
          <p:cNvPr id="108" name="Text 100"/>
          <p:cNvSpPr txBox="1"/>
          <p:nvPr/>
        </p:nvSpPr>
        <p:spPr>
          <a:xfrm>
            <a:off x="8498434" y="3991356"/>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Load, touchpoints</a:t>
            </a:r>
            <a:endParaRPr lang="en-US" sz="750" dirty="0"/>
          </a:p>
        </p:txBody>
      </p:sp>
      <p:sp>
        <p:nvSpPr>
          <p:cNvPr id="109" name="Shape 101"/>
          <p:cNvSpPr/>
          <p:nvPr/>
        </p:nvSpPr>
        <p:spPr>
          <a:xfrm>
            <a:off x="2057400" y="4279392"/>
            <a:ext cx="7955280" cy="662940"/>
          </a:xfrm>
          <a:prstGeom prst="rect">
            <a:avLst/>
          </a:prstGeom>
          <a:solidFill>
            <a:srgbClr val="E9EBEF"/>
          </a:solidFill>
          <a:ln/>
        </p:spPr>
        <p:txBody>
          <a:bodyPr/>
          <a:lstStyle/>
          <a:p>
            <a:endParaRPr lang="en-US"/>
          </a:p>
        </p:txBody>
      </p:sp>
      <p:sp>
        <p:nvSpPr>
          <p:cNvPr id="110" name="Shape 102"/>
          <p:cNvSpPr/>
          <p:nvPr/>
        </p:nvSpPr>
        <p:spPr>
          <a:xfrm>
            <a:off x="2057400" y="4279392"/>
            <a:ext cx="7955280" cy="45720"/>
          </a:xfrm>
          <a:prstGeom prst="rect">
            <a:avLst/>
          </a:prstGeom>
          <a:solidFill>
            <a:srgbClr val="6A30D8"/>
          </a:solidFill>
          <a:ln/>
        </p:spPr>
        <p:txBody>
          <a:bodyPr/>
          <a:lstStyle/>
          <a:p>
            <a:endParaRPr lang="en-US"/>
          </a:p>
        </p:txBody>
      </p:sp>
      <p:sp>
        <p:nvSpPr>
          <p:cNvPr id="111" name="Shape 103"/>
          <p:cNvSpPr/>
          <p:nvPr/>
        </p:nvSpPr>
        <p:spPr>
          <a:xfrm>
            <a:off x="2057400" y="4279392"/>
            <a:ext cx="45720" cy="662940"/>
          </a:xfrm>
          <a:prstGeom prst="rect">
            <a:avLst/>
          </a:prstGeom>
          <a:solidFill>
            <a:srgbClr val="6A30D8"/>
          </a:solidFill>
          <a:ln/>
        </p:spPr>
        <p:txBody>
          <a:bodyPr/>
          <a:lstStyle/>
          <a:p>
            <a:endParaRPr lang="en-US"/>
          </a:p>
        </p:txBody>
      </p:sp>
      <p:sp>
        <p:nvSpPr>
          <p:cNvPr id="112" name="Text 104"/>
          <p:cNvSpPr txBox="1"/>
          <p:nvPr/>
        </p:nvSpPr>
        <p:spPr>
          <a:xfrm>
            <a:off x="2221992" y="4343400"/>
            <a:ext cx="7955280" cy="237744"/>
          </a:xfrm>
          <a:prstGeom prst="rect">
            <a:avLst/>
          </a:prstGeom>
          <a:noFill/>
          <a:ln/>
        </p:spPr>
        <p:txBody>
          <a:bodyPr wrap="square" lIns="0" tIns="0" rIns="0" bIns="0" rtlCol="0" anchor="t"/>
          <a:lstStyle/>
          <a:p>
            <a:pPr marL="0" indent="0">
              <a:buNone/>
            </a:pPr>
            <a:r>
              <a:rPr lang="en-US" sz="800" b="1" kern="0" spc="300" dirty="0">
                <a:solidFill>
                  <a:srgbClr val="6A30D8"/>
                </a:solidFill>
                <a:latin typeface="Calibri" pitchFamily="34" charset="0"/>
                <a:ea typeface="Calibri" pitchFamily="34" charset="-122"/>
                <a:cs typeface="Calibri" pitchFamily="34" charset="-120"/>
              </a:rPr>
              <a:t>COMPOSITION &amp; INTEGRATION</a:t>
            </a:r>
            <a:endParaRPr lang="en-US" sz="800" dirty="0"/>
          </a:p>
        </p:txBody>
      </p:sp>
      <p:sp>
        <p:nvSpPr>
          <p:cNvPr id="113" name="Shape 105"/>
          <p:cNvSpPr/>
          <p:nvPr/>
        </p:nvSpPr>
        <p:spPr>
          <a:xfrm>
            <a:off x="2221992" y="4553712"/>
            <a:ext cx="1477670" cy="333756"/>
          </a:xfrm>
          <a:prstGeom prst="rect">
            <a:avLst/>
          </a:prstGeom>
          <a:solidFill>
            <a:srgbClr val="FFFFFF"/>
          </a:solidFill>
          <a:ln w="9525">
            <a:solidFill>
              <a:srgbClr val="D3D8DF"/>
            </a:solidFill>
            <a:prstDash val="solid"/>
          </a:ln>
        </p:spPr>
        <p:txBody>
          <a:bodyPr/>
          <a:lstStyle/>
          <a:p>
            <a:endParaRPr lang="en-US"/>
          </a:p>
        </p:txBody>
      </p:sp>
      <p:sp>
        <p:nvSpPr>
          <p:cNvPr id="114" name="Text 106"/>
          <p:cNvSpPr txBox="1"/>
          <p:nvPr/>
        </p:nvSpPr>
        <p:spPr>
          <a:xfrm>
            <a:off x="2295144" y="4581144"/>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INSPIRE DESIGNER</a:t>
            </a:r>
            <a:endParaRPr lang="en-US" sz="700" dirty="0"/>
          </a:p>
        </p:txBody>
      </p:sp>
      <p:sp>
        <p:nvSpPr>
          <p:cNvPr id="115" name="Text 107"/>
          <p:cNvSpPr txBox="1"/>
          <p:nvPr/>
        </p:nvSpPr>
        <p:spPr>
          <a:xfrm>
            <a:off x="2295144" y="4718304"/>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Template design</a:t>
            </a:r>
            <a:endParaRPr lang="en-US" sz="750" dirty="0"/>
          </a:p>
        </p:txBody>
      </p:sp>
      <p:sp>
        <p:nvSpPr>
          <p:cNvPr id="116" name="Shape 108"/>
          <p:cNvSpPr/>
          <p:nvPr/>
        </p:nvSpPr>
        <p:spPr>
          <a:xfrm>
            <a:off x="3772814" y="4553712"/>
            <a:ext cx="1477670" cy="333756"/>
          </a:xfrm>
          <a:prstGeom prst="rect">
            <a:avLst/>
          </a:prstGeom>
          <a:solidFill>
            <a:srgbClr val="FFFFFF"/>
          </a:solidFill>
          <a:ln w="9525">
            <a:solidFill>
              <a:srgbClr val="D3D8DF"/>
            </a:solidFill>
            <a:prstDash val="solid"/>
          </a:ln>
        </p:spPr>
        <p:txBody>
          <a:bodyPr/>
          <a:lstStyle/>
          <a:p>
            <a:endParaRPr lang="en-US"/>
          </a:p>
        </p:txBody>
      </p:sp>
      <p:sp>
        <p:nvSpPr>
          <p:cNvPr id="117" name="Text 109"/>
          <p:cNvSpPr txBox="1"/>
          <p:nvPr/>
        </p:nvSpPr>
        <p:spPr>
          <a:xfrm>
            <a:off x="3845966" y="4581144"/>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INSPIRE SCALER</a:t>
            </a:r>
            <a:endParaRPr lang="en-US" sz="700" dirty="0"/>
          </a:p>
        </p:txBody>
      </p:sp>
      <p:sp>
        <p:nvSpPr>
          <p:cNvPr id="118" name="Text 110"/>
          <p:cNvSpPr txBox="1"/>
          <p:nvPr/>
        </p:nvSpPr>
        <p:spPr>
          <a:xfrm>
            <a:off x="3845966" y="4718304"/>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Hot folder, real-time</a:t>
            </a:r>
            <a:endParaRPr lang="en-US" sz="750" dirty="0"/>
          </a:p>
        </p:txBody>
      </p:sp>
      <p:sp>
        <p:nvSpPr>
          <p:cNvPr id="119" name="Shape 111"/>
          <p:cNvSpPr/>
          <p:nvPr/>
        </p:nvSpPr>
        <p:spPr>
          <a:xfrm>
            <a:off x="5323637" y="4553712"/>
            <a:ext cx="1477670" cy="333756"/>
          </a:xfrm>
          <a:prstGeom prst="rect">
            <a:avLst/>
          </a:prstGeom>
          <a:solidFill>
            <a:srgbClr val="FFFFFF"/>
          </a:solidFill>
          <a:ln w="9525">
            <a:solidFill>
              <a:srgbClr val="D3D8DF"/>
            </a:solidFill>
            <a:prstDash val="solid"/>
          </a:ln>
        </p:spPr>
        <p:txBody>
          <a:bodyPr/>
          <a:lstStyle/>
          <a:p>
            <a:endParaRPr lang="en-US"/>
          </a:p>
        </p:txBody>
      </p:sp>
      <p:sp>
        <p:nvSpPr>
          <p:cNvPr id="120" name="Text 112"/>
          <p:cNvSpPr txBox="1"/>
          <p:nvPr/>
        </p:nvSpPr>
        <p:spPr>
          <a:xfrm>
            <a:off x="5396789" y="4581144"/>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CONTENT MANAGER</a:t>
            </a:r>
            <a:endParaRPr lang="en-US" sz="700" dirty="0"/>
          </a:p>
        </p:txBody>
      </p:sp>
      <p:sp>
        <p:nvSpPr>
          <p:cNvPr id="121" name="Text 113"/>
          <p:cNvSpPr txBox="1"/>
          <p:nvPr/>
        </p:nvSpPr>
        <p:spPr>
          <a:xfrm>
            <a:off x="5396789" y="4718304"/>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Compose, output</a:t>
            </a:r>
            <a:endParaRPr lang="en-US" sz="750" dirty="0"/>
          </a:p>
        </p:txBody>
      </p:sp>
      <p:sp>
        <p:nvSpPr>
          <p:cNvPr id="122" name="Shape 114"/>
          <p:cNvSpPr/>
          <p:nvPr/>
        </p:nvSpPr>
        <p:spPr>
          <a:xfrm>
            <a:off x="6874459" y="4553712"/>
            <a:ext cx="1477670" cy="333756"/>
          </a:xfrm>
          <a:prstGeom prst="rect">
            <a:avLst/>
          </a:prstGeom>
          <a:solidFill>
            <a:srgbClr val="FFFFFF"/>
          </a:solidFill>
          <a:ln w="9525">
            <a:solidFill>
              <a:srgbClr val="D3D8DF"/>
            </a:solidFill>
            <a:prstDash val="solid"/>
          </a:ln>
        </p:spPr>
        <p:txBody>
          <a:bodyPr/>
          <a:lstStyle/>
          <a:p>
            <a:endParaRPr lang="en-US"/>
          </a:p>
        </p:txBody>
      </p:sp>
      <p:sp>
        <p:nvSpPr>
          <p:cNvPr id="123" name="Text 115"/>
          <p:cNvSpPr txBox="1"/>
          <p:nvPr/>
        </p:nvSpPr>
        <p:spPr>
          <a:xfrm>
            <a:off x="6947611" y="4581144"/>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DATAPOWER</a:t>
            </a:r>
            <a:endParaRPr lang="en-US" sz="700" dirty="0"/>
          </a:p>
        </p:txBody>
      </p:sp>
      <p:sp>
        <p:nvSpPr>
          <p:cNvPr id="124" name="Text 116"/>
          <p:cNvSpPr txBox="1"/>
          <p:nvPr/>
        </p:nvSpPr>
        <p:spPr>
          <a:xfrm>
            <a:off x="6947611" y="4718304"/>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API gateway</a:t>
            </a:r>
            <a:endParaRPr lang="en-US" sz="750" dirty="0"/>
          </a:p>
        </p:txBody>
      </p:sp>
      <p:sp>
        <p:nvSpPr>
          <p:cNvPr id="125" name="Shape 117"/>
          <p:cNvSpPr/>
          <p:nvPr/>
        </p:nvSpPr>
        <p:spPr>
          <a:xfrm>
            <a:off x="8425282" y="4553712"/>
            <a:ext cx="1477670" cy="333756"/>
          </a:xfrm>
          <a:prstGeom prst="rect">
            <a:avLst/>
          </a:prstGeom>
          <a:solidFill>
            <a:srgbClr val="FFFFFF"/>
          </a:solidFill>
          <a:ln w="9525">
            <a:solidFill>
              <a:srgbClr val="D3D8DF"/>
            </a:solidFill>
            <a:prstDash val="solid"/>
          </a:ln>
        </p:spPr>
        <p:txBody>
          <a:bodyPr/>
          <a:lstStyle/>
          <a:p>
            <a:endParaRPr lang="en-US"/>
          </a:p>
        </p:txBody>
      </p:sp>
      <p:sp>
        <p:nvSpPr>
          <p:cNvPr id="126" name="Text 118"/>
          <p:cNvSpPr txBox="1"/>
          <p:nvPr/>
        </p:nvSpPr>
        <p:spPr>
          <a:xfrm>
            <a:off x="8498434" y="4581144"/>
            <a:ext cx="1331366"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KAFKA</a:t>
            </a:r>
            <a:endParaRPr lang="en-US" sz="700" dirty="0"/>
          </a:p>
        </p:txBody>
      </p:sp>
      <p:sp>
        <p:nvSpPr>
          <p:cNvPr id="127" name="Text 119"/>
          <p:cNvSpPr txBox="1"/>
          <p:nvPr/>
        </p:nvSpPr>
        <p:spPr>
          <a:xfrm>
            <a:off x="8498434" y="4718304"/>
            <a:ext cx="1331366"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Event bus</a:t>
            </a:r>
            <a:endParaRPr lang="en-US" sz="750" dirty="0"/>
          </a:p>
        </p:txBody>
      </p:sp>
      <p:sp>
        <p:nvSpPr>
          <p:cNvPr id="128" name="Shape 120"/>
          <p:cNvSpPr/>
          <p:nvPr/>
        </p:nvSpPr>
        <p:spPr>
          <a:xfrm>
            <a:off x="2057400" y="5006340"/>
            <a:ext cx="7955280" cy="662940"/>
          </a:xfrm>
          <a:prstGeom prst="rect">
            <a:avLst/>
          </a:prstGeom>
          <a:solidFill>
            <a:srgbClr val="E9EBEF"/>
          </a:solidFill>
          <a:ln/>
        </p:spPr>
        <p:txBody>
          <a:bodyPr/>
          <a:lstStyle/>
          <a:p>
            <a:endParaRPr lang="en-US"/>
          </a:p>
        </p:txBody>
      </p:sp>
      <p:sp>
        <p:nvSpPr>
          <p:cNvPr id="129" name="Shape 121"/>
          <p:cNvSpPr/>
          <p:nvPr/>
        </p:nvSpPr>
        <p:spPr>
          <a:xfrm>
            <a:off x="2057400" y="5006340"/>
            <a:ext cx="7955280" cy="45720"/>
          </a:xfrm>
          <a:prstGeom prst="rect">
            <a:avLst/>
          </a:prstGeom>
          <a:solidFill>
            <a:srgbClr val="2E7D6B"/>
          </a:solidFill>
          <a:ln/>
        </p:spPr>
        <p:txBody>
          <a:bodyPr/>
          <a:lstStyle/>
          <a:p>
            <a:endParaRPr lang="en-US"/>
          </a:p>
        </p:txBody>
      </p:sp>
      <p:sp>
        <p:nvSpPr>
          <p:cNvPr id="130" name="Shape 122"/>
          <p:cNvSpPr/>
          <p:nvPr/>
        </p:nvSpPr>
        <p:spPr>
          <a:xfrm>
            <a:off x="2057400" y="5006340"/>
            <a:ext cx="45720" cy="662940"/>
          </a:xfrm>
          <a:prstGeom prst="rect">
            <a:avLst/>
          </a:prstGeom>
          <a:solidFill>
            <a:srgbClr val="2E7D6B"/>
          </a:solidFill>
          <a:ln/>
        </p:spPr>
        <p:txBody>
          <a:bodyPr/>
          <a:lstStyle/>
          <a:p>
            <a:endParaRPr lang="en-US"/>
          </a:p>
        </p:txBody>
      </p:sp>
      <p:sp>
        <p:nvSpPr>
          <p:cNvPr id="131" name="Text 123"/>
          <p:cNvSpPr txBox="1"/>
          <p:nvPr/>
        </p:nvSpPr>
        <p:spPr>
          <a:xfrm>
            <a:off x="2221992" y="5070348"/>
            <a:ext cx="7955280" cy="237744"/>
          </a:xfrm>
          <a:prstGeom prst="rect">
            <a:avLst/>
          </a:prstGeom>
          <a:noFill/>
          <a:ln/>
        </p:spPr>
        <p:txBody>
          <a:bodyPr wrap="square" lIns="0" tIns="0" rIns="0" bIns="0" rtlCol="0" anchor="t"/>
          <a:lstStyle/>
          <a:p>
            <a:pPr marL="0" indent="0">
              <a:buNone/>
            </a:pPr>
            <a:r>
              <a:rPr lang="en-US" sz="800" b="1" kern="0" spc="300" dirty="0">
                <a:solidFill>
                  <a:srgbClr val="2E7D6B"/>
                </a:solidFill>
                <a:latin typeface="Calibri" pitchFamily="34" charset="0"/>
                <a:ea typeface="Calibri" pitchFamily="34" charset="-122"/>
                <a:cs typeface="Calibri" pitchFamily="34" charset="-120"/>
              </a:rPr>
              <a:t>DATA</a:t>
            </a:r>
            <a:endParaRPr lang="en-US" sz="800" dirty="0"/>
          </a:p>
        </p:txBody>
      </p:sp>
      <p:sp>
        <p:nvSpPr>
          <p:cNvPr id="132" name="Shape 124"/>
          <p:cNvSpPr/>
          <p:nvPr/>
        </p:nvSpPr>
        <p:spPr>
          <a:xfrm>
            <a:off x="2221992" y="5280660"/>
            <a:ext cx="1865376" cy="333756"/>
          </a:xfrm>
          <a:prstGeom prst="rect">
            <a:avLst/>
          </a:prstGeom>
          <a:solidFill>
            <a:srgbClr val="FFFFFF"/>
          </a:solidFill>
          <a:ln w="9525">
            <a:solidFill>
              <a:srgbClr val="D3D8DF"/>
            </a:solidFill>
            <a:prstDash val="solid"/>
          </a:ln>
        </p:spPr>
        <p:txBody>
          <a:bodyPr/>
          <a:lstStyle/>
          <a:p>
            <a:endParaRPr lang="en-US"/>
          </a:p>
        </p:txBody>
      </p:sp>
      <p:sp>
        <p:nvSpPr>
          <p:cNvPr id="133" name="Text 125"/>
          <p:cNvSpPr txBox="1"/>
          <p:nvPr/>
        </p:nvSpPr>
        <p:spPr>
          <a:xfrm>
            <a:off x="2295144" y="5308092"/>
            <a:ext cx="1719072"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RECON</a:t>
            </a:r>
            <a:endParaRPr lang="en-US" sz="700" dirty="0"/>
          </a:p>
        </p:txBody>
      </p:sp>
      <p:sp>
        <p:nvSpPr>
          <p:cNvPr id="134" name="Text 126"/>
          <p:cNvSpPr txBox="1"/>
          <p:nvPr/>
        </p:nvSpPr>
        <p:spPr>
          <a:xfrm>
            <a:off x="2295144" y="5445252"/>
            <a:ext cx="1719072"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SQL Server 2019</a:t>
            </a:r>
            <a:endParaRPr lang="en-US" sz="750" dirty="0"/>
          </a:p>
        </p:txBody>
      </p:sp>
      <p:sp>
        <p:nvSpPr>
          <p:cNvPr id="135" name="Shape 127"/>
          <p:cNvSpPr/>
          <p:nvPr/>
        </p:nvSpPr>
        <p:spPr>
          <a:xfrm>
            <a:off x="4160520" y="5280660"/>
            <a:ext cx="1865376" cy="333756"/>
          </a:xfrm>
          <a:prstGeom prst="rect">
            <a:avLst/>
          </a:prstGeom>
          <a:solidFill>
            <a:srgbClr val="FFFFFF"/>
          </a:solidFill>
          <a:ln w="9525">
            <a:solidFill>
              <a:srgbClr val="D3D8DF"/>
            </a:solidFill>
            <a:prstDash val="solid"/>
          </a:ln>
        </p:spPr>
        <p:txBody>
          <a:bodyPr/>
          <a:lstStyle/>
          <a:p>
            <a:endParaRPr lang="en-US"/>
          </a:p>
        </p:txBody>
      </p:sp>
      <p:sp>
        <p:nvSpPr>
          <p:cNvPr id="136" name="Text 128"/>
          <p:cNvSpPr txBox="1"/>
          <p:nvPr/>
        </p:nvSpPr>
        <p:spPr>
          <a:xfrm>
            <a:off x="4233672" y="5308092"/>
            <a:ext cx="1719072"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P360</a:t>
            </a:r>
            <a:endParaRPr lang="en-US" sz="700" dirty="0"/>
          </a:p>
        </p:txBody>
      </p:sp>
      <p:sp>
        <p:nvSpPr>
          <p:cNvPr id="137" name="Text 129"/>
          <p:cNvSpPr txBox="1"/>
          <p:nvPr/>
        </p:nvSpPr>
        <p:spPr>
          <a:xfrm>
            <a:off x="4233672" y="5445252"/>
            <a:ext cx="1719072"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Preferences, consents</a:t>
            </a:r>
            <a:endParaRPr lang="en-US" sz="750" dirty="0"/>
          </a:p>
        </p:txBody>
      </p:sp>
      <p:sp>
        <p:nvSpPr>
          <p:cNvPr id="138" name="Shape 130"/>
          <p:cNvSpPr/>
          <p:nvPr/>
        </p:nvSpPr>
        <p:spPr>
          <a:xfrm>
            <a:off x="6099048" y="5280660"/>
            <a:ext cx="1865376" cy="333756"/>
          </a:xfrm>
          <a:prstGeom prst="rect">
            <a:avLst/>
          </a:prstGeom>
          <a:solidFill>
            <a:srgbClr val="FFFFFF"/>
          </a:solidFill>
          <a:ln w="9525">
            <a:solidFill>
              <a:srgbClr val="D3D8DF"/>
            </a:solidFill>
            <a:prstDash val="solid"/>
          </a:ln>
        </p:spPr>
        <p:txBody>
          <a:bodyPr/>
          <a:lstStyle/>
          <a:p>
            <a:endParaRPr lang="en-US"/>
          </a:p>
        </p:txBody>
      </p:sp>
      <p:sp>
        <p:nvSpPr>
          <p:cNvPr id="139" name="Text 131"/>
          <p:cNvSpPr txBox="1"/>
          <p:nvPr/>
        </p:nvSpPr>
        <p:spPr>
          <a:xfrm>
            <a:off x="6172200" y="5308092"/>
            <a:ext cx="1719072"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SNOWFLAKE</a:t>
            </a:r>
            <a:endParaRPr lang="en-US" sz="700" dirty="0"/>
          </a:p>
        </p:txBody>
      </p:sp>
      <p:sp>
        <p:nvSpPr>
          <p:cNvPr id="140" name="Text 132"/>
          <p:cNvSpPr txBox="1"/>
          <p:nvPr/>
        </p:nvSpPr>
        <p:spPr>
          <a:xfrm>
            <a:off x="6172200" y="5445252"/>
            <a:ext cx="1719072"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Profile data</a:t>
            </a:r>
            <a:endParaRPr lang="en-US" sz="750" dirty="0"/>
          </a:p>
        </p:txBody>
      </p:sp>
      <p:sp>
        <p:nvSpPr>
          <p:cNvPr id="141" name="Shape 133"/>
          <p:cNvSpPr/>
          <p:nvPr/>
        </p:nvSpPr>
        <p:spPr>
          <a:xfrm>
            <a:off x="8037576" y="5280660"/>
            <a:ext cx="1865376" cy="333756"/>
          </a:xfrm>
          <a:prstGeom prst="rect">
            <a:avLst/>
          </a:prstGeom>
          <a:solidFill>
            <a:srgbClr val="FFFFFF"/>
          </a:solidFill>
          <a:ln w="9525">
            <a:solidFill>
              <a:srgbClr val="D3D8DF"/>
            </a:solidFill>
            <a:prstDash val="solid"/>
          </a:ln>
        </p:spPr>
        <p:txBody>
          <a:bodyPr/>
          <a:lstStyle/>
          <a:p>
            <a:endParaRPr lang="en-US"/>
          </a:p>
        </p:txBody>
      </p:sp>
      <p:sp>
        <p:nvSpPr>
          <p:cNvPr id="142" name="Text 134"/>
          <p:cNvSpPr txBox="1"/>
          <p:nvPr/>
        </p:nvSpPr>
        <p:spPr>
          <a:xfrm>
            <a:off x="8110728" y="5308092"/>
            <a:ext cx="1719072" cy="137160"/>
          </a:xfrm>
          <a:prstGeom prst="rect">
            <a:avLst/>
          </a:prstGeom>
          <a:noFill/>
          <a:ln/>
        </p:spPr>
        <p:txBody>
          <a:bodyPr wrap="square" lIns="0" tIns="0" rIns="0" bIns="0" rtlCol="0" anchor="t"/>
          <a:lstStyle/>
          <a:p>
            <a:pPr marL="0" indent="0">
              <a:buNone/>
            </a:pPr>
            <a:r>
              <a:rPr lang="en-US" sz="700" b="1" kern="0" spc="80" dirty="0">
                <a:solidFill>
                  <a:srgbClr val="1C2330"/>
                </a:solidFill>
                <a:latin typeface="Calibri" pitchFamily="34" charset="0"/>
                <a:ea typeface="Calibri" pitchFamily="34" charset="-122"/>
                <a:cs typeface="Calibri" pitchFamily="34" charset="-120"/>
              </a:rPr>
              <a:t>CONTENT CENTRAL</a:t>
            </a:r>
            <a:endParaRPr lang="en-US" sz="700" dirty="0"/>
          </a:p>
        </p:txBody>
      </p:sp>
      <p:sp>
        <p:nvSpPr>
          <p:cNvPr id="143" name="Text 135"/>
          <p:cNvSpPr txBox="1"/>
          <p:nvPr/>
        </p:nvSpPr>
        <p:spPr>
          <a:xfrm>
            <a:off x="8110728" y="5445252"/>
            <a:ext cx="1719072" cy="137160"/>
          </a:xfrm>
          <a:prstGeom prst="rect">
            <a:avLst/>
          </a:prstGeom>
          <a:noFill/>
          <a:ln/>
        </p:spPr>
        <p:txBody>
          <a:bodyPr wrap="square" lIns="0" tIns="0" rIns="0" bIns="0" rtlCol="0" anchor="t"/>
          <a:lstStyle/>
          <a:p>
            <a:pPr marL="0" indent="0">
              <a:buNone/>
            </a:pPr>
            <a:r>
              <a:rPr lang="en-US" sz="750" i="1" dirty="0">
                <a:solidFill>
                  <a:srgbClr val="5A6272"/>
                </a:solidFill>
                <a:latin typeface="Calibri" pitchFamily="34" charset="0"/>
                <a:ea typeface="Calibri" pitchFamily="34" charset="-122"/>
                <a:cs typeface="Calibri" pitchFamily="34" charset="-120"/>
              </a:rPr>
              <a:t>PDF archive</a:t>
            </a:r>
            <a:endParaRPr lang="en-US" sz="750" dirty="0"/>
          </a:p>
        </p:txBody>
      </p:sp>
      <p:sp>
        <p:nvSpPr>
          <p:cNvPr id="144" name="Shape 136"/>
          <p:cNvSpPr/>
          <p:nvPr/>
        </p:nvSpPr>
        <p:spPr>
          <a:xfrm>
            <a:off x="10149840" y="1371600"/>
            <a:ext cx="1493215" cy="45720"/>
          </a:xfrm>
          <a:prstGeom prst="rect">
            <a:avLst/>
          </a:prstGeom>
          <a:solidFill>
            <a:srgbClr val="1E4FC0"/>
          </a:solidFill>
          <a:ln/>
        </p:spPr>
        <p:txBody>
          <a:bodyPr/>
          <a:lstStyle/>
          <a:p>
            <a:endParaRPr lang="en-US"/>
          </a:p>
        </p:txBody>
      </p:sp>
      <p:sp>
        <p:nvSpPr>
          <p:cNvPr id="145" name="Text 137"/>
          <p:cNvSpPr txBox="1"/>
          <p:nvPr/>
        </p:nvSpPr>
        <p:spPr>
          <a:xfrm>
            <a:off x="10149840" y="1463040"/>
            <a:ext cx="1493215" cy="237744"/>
          </a:xfrm>
          <a:prstGeom prst="rect">
            <a:avLst/>
          </a:prstGeom>
          <a:noFill/>
          <a:ln/>
        </p:spPr>
        <p:txBody>
          <a:bodyPr wrap="square" lIns="0" tIns="0" rIns="0" bIns="0" rtlCol="0" anchor="t"/>
          <a:lstStyle/>
          <a:p>
            <a:pPr marL="0" indent="0">
              <a:buNone/>
            </a:pPr>
            <a:r>
              <a:rPr lang="en-US" sz="800" b="1" kern="0" spc="200" dirty="0">
                <a:solidFill>
                  <a:srgbClr val="3D4757"/>
                </a:solidFill>
                <a:latin typeface="Calibri" pitchFamily="34" charset="0"/>
                <a:ea typeface="Calibri" pitchFamily="34" charset="-122"/>
                <a:cs typeface="Calibri" pitchFamily="34" charset="-120"/>
              </a:rPr>
              <a:t>VENDOR ECOSYSTEM</a:t>
            </a:r>
            <a:endParaRPr lang="en-US" sz="800" dirty="0"/>
          </a:p>
        </p:txBody>
      </p:sp>
      <p:sp>
        <p:nvSpPr>
          <p:cNvPr id="146" name="Shape 138"/>
          <p:cNvSpPr/>
          <p:nvPr/>
        </p:nvSpPr>
        <p:spPr>
          <a:xfrm>
            <a:off x="10149840" y="1755648"/>
            <a:ext cx="1493215" cy="256032"/>
          </a:xfrm>
          <a:prstGeom prst="rect">
            <a:avLst/>
          </a:prstGeom>
          <a:solidFill>
            <a:srgbClr val="FFFFFF"/>
          </a:solidFill>
          <a:ln w="9525">
            <a:solidFill>
              <a:srgbClr val="D3D8DF"/>
            </a:solidFill>
            <a:prstDash val="solid"/>
          </a:ln>
        </p:spPr>
        <p:txBody>
          <a:bodyPr/>
          <a:lstStyle/>
          <a:p>
            <a:endParaRPr lang="en-US"/>
          </a:p>
        </p:txBody>
      </p:sp>
      <p:sp>
        <p:nvSpPr>
          <p:cNvPr id="147" name="Text 139"/>
          <p:cNvSpPr txBox="1"/>
          <p:nvPr/>
        </p:nvSpPr>
        <p:spPr>
          <a:xfrm>
            <a:off x="10149840" y="1755648"/>
            <a:ext cx="1493215" cy="256032"/>
          </a:xfrm>
          <a:prstGeom prst="rect">
            <a:avLst/>
          </a:prstGeom>
          <a:noFill/>
          <a:ln/>
        </p:spPr>
        <p:txBody>
          <a:bodyPr wrap="square" lIns="0" tIns="0" rIns="0" bIns="0" rtlCol="0" anchor="ctr"/>
          <a:lstStyle/>
          <a:p>
            <a:pPr marL="0" indent="0" algn="ctr">
              <a:buNone/>
            </a:pPr>
            <a:r>
              <a:rPr lang="en-US" sz="850" dirty="0">
                <a:solidFill>
                  <a:srgbClr val="1C2330"/>
                </a:solidFill>
                <a:latin typeface="Calibri" pitchFamily="34" charset="0"/>
                <a:ea typeface="Calibri" pitchFamily="34" charset="-122"/>
                <a:cs typeface="Calibri" pitchFamily="34" charset="-120"/>
              </a:rPr>
              <a:t>Quadient</a:t>
            </a:r>
            <a:endParaRPr lang="en-US" sz="850" dirty="0"/>
          </a:p>
        </p:txBody>
      </p:sp>
      <p:sp>
        <p:nvSpPr>
          <p:cNvPr id="148" name="Shape 140"/>
          <p:cNvSpPr/>
          <p:nvPr/>
        </p:nvSpPr>
        <p:spPr>
          <a:xfrm>
            <a:off x="10149840" y="2066544"/>
            <a:ext cx="1493215" cy="256032"/>
          </a:xfrm>
          <a:prstGeom prst="rect">
            <a:avLst/>
          </a:prstGeom>
          <a:solidFill>
            <a:srgbClr val="FFFFFF"/>
          </a:solidFill>
          <a:ln w="9525">
            <a:solidFill>
              <a:srgbClr val="D3D8DF"/>
            </a:solidFill>
            <a:prstDash val="solid"/>
          </a:ln>
        </p:spPr>
        <p:txBody>
          <a:bodyPr/>
          <a:lstStyle/>
          <a:p>
            <a:endParaRPr lang="en-US"/>
          </a:p>
        </p:txBody>
      </p:sp>
      <p:sp>
        <p:nvSpPr>
          <p:cNvPr id="149" name="Text 141"/>
          <p:cNvSpPr txBox="1"/>
          <p:nvPr/>
        </p:nvSpPr>
        <p:spPr>
          <a:xfrm>
            <a:off x="10149840" y="2066544"/>
            <a:ext cx="1493215" cy="256032"/>
          </a:xfrm>
          <a:prstGeom prst="rect">
            <a:avLst/>
          </a:prstGeom>
          <a:noFill/>
          <a:ln/>
        </p:spPr>
        <p:txBody>
          <a:bodyPr wrap="square" lIns="0" tIns="0" rIns="0" bIns="0" rtlCol="0" anchor="ctr"/>
          <a:lstStyle/>
          <a:p>
            <a:pPr marL="0" indent="0" algn="ctr">
              <a:buNone/>
            </a:pPr>
            <a:r>
              <a:rPr lang="en-US" sz="850" dirty="0">
                <a:solidFill>
                  <a:srgbClr val="1C2330"/>
                </a:solidFill>
                <a:latin typeface="Calibri" pitchFamily="34" charset="0"/>
                <a:ea typeface="Calibri" pitchFamily="34" charset="-122"/>
                <a:cs typeface="Calibri" pitchFamily="34" charset="-120"/>
              </a:rPr>
              <a:t>Twilio</a:t>
            </a:r>
            <a:endParaRPr lang="en-US" sz="850" dirty="0"/>
          </a:p>
        </p:txBody>
      </p:sp>
      <p:sp>
        <p:nvSpPr>
          <p:cNvPr id="150" name="Shape 142"/>
          <p:cNvSpPr/>
          <p:nvPr/>
        </p:nvSpPr>
        <p:spPr>
          <a:xfrm>
            <a:off x="10149840" y="2377440"/>
            <a:ext cx="1493215" cy="256032"/>
          </a:xfrm>
          <a:prstGeom prst="rect">
            <a:avLst/>
          </a:prstGeom>
          <a:solidFill>
            <a:srgbClr val="FFFFFF"/>
          </a:solidFill>
          <a:ln w="9525">
            <a:solidFill>
              <a:srgbClr val="D3D8DF"/>
            </a:solidFill>
            <a:prstDash val="solid"/>
          </a:ln>
        </p:spPr>
        <p:txBody>
          <a:bodyPr/>
          <a:lstStyle/>
          <a:p>
            <a:endParaRPr lang="en-US"/>
          </a:p>
        </p:txBody>
      </p:sp>
      <p:sp>
        <p:nvSpPr>
          <p:cNvPr id="151" name="Text 143"/>
          <p:cNvSpPr txBox="1"/>
          <p:nvPr/>
        </p:nvSpPr>
        <p:spPr>
          <a:xfrm>
            <a:off x="10149840" y="2377440"/>
            <a:ext cx="1493215" cy="256032"/>
          </a:xfrm>
          <a:prstGeom prst="rect">
            <a:avLst/>
          </a:prstGeom>
          <a:noFill/>
          <a:ln/>
        </p:spPr>
        <p:txBody>
          <a:bodyPr wrap="square" lIns="0" tIns="0" rIns="0" bIns="0" rtlCol="0" anchor="ctr"/>
          <a:lstStyle/>
          <a:p>
            <a:pPr marL="0" indent="0" algn="ctr">
              <a:buNone/>
            </a:pPr>
            <a:r>
              <a:rPr lang="en-US" sz="850" dirty="0">
                <a:solidFill>
                  <a:srgbClr val="1C2330"/>
                </a:solidFill>
                <a:latin typeface="Calibri" pitchFamily="34" charset="0"/>
                <a:ea typeface="Calibri" pitchFamily="34" charset="-122"/>
                <a:cs typeface="Calibri" pitchFamily="34" charset="-120"/>
              </a:rPr>
              <a:t>Salesforce MC</a:t>
            </a:r>
            <a:endParaRPr lang="en-US" sz="850" dirty="0"/>
          </a:p>
        </p:txBody>
      </p:sp>
      <p:sp>
        <p:nvSpPr>
          <p:cNvPr id="152" name="Shape 144"/>
          <p:cNvSpPr/>
          <p:nvPr/>
        </p:nvSpPr>
        <p:spPr>
          <a:xfrm>
            <a:off x="10149840" y="2688336"/>
            <a:ext cx="1493215" cy="256032"/>
          </a:xfrm>
          <a:prstGeom prst="rect">
            <a:avLst/>
          </a:prstGeom>
          <a:solidFill>
            <a:srgbClr val="FFFFFF"/>
          </a:solidFill>
          <a:ln w="9525">
            <a:solidFill>
              <a:srgbClr val="D3D8DF"/>
            </a:solidFill>
            <a:prstDash val="solid"/>
          </a:ln>
        </p:spPr>
        <p:txBody>
          <a:bodyPr/>
          <a:lstStyle/>
          <a:p>
            <a:endParaRPr lang="en-US"/>
          </a:p>
        </p:txBody>
      </p:sp>
      <p:sp>
        <p:nvSpPr>
          <p:cNvPr id="153" name="Text 145"/>
          <p:cNvSpPr txBox="1"/>
          <p:nvPr/>
        </p:nvSpPr>
        <p:spPr>
          <a:xfrm>
            <a:off x="10149840" y="2688336"/>
            <a:ext cx="1493215" cy="256032"/>
          </a:xfrm>
          <a:prstGeom prst="rect">
            <a:avLst/>
          </a:prstGeom>
          <a:noFill/>
          <a:ln/>
        </p:spPr>
        <p:txBody>
          <a:bodyPr wrap="square" lIns="0" tIns="0" rIns="0" bIns="0" rtlCol="0" anchor="ctr"/>
          <a:lstStyle/>
          <a:p>
            <a:pPr marL="0" indent="0" algn="ctr">
              <a:buNone/>
            </a:pPr>
            <a:r>
              <a:rPr lang="en-US" sz="850" dirty="0">
                <a:solidFill>
                  <a:srgbClr val="1C2330"/>
                </a:solidFill>
                <a:latin typeface="Calibri" pitchFamily="34" charset="0"/>
                <a:ea typeface="Calibri" pitchFamily="34" charset="-122"/>
                <a:cs typeface="Calibri" pitchFamily="34" charset="-120"/>
              </a:rPr>
              <a:t>O’Neil</a:t>
            </a:r>
            <a:endParaRPr lang="en-US" sz="850" dirty="0"/>
          </a:p>
        </p:txBody>
      </p:sp>
      <p:sp>
        <p:nvSpPr>
          <p:cNvPr id="154" name="Shape 146"/>
          <p:cNvSpPr/>
          <p:nvPr/>
        </p:nvSpPr>
        <p:spPr>
          <a:xfrm>
            <a:off x="10149840" y="2999232"/>
            <a:ext cx="1493215" cy="256032"/>
          </a:xfrm>
          <a:prstGeom prst="rect">
            <a:avLst/>
          </a:prstGeom>
          <a:solidFill>
            <a:srgbClr val="FFFFFF"/>
          </a:solidFill>
          <a:ln w="9525">
            <a:solidFill>
              <a:srgbClr val="D3D8DF"/>
            </a:solidFill>
            <a:prstDash val="solid"/>
          </a:ln>
        </p:spPr>
        <p:txBody>
          <a:bodyPr/>
          <a:lstStyle/>
          <a:p>
            <a:endParaRPr lang="en-US"/>
          </a:p>
        </p:txBody>
      </p:sp>
      <p:sp>
        <p:nvSpPr>
          <p:cNvPr id="155" name="Text 147"/>
          <p:cNvSpPr txBox="1"/>
          <p:nvPr/>
        </p:nvSpPr>
        <p:spPr>
          <a:xfrm>
            <a:off x="10149840" y="2999232"/>
            <a:ext cx="1493215" cy="256032"/>
          </a:xfrm>
          <a:prstGeom prst="rect">
            <a:avLst/>
          </a:prstGeom>
          <a:noFill/>
          <a:ln/>
        </p:spPr>
        <p:txBody>
          <a:bodyPr wrap="square" lIns="0" tIns="0" rIns="0" bIns="0" rtlCol="0" anchor="ctr"/>
          <a:lstStyle/>
          <a:p>
            <a:pPr marL="0" indent="0" algn="ctr">
              <a:buNone/>
            </a:pPr>
            <a:r>
              <a:rPr lang="en-US" sz="850" dirty="0">
                <a:solidFill>
                  <a:srgbClr val="1C2330"/>
                </a:solidFill>
                <a:latin typeface="Calibri" pitchFamily="34" charset="0"/>
                <a:ea typeface="Calibri" pitchFamily="34" charset="-122"/>
                <a:cs typeface="Calibri" pitchFamily="34" charset="-120"/>
              </a:rPr>
              <a:t>Forge</a:t>
            </a:r>
            <a:endParaRPr lang="en-US" sz="850" dirty="0"/>
          </a:p>
        </p:txBody>
      </p:sp>
      <p:sp>
        <p:nvSpPr>
          <p:cNvPr id="156" name="Shape 148"/>
          <p:cNvSpPr/>
          <p:nvPr/>
        </p:nvSpPr>
        <p:spPr>
          <a:xfrm>
            <a:off x="10149840" y="3310128"/>
            <a:ext cx="1493215" cy="256032"/>
          </a:xfrm>
          <a:prstGeom prst="rect">
            <a:avLst/>
          </a:prstGeom>
          <a:solidFill>
            <a:srgbClr val="FFFFFF"/>
          </a:solidFill>
          <a:ln w="9525">
            <a:solidFill>
              <a:srgbClr val="D3D8DF"/>
            </a:solidFill>
            <a:prstDash val="solid"/>
          </a:ln>
        </p:spPr>
        <p:txBody>
          <a:bodyPr/>
          <a:lstStyle/>
          <a:p>
            <a:endParaRPr lang="en-US"/>
          </a:p>
        </p:txBody>
      </p:sp>
      <p:sp>
        <p:nvSpPr>
          <p:cNvPr id="157" name="Text 149"/>
          <p:cNvSpPr txBox="1"/>
          <p:nvPr/>
        </p:nvSpPr>
        <p:spPr>
          <a:xfrm>
            <a:off x="10149840" y="3310128"/>
            <a:ext cx="1493215" cy="256032"/>
          </a:xfrm>
          <a:prstGeom prst="rect">
            <a:avLst/>
          </a:prstGeom>
          <a:noFill/>
          <a:ln/>
        </p:spPr>
        <p:txBody>
          <a:bodyPr wrap="square" lIns="0" tIns="0" rIns="0" bIns="0" rtlCol="0" anchor="ctr"/>
          <a:lstStyle/>
          <a:p>
            <a:pPr marL="0" indent="0" algn="ctr">
              <a:buNone/>
            </a:pPr>
            <a:r>
              <a:rPr lang="en-US" sz="850" dirty="0">
                <a:solidFill>
                  <a:srgbClr val="1C2330"/>
                </a:solidFill>
                <a:latin typeface="Calibri" pitchFamily="34" charset="0"/>
                <a:ea typeface="Calibri" pitchFamily="34" charset="-122"/>
                <a:cs typeface="Calibri" pitchFamily="34" charset="-120"/>
              </a:rPr>
              <a:t>Bloomreach</a:t>
            </a:r>
            <a:endParaRPr lang="en-US" sz="850" dirty="0"/>
          </a:p>
        </p:txBody>
      </p:sp>
      <p:sp>
        <p:nvSpPr>
          <p:cNvPr id="160" name="Shape 152"/>
          <p:cNvSpPr/>
          <p:nvPr/>
        </p:nvSpPr>
        <p:spPr>
          <a:xfrm>
            <a:off x="10149840" y="4069080"/>
            <a:ext cx="1493215" cy="45720"/>
          </a:xfrm>
          <a:prstGeom prst="rect">
            <a:avLst/>
          </a:prstGeom>
          <a:solidFill>
            <a:srgbClr val="1E4FC0"/>
          </a:solidFill>
          <a:ln/>
        </p:spPr>
        <p:txBody>
          <a:bodyPr/>
          <a:lstStyle/>
          <a:p>
            <a:endParaRPr lang="en-US"/>
          </a:p>
        </p:txBody>
      </p:sp>
      <p:sp>
        <p:nvSpPr>
          <p:cNvPr id="161" name="Text 153"/>
          <p:cNvSpPr txBox="1"/>
          <p:nvPr/>
        </p:nvSpPr>
        <p:spPr>
          <a:xfrm>
            <a:off x="10149840" y="4160520"/>
            <a:ext cx="1493215" cy="237744"/>
          </a:xfrm>
          <a:prstGeom prst="rect">
            <a:avLst/>
          </a:prstGeom>
          <a:noFill/>
          <a:ln/>
        </p:spPr>
        <p:txBody>
          <a:bodyPr wrap="square" lIns="0" tIns="0" rIns="0" bIns="0" rtlCol="0" anchor="t"/>
          <a:lstStyle/>
          <a:p>
            <a:pPr marL="0" indent="0">
              <a:buNone/>
            </a:pPr>
            <a:r>
              <a:rPr lang="en-US" sz="800" b="1" kern="0" spc="200" dirty="0">
                <a:solidFill>
                  <a:srgbClr val="3D4757"/>
                </a:solidFill>
                <a:latin typeface="Calibri" pitchFamily="34" charset="0"/>
                <a:ea typeface="Calibri" pitchFamily="34" charset="-122"/>
                <a:cs typeface="Calibri" pitchFamily="34" charset="-120"/>
              </a:rPr>
              <a:t>BUSINESS VALUE</a:t>
            </a:r>
            <a:endParaRPr lang="en-US" sz="800" dirty="0"/>
          </a:p>
        </p:txBody>
      </p:sp>
      <p:sp>
        <p:nvSpPr>
          <p:cNvPr id="162" name="Shape 154"/>
          <p:cNvSpPr/>
          <p:nvPr/>
        </p:nvSpPr>
        <p:spPr>
          <a:xfrm>
            <a:off x="10149840" y="4453128"/>
            <a:ext cx="1493215" cy="329184"/>
          </a:xfrm>
          <a:prstGeom prst="rect">
            <a:avLst/>
          </a:prstGeom>
          <a:solidFill>
            <a:srgbClr val="FFFFFF"/>
          </a:solidFill>
          <a:ln w="9525">
            <a:solidFill>
              <a:srgbClr val="D3D8DF"/>
            </a:solidFill>
            <a:prstDash val="solid"/>
          </a:ln>
        </p:spPr>
        <p:txBody>
          <a:bodyPr/>
          <a:lstStyle/>
          <a:p>
            <a:endParaRPr lang="en-US"/>
          </a:p>
        </p:txBody>
      </p:sp>
      <p:sp>
        <p:nvSpPr>
          <p:cNvPr id="163" name="Text 155"/>
          <p:cNvSpPr txBox="1"/>
          <p:nvPr/>
        </p:nvSpPr>
        <p:spPr>
          <a:xfrm>
            <a:off x="10186416" y="4453128"/>
            <a:ext cx="1420063" cy="329184"/>
          </a:xfrm>
          <a:prstGeom prst="rect">
            <a:avLst/>
          </a:prstGeom>
          <a:noFill/>
          <a:ln/>
        </p:spPr>
        <p:txBody>
          <a:bodyPr wrap="square" lIns="0" tIns="0" rIns="0" bIns="0" rtlCol="0" anchor="ctr"/>
          <a:lstStyle/>
          <a:p>
            <a:pPr marL="0" indent="0" algn="ctr">
              <a:buNone/>
            </a:pPr>
            <a:r>
              <a:rPr lang="en-US" sz="850" dirty="0">
                <a:solidFill>
                  <a:srgbClr val="1C2330"/>
                </a:solidFill>
                <a:latin typeface="Calibri" pitchFamily="34" charset="0"/>
                <a:ea typeface="Calibri" pitchFamily="34" charset="-122"/>
                <a:cs typeface="Calibri" pitchFamily="34" charset="-120"/>
              </a:rPr>
              <a:t>Self-service tracking</a:t>
            </a:r>
            <a:endParaRPr lang="en-US" sz="850" dirty="0"/>
          </a:p>
        </p:txBody>
      </p:sp>
      <p:sp>
        <p:nvSpPr>
          <p:cNvPr id="164" name="Shape 156"/>
          <p:cNvSpPr/>
          <p:nvPr/>
        </p:nvSpPr>
        <p:spPr>
          <a:xfrm>
            <a:off x="10149840" y="4837176"/>
            <a:ext cx="1493215" cy="329184"/>
          </a:xfrm>
          <a:prstGeom prst="rect">
            <a:avLst/>
          </a:prstGeom>
          <a:solidFill>
            <a:srgbClr val="FFFFFF"/>
          </a:solidFill>
          <a:ln w="9525">
            <a:solidFill>
              <a:srgbClr val="D3D8DF"/>
            </a:solidFill>
            <a:prstDash val="solid"/>
          </a:ln>
        </p:spPr>
        <p:txBody>
          <a:bodyPr/>
          <a:lstStyle/>
          <a:p>
            <a:endParaRPr lang="en-US"/>
          </a:p>
        </p:txBody>
      </p:sp>
      <p:sp>
        <p:nvSpPr>
          <p:cNvPr id="165" name="Text 157"/>
          <p:cNvSpPr txBox="1"/>
          <p:nvPr/>
        </p:nvSpPr>
        <p:spPr>
          <a:xfrm>
            <a:off x="10186416" y="4837176"/>
            <a:ext cx="1420063" cy="329184"/>
          </a:xfrm>
          <a:prstGeom prst="rect">
            <a:avLst/>
          </a:prstGeom>
          <a:noFill/>
          <a:ln/>
        </p:spPr>
        <p:txBody>
          <a:bodyPr wrap="square" lIns="0" tIns="0" rIns="0" bIns="0" rtlCol="0" anchor="ctr"/>
          <a:lstStyle/>
          <a:p>
            <a:pPr marL="0" indent="0" algn="ctr">
              <a:buNone/>
            </a:pPr>
            <a:r>
              <a:rPr lang="en-US" sz="850" dirty="0">
                <a:solidFill>
                  <a:srgbClr val="1C2330"/>
                </a:solidFill>
                <a:latin typeface="Calibri" pitchFamily="34" charset="0"/>
                <a:ea typeface="Calibri" pitchFamily="34" charset="-122"/>
                <a:cs typeface="Calibri" pitchFamily="34" charset="-120"/>
              </a:rPr>
              <a:t>Preference-driven delivery</a:t>
            </a:r>
            <a:endParaRPr lang="en-US" sz="850" dirty="0"/>
          </a:p>
        </p:txBody>
      </p:sp>
      <p:sp>
        <p:nvSpPr>
          <p:cNvPr id="166" name="Shape 158"/>
          <p:cNvSpPr/>
          <p:nvPr/>
        </p:nvSpPr>
        <p:spPr>
          <a:xfrm>
            <a:off x="10149840" y="5221224"/>
            <a:ext cx="1493215" cy="329184"/>
          </a:xfrm>
          <a:prstGeom prst="rect">
            <a:avLst/>
          </a:prstGeom>
          <a:solidFill>
            <a:srgbClr val="FFFFFF"/>
          </a:solidFill>
          <a:ln w="9525">
            <a:solidFill>
              <a:srgbClr val="D3D8DF"/>
            </a:solidFill>
            <a:prstDash val="solid"/>
          </a:ln>
        </p:spPr>
        <p:txBody>
          <a:bodyPr/>
          <a:lstStyle/>
          <a:p>
            <a:endParaRPr lang="en-US"/>
          </a:p>
        </p:txBody>
      </p:sp>
      <p:sp>
        <p:nvSpPr>
          <p:cNvPr id="167" name="Text 159"/>
          <p:cNvSpPr txBox="1"/>
          <p:nvPr/>
        </p:nvSpPr>
        <p:spPr>
          <a:xfrm>
            <a:off x="10186416" y="5221224"/>
            <a:ext cx="1420063" cy="329184"/>
          </a:xfrm>
          <a:prstGeom prst="rect">
            <a:avLst/>
          </a:prstGeom>
          <a:noFill/>
          <a:ln/>
        </p:spPr>
        <p:txBody>
          <a:bodyPr wrap="square" lIns="0" tIns="0" rIns="0" bIns="0" rtlCol="0" anchor="ctr"/>
          <a:lstStyle/>
          <a:p>
            <a:pPr marL="0" indent="0" algn="ctr">
              <a:buNone/>
            </a:pPr>
            <a:r>
              <a:rPr lang="en-US" sz="850" dirty="0">
                <a:solidFill>
                  <a:srgbClr val="1C2330"/>
                </a:solidFill>
                <a:latin typeface="Calibri" pitchFamily="34" charset="0"/>
                <a:ea typeface="Calibri" pitchFamily="34" charset="-122"/>
                <a:cs typeface="Calibri" pitchFamily="34" charset="-120"/>
              </a:rPr>
              <a:t>Suppress, reprint, audit</a:t>
            </a:r>
            <a:endParaRPr lang="en-US" sz="850" dirty="0"/>
          </a:p>
        </p:txBody>
      </p:sp>
      <p:sp>
        <p:nvSpPr>
          <p:cNvPr id="168" name="Shape 160"/>
          <p:cNvSpPr/>
          <p:nvPr/>
        </p:nvSpPr>
        <p:spPr>
          <a:xfrm>
            <a:off x="0" y="5760720"/>
            <a:ext cx="12191695" cy="658368"/>
          </a:xfrm>
          <a:prstGeom prst="rect">
            <a:avLst/>
          </a:prstGeom>
          <a:solidFill>
            <a:srgbClr val="141C2B"/>
          </a:solidFill>
          <a:ln/>
        </p:spPr>
        <p:txBody>
          <a:bodyPr/>
          <a:lstStyle/>
          <a:p>
            <a:endParaRPr lang="en-US"/>
          </a:p>
        </p:txBody>
      </p:sp>
      <p:sp>
        <p:nvSpPr>
          <p:cNvPr id="169" name="Shape 161"/>
          <p:cNvSpPr/>
          <p:nvPr/>
        </p:nvSpPr>
        <p:spPr>
          <a:xfrm>
            <a:off x="548640" y="5870448"/>
            <a:ext cx="1757629" cy="438912"/>
          </a:xfrm>
          <a:prstGeom prst="rect">
            <a:avLst/>
          </a:prstGeom>
          <a:solidFill>
            <a:srgbClr val="CFE8F6"/>
          </a:solidFill>
          <a:ln/>
        </p:spPr>
        <p:txBody>
          <a:bodyPr/>
          <a:lstStyle/>
          <a:p>
            <a:endParaRPr lang="en-US"/>
          </a:p>
        </p:txBody>
      </p:sp>
      <p:sp>
        <p:nvSpPr>
          <p:cNvPr id="170" name="Text 162"/>
          <p:cNvSpPr txBox="1"/>
          <p:nvPr/>
        </p:nvSpPr>
        <p:spPr>
          <a:xfrm>
            <a:off x="548640" y="5870448"/>
            <a:ext cx="1757629" cy="438912"/>
          </a:xfrm>
          <a:prstGeom prst="rect">
            <a:avLst/>
          </a:prstGeom>
          <a:noFill/>
          <a:ln/>
        </p:spPr>
        <p:txBody>
          <a:bodyPr wrap="square" lIns="0" tIns="0" rIns="0" bIns="0" rtlCol="0" anchor="ctr"/>
          <a:lstStyle/>
          <a:p>
            <a:pPr marL="0" indent="0" algn="ctr">
              <a:buNone/>
            </a:pPr>
            <a:r>
              <a:rPr lang="en-US" sz="1000" dirty="0">
                <a:solidFill>
                  <a:srgbClr val="141C2B"/>
                </a:solidFill>
                <a:latin typeface="Calibri" pitchFamily="34" charset="0"/>
                <a:ea typeface="Calibri" pitchFamily="34" charset="-122"/>
                <a:cs typeface="Calibri" pitchFamily="34" charset="-120"/>
              </a:rPr>
              <a:t>Three integration paths</a:t>
            </a:r>
            <a:endParaRPr lang="en-US" sz="1000" dirty="0"/>
          </a:p>
        </p:txBody>
      </p:sp>
      <p:sp>
        <p:nvSpPr>
          <p:cNvPr id="171" name="Shape 163"/>
          <p:cNvSpPr/>
          <p:nvPr/>
        </p:nvSpPr>
        <p:spPr>
          <a:xfrm>
            <a:off x="2415997" y="5870448"/>
            <a:ext cx="1757629" cy="438912"/>
          </a:xfrm>
          <a:prstGeom prst="rect">
            <a:avLst/>
          </a:prstGeom>
          <a:solidFill>
            <a:srgbClr val="CFE8F6"/>
          </a:solidFill>
          <a:ln/>
        </p:spPr>
        <p:txBody>
          <a:bodyPr/>
          <a:lstStyle/>
          <a:p>
            <a:endParaRPr lang="en-US"/>
          </a:p>
        </p:txBody>
      </p:sp>
      <p:sp>
        <p:nvSpPr>
          <p:cNvPr id="172" name="Text 164"/>
          <p:cNvSpPr txBox="1"/>
          <p:nvPr/>
        </p:nvSpPr>
        <p:spPr>
          <a:xfrm>
            <a:off x="2415997" y="5870448"/>
            <a:ext cx="1757629" cy="438912"/>
          </a:xfrm>
          <a:prstGeom prst="rect">
            <a:avLst/>
          </a:prstGeom>
          <a:noFill/>
          <a:ln/>
        </p:spPr>
        <p:txBody>
          <a:bodyPr wrap="square" lIns="0" tIns="0" rIns="0" bIns="0" rtlCol="0" anchor="ctr"/>
          <a:lstStyle/>
          <a:p>
            <a:pPr marL="0" indent="0" algn="ctr">
              <a:buNone/>
            </a:pPr>
            <a:r>
              <a:rPr lang="en-US" sz="1000" dirty="0">
                <a:solidFill>
                  <a:srgbClr val="141C2B"/>
                </a:solidFill>
                <a:latin typeface="Calibri" pitchFamily="34" charset="0"/>
                <a:ea typeface="Calibri" pitchFamily="34" charset="-122"/>
                <a:cs typeface="Calibri" pitchFamily="34" charset="-120"/>
              </a:rPr>
              <a:t>Event-driven (Kafka)</a:t>
            </a:r>
            <a:endParaRPr lang="en-US" sz="1000" dirty="0"/>
          </a:p>
        </p:txBody>
      </p:sp>
      <p:sp>
        <p:nvSpPr>
          <p:cNvPr id="173" name="Shape 165"/>
          <p:cNvSpPr/>
          <p:nvPr/>
        </p:nvSpPr>
        <p:spPr>
          <a:xfrm>
            <a:off x="4283354" y="5870448"/>
            <a:ext cx="1757629" cy="438912"/>
          </a:xfrm>
          <a:prstGeom prst="rect">
            <a:avLst/>
          </a:prstGeom>
          <a:solidFill>
            <a:srgbClr val="CFE8F6"/>
          </a:solidFill>
          <a:ln/>
        </p:spPr>
        <p:txBody>
          <a:bodyPr/>
          <a:lstStyle/>
          <a:p>
            <a:endParaRPr lang="en-US"/>
          </a:p>
        </p:txBody>
      </p:sp>
      <p:sp>
        <p:nvSpPr>
          <p:cNvPr id="174" name="Text 166"/>
          <p:cNvSpPr txBox="1"/>
          <p:nvPr/>
        </p:nvSpPr>
        <p:spPr>
          <a:xfrm>
            <a:off x="4283354" y="5870448"/>
            <a:ext cx="1757629" cy="438912"/>
          </a:xfrm>
          <a:prstGeom prst="rect">
            <a:avLst/>
          </a:prstGeom>
          <a:noFill/>
          <a:ln/>
        </p:spPr>
        <p:txBody>
          <a:bodyPr wrap="square" lIns="0" tIns="0" rIns="0" bIns="0" rtlCol="0" anchor="ctr"/>
          <a:lstStyle/>
          <a:p>
            <a:pPr marL="0" indent="0" algn="ctr">
              <a:buNone/>
            </a:pPr>
            <a:r>
              <a:rPr lang="en-US" sz="1000" dirty="0">
                <a:solidFill>
                  <a:srgbClr val="141C2B"/>
                </a:solidFill>
                <a:latin typeface="Calibri" pitchFamily="34" charset="0"/>
                <a:ea typeface="Calibri" pitchFamily="34" charset="-122"/>
                <a:cs typeface="Calibri" pitchFamily="34" charset="-120"/>
              </a:rPr>
              <a:t>Preference-driven (P360)</a:t>
            </a:r>
            <a:endParaRPr lang="en-US" sz="1000" dirty="0"/>
          </a:p>
        </p:txBody>
      </p:sp>
      <p:sp>
        <p:nvSpPr>
          <p:cNvPr id="175" name="Shape 167"/>
          <p:cNvSpPr/>
          <p:nvPr/>
        </p:nvSpPr>
        <p:spPr>
          <a:xfrm>
            <a:off x="6150712" y="5870448"/>
            <a:ext cx="1757629" cy="438912"/>
          </a:xfrm>
          <a:prstGeom prst="rect">
            <a:avLst/>
          </a:prstGeom>
          <a:solidFill>
            <a:srgbClr val="CFE8F6"/>
          </a:solidFill>
          <a:ln/>
        </p:spPr>
        <p:txBody>
          <a:bodyPr/>
          <a:lstStyle/>
          <a:p>
            <a:endParaRPr lang="en-US"/>
          </a:p>
        </p:txBody>
      </p:sp>
      <p:sp>
        <p:nvSpPr>
          <p:cNvPr id="176" name="Text 168"/>
          <p:cNvSpPr txBox="1"/>
          <p:nvPr/>
        </p:nvSpPr>
        <p:spPr>
          <a:xfrm>
            <a:off x="6150712" y="5870448"/>
            <a:ext cx="1757629" cy="438912"/>
          </a:xfrm>
          <a:prstGeom prst="rect">
            <a:avLst/>
          </a:prstGeom>
          <a:noFill/>
          <a:ln/>
        </p:spPr>
        <p:txBody>
          <a:bodyPr wrap="square" lIns="0" tIns="0" rIns="0" bIns="0" rtlCol="0" anchor="ctr"/>
          <a:lstStyle/>
          <a:p>
            <a:pPr marL="0" indent="0" algn="ctr">
              <a:buNone/>
            </a:pPr>
            <a:r>
              <a:rPr lang="en-US" sz="1000" dirty="0">
                <a:solidFill>
                  <a:srgbClr val="141C2B"/>
                </a:solidFill>
                <a:latin typeface="Calibri" pitchFamily="34" charset="0"/>
                <a:ea typeface="Calibri" pitchFamily="34" charset="-122"/>
                <a:cs typeface="Calibri" pitchFamily="34" charset="-120"/>
              </a:rPr>
              <a:t>Business self-service</a:t>
            </a:r>
            <a:endParaRPr lang="en-US" sz="1000" dirty="0"/>
          </a:p>
        </p:txBody>
      </p:sp>
      <p:sp>
        <p:nvSpPr>
          <p:cNvPr id="177" name="Shape 169"/>
          <p:cNvSpPr/>
          <p:nvPr/>
        </p:nvSpPr>
        <p:spPr>
          <a:xfrm>
            <a:off x="8018069" y="5870448"/>
            <a:ext cx="1757629" cy="438912"/>
          </a:xfrm>
          <a:prstGeom prst="rect">
            <a:avLst/>
          </a:prstGeom>
          <a:solidFill>
            <a:srgbClr val="CFE8F6"/>
          </a:solidFill>
          <a:ln/>
        </p:spPr>
        <p:txBody>
          <a:bodyPr/>
          <a:lstStyle/>
          <a:p>
            <a:endParaRPr lang="en-US"/>
          </a:p>
        </p:txBody>
      </p:sp>
      <p:sp>
        <p:nvSpPr>
          <p:cNvPr id="178" name="Text 170"/>
          <p:cNvSpPr txBox="1"/>
          <p:nvPr/>
        </p:nvSpPr>
        <p:spPr>
          <a:xfrm>
            <a:off x="8018069" y="5870448"/>
            <a:ext cx="1757629" cy="438912"/>
          </a:xfrm>
          <a:prstGeom prst="rect">
            <a:avLst/>
          </a:prstGeom>
          <a:noFill/>
          <a:ln/>
        </p:spPr>
        <p:txBody>
          <a:bodyPr wrap="square" lIns="0" tIns="0" rIns="0" bIns="0" rtlCol="0" anchor="ctr"/>
          <a:lstStyle/>
          <a:p>
            <a:pPr marL="0" indent="0" algn="ctr">
              <a:buNone/>
            </a:pPr>
            <a:r>
              <a:rPr lang="en-US" sz="1000" dirty="0">
                <a:solidFill>
                  <a:srgbClr val="141C2B"/>
                </a:solidFill>
                <a:latin typeface="Calibri" pitchFamily="34" charset="0"/>
                <a:ea typeface="Calibri" pitchFamily="34" charset="-122"/>
                <a:cs typeface="Calibri" pitchFamily="34" charset="-120"/>
              </a:rPr>
              <a:t>End-to-end tracking</a:t>
            </a:r>
            <a:endParaRPr lang="en-US" sz="1000" dirty="0"/>
          </a:p>
        </p:txBody>
      </p:sp>
      <p:sp>
        <p:nvSpPr>
          <p:cNvPr id="179" name="Shape 171"/>
          <p:cNvSpPr/>
          <p:nvPr/>
        </p:nvSpPr>
        <p:spPr>
          <a:xfrm>
            <a:off x="9885426" y="5870448"/>
            <a:ext cx="1757629" cy="438912"/>
          </a:xfrm>
          <a:prstGeom prst="rect">
            <a:avLst/>
          </a:prstGeom>
          <a:solidFill>
            <a:srgbClr val="CFE8F6"/>
          </a:solidFill>
          <a:ln/>
        </p:spPr>
        <p:txBody>
          <a:bodyPr/>
          <a:lstStyle/>
          <a:p>
            <a:endParaRPr lang="en-US"/>
          </a:p>
        </p:txBody>
      </p:sp>
      <p:sp>
        <p:nvSpPr>
          <p:cNvPr id="180" name="Text 172"/>
          <p:cNvSpPr txBox="1"/>
          <p:nvPr/>
        </p:nvSpPr>
        <p:spPr>
          <a:xfrm>
            <a:off x="9885426" y="5870448"/>
            <a:ext cx="1757629" cy="438912"/>
          </a:xfrm>
          <a:prstGeom prst="rect">
            <a:avLst/>
          </a:prstGeom>
          <a:noFill/>
          <a:ln/>
        </p:spPr>
        <p:txBody>
          <a:bodyPr wrap="square" lIns="0" tIns="0" rIns="0" bIns="0" rtlCol="0" anchor="ctr"/>
          <a:lstStyle/>
          <a:p>
            <a:pPr marL="0" indent="0" algn="ctr">
              <a:buNone/>
            </a:pPr>
            <a:r>
              <a:rPr lang="en-US" sz="1000" dirty="0">
                <a:solidFill>
                  <a:srgbClr val="141C2B"/>
                </a:solidFill>
                <a:latin typeface="Calibri" pitchFamily="34" charset="0"/>
                <a:ea typeface="Calibri" pitchFamily="34" charset="-122"/>
                <a:cs typeface="Calibri" pitchFamily="34" charset="-120"/>
              </a:rPr>
              <a:t>"Buy &amp; Build" (Quadient)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141C2B"/>
          </a:solidFill>
          <a:ln/>
        </p:spPr>
        <p:txBody>
          <a:bodyPr/>
          <a:lstStyle/>
          <a:p>
            <a:endParaRPr lang="en-US"/>
          </a:p>
        </p:txBody>
      </p:sp>
      <p:sp>
        <p:nvSpPr>
          <p:cNvPr id="3" name="Shape 1"/>
          <p:cNvSpPr/>
          <p:nvPr/>
        </p:nvSpPr>
        <p:spPr>
          <a:xfrm>
            <a:off x="0" y="0"/>
            <a:ext cx="12191695" cy="45720"/>
          </a:xfrm>
          <a:prstGeom prst="rect">
            <a:avLst/>
          </a:prstGeom>
          <a:solidFill>
            <a:srgbClr val="E4572E"/>
          </a:solidFill>
          <a:ln/>
        </p:spPr>
        <p:txBody>
          <a:bodyPr/>
          <a:lstStyle/>
          <a:p>
            <a:endParaRPr lang="en-US"/>
          </a:p>
        </p:txBody>
      </p:sp>
      <p:sp>
        <p:nvSpPr>
          <p:cNvPr id="4" name="Text 2"/>
          <p:cNvSpPr txBox="1"/>
          <p:nvPr/>
        </p:nvSpPr>
        <p:spPr>
          <a:xfrm>
            <a:off x="548640" y="246888"/>
            <a:ext cx="7772400" cy="256032"/>
          </a:xfrm>
          <a:prstGeom prst="rect">
            <a:avLst/>
          </a:prstGeom>
          <a:noFill/>
          <a:ln/>
        </p:spPr>
        <p:txBody>
          <a:bodyPr wrap="square" lIns="0" tIns="0" rIns="0" bIns="0" rtlCol="0" anchor="t"/>
          <a:lstStyle/>
          <a:p>
            <a:pPr marL="0" indent="0">
              <a:buNone/>
            </a:pPr>
            <a:r>
              <a:rPr lang="en-US" sz="1100" b="1" kern="0" spc="500" dirty="0">
                <a:solidFill>
                  <a:srgbClr val="E4572E"/>
                </a:solidFill>
                <a:latin typeface="Calibri" pitchFamily="34" charset="0"/>
                <a:ea typeface="Calibri" pitchFamily="34" charset="-122"/>
                <a:cs typeface="Calibri" pitchFamily="34" charset="-120"/>
              </a:rPr>
              <a:t>CONSOLIDATED VIEW</a:t>
            </a:r>
            <a:endParaRPr lang="en-US" sz="1100" dirty="0"/>
          </a:p>
        </p:txBody>
      </p:sp>
      <p:sp>
        <p:nvSpPr>
          <p:cNvPr id="5" name="Text 3"/>
          <p:cNvSpPr txBox="1"/>
          <p:nvPr/>
        </p:nvSpPr>
        <p:spPr>
          <a:xfrm>
            <a:off x="548640" y="502920"/>
            <a:ext cx="941832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End-to-end architecture </a:t>
            </a:r>
            <a:endParaRPr lang="en-US" sz="2700" dirty="0"/>
          </a:p>
        </p:txBody>
      </p:sp>
      <p:sp>
        <p:nvSpPr>
          <p:cNvPr id="9" name="Text 7"/>
          <p:cNvSpPr txBox="1"/>
          <p:nvPr/>
        </p:nvSpPr>
        <p:spPr>
          <a:xfrm>
            <a:off x="10728655" y="6510528"/>
            <a:ext cx="914400" cy="201168"/>
          </a:xfrm>
          <a:prstGeom prst="rect">
            <a:avLst/>
          </a:prstGeom>
          <a:noFill/>
          <a:ln/>
        </p:spPr>
        <p:txBody>
          <a:bodyPr wrap="square" lIns="0" tIns="0" rIns="0" bIns="0" rtlCol="0" anchor="t"/>
          <a:lstStyle/>
          <a:p>
            <a:pPr marL="0" indent="0" algn="r">
              <a:buNone/>
            </a:pPr>
            <a:r>
              <a:rPr lang="en-US" sz="900" dirty="0">
                <a:solidFill>
                  <a:srgbClr val="5A6272"/>
                </a:solidFill>
                <a:latin typeface="Calibri" pitchFamily="34" charset="0"/>
                <a:ea typeface="Calibri" pitchFamily="34" charset="-122"/>
                <a:cs typeface="Calibri" pitchFamily="34" charset="-120"/>
              </a:rPr>
              <a:t>6</a:t>
            </a:r>
            <a:endParaRPr lang="en-US" sz="900" dirty="0"/>
          </a:p>
        </p:txBody>
      </p:sp>
      <p:sp>
        <p:nvSpPr>
          <p:cNvPr id="10" name="Shape 8"/>
          <p:cNvSpPr/>
          <p:nvPr/>
        </p:nvSpPr>
        <p:spPr>
          <a:xfrm>
            <a:off x="548640" y="1417320"/>
            <a:ext cx="1737360" cy="3383280"/>
          </a:xfrm>
          <a:prstGeom prst="rect">
            <a:avLst/>
          </a:prstGeom>
          <a:solidFill>
            <a:srgbClr val="E9EBEF"/>
          </a:solidFill>
          <a:ln/>
        </p:spPr>
        <p:txBody>
          <a:bodyPr/>
          <a:lstStyle/>
          <a:p>
            <a:endParaRPr lang="en-US"/>
          </a:p>
        </p:txBody>
      </p:sp>
      <p:sp>
        <p:nvSpPr>
          <p:cNvPr id="11" name="Shape 9"/>
          <p:cNvSpPr/>
          <p:nvPr/>
        </p:nvSpPr>
        <p:spPr>
          <a:xfrm>
            <a:off x="548640" y="1417320"/>
            <a:ext cx="1737360" cy="54864"/>
          </a:xfrm>
          <a:prstGeom prst="rect">
            <a:avLst/>
          </a:prstGeom>
          <a:solidFill>
            <a:srgbClr val="3D4757"/>
          </a:solidFill>
          <a:ln/>
        </p:spPr>
        <p:txBody>
          <a:bodyPr/>
          <a:lstStyle/>
          <a:p>
            <a:endParaRPr lang="en-US"/>
          </a:p>
        </p:txBody>
      </p:sp>
      <p:sp>
        <p:nvSpPr>
          <p:cNvPr id="12" name="Shape 10"/>
          <p:cNvSpPr/>
          <p:nvPr/>
        </p:nvSpPr>
        <p:spPr>
          <a:xfrm>
            <a:off x="548640" y="1417320"/>
            <a:ext cx="54864" cy="3383280"/>
          </a:xfrm>
          <a:prstGeom prst="rect">
            <a:avLst/>
          </a:prstGeom>
          <a:solidFill>
            <a:srgbClr val="3D4757"/>
          </a:solidFill>
          <a:ln/>
        </p:spPr>
        <p:txBody>
          <a:bodyPr/>
          <a:lstStyle/>
          <a:p>
            <a:endParaRPr lang="en-US"/>
          </a:p>
        </p:txBody>
      </p:sp>
      <p:sp>
        <p:nvSpPr>
          <p:cNvPr id="13" name="Text 11"/>
          <p:cNvSpPr txBox="1"/>
          <p:nvPr/>
        </p:nvSpPr>
        <p:spPr>
          <a:xfrm>
            <a:off x="731520" y="1536192"/>
            <a:ext cx="1463040" cy="237744"/>
          </a:xfrm>
          <a:prstGeom prst="rect">
            <a:avLst/>
          </a:prstGeom>
          <a:noFill/>
          <a:ln/>
        </p:spPr>
        <p:txBody>
          <a:bodyPr wrap="square" lIns="0" tIns="0" rIns="0" bIns="0" rtlCol="0" anchor="t"/>
          <a:lstStyle/>
          <a:p>
            <a:pPr marL="0" indent="0">
              <a:buNone/>
            </a:pPr>
            <a:r>
              <a:rPr lang="en-US" sz="850" b="1" kern="0" spc="300" dirty="0">
                <a:solidFill>
                  <a:srgbClr val="3D4757"/>
                </a:solidFill>
                <a:latin typeface="Calibri" pitchFamily="34" charset="0"/>
                <a:ea typeface="Calibri" pitchFamily="34" charset="-122"/>
                <a:cs typeface="Calibri" pitchFamily="34" charset="-120"/>
              </a:rPr>
              <a:t>SOURCES</a:t>
            </a:r>
            <a:endParaRPr lang="en-US" sz="850" dirty="0"/>
          </a:p>
        </p:txBody>
      </p:sp>
      <p:sp>
        <p:nvSpPr>
          <p:cNvPr id="14" name="Shape 12"/>
          <p:cNvSpPr/>
          <p:nvPr/>
        </p:nvSpPr>
        <p:spPr>
          <a:xfrm>
            <a:off x="713232" y="1828800"/>
            <a:ext cx="1444752" cy="338328"/>
          </a:xfrm>
          <a:prstGeom prst="rect">
            <a:avLst/>
          </a:prstGeom>
          <a:solidFill>
            <a:srgbClr val="FFFFFF"/>
          </a:solidFill>
          <a:ln w="9525">
            <a:solidFill>
              <a:srgbClr val="D3D8DF"/>
            </a:solidFill>
            <a:prstDash val="solid"/>
          </a:ln>
        </p:spPr>
        <p:txBody>
          <a:bodyPr/>
          <a:lstStyle/>
          <a:p>
            <a:endParaRPr lang="en-US"/>
          </a:p>
        </p:txBody>
      </p:sp>
      <p:sp>
        <p:nvSpPr>
          <p:cNvPr id="15" name="Text 13"/>
          <p:cNvSpPr txBox="1"/>
          <p:nvPr/>
        </p:nvSpPr>
        <p:spPr>
          <a:xfrm>
            <a:off x="713232" y="1828800"/>
            <a:ext cx="1444752" cy="338328"/>
          </a:xfrm>
          <a:prstGeom prst="rect">
            <a:avLst/>
          </a:prstGeom>
          <a:noFill/>
          <a:ln/>
        </p:spPr>
        <p:txBody>
          <a:bodyPr wrap="square" lIns="0" tIns="0" rIns="0" bIns="0" rtlCol="0" anchor="ctr"/>
          <a:lstStyle/>
          <a:p>
            <a:pPr marL="0" indent="0" algn="ctr">
              <a:buNone/>
            </a:pPr>
            <a:r>
              <a:rPr lang="en-US" sz="1000" dirty="0">
                <a:solidFill>
                  <a:srgbClr val="1C2330"/>
                </a:solidFill>
                <a:latin typeface="Calibri" pitchFamily="34" charset="0"/>
                <a:ea typeface="Calibri" pitchFamily="34" charset="-122"/>
                <a:cs typeface="Calibri" pitchFamily="34" charset="-120"/>
              </a:rPr>
              <a:t>EWoC</a:t>
            </a:r>
            <a:endParaRPr lang="en-US" sz="1000" dirty="0"/>
          </a:p>
        </p:txBody>
      </p:sp>
      <p:sp>
        <p:nvSpPr>
          <p:cNvPr id="16" name="Shape 14"/>
          <p:cNvSpPr/>
          <p:nvPr/>
        </p:nvSpPr>
        <p:spPr>
          <a:xfrm>
            <a:off x="713232" y="2240280"/>
            <a:ext cx="1444752" cy="338328"/>
          </a:xfrm>
          <a:prstGeom prst="rect">
            <a:avLst/>
          </a:prstGeom>
          <a:solidFill>
            <a:srgbClr val="FFFFFF"/>
          </a:solidFill>
          <a:ln w="9525">
            <a:solidFill>
              <a:srgbClr val="D3D8DF"/>
            </a:solidFill>
            <a:prstDash val="solid"/>
          </a:ln>
        </p:spPr>
        <p:txBody>
          <a:bodyPr/>
          <a:lstStyle/>
          <a:p>
            <a:endParaRPr lang="en-US"/>
          </a:p>
        </p:txBody>
      </p:sp>
      <p:sp>
        <p:nvSpPr>
          <p:cNvPr id="17" name="Text 15"/>
          <p:cNvSpPr txBox="1"/>
          <p:nvPr/>
        </p:nvSpPr>
        <p:spPr>
          <a:xfrm>
            <a:off x="713232" y="2240280"/>
            <a:ext cx="1444752" cy="338328"/>
          </a:xfrm>
          <a:prstGeom prst="rect">
            <a:avLst/>
          </a:prstGeom>
          <a:noFill/>
          <a:ln/>
        </p:spPr>
        <p:txBody>
          <a:bodyPr wrap="square" lIns="0" tIns="0" rIns="0" bIns="0" rtlCol="0" anchor="ctr"/>
          <a:lstStyle/>
          <a:p>
            <a:pPr marL="0" indent="0" algn="ctr">
              <a:buNone/>
            </a:pPr>
            <a:r>
              <a:rPr lang="en-US" sz="1000" dirty="0">
                <a:solidFill>
                  <a:srgbClr val="1C2330"/>
                </a:solidFill>
                <a:latin typeface="Calibri" pitchFamily="34" charset="0"/>
                <a:ea typeface="Calibri" pitchFamily="34" charset="-122"/>
                <a:cs typeface="Calibri" pitchFamily="34" charset="-120"/>
              </a:rPr>
              <a:t>Claims Workflow</a:t>
            </a:r>
            <a:endParaRPr lang="en-US" sz="1000" dirty="0"/>
          </a:p>
        </p:txBody>
      </p:sp>
      <p:sp>
        <p:nvSpPr>
          <p:cNvPr id="18" name="Shape 16"/>
          <p:cNvSpPr/>
          <p:nvPr/>
        </p:nvSpPr>
        <p:spPr>
          <a:xfrm>
            <a:off x="713232" y="2651760"/>
            <a:ext cx="1444752" cy="338328"/>
          </a:xfrm>
          <a:prstGeom prst="rect">
            <a:avLst/>
          </a:prstGeom>
          <a:solidFill>
            <a:srgbClr val="FFFFFF"/>
          </a:solidFill>
          <a:ln w="9525">
            <a:solidFill>
              <a:srgbClr val="D3D8DF"/>
            </a:solidFill>
            <a:prstDash val="solid"/>
          </a:ln>
        </p:spPr>
        <p:txBody>
          <a:bodyPr/>
          <a:lstStyle/>
          <a:p>
            <a:endParaRPr lang="en-US"/>
          </a:p>
        </p:txBody>
      </p:sp>
      <p:sp>
        <p:nvSpPr>
          <p:cNvPr id="19" name="Text 17"/>
          <p:cNvSpPr txBox="1"/>
          <p:nvPr/>
        </p:nvSpPr>
        <p:spPr>
          <a:xfrm>
            <a:off x="713232" y="2651760"/>
            <a:ext cx="1444752" cy="338328"/>
          </a:xfrm>
          <a:prstGeom prst="rect">
            <a:avLst/>
          </a:prstGeom>
          <a:noFill/>
          <a:ln/>
        </p:spPr>
        <p:txBody>
          <a:bodyPr wrap="square" lIns="0" tIns="0" rIns="0" bIns="0" rtlCol="0" anchor="ctr"/>
          <a:lstStyle/>
          <a:p>
            <a:pPr marL="0" indent="0" algn="ctr">
              <a:buNone/>
            </a:pPr>
            <a:r>
              <a:rPr lang="en-US" sz="1000" dirty="0">
                <a:solidFill>
                  <a:srgbClr val="1C2330"/>
                </a:solidFill>
                <a:latin typeface="Calibri" pitchFamily="34" charset="0"/>
                <a:ea typeface="Calibri" pitchFamily="34" charset="-122"/>
                <a:cs typeface="Calibri" pitchFamily="34" charset="-120"/>
              </a:rPr>
              <a:t>OPL / Quest</a:t>
            </a:r>
            <a:endParaRPr lang="en-US" sz="1000" dirty="0"/>
          </a:p>
        </p:txBody>
      </p:sp>
      <p:sp>
        <p:nvSpPr>
          <p:cNvPr id="20" name="Shape 18"/>
          <p:cNvSpPr/>
          <p:nvPr/>
        </p:nvSpPr>
        <p:spPr>
          <a:xfrm>
            <a:off x="713232" y="3063240"/>
            <a:ext cx="1444752" cy="338328"/>
          </a:xfrm>
          <a:prstGeom prst="rect">
            <a:avLst/>
          </a:prstGeom>
          <a:solidFill>
            <a:srgbClr val="FFFFFF"/>
          </a:solidFill>
          <a:ln w="9525">
            <a:solidFill>
              <a:srgbClr val="D3D8DF"/>
            </a:solidFill>
            <a:prstDash val="solid"/>
          </a:ln>
        </p:spPr>
        <p:txBody>
          <a:bodyPr/>
          <a:lstStyle/>
          <a:p>
            <a:endParaRPr lang="en-US"/>
          </a:p>
        </p:txBody>
      </p:sp>
      <p:sp>
        <p:nvSpPr>
          <p:cNvPr id="21" name="Text 19"/>
          <p:cNvSpPr txBox="1"/>
          <p:nvPr/>
        </p:nvSpPr>
        <p:spPr>
          <a:xfrm>
            <a:off x="713232" y="3063240"/>
            <a:ext cx="1444752" cy="338328"/>
          </a:xfrm>
          <a:prstGeom prst="rect">
            <a:avLst/>
          </a:prstGeom>
          <a:noFill/>
          <a:ln/>
        </p:spPr>
        <p:txBody>
          <a:bodyPr wrap="square" lIns="0" tIns="0" rIns="0" bIns="0" rtlCol="0" anchor="ctr"/>
          <a:lstStyle/>
          <a:p>
            <a:pPr marL="0" indent="0" algn="ctr">
              <a:buNone/>
            </a:pPr>
            <a:r>
              <a:rPr lang="en-US" sz="1000" dirty="0">
                <a:solidFill>
                  <a:srgbClr val="1C2330"/>
                </a:solidFill>
                <a:latin typeface="Calibri" pitchFamily="34" charset="0"/>
                <a:ea typeface="Calibri" pitchFamily="34" charset="-122"/>
                <a:cs typeface="Calibri" pitchFamily="34" charset="-120"/>
              </a:rPr>
              <a:t>Payments (PPX)</a:t>
            </a:r>
            <a:endParaRPr lang="en-US" sz="1000" dirty="0"/>
          </a:p>
        </p:txBody>
      </p:sp>
      <p:sp>
        <p:nvSpPr>
          <p:cNvPr id="22" name="Shape 20"/>
          <p:cNvSpPr/>
          <p:nvPr/>
        </p:nvSpPr>
        <p:spPr>
          <a:xfrm>
            <a:off x="713232" y="3474720"/>
            <a:ext cx="1444752" cy="338328"/>
          </a:xfrm>
          <a:prstGeom prst="rect">
            <a:avLst/>
          </a:prstGeom>
          <a:solidFill>
            <a:srgbClr val="FFFFFF"/>
          </a:solidFill>
          <a:ln w="9525">
            <a:solidFill>
              <a:srgbClr val="D3D8DF"/>
            </a:solidFill>
            <a:prstDash val="solid"/>
          </a:ln>
        </p:spPr>
        <p:txBody>
          <a:bodyPr/>
          <a:lstStyle/>
          <a:p>
            <a:endParaRPr lang="en-US"/>
          </a:p>
        </p:txBody>
      </p:sp>
      <p:sp>
        <p:nvSpPr>
          <p:cNvPr id="23" name="Text 21"/>
          <p:cNvSpPr txBox="1"/>
          <p:nvPr/>
        </p:nvSpPr>
        <p:spPr>
          <a:xfrm>
            <a:off x="713232" y="3474720"/>
            <a:ext cx="1444752" cy="338328"/>
          </a:xfrm>
          <a:prstGeom prst="rect">
            <a:avLst/>
          </a:prstGeom>
          <a:noFill/>
          <a:ln/>
        </p:spPr>
        <p:txBody>
          <a:bodyPr wrap="square" lIns="0" tIns="0" rIns="0" bIns="0" rtlCol="0" anchor="ctr"/>
          <a:lstStyle/>
          <a:p>
            <a:pPr marL="0" indent="0" algn="ctr">
              <a:buNone/>
            </a:pPr>
            <a:r>
              <a:rPr lang="en-US" sz="1000" dirty="0">
                <a:solidFill>
                  <a:srgbClr val="1C2330"/>
                </a:solidFill>
                <a:latin typeface="Calibri" pitchFamily="34" charset="0"/>
                <a:ea typeface="Calibri" pitchFamily="34" charset="-122"/>
                <a:cs typeface="Calibri" pitchFamily="34" charset="-120"/>
              </a:rPr>
              <a:t>CIAM</a:t>
            </a:r>
            <a:endParaRPr lang="en-US" sz="1000" dirty="0"/>
          </a:p>
        </p:txBody>
      </p:sp>
      <p:sp>
        <p:nvSpPr>
          <p:cNvPr id="24" name="Shape 22"/>
          <p:cNvSpPr/>
          <p:nvPr/>
        </p:nvSpPr>
        <p:spPr>
          <a:xfrm>
            <a:off x="713232" y="3886200"/>
            <a:ext cx="1444752" cy="338328"/>
          </a:xfrm>
          <a:prstGeom prst="rect">
            <a:avLst/>
          </a:prstGeom>
          <a:solidFill>
            <a:srgbClr val="FFFFFF"/>
          </a:solidFill>
          <a:ln w="9525">
            <a:solidFill>
              <a:srgbClr val="D3D8DF"/>
            </a:solidFill>
            <a:prstDash val="solid"/>
          </a:ln>
        </p:spPr>
        <p:txBody>
          <a:bodyPr/>
          <a:lstStyle/>
          <a:p>
            <a:endParaRPr lang="en-US"/>
          </a:p>
        </p:txBody>
      </p:sp>
      <p:sp>
        <p:nvSpPr>
          <p:cNvPr id="25" name="Text 23"/>
          <p:cNvSpPr txBox="1"/>
          <p:nvPr/>
        </p:nvSpPr>
        <p:spPr>
          <a:xfrm>
            <a:off x="713232" y="3886200"/>
            <a:ext cx="1444752" cy="338328"/>
          </a:xfrm>
          <a:prstGeom prst="rect">
            <a:avLst/>
          </a:prstGeom>
          <a:noFill/>
          <a:ln/>
        </p:spPr>
        <p:txBody>
          <a:bodyPr wrap="square" lIns="0" tIns="0" rIns="0" bIns="0" rtlCol="0" anchor="ctr"/>
          <a:lstStyle/>
          <a:p>
            <a:pPr marL="0" indent="0" algn="ctr">
              <a:buNone/>
            </a:pPr>
            <a:r>
              <a:rPr lang="en-US" sz="1000" dirty="0">
                <a:solidFill>
                  <a:srgbClr val="1C2330"/>
                </a:solidFill>
                <a:latin typeface="Calibri" pitchFamily="34" charset="0"/>
                <a:ea typeface="Calibri" pitchFamily="34" charset="-122"/>
                <a:cs typeface="Calibri" pitchFamily="34" charset="-120"/>
              </a:rPr>
              <a:t>Sales Connect / EDE</a:t>
            </a:r>
            <a:endParaRPr lang="en-US" sz="1000" dirty="0"/>
          </a:p>
        </p:txBody>
      </p:sp>
      <p:sp>
        <p:nvSpPr>
          <p:cNvPr id="26" name="Shape 24"/>
          <p:cNvSpPr/>
          <p:nvPr/>
        </p:nvSpPr>
        <p:spPr>
          <a:xfrm>
            <a:off x="713232" y="4297680"/>
            <a:ext cx="1444752" cy="338328"/>
          </a:xfrm>
          <a:prstGeom prst="rect">
            <a:avLst/>
          </a:prstGeom>
          <a:solidFill>
            <a:srgbClr val="FFFFFF"/>
          </a:solidFill>
          <a:ln w="9525">
            <a:solidFill>
              <a:srgbClr val="D3D8DF"/>
            </a:solidFill>
            <a:prstDash val="solid"/>
          </a:ln>
        </p:spPr>
        <p:txBody>
          <a:bodyPr/>
          <a:lstStyle/>
          <a:p>
            <a:endParaRPr lang="en-US"/>
          </a:p>
        </p:txBody>
      </p:sp>
      <p:sp>
        <p:nvSpPr>
          <p:cNvPr id="27" name="Text 25"/>
          <p:cNvSpPr txBox="1"/>
          <p:nvPr/>
        </p:nvSpPr>
        <p:spPr>
          <a:xfrm>
            <a:off x="713232" y="4297680"/>
            <a:ext cx="1444752" cy="338328"/>
          </a:xfrm>
          <a:prstGeom prst="rect">
            <a:avLst/>
          </a:prstGeom>
          <a:noFill/>
          <a:ln/>
        </p:spPr>
        <p:txBody>
          <a:bodyPr wrap="square" lIns="0" tIns="0" rIns="0" bIns="0" rtlCol="0" anchor="ctr"/>
          <a:lstStyle/>
          <a:p>
            <a:pPr marL="0" indent="0" algn="ctr">
              <a:buNone/>
            </a:pPr>
            <a:r>
              <a:rPr lang="en-US" sz="1000" dirty="0">
                <a:solidFill>
                  <a:srgbClr val="5A6272"/>
                </a:solidFill>
                <a:latin typeface="Calibri" pitchFamily="34" charset="0"/>
                <a:ea typeface="Calibri" pitchFamily="34" charset="-122"/>
                <a:cs typeface="Calibri" pitchFamily="34" charset="-120"/>
              </a:rPr>
              <a:t>+ 30 more</a:t>
            </a:r>
            <a:endParaRPr lang="en-US" sz="1000" dirty="0"/>
          </a:p>
        </p:txBody>
      </p:sp>
      <p:sp>
        <p:nvSpPr>
          <p:cNvPr id="28" name="Text 26"/>
          <p:cNvSpPr txBox="1"/>
          <p:nvPr/>
        </p:nvSpPr>
        <p:spPr>
          <a:xfrm>
            <a:off x="2514600" y="1417320"/>
            <a:ext cx="1920240" cy="237744"/>
          </a:xfrm>
          <a:prstGeom prst="rect">
            <a:avLst/>
          </a:prstGeom>
          <a:noFill/>
          <a:ln/>
        </p:spPr>
        <p:txBody>
          <a:bodyPr wrap="square" lIns="0" tIns="0" rIns="0" bIns="0" rtlCol="0" anchor="t"/>
          <a:lstStyle/>
          <a:p>
            <a:pPr marL="0" indent="0">
              <a:buNone/>
            </a:pPr>
            <a:r>
              <a:rPr lang="en-US" sz="850" b="1" kern="0" spc="300" dirty="0">
                <a:solidFill>
                  <a:srgbClr val="E4572E"/>
                </a:solidFill>
                <a:latin typeface="Calibri" pitchFamily="34" charset="0"/>
                <a:ea typeface="Calibri" pitchFamily="34" charset="-122"/>
                <a:cs typeface="Calibri" pitchFamily="34" charset="-120"/>
              </a:rPr>
              <a:t>INTEGRATION TYPE</a:t>
            </a:r>
            <a:endParaRPr lang="en-US" sz="850" dirty="0"/>
          </a:p>
        </p:txBody>
      </p:sp>
      <p:sp>
        <p:nvSpPr>
          <p:cNvPr id="29" name="Shape 27"/>
          <p:cNvSpPr/>
          <p:nvPr/>
        </p:nvSpPr>
        <p:spPr>
          <a:xfrm>
            <a:off x="2514600" y="1709928"/>
            <a:ext cx="1920240" cy="731520"/>
          </a:xfrm>
          <a:prstGeom prst="rect">
            <a:avLst/>
          </a:prstGeom>
          <a:solidFill>
            <a:srgbClr val="1E4FC0"/>
          </a:solidFill>
          <a:ln/>
        </p:spPr>
        <p:txBody>
          <a:bodyPr/>
          <a:lstStyle/>
          <a:p>
            <a:endParaRPr lang="en-US"/>
          </a:p>
        </p:txBody>
      </p:sp>
      <p:sp>
        <p:nvSpPr>
          <p:cNvPr id="30" name="Text 28"/>
          <p:cNvSpPr txBox="1"/>
          <p:nvPr/>
        </p:nvSpPr>
        <p:spPr>
          <a:xfrm>
            <a:off x="2624328" y="1801368"/>
            <a:ext cx="1700784" cy="566928"/>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On-demand UI</a:t>
            </a:r>
            <a:endParaRPr lang="en-US" sz="1300" dirty="0"/>
          </a:p>
          <a:p>
            <a:pPr marL="0" indent="0">
              <a:buNone/>
            </a:pPr>
            <a:r>
              <a:rPr lang="en-US" sz="1000" dirty="0">
                <a:solidFill>
                  <a:srgbClr val="DCE6FA"/>
                </a:solidFill>
                <a:latin typeface="Calibri" pitchFamily="34" charset="0"/>
                <a:ea typeface="Calibri" pitchFamily="34" charset="-122"/>
                <a:cs typeface="Calibri" pitchFamily="34" charset="-120"/>
              </a:rPr>
              <a:t>Users build letters inside the app</a:t>
            </a:r>
            <a:endParaRPr lang="en-US" sz="1300" dirty="0"/>
          </a:p>
        </p:txBody>
      </p:sp>
      <p:sp>
        <p:nvSpPr>
          <p:cNvPr id="31" name="Shape 29"/>
          <p:cNvSpPr/>
          <p:nvPr/>
        </p:nvSpPr>
        <p:spPr>
          <a:xfrm>
            <a:off x="2286000" y="2075688"/>
            <a:ext cx="228600" cy="0"/>
          </a:xfrm>
          <a:prstGeom prst="line">
            <a:avLst/>
          </a:prstGeom>
          <a:noFill/>
          <a:ln w="19050">
            <a:solidFill>
              <a:srgbClr val="5A6272"/>
            </a:solidFill>
            <a:prstDash val="solid"/>
            <a:tailEnd type="triangle"/>
          </a:ln>
        </p:spPr>
        <p:txBody>
          <a:bodyPr/>
          <a:lstStyle/>
          <a:p>
            <a:endParaRPr lang="en-US"/>
          </a:p>
        </p:txBody>
      </p:sp>
      <p:sp>
        <p:nvSpPr>
          <p:cNvPr id="32" name="Shape 30"/>
          <p:cNvSpPr/>
          <p:nvPr/>
        </p:nvSpPr>
        <p:spPr>
          <a:xfrm>
            <a:off x="2514600" y="2551176"/>
            <a:ext cx="1920240" cy="731520"/>
          </a:xfrm>
          <a:prstGeom prst="rect">
            <a:avLst/>
          </a:prstGeom>
          <a:solidFill>
            <a:srgbClr val="1E4FC0"/>
          </a:solidFill>
          <a:ln/>
        </p:spPr>
        <p:txBody>
          <a:bodyPr/>
          <a:lstStyle/>
          <a:p>
            <a:endParaRPr lang="en-US"/>
          </a:p>
        </p:txBody>
      </p:sp>
      <p:sp>
        <p:nvSpPr>
          <p:cNvPr id="33" name="Text 31"/>
          <p:cNvSpPr txBox="1"/>
          <p:nvPr/>
        </p:nvSpPr>
        <p:spPr>
          <a:xfrm>
            <a:off x="2624328" y="2642616"/>
            <a:ext cx="1700784" cy="566928"/>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CCM API</a:t>
            </a:r>
            <a:endParaRPr lang="en-US" sz="1300" dirty="0"/>
          </a:p>
          <a:p>
            <a:pPr marL="0" indent="0">
              <a:buNone/>
            </a:pPr>
            <a:r>
              <a:rPr lang="en-US" sz="1000" dirty="0">
                <a:solidFill>
                  <a:srgbClr val="DCE6FA"/>
                </a:solidFill>
                <a:latin typeface="Calibri" pitchFamily="34" charset="0"/>
                <a:ea typeface="Calibri" pitchFamily="34" charset="-122"/>
                <a:cs typeface="Calibri" pitchFamily="34" charset="-120"/>
              </a:rPr>
              <a:t>Real-time REST</a:t>
            </a:r>
            <a:endParaRPr lang="en-US" sz="1300" dirty="0"/>
          </a:p>
        </p:txBody>
      </p:sp>
      <p:sp>
        <p:nvSpPr>
          <p:cNvPr id="34" name="Shape 32"/>
          <p:cNvSpPr/>
          <p:nvPr/>
        </p:nvSpPr>
        <p:spPr>
          <a:xfrm>
            <a:off x="2286000" y="2916936"/>
            <a:ext cx="228600" cy="0"/>
          </a:xfrm>
          <a:prstGeom prst="line">
            <a:avLst/>
          </a:prstGeom>
          <a:noFill/>
          <a:ln w="19050">
            <a:solidFill>
              <a:srgbClr val="5A6272"/>
            </a:solidFill>
            <a:prstDash val="solid"/>
            <a:tailEnd type="triangle"/>
          </a:ln>
        </p:spPr>
        <p:txBody>
          <a:bodyPr/>
          <a:lstStyle/>
          <a:p>
            <a:endParaRPr lang="en-US"/>
          </a:p>
        </p:txBody>
      </p:sp>
      <p:sp>
        <p:nvSpPr>
          <p:cNvPr id="35" name="Shape 33"/>
          <p:cNvSpPr/>
          <p:nvPr/>
        </p:nvSpPr>
        <p:spPr>
          <a:xfrm>
            <a:off x="2514600" y="3392424"/>
            <a:ext cx="1920240" cy="731520"/>
          </a:xfrm>
          <a:prstGeom prst="rect">
            <a:avLst/>
          </a:prstGeom>
          <a:solidFill>
            <a:srgbClr val="1E4FC0"/>
          </a:solidFill>
          <a:ln/>
        </p:spPr>
        <p:txBody>
          <a:bodyPr/>
          <a:lstStyle/>
          <a:p>
            <a:endParaRPr lang="en-US"/>
          </a:p>
        </p:txBody>
      </p:sp>
      <p:sp>
        <p:nvSpPr>
          <p:cNvPr id="36" name="Text 34"/>
          <p:cNvSpPr txBox="1"/>
          <p:nvPr/>
        </p:nvSpPr>
        <p:spPr>
          <a:xfrm>
            <a:off x="2624328" y="3483864"/>
            <a:ext cx="1700784" cy="566928"/>
          </a:xfrm>
          <a:prstGeom prst="rect">
            <a:avLst/>
          </a:prstGeom>
          <a:noFill/>
          <a:ln/>
        </p:spPr>
        <p:txBody>
          <a:bodyPr wrap="square" lIns="0" tIns="0" rIns="0" bIns="0" rtlCol="0" anchor="t"/>
          <a:lstStyle/>
          <a:p>
            <a:pPr marL="0" indent="0">
              <a:buNone/>
            </a:pPr>
            <a:r>
              <a:rPr lang="en-US" sz="1300" b="1" dirty="0">
                <a:solidFill>
                  <a:srgbClr val="FFFFFF"/>
                </a:solidFill>
                <a:latin typeface="Calibri" pitchFamily="34" charset="0"/>
                <a:ea typeface="Calibri" pitchFamily="34" charset="-122"/>
                <a:cs typeface="Calibri" pitchFamily="34" charset="-120"/>
              </a:rPr>
              <a:t>Preprocessor</a:t>
            </a:r>
            <a:endParaRPr lang="en-US" sz="1300" dirty="0"/>
          </a:p>
          <a:p>
            <a:pPr marL="0" indent="0">
              <a:buNone/>
            </a:pPr>
            <a:r>
              <a:rPr lang="en-US" sz="1000" dirty="0">
                <a:solidFill>
                  <a:srgbClr val="DCE6FA"/>
                </a:solidFill>
                <a:latin typeface="Calibri" pitchFamily="34" charset="0"/>
                <a:ea typeface="Calibri" pitchFamily="34" charset="-122"/>
                <a:cs typeface="Calibri" pitchFamily="34" charset="-120"/>
              </a:rPr>
              <a:t>Scheduled batch files, Scala, Control-M</a:t>
            </a:r>
            <a:endParaRPr lang="en-US" sz="1300" dirty="0"/>
          </a:p>
        </p:txBody>
      </p:sp>
      <p:sp>
        <p:nvSpPr>
          <p:cNvPr id="37" name="Shape 35"/>
          <p:cNvSpPr/>
          <p:nvPr/>
        </p:nvSpPr>
        <p:spPr>
          <a:xfrm>
            <a:off x="2286000" y="3758184"/>
            <a:ext cx="228600" cy="0"/>
          </a:xfrm>
          <a:prstGeom prst="line">
            <a:avLst/>
          </a:prstGeom>
          <a:noFill/>
          <a:ln w="19050">
            <a:solidFill>
              <a:srgbClr val="5A6272"/>
            </a:solidFill>
            <a:prstDash val="solid"/>
            <a:tailEnd type="triangle"/>
          </a:ln>
        </p:spPr>
        <p:txBody>
          <a:bodyPr/>
          <a:lstStyle/>
          <a:p>
            <a:endParaRPr lang="en-US"/>
          </a:p>
        </p:txBody>
      </p:sp>
      <p:sp>
        <p:nvSpPr>
          <p:cNvPr id="38" name="Shape 36"/>
          <p:cNvSpPr/>
          <p:nvPr/>
        </p:nvSpPr>
        <p:spPr>
          <a:xfrm>
            <a:off x="2514600" y="4251960"/>
            <a:ext cx="1920240" cy="548640"/>
          </a:xfrm>
          <a:prstGeom prst="rect">
            <a:avLst/>
          </a:prstGeom>
          <a:solidFill>
            <a:srgbClr val="FFFFFF"/>
          </a:solidFill>
          <a:ln w="12700">
            <a:solidFill>
              <a:srgbClr val="1E4FC0"/>
            </a:solidFill>
            <a:prstDash val="dash"/>
          </a:ln>
        </p:spPr>
        <p:txBody>
          <a:bodyPr/>
          <a:lstStyle/>
          <a:p>
            <a:endParaRPr lang="en-US"/>
          </a:p>
        </p:txBody>
      </p:sp>
      <p:sp>
        <p:nvSpPr>
          <p:cNvPr id="39" name="Text 37"/>
          <p:cNvSpPr txBox="1"/>
          <p:nvPr/>
        </p:nvSpPr>
        <p:spPr>
          <a:xfrm>
            <a:off x="2514600" y="4251960"/>
            <a:ext cx="1920240" cy="548640"/>
          </a:xfrm>
          <a:prstGeom prst="rect">
            <a:avLst/>
          </a:prstGeom>
          <a:noFill/>
          <a:ln/>
        </p:spPr>
        <p:txBody>
          <a:bodyPr wrap="square" lIns="0" tIns="0" rIns="0" bIns="0" rtlCol="0" anchor="ctr"/>
          <a:lstStyle/>
          <a:p>
            <a:pPr marL="0" indent="0" algn="ctr">
              <a:buNone/>
            </a:pPr>
            <a:r>
              <a:rPr lang="en-US" sz="1050" b="1" dirty="0">
                <a:solidFill>
                  <a:srgbClr val="1C2330"/>
                </a:solidFill>
                <a:latin typeface="Calibri" pitchFamily="34" charset="0"/>
                <a:ea typeface="Calibri" pitchFamily="34" charset="-122"/>
                <a:cs typeface="Calibri" pitchFamily="34" charset="-120"/>
              </a:rPr>
              <a:t>Enrich </a:t>
            </a:r>
            <a:r>
              <a:rPr lang="en-US" sz="1050" dirty="0">
                <a:solidFill>
                  <a:srgbClr val="1C2330"/>
                </a:solidFill>
                <a:latin typeface="Calibri" pitchFamily="34" charset="0"/>
                <a:ea typeface="Calibri" pitchFamily="34" charset="-122"/>
                <a:cs typeface="Calibri" pitchFamily="34" charset="-120"/>
              </a:rPr>
              <a:t>P360 · GWDP · CIP</a:t>
            </a:r>
            <a:endParaRPr lang="en-US" sz="1050" dirty="0"/>
          </a:p>
        </p:txBody>
      </p:sp>
      <p:sp>
        <p:nvSpPr>
          <p:cNvPr id="40" name="Shape 38"/>
          <p:cNvSpPr/>
          <p:nvPr/>
        </p:nvSpPr>
        <p:spPr>
          <a:xfrm>
            <a:off x="4645152" y="1709928"/>
            <a:ext cx="384048" cy="3090672"/>
          </a:xfrm>
          <a:prstGeom prst="rect">
            <a:avLst/>
          </a:prstGeom>
          <a:solidFill>
            <a:srgbClr val="D9DEE6"/>
          </a:solidFill>
          <a:ln/>
        </p:spPr>
        <p:txBody>
          <a:bodyPr/>
          <a:lstStyle/>
          <a:p>
            <a:endParaRPr lang="en-US"/>
          </a:p>
        </p:txBody>
      </p:sp>
      <p:sp>
        <p:nvSpPr>
          <p:cNvPr id="41" name="Text 39"/>
          <p:cNvSpPr txBox="1"/>
          <p:nvPr/>
        </p:nvSpPr>
        <p:spPr>
          <a:xfrm rot="16200000">
            <a:off x="3977640" y="2377440"/>
            <a:ext cx="1719072" cy="384048"/>
          </a:xfrm>
          <a:prstGeom prst="rect">
            <a:avLst/>
          </a:prstGeom>
          <a:noFill/>
          <a:ln/>
        </p:spPr>
        <p:txBody>
          <a:bodyPr wrap="square" lIns="0" tIns="0" rIns="0" bIns="0" rtlCol="0" anchor="ctr"/>
          <a:lstStyle/>
          <a:p>
            <a:pPr marL="0" indent="0" algn="ctr">
              <a:buNone/>
            </a:pPr>
            <a:r>
              <a:rPr lang="en-US" sz="950" b="1" kern="0" spc="200" dirty="0">
                <a:solidFill>
                  <a:srgbClr val="1C2330"/>
                </a:solidFill>
                <a:latin typeface="Calibri" pitchFamily="34" charset="0"/>
                <a:ea typeface="Calibri" pitchFamily="34" charset="-122"/>
                <a:cs typeface="Calibri" pitchFamily="34" charset="-120"/>
              </a:rPr>
              <a:t>DATAPOWER GATEWAY</a:t>
            </a:r>
            <a:endParaRPr lang="en-US" sz="950" dirty="0"/>
          </a:p>
        </p:txBody>
      </p:sp>
      <p:sp>
        <p:nvSpPr>
          <p:cNvPr id="42" name="Shape 40"/>
          <p:cNvSpPr/>
          <p:nvPr/>
        </p:nvSpPr>
        <p:spPr>
          <a:xfrm>
            <a:off x="4434840" y="2075688"/>
            <a:ext cx="210312" cy="0"/>
          </a:xfrm>
          <a:prstGeom prst="line">
            <a:avLst/>
          </a:prstGeom>
          <a:noFill/>
          <a:ln w="19050">
            <a:solidFill>
              <a:srgbClr val="5A6272"/>
            </a:solidFill>
            <a:prstDash val="solid"/>
            <a:tailEnd type="triangle"/>
          </a:ln>
        </p:spPr>
        <p:txBody>
          <a:bodyPr/>
          <a:lstStyle/>
          <a:p>
            <a:endParaRPr lang="en-US"/>
          </a:p>
        </p:txBody>
      </p:sp>
      <p:sp>
        <p:nvSpPr>
          <p:cNvPr id="43" name="Shape 41"/>
          <p:cNvSpPr/>
          <p:nvPr/>
        </p:nvSpPr>
        <p:spPr>
          <a:xfrm>
            <a:off x="4434840" y="2916936"/>
            <a:ext cx="210312" cy="0"/>
          </a:xfrm>
          <a:prstGeom prst="line">
            <a:avLst/>
          </a:prstGeom>
          <a:noFill/>
          <a:ln w="19050">
            <a:solidFill>
              <a:srgbClr val="5A6272"/>
            </a:solidFill>
            <a:prstDash val="solid"/>
            <a:tailEnd type="triangle"/>
          </a:ln>
        </p:spPr>
        <p:txBody>
          <a:bodyPr/>
          <a:lstStyle/>
          <a:p>
            <a:endParaRPr lang="en-US"/>
          </a:p>
        </p:txBody>
      </p:sp>
      <p:sp>
        <p:nvSpPr>
          <p:cNvPr id="44" name="Shape 42"/>
          <p:cNvSpPr/>
          <p:nvPr/>
        </p:nvSpPr>
        <p:spPr>
          <a:xfrm>
            <a:off x="4434840" y="3758184"/>
            <a:ext cx="210312" cy="0"/>
          </a:xfrm>
          <a:prstGeom prst="line">
            <a:avLst/>
          </a:prstGeom>
          <a:noFill/>
          <a:ln w="19050">
            <a:solidFill>
              <a:srgbClr val="5A6272"/>
            </a:solidFill>
            <a:prstDash val="solid"/>
            <a:tailEnd type="triangle"/>
          </a:ln>
        </p:spPr>
        <p:txBody>
          <a:bodyPr/>
          <a:lstStyle/>
          <a:p>
            <a:endParaRPr lang="en-US"/>
          </a:p>
        </p:txBody>
      </p:sp>
      <p:sp>
        <p:nvSpPr>
          <p:cNvPr id="45" name="Shape 43"/>
          <p:cNvSpPr/>
          <p:nvPr/>
        </p:nvSpPr>
        <p:spPr>
          <a:xfrm>
            <a:off x="5257800" y="1417320"/>
            <a:ext cx="2331720" cy="3383280"/>
          </a:xfrm>
          <a:prstGeom prst="rect">
            <a:avLst/>
          </a:prstGeom>
          <a:solidFill>
            <a:srgbClr val="0E1A33"/>
          </a:solidFill>
          <a:ln/>
        </p:spPr>
        <p:txBody>
          <a:bodyPr/>
          <a:lstStyle/>
          <a:p>
            <a:endParaRPr lang="en-US"/>
          </a:p>
        </p:txBody>
      </p:sp>
      <p:sp>
        <p:nvSpPr>
          <p:cNvPr id="46" name="Text 44"/>
          <p:cNvSpPr txBox="1"/>
          <p:nvPr/>
        </p:nvSpPr>
        <p:spPr>
          <a:xfrm>
            <a:off x="5394960" y="1527048"/>
            <a:ext cx="2057400" cy="32004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Quadient Inspire R15</a:t>
            </a:r>
            <a:endParaRPr lang="en-US" sz="1400" dirty="0"/>
          </a:p>
        </p:txBody>
      </p:sp>
      <p:sp>
        <p:nvSpPr>
          <p:cNvPr id="47" name="Shape 45"/>
          <p:cNvSpPr/>
          <p:nvPr/>
        </p:nvSpPr>
        <p:spPr>
          <a:xfrm>
            <a:off x="5394960" y="1965960"/>
            <a:ext cx="2057400" cy="1280160"/>
          </a:xfrm>
          <a:prstGeom prst="rect">
            <a:avLst/>
          </a:prstGeom>
          <a:solidFill>
            <a:srgbClr val="1E2B4A"/>
          </a:solidFill>
          <a:ln/>
        </p:spPr>
        <p:txBody>
          <a:bodyPr/>
          <a:lstStyle/>
          <a:p>
            <a:endParaRPr lang="en-US"/>
          </a:p>
        </p:txBody>
      </p:sp>
      <p:sp>
        <p:nvSpPr>
          <p:cNvPr id="48" name="Text 46"/>
          <p:cNvSpPr txBox="1"/>
          <p:nvPr/>
        </p:nvSpPr>
        <p:spPr>
          <a:xfrm>
            <a:off x="5513832" y="2057400"/>
            <a:ext cx="1819656" cy="1097280"/>
          </a:xfrm>
          <a:prstGeom prst="rect">
            <a:avLst/>
          </a:prstGeom>
          <a:noFill/>
          <a:ln/>
        </p:spPr>
        <p:txBody>
          <a:bodyPr wrap="square" lIns="0" tIns="0" rIns="0" bIns="0" rtlCol="0" anchor="t"/>
          <a:lstStyle/>
          <a:p>
            <a:pPr marL="0" indent="0">
              <a:buNone/>
            </a:pPr>
            <a:r>
              <a:rPr lang="en-US" sz="1050" b="1" dirty="0">
                <a:solidFill>
                  <a:srgbClr val="E8C547"/>
                </a:solidFill>
                <a:latin typeface="Calibri" pitchFamily="34" charset="0"/>
                <a:ea typeface="Calibri" pitchFamily="34" charset="-122"/>
                <a:cs typeface="Calibri" pitchFamily="34" charset="-120"/>
              </a:rPr>
              <a:t>Design</a:t>
            </a:r>
            <a:endParaRPr lang="en-US" sz="1050" dirty="0"/>
          </a:p>
          <a:p>
            <a:pPr marL="0" indent="0">
              <a:buNone/>
            </a:pPr>
            <a:r>
              <a:rPr lang="en-US" sz="1050" dirty="0">
                <a:solidFill>
                  <a:srgbClr val="D5DEEE"/>
                </a:solidFill>
                <a:latin typeface="Calibri" pitchFamily="34" charset="0"/>
                <a:ea typeface="Calibri" pitchFamily="34" charset="-122"/>
                <a:cs typeface="Calibri" pitchFamily="34" charset="-120"/>
              </a:rPr>
              <a:t>Designer: template design · Interactive: authoring and approval</a:t>
            </a:r>
            <a:endParaRPr lang="en-US" sz="1050" dirty="0"/>
          </a:p>
        </p:txBody>
      </p:sp>
      <p:sp>
        <p:nvSpPr>
          <p:cNvPr id="49" name="Shape 47"/>
          <p:cNvSpPr/>
          <p:nvPr/>
        </p:nvSpPr>
        <p:spPr>
          <a:xfrm>
            <a:off x="5394960" y="3383280"/>
            <a:ext cx="2057400" cy="1280160"/>
          </a:xfrm>
          <a:prstGeom prst="rect">
            <a:avLst/>
          </a:prstGeom>
          <a:solidFill>
            <a:srgbClr val="1E2B4A"/>
          </a:solidFill>
          <a:ln/>
        </p:spPr>
        <p:txBody>
          <a:bodyPr/>
          <a:lstStyle/>
          <a:p>
            <a:endParaRPr lang="en-US"/>
          </a:p>
        </p:txBody>
      </p:sp>
      <p:sp>
        <p:nvSpPr>
          <p:cNvPr id="50" name="Text 48"/>
          <p:cNvSpPr txBox="1"/>
          <p:nvPr/>
        </p:nvSpPr>
        <p:spPr>
          <a:xfrm>
            <a:off x="5513832" y="3474720"/>
            <a:ext cx="1819656" cy="1097280"/>
          </a:xfrm>
          <a:prstGeom prst="rect">
            <a:avLst/>
          </a:prstGeom>
          <a:noFill/>
          <a:ln/>
        </p:spPr>
        <p:txBody>
          <a:bodyPr wrap="square" lIns="0" tIns="0" rIns="0" bIns="0" rtlCol="0" anchor="t"/>
          <a:lstStyle/>
          <a:p>
            <a:pPr marL="0" indent="0">
              <a:buNone/>
            </a:pPr>
            <a:r>
              <a:rPr lang="en-US" sz="1050" b="1" dirty="0">
                <a:solidFill>
                  <a:srgbClr val="E8C547"/>
                </a:solidFill>
                <a:latin typeface="Calibri" pitchFamily="34" charset="0"/>
                <a:ea typeface="Calibri" pitchFamily="34" charset="-122"/>
                <a:cs typeface="Calibri" pitchFamily="34" charset="-120"/>
              </a:rPr>
              <a:t>Production</a:t>
            </a:r>
            <a:endParaRPr lang="en-US" sz="1050" dirty="0"/>
          </a:p>
          <a:p>
            <a:pPr marL="0" indent="0">
              <a:buNone/>
            </a:pPr>
            <a:r>
              <a:rPr lang="en-US" sz="1050" dirty="0">
                <a:solidFill>
                  <a:srgbClr val="D5DEEE"/>
                </a:solidFill>
                <a:latin typeface="Calibri" pitchFamily="34" charset="0"/>
                <a:ea typeface="Calibri" pitchFamily="34" charset="-122"/>
                <a:cs typeface="Calibri" pitchFamily="34" charset="-120"/>
              </a:rPr>
              <a:t>Scaler intake · Content Manager · Production Server output</a:t>
            </a:r>
            <a:endParaRPr lang="en-US" sz="1050" dirty="0"/>
          </a:p>
        </p:txBody>
      </p:sp>
      <p:sp>
        <p:nvSpPr>
          <p:cNvPr id="51" name="Shape 49"/>
          <p:cNvSpPr/>
          <p:nvPr/>
        </p:nvSpPr>
        <p:spPr>
          <a:xfrm>
            <a:off x="5029200" y="3246120"/>
            <a:ext cx="228600" cy="0"/>
          </a:xfrm>
          <a:prstGeom prst="line">
            <a:avLst/>
          </a:prstGeom>
          <a:noFill/>
          <a:ln w="19050">
            <a:solidFill>
              <a:srgbClr val="5A6272"/>
            </a:solidFill>
            <a:prstDash val="solid"/>
            <a:tailEnd type="triangle"/>
          </a:ln>
        </p:spPr>
        <p:txBody>
          <a:bodyPr/>
          <a:lstStyle/>
          <a:p>
            <a:endParaRPr lang="en-US"/>
          </a:p>
        </p:txBody>
      </p:sp>
      <p:sp>
        <p:nvSpPr>
          <p:cNvPr id="52" name="Shape 50"/>
          <p:cNvSpPr/>
          <p:nvPr/>
        </p:nvSpPr>
        <p:spPr>
          <a:xfrm>
            <a:off x="7818120" y="1417320"/>
            <a:ext cx="2240280" cy="3383280"/>
          </a:xfrm>
          <a:prstGeom prst="rect">
            <a:avLst/>
          </a:prstGeom>
          <a:solidFill>
            <a:srgbClr val="E9EBEF"/>
          </a:solidFill>
          <a:ln/>
        </p:spPr>
        <p:txBody>
          <a:bodyPr/>
          <a:lstStyle/>
          <a:p>
            <a:endParaRPr lang="en-US"/>
          </a:p>
        </p:txBody>
      </p:sp>
      <p:sp>
        <p:nvSpPr>
          <p:cNvPr id="53" name="Shape 51"/>
          <p:cNvSpPr/>
          <p:nvPr/>
        </p:nvSpPr>
        <p:spPr>
          <a:xfrm>
            <a:off x="7818120" y="1417320"/>
            <a:ext cx="2240280" cy="54864"/>
          </a:xfrm>
          <a:prstGeom prst="rect">
            <a:avLst/>
          </a:prstGeom>
          <a:solidFill>
            <a:srgbClr val="2F8F57"/>
          </a:solidFill>
          <a:ln/>
        </p:spPr>
        <p:txBody>
          <a:bodyPr/>
          <a:lstStyle/>
          <a:p>
            <a:endParaRPr lang="en-US"/>
          </a:p>
        </p:txBody>
      </p:sp>
      <p:sp>
        <p:nvSpPr>
          <p:cNvPr id="54" name="Shape 52"/>
          <p:cNvSpPr/>
          <p:nvPr/>
        </p:nvSpPr>
        <p:spPr>
          <a:xfrm>
            <a:off x="7818120" y="1417320"/>
            <a:ext cx="54864" cy="3383280"/>
          </a:xfrm>
          <a:prstGeom prst="rect">
            <a:avLst/>
          </a:prstGeom>
          <a:solidFill>
            <a:srgbClr val="2F8F57"/>
          </a:solidFill>
          <a:ln/>
        </p:spPr>
        <p:txBody>
          <a:bodyPr/>
          <a:lstStyle/>
          <a:p>
            <a:endParaRPr lang="en-US"/>
          </a:p>
        </p:txBody>
      </p:sp>
      <p:sp>
        <p:nvSpPr>
          <p:cNvPr id="55" name="Text 53"/>
          <p:cNvSpPr txBox="1"/>
          <p:nvPr/>
        </p:nvSpPr>
        <p:spPr>
          <a:xfrm>
            <a:off x="8001000" y="1536192"/>
            <a:ext cx="1965960" cy="237744"/>
          </a:xfrm>
          <a:prstGeom prst="rect">
            <a:avLst/>
          </a:prstGeom>
          <a:noFill/>
          <a:ln/>
        </p:spPr>
        <p:txBody>
          <a:bodyPr wrap="square" lIns="0" tIns="0" rIns="0" bIns="0" rtlCol="0" anchor="t"/>
          <a:lstStyle/>
          <a:p>
            <a:pPr marL="0" indent="0">
              <a:buNone/>
            </a:pPr>
            <a:r>
              <a:rPr lang="en-US" sz="850" b="1" kern="0" spc="300" dirty="0">
                <a:solidFill>
                  <a:srgbClr val="2F8F57"/>
                </a:solidFill>
                <a:latin typeface="Calibri" pitchFamily="34" charset="0"/>
                <a:ea typeface="Calibri" pitchFamily="34" charset="-122"/>
                <a:cs typeface="Calibri" pitchFamily="34" charset="-120"/>
              </a:rPr>
              <a:t>CHANNELS</a:t>
            </a:r>
            <a:endParaRPr lang="en-US" sz="850" dirty="0"/>
          </a:p>
        </p:txBody>
      </p:sp>
      <p:sp>
        <p:nvSpPr>
          <p:cNvPr id="56" name="Shape 54"/>
          <p:cNvSpPr/>
          <p:nvPr/>
        </p:nvSpPr>
        <p:spPr>
          <a:xfrm>
            <a:off x="7982712" y="1828800"/>
            <a:ext cx="1938528" cy="502920"/>
          </a:xfrm>
          <a:prstGeom prst="rect">
            <a:avLst/>
          </a:prstGeom>
          <a:solidFill>
            <a:srgbClr val="FFFFFF"/>
          </a:solidFill>
          <a:ln w="9525">
            <a:solidFill>
              <a:srgbClr val="D3D8DF"/>
            </a:solidFill>
            <a:prstDash val="solid"/>
          </a:ln>
        </p:spPr>
        <p:txBody>
          <a:bodyPr/>
          <a:lstStyle/>
          <a:p>
            <a:endParaRPr lang="en-US"/>
          </a:p>
        </p:txBody>
      </p:sp>
      <p:sp>
        <p:nvSpPr>
          <p:cNvPr id="57" name="Text 55"/>
          <p:cNvSpPr txBox="1"/>
          <p:nvPr/>
        </p:nvSpPr>
        <p:spPr>
          <a:xfrm>
            <a:off x="8074152" y="1828800"/>
            <a:ext cx="1783080" cy="502920"/>
          </a:xfrm>
          <a:prstGeom prst="rect">
            <a:avLst/>
          </a:prstGeom>
          <a:noFill/>
          <a:ln/>
        </p:spPr>
        <p:txBody>
          <a:bodyPr wrap="square" lIns="0" tIns="0" rIns="0" bIns="0" rtlCol="0" anchor="ctr"/>
          <a:lstStyle/>
          <a:p>
            <a:pPr marL="0" indent="0">
              <a:buNone/>
            </a:pPr>
            <a:r>
              <a:rPr lang="en-US" sz="1050" b="1" dirty="0">
                <a:solidFill>
                  <a:srgbClr val="1C2330"/>
                </a:solidFill>
                <a:latin typeface="Calibri" pitchFamily="34" charset="0"/>
                <a:ea typeface="Calibri" pitchFamily="34" charset="-122"/>
                <a:cs typeface="Calibri" pitchFamily="34" charset="-120"/>
              </a:rPr>
              <a:t>Email  </a:t>
            </a:r>
            <a:r>
              <a:rPr lang="en-US" sz="1050" dirty="0">
                <a:solidFill>
                  <a:srgbClr val="5A6272"/>
                </a:solidFill>
                <a:latin typeface="Calibri" pitchFamily="34" charset="0"/>
                <a:ea typeface="Calibri" pitchFamily="34" charset="-122"/>
                <a:cs typeface="Calibri" pitchFamily="34" charset="-120"/>
              </a:rPr>
              <a:t>SFMC</a:t>
            </a:r>
            <a:endParaRPr lang="en-US" sz="1050" dirty="0"/>
          </a:p>
        </p:txBody>
      </p:sp>
      <p:sp>
        <p:nvSpPr>
          <p:cNvPr id="58" name="Shape 56"/>
          <p:cNvSpPr/>
          <p:nvPr/>
        </p:nvSpPr>
        <p:spPr>
          <a:xfrm>
            <a:off x="7982712" y="2404872"/>
            <a:ext cx="1938528" cy="502920"/>
          </a:xfrm>
          <a:prstGeom prst="rect">
            <a:avLst/>
          </a:prstGeom>
          <a:solidFill>
            <a:srgbClr val="FFFFFF"/>
          </a:solidFill>
          <a:ln w="9525">
            <a:solidFill>
              <a:srgbClr val="D3D8DF"/>
            </a:solidFill>
            <a:prstDash val="solid"/>
          </a:ln>
        </p:spPr>
        <p:txBody>
          <a:bodyPr/>
          <a:lstStyle/>
          <a:p>
            <a:endParaRPr lang="en-US"/>
          </a:p>
        </p:txBody>
      </p:sp>
      <p:sp>
        <p:nvSpPr>
          <p:cNvPr id="59" name="Text 57"/>
          <p:cNvSpPr txBox="1"/>
          <p:nvPr/>
        </p:nvSpPr>
        <p:spPr>
          <a:xfrm>
            <a:off x="8074152" y="2404872"/>
            <a:ext cx="1783080" cy="502920"/>
          </a:xfrm>
          <a:prstGeom prst="rect">
            <a:avLst/>
          </a:prstGeom>
          <a:noFill/>
          <a:ln/>
        </p:spPr>
        <p:txBody>
          <a:bodyPr wrap="square" lIns="0" tIns="0" rIns="0" bIns="0" rtlCol="0" anchor="ctr"/>
          <a:lstStyle/>
          <a:p>
            <a:pPr marL="0" indent="0">
              <a:buNone/>
            </a:pPr>
            <a:r>
              <a:rPr lang="en-US" sz="1050" b="1" dirty="0">
                <a:solidFill>
                  <a:srgbClr val="1C2330"/>
                </a:solidFill>
                <a:latin typeface="Calibri" pitchFamily="34" charset="0"/>
                <a:ea typeface="Calibri" pitchFamily="34" charset="-122"/>
                <a:cs typeface="Calibri" pitchFamily="34" charset="-120"/>
              </a:rPr>
              <a:t>SMS / MMS  </a:t>
            </a:r>
            <a:r>
              <a:rPr lang="en-US" sz="1050" dirty="0">
                <a:solidFill>
                  <a:srgbClr val="5A6272"/>
                </a:solidFill>
                <a:latin typeface="Calibri" pitchFamily="34" charset="0"/>
                <a:ea typeface="Calibri" pitchFamily="34" charset="-122"/>
                <a:cs typeface="Calibri" pitchFamily="34" charset="-120"/>
              </a:rPr>
              <a:t>Twilio</a:t>
            </a:r>
            <a:endParaRPr lang="en-US" sz="1050" dirty="0"/>
          </a:p>
        </p:txBody>
      </p:sp>
      <p:sp>
        <p:nvSpPr>
          <p:cNvPr id="60" name="Shape 58"/>
          <p:cNvSpPr/>
          <p:nvPr/>
        </p:nvSpPr>
        <p:spPr>
          <a:xfrm>
            <a:off x="7982712" y="2980944"/>
            <a:ext cx="1938528" cy="502920"/>
          </a:xfrm>
          <a:prstGeom prst="rect">
            <a:avLst/>
          </a:prstGeom>
          <a:solidFill>
            <a:srgbClr val="FFFFFF"/>
          </a:solidFill>
          <a:ln w="9525">
            <a:solidFill>
              <a:srgbClr val="D3D8DF"/>
            </a:solidFill>
            <a:prstDash val="solid"/>
          </a:ln>
        </p:spPr>
        <p:txBody>
          <a:bodyPr/>
          <a:lstStyle/>
          <a:p>
            <a:endParaRPr lang="en-US"/>
          </a:p>
        </p:txBody>
      </p:sp>
      <p:sp>
        <p:nvSpPr>
          <p:cNvPr id="61" name="Text 59"/>
          <p:cNvSpPr txBox="1"/>
          <p:nvPr/>
        </p:nvSpPr>
        <p:spPr>
          <a:xfrm>
            <a:off x="8074152" y="2980944"/>
            <a:ext cx="1783080" cy="502920"/>
          </a:xfrm>
          <a:prstGeom prst="rect">
            <a:avLst/>
          </a:prstGeom>
          <a:noFill/>
          <a:ln/>
        </p:spPr>
        <p:txBody>
          <a:bodyPr wrap="square" lIns="0" tIns="0" rIns="0" bIns="0" rtlCol="0" anchor="ctr"/>
          <a:lstStyle/>
          <a:p>
            <a:pPr marL="0" indent="0">
              <a:buNone/>
            </a:pPr>
            <a:r>
              <a:rPr lang="en-US" sz="1050" b="1" dirty="0">
                <a:solidFill>
                  <a:srgbClr val="1C2330"/>
                </a:solidFill>
                <a:latin typeface="Calibri" pitchFamily="34" charset="0"/>
                <a:ea typeface="Calibri" pitchFamily="34" charset="-122"/>
                <a:cs typeface="Calibri" pitchFamily="34" charset="-120"/>
              </a:rPr>
              <a:t>Print </a:t>
            </a:r>
            <a:r>
              <a:rPr lang="en-US" sz="1050" dirty="0">
                <a:solidFill>
                  <a:srgbClr val="1C2330"/>
                </a:solidFill>
                <a:latin typeface="Calibri" pitchFamily="34" charset="0"/>
                <a:ea typeface="Calibri" pitchFamily="34" charset="-122"/>
                <a:cs typeface="Calibri" pitchFamily="34" charset="-120"/>
              </a:rPr>
              <a:t> Forge, </a:t>
            </a:r>
            <a:r>
              <a:rPr lang="en-US" sz="1050" dirty="0">
                <a:solidFill>
                  <a:srgbClr val="5A6272"/>
                </a:solidFill>
                <a:latin typeface="Calibri" pitchFamily="34" charset="0"/>
                <a:ea typeface="Calibri" pitchFamily="34" charset="-122"/>
                <a:cs typeface="Calibri" pitchFamily="34" charset="-120"/>
              </a:rPr>
              <a:t>O’Neil</a:t>
            </a:r>
            <a:endParaRPr lang="en-US" sz="1050" dirty="0"/>
          </a:p>
        </p:txBody>
      </p:sp>
      <p:sp>
        <p:nvSpPr>
          <p:cNvPr id="62" name="Shape 60"/>
          <p:cNvSpPr/>
          <p:nvPr/>
        </p:nvSpPr>
        <p:spPr>
          <a:xfrm>
            <a:off x="7982712" y="3557016"/>
            <a:ext cx="1938528" cy="502920"/>
          </a:xfrm>
          <a:prstGeom prst="rect">
            <a:avLst/>
          </a:prstGeom>
          <a:solidFill>
            <a:srgbClr val="FFFFFF"/>
          </a:solidFill>
          <a:ln w="9525">
            <a:solidFill>
              <a:srgbClr val="D3D8DF"/>
            </a:solidFill>
            <a:prstDash val="solid"/>
          </a:ln>
        </p:spPr>
        <p:txBody>
          <a:bodyPr/>
          <a:lstStyle/>
          <a:p>
            <a:endParaRPr lang="en-US"/>
          </a:p>
        </p:txBody>
      </p:sp>
      <p:sp>
        <p:nvSpPr>
          <p:cNvPr id="63" name="Text 61"/>
          <p:cNvSpPr txBox="1"/>
          <p:nvPr/>
        </p:nvSpPr>
        <p:spPr>
          <a:xfrm>
            <a:off x="8074152" y="3557016"/>
            <a:ext cx="1783080" cy="502920"/>
          </a:xfrm>
          <a:prstGeom prst="rect">
            <a:avLst/>
          </a:prstGeom>
          <a:noFill/>
          <a:ln/>
        </p:spPr>
        <p:txBody>
          <a:bodyPr wrap="square" lIns="0" tIns="0" rIns="0" bIns="0" rtlCol="0" anchor="ctr"/>
          <a:lstStyle/>
          <a:p>
            <a:pPr marL="0" indent="0">
              <a:buNone/>
            </a:pPr>
            <a:r>
              <a:rPr lang="en-US" sz="1050" b="1" dirty="0">
                <a:solidFill>
                  <a:srgbClr val="1C2330"/>
                </a:solidFill>
                <a:latin typeface="Calibri" pitchFamily="34" charset="0"/>
                <a:ea typeface="Calibri" pitchFamily="34" charset="-122"/>
                <a:cs typeface="Calibri" pitchFamily="34" charset="-120"/>
              </a:rPr>
              <a:t>Digital  </a:t>
            </a:r>
            <a:r>
              <a:rPr lang="en-US" sz="1050" dirty="0">
                <a:solidFill>
                  <a:srgbClr val="5A6272"/>
                </a:solidFill>
                <a:latin typeface="Calibri" pitchFamily="34" charset="0"/>
                <a:ea typeface="Calibri" pitchFamily="34" charset="-122"/>
                <a:cs typeface="Calibri" pitchFamily="34" charset="-120"/>
              </a:rPr>
              <a:t>Message Center</a:t>
            </a:r>
            <a:endParaRPr lang="en-US" sz="1050" dirty="0"/>
          </a:p>
        </p:txBody>
      </p:sp>
      <p:sp>
        <p:nvSpPr>
          <p:cNvPr id="64" name="Shape 62"/>
          <p:cNvSpPr/>
          <p:nvPr/>
        </p:nvSpPr>
        <p:spPr>
          <a:xfrm>
            <a:off x="7982712" y="4133088"/>
            <a:ext cx="1938528" cy="502920"/>
          </a:xfrm>
          <a:prstGeom prst="rect">
            <a:avLst/>
          </a:prstGeom>
          <a:solidFill>
            <a:srgbClr val="FFFFFF"/>
          </a:solidFill>
          <a:ln w="9525">
            <a:solidFill>
              <a:srgbClr val="D3D8DF"/>
            </a:solidFill>
            <a:prstDash val="solid"/>
          </a:ln>
        </p:spPr>
        <p:txBody>
          <a:bodyPr/>
          <a:lstStyle/>
          <a:p>
            <a:endParaRPr lang="en-US"/>
          </a:p>
        </p:txBody>
      </p:sp>
      <p:sp>
        <p:nvSpPr>
          <p:cNvPr id="65" name="Text 63"/>
          <p:cNvSpPr txBox="1"/>
          <p:nvPr/>
        </p:nvSpPr>
        <p:spPr>
          <a:xfrm>
            <a:off x="8074152" y="4133088"/>
            <a:ext cx="1783080" cy="502920"/>
          </a:xfrm>
          <a:prstGeom prst="rect">
            <a:avLst/>
          </a:prstGeom>
          <a:noFill/>
          <a:ln/>
        </p:spPr>
        <p:txBody>
          <a:bodyPr wrap="square" lIns="0" tIns="0" rIns="0" bIns="0" rtlCol="0" anchor="ctr"/>
          <a:lstStyle/>
          <a:p>
            <a:pPr marL="0" indent="0">
              <a:buNone/>
            </a:pPr>
            <a:r>
              <a:rPr lang="en-US" sz="1050" b="1" dirty="0">
                <a:solidFill>
                  <a:srgbClr val="1C2330"/>
                </a:solidFill>
                <a:latin typeface="Calibri" pitchFamily="34" charset="0"/>
                <a:ea typeface="Calibri" pitchFamily="34" charset="-122"/>
                <a:cs typeface="Calibri" pitchFamily="34" charset="-120"/>
              </a:rPr>
              <a:t>Archive  </a:t>
            </a:r>
            <a:r>
              <a:rPr lang="en-US" sz="1050" dirty="0">
                <a:solidFill>
                  <a:srgbClr val="5A6272"/>
                </a:solidFill>
                <a:latin typeface="Calibri" pitchFamily="34" charset="0"/>
                <a:ea typeface="Calibri" pitchFamily="34" charset="-122"/>
                <a:cs typeface="Calibri" pitchFamily="34" charset="-120"/>
              </a:rPr>
              <a:t>ECMS / Content Central</a:t>
            </a:r>
            <a:endParaRPr lang="en-US" sz="1050" dirty="0"/>
          </a:p>
        </p:txBody>
      </p:sp>
      <p:sp>
        <p:nvSpPr>
          <p:cNvPr id="66" name="Shape 64"/>
          <p:cNvSpPr/>
          <p:nvPr/>
        </p:nvSpPr>
        <p:spPr>
          <a:xfrm>
            <a:off x="7589520" y="3108960"/>
            <a:ext cx="228600" cy="0"/>
          </a:xfrm>
          <a:prstGeom prst="line">
            <a:avLst/>
          </a:prstGeom>
          <a:noFill/>
          <a:ln w="19050">
            <a:solidFill>
              <a:srgbClr val="5A6272"/>
            </a:solidFill>
            <a:prstDash val="solid"/>
            <a:tailEnd type="triangle"/>
          </a:ln>
        </p:spPr>
        <p:txBody>
          <a:bodyPr/>
          <a:lstStyle/>
          <a:p>
            <a:endParaRPr lang="en-US"/>
          </a:p>
        </p:txBody>
      </p:sp>
      <p:sp>
        <p:nvSpPr>
          <p:cNvPr id="67" name="Shape 65"/>
          <p:cNvSpPr/>
          <p:nvPr/>
        </p:nvSpPr>
        <p:spPr>
          <a:xfrm>
            <a:off x="10287000" y="1691640"/>
            <a:ext cx="1356055" cy="2194560"/>
          </a:xfrm>
          <a:prstGeom prst="rect">
            <a:avLst/>
          </a:prstGeom>
          <a:solidFill>
            <a:srgbClr val="FFFFFF"/>
          </a:solidFill>
          <a:ln w="9525">
            <a:solidFill>
              <a:srgbClr val="D3D8DF"/>
            </a:solidFill>
            <a:prstDash val="solid"/>
          </a:ln>
        </p:spPr>
        <p:txBody>
          <a:bodyPr/>
          <a:lstStyle/>
          <a:p>
            <a:endParaRPr lang="en-US"/>
          </a:p>
        </p:txBody>
      </p:sp>
      <p:sp>
        <p:nvSpPr>
          <p:cNvPr id="68" name="Shape 66"/>
          <p:cNvSpPr/>
          <p:nvPr/>
        </p:nvSpPr>
        <p:spPr>
          <a:xfrm>
            <a:off x="10690708" y="1920240"/>
            <a:ext cx="548640" cy="548640"/>
          </a:xfrm>
          <a:prstGeom prst="ellipse">
            <a:avLst/>
          </a:prstGeom>
          <a:solidFill>
            <a:srgbClr val="1E4FC0"/>
          </a:solidFill>
          <a:ln/>
        </p:spPr>
        <p:txBody>
          <a:bodyPr/>
          <a:lstStyle/>
          <a:p>
            <a:endParaRPr lang="en-US"/>
          </a:p>
        </p:txBody>
      </p:sp>
      <p:pic>
        <p:nvPicPr>
          <p:cNvPr id="69" name="Image 0" descr="preencoded.png"/>
          <p:cNvPicPr>
            <a:picLocks noChangeAspect="1"/>
          </p:cNvPicPr>
          <p:nvPr/>
        </p:nvPicPr>
        <p:blipFill>
          <a:blip r:embed="rId3"/>
          <a:stretch>
            <a:fillRect/>
          </a:stretch>
        </p:blipFill>
        <p:spPr>
          <a:xfrm>
            <a:off x="10827868" y="2057400"/>
            <a:ext cx="274320" cy="274320"/>
          </a:xfrm>
          <a:prstGeom prst="rect">
            <a:avLst/>
          </a:prstGeom>
        </p:spPr>
      </p:pic>
      <p:sp>
        <p:nvSpPr>
          <p:cNvPr id="70" name="Text 67"/>
          <p:cNvSpPr txBox="1"/>
          <p:nvPr/>
        </p:nvSpPr>
        <p:spPr>
          <a:xfrm>
            <a:off x="10287000" y="2606040"/>
            <a:ext cx="1356055" cy="274320"/>
          </a:xfrm>
          <a:prstGeom prst="rect">
            <a:avLst/>
          </a:prstGeom>
          <a:noFill/>
          <a:ln/>
        </p:spPr>
        <p:txBody>
          <a:bodyPr wrap="square" lIns="0" tIns="0" rIns="0" bIns="0" rtlCol="0" anchor="t"/>
          <a:lstStyle/>
          <a:p>
            <a:pPr marL="0" indent="0" algn="ctr">
              <a:buNone/>
            </a:pPr>
            <a:r>
              <a:rPr lang="en-US" sz="1300" b="1" dirty="0">
                <a:solidFill>
                  <a:srgbClr val="1C2330"/>
                </a:solidFill>
                <a:latin typeface="Calibri" pitchFamily="34" charset="0"/>
                <a:ea typeface="Calibri" pitchFamily="34" charset="-122"/>
                <a:cs typeface="Calibri" pitchFamily="34" charset="-120"/>
              </a:rPr>
              <a:t>Customers</a:t>
            </a:r>
            <a:endParaRPr lang="en-US" sz="1300" dirty="0"/>
          </a:p>
        </p:txBody>
      </p:sp>
      <p:sp>
        <p:nvSpPr>
          <p:cNvPr id="71" name="Text 68"/>
          <p:cNvSpPr txBox="1"/>
          <p:nvPr/>
        </p:nvSpPr>
        <p:spPr>
          <a:xfrm>
            <a:off x="10378440" y="2926080"/>
            <a:ext cx="1173175" cy="822960"/>
          </a:xfrm>
          <a:prstGeom prst="rect">
            <a:avLst/>
          </a:prstGeom>
          <a:noFill/>
          <a:ln/>
        </p:spPr>
        <p:txBody>
          <a:bodyPr wrap="square" lIns="0" tIns="0" rIns="0" bIns="0" rtlCol="0" anchor="t"/>
          <a:lstStyle/>
          <a:p>
            <a:pPr marL="0" indent="0" algn="ctr">
              <a:buNone/>
            </a:pPr>
            <a:r>
              <a:rPr lang="en-US" sz="1000" dirty="0">
                <a:solidFill>
                  <a:srgbClr val="5A6272"/>
                </a:solidFill>
                <a:latin typeface="Calibri" pitchFamily="34" charset="0"/>
                <a:ea typeface="Calibri" pitchFamily="34" charset="-122"/>
                <a:cs typeface="Calibri" pitchFamily="34" charset="-120"/>
              </a:rPr>
              <a:t>Members, prospects, delegates, agents, providers</a:t>
            </a:r>
            <a:endParaRPr lang="en-US" sz="1000" dirty="0"/>
          </a:p>
        </p:txBody>
      </p:sp>
      <p:sp>
        <p:nvSpPr>
          <p:cNvPr id="72" name="Shape 69"/>
          <p:cNvSpPr/>
          <p:nvPr/>
        </p:nvSpPr>
        <p:spPr>
          <a:xfrm>
            <a:off x="10058400" y="2788920"/>
            <a:ext cx="228600" cy="0"/>
          </a:xfrm>
          <a:prstGeom prst="line">
            <a:avLst/>
          </a:prstGeom>
          <a:noFill/>
          <a:ln w="19050">
            <a:solidFill>
              <a:srgbClr val="5A6272"/>
            </a:solidFill>
            <a:prstDash val="solid"/>
            <a:tailEnd type="triangle"/>
          </a:ln>
        </p:spPr>
        <p:txBody>
          <a:bodyPr/>
          <a:lstStyle/>
          <a:p>
            <a:endParaRPr lang="en-US"/>
          </a:p>
        </p:txBody>
      </p:sp>
      <p:sp>
        <p:nvSpPr>
          <p:cNvPr id="73" name="Shape 70"/>
          <p:cNvSpPr/>
          <p:nvPr/>
        </p:nvSpPr>
        <p:spPr>
          <a:xfrm>
            <a:off x="548640" y="5029200"/>
            <a:ext cx="11094415" cy="1325880"/>
          </a:xfrm>
          <a:prstGeom prst="rect">
            <a:avLst/>
          </a:prstGeom>
          <a:solidFill>
            <a:srgbClr val="E9EBEF"/>
          </a:solidFill>
          <a:ln/>
        </p:spPr>
        <p:txBody>
          <a:bodyPr/>
          <a:lstStyle/>
          <a:p>
            <a:endParaRPr lang="en-US"/>
          </a:p>
        </p:txBody>
      </p:sp>
      <p:sp>
        <p:nvSpPr>
          <p:cNvPr id="74" name="Shape 71"/>
          <p:cNvSpPr/>
          <p:nvPr/>
        </p:nvSpPr>
        <p:spPr>
          <a:xfrm>
            <a:off x="548640" y="5029200"/>
            <a:ext cx="11094415" cy="54864"/>
          </a:xfrm>
          <a:prstGeom prst="rect">
            <a:avLst/>
          </a:prstGeom>
          <a:solidFill>
            <a:srgbClr val="2E7D6B"/>
          </a:solidFill>
          <a:ln/>
        </p:spPr>
        <p:txBody>
          <a:bodyPr/>
          <a:lstStyle/>
          <a:p>
            <a:endParaRPr lang="en-US"/>
          </a:p>
        </p:txBody>
      </p:sp>
      <p:sp>
        <p:nvSpPr>
          <p:cNvPr id="75" name="Shape 72"/>
          <p:cNvSpPr/>
          <p:nvPr/>
        </p:nvSpPr>
        <p:spPr>
          <a:xfrm>
            <a:off x="548640" y="5029200"/>
            <a:ext cx="54864" cy="1325880"/>
          </a:xfrm>
          <a:prstGeom prst="rect">
            <a:avLst/>
          </a:prstGeom>
          <a:solidFill>
            <a:srgbClr val="2E7D6B"/>
          </a:solidFill>
          <a:ln/>
        </p:spPr>
        <p:txBody>
          <a:bodyPr/>
          <a:lstStyle/>
          <a:p>
            <a:endParaRPr lang="en-US"/>
          </a:p>
        </p:txBody>
      </p:sp>
      <p:sp>
        <p:nvSpPr>
          <p:cNvPr id="76" name="Text 73"/>
          <p:cNvSpPr txBox="1"/>
          <p:nvPr/>
        </p:nvSpPr>
        <p:spPr>
          <a:xfrm>
            <a:off x="731520" y="5148072"/>
            <a:ext cx="10820095" cy="237744"/>
          </a:xfrm>
          <a:prstGeom prst="rect">
            <a:avLst/>
          </a:prstGeom>
          <a:noFill/>
          <a:ln/>
        </p:spPr>
        <p:txBody>
          <a:bodyPr wrap="square" lIns="0" tIns="0" rIns="0" bIns="0" rtlCol="0" anchor="t"/>
          <a:lstStyle/>
          <a:p>
            <a:pPr marL="0" indent="0">
              <a:buNone/>
            </a:pPr>
            <a:r>
              <a:rPr lang="en-US" sz="850" b="1" kern="0" spc="300" dirty="0">
                <a:solidFill>
                  <a:srgbClr val="2E7D6B"/>
                </a:solidFill>
                <a:latin typeface="Calibri" pitchFamily="34" charset="0"/>
                <a:ea typeface="Calibri" pitchFamily="34" charset="-122"/>
                <a:cs typeface="Calibri" pitchFamily="34" charset="-120"/>
              </a:rPr>
              <a:t>TRACKING &amp; FEEDBACK LOOP</a:t>
            </a:r>
            <a:endParaRPr lang="en-US" sz="850" dirty="0"/>
          </a:p>
        </p:txBody>
      </p:sp>
      <p:sp>
        <p:nvSpPr>
          <p:cNvPr id="77" name="Shape 74"/>
          <p:cNvSpPr/>
          <p:nvPr/>
        </p:nvSpPr>
        <p:spPr>
          <a:xfrm>
            <a:off x="731520" y="5440680"/>
            <a:ext cx="1962851" cy="777240"/>
          </a:xfrm>
          <a:prstGeom prst="rect">
            <a:avLst/>
          </a:prstGeom>
          <a:solidFill>
            <a:srgbClr val="FFFFFF"/>
          </a:solidFill>
          <a:ln w="19050">
            <a:solidFill>
              <a:srgbClr val="2E7D6B"/>
            </a:solidFill>
            <a:prstDash val="solid"/>
          </a:ln>
        </p:spPr>
        <p:txBody>
          <a:bodyPr/>
          <a:lstStyle/>
          <a:p>
            <a:endParaRPr lang="en-US"/>
          </a:p>
        </p:txBody>
      </p:sp>
      <p:sp>
        <p:nvSpPr>
          <p:cNvPr id="78" name="Text 75"/>
          <p:cNvSpPr txBox="1"/>
          <p:nvPr/>
        </p:nvSpPr>
        <p:spPr>
          <a:xfrm>
            <a:off x="822960" y="5458968"/>
            <a:ext cx="1779971" cy="740664"/>
          </a:xfrm>
          <a:prstGeom prst="rect">
            <a:avLst/>
          </a:prstGeom>
          <a:noFill/>
          <a:ln/>
        </p:spPr>
        <p:txBody>
          <a:bodyPr wrap="square" lIns="0" tIns="0" rIns="0" bIns="0" rtlCol="0" anchor="ctr"/>
          <a:lstStyle/>
          <a:p>
            <a:pPr marL="0" indent="0">
              <a:buNone/>
            </a:pPr>
            <a:r>
              <a:rPr lang="en-US" sz="1000" b="1" dirty="0">
                <a:solidFill>
                  <a:srgbClr val="1C2330"/>
                </a:solidFill>
                <a:latin typeface="Calibri" pitchFamily="34" charset="0"/>
                <a:ea typeface="Calibri" pitchFamily="34" charset="-122"/>
                <a:cs typeface="Calibri" pitchFamily="34" charset="-120"/>
              </a:rPr>
              <a:t>Recon Dashboard · Power BI</a:t>
            </a:r>
            <a:endParaRPr lang="en-US" sz="1000" dirty="0"/>
          </a:p>
          <a:p>
            <a:pPr marL="0" indent="0">
              <a:buNone/>
            </a:pPr>
            <a:r>
              <a:rPr lang="en-US" sz="1000" dirty="0">
                <a:solidFill>
                  <a:srgbClr val="5A6272"/>
                </a:solidFill>
                <a:latin typeface="Calibri" pitchFamily="34" charset="0"/>
                <a:ea typeface="Calibri" pitchFamily="34" charset="-122"/>
                <a:cs typeface="Calibri" pitchFamily="34" charset="-120"/>
              </a:rPr>
              <a:t>Business self-service and audit</a:t>
            </a:r>
            <a:endParaRPr lang="en-US" sz="1000" dirty="0"/>
          </a:p>
        </p:txBody>
      </p:sp>
      <p:sp>
        <p:nvSpPr>
          <p:cNvPr id="79" name="Shape 76"/>
          <p:cNvSpPr/>
          <p:nvPr/>
        </p:nvSpPr>
        <p:spPr>
          <a:xfrm flipH="1">
            <a:off x="2694371" y="5824728"/>
            <a:ext cx="228600" cy="0"/>
          </a:xfrm>
          <a:prstGeom prst="line">
            <a:avLst/>
          </a:prstGeom>
          <a:noFill/>
          <a:ln w="19050">
            <a:solidFill>
              <a:srgbClr val="2E7D6B"/>
            </a:solidFill>
            <a:prstDash val="solid"/>
            <a:tailEnd type="triangle"/>
          </a:ln>
        </p:spPr>
        <p:txBody>
          <a:bodyPr/>
          <a:lstStyle/>
          <a:p>
            <a:endParaRPr lang="en-US"/>
          </a:p>
        </p:txBody>
      </p:sp>
      <p:sp>
        <p:nvSpPr>
          <p:cNvPr id="80" name="Shape 77"/>
          <p:cNvSpPr/>
          <p:nvPr/>
        </p:nvSpPr>
        <p:spPr>
          <a:xfrm>
            <a:off x="2922971" y="5440680"/>
            <a:ext cx="1962851" cy="777240"/>
          </a:xfrm>
          <a:prstGeom prst="rect">
            <a:avLst/>
          </a:prstGeom>
          <a:solidFill>
            <a:srgbClr val="FFFFFF"/>
          </a:solidFill>
          <a:ln w="19050">
            <a:solidFill>
              <a:srgbClr val="2E7D6B"/>
            </a:solidFill>
            <a:prstDash val="solid"/>
          </a:ln>
        </p:spPr>
        <p:txBody>
          <a:bodyPr/>
          <a:lstStyle/>
          <a:p>
            <a:endParaRPr lang="en-US"/>
          </a:p>
        </p:txBody>
      </p:sp>
      <p:sp>
        <p:nvSpPr>
          <p:cNvPr id="81" name="Text 78"/>
          <p:cNvSpPr txBox="1"/>
          <p:nvPr/>
        </p:nvSpPr>
        <p:spPr>
          <a:xfrm>
            <a:off x="3014411" y="5458968"/>
            <a:ext cx="1779971" cy="740664"/>
          </a:xfrm>
          <a:prstGeom prst="rect">
            <a:avLst/>
          </a:prstGeom>
          <a:noFill/>
          <a:ln/>
        </p:spPr>
        <p:txBody>
          <a:bodyPr wrap="square" lIns="0" tIns="0" rIns="0" bIns="0" rtlCol="0" anchor="ctr"/>
          <a:lstStyle/>
          <a:p>
            <a:pPr marL="0" indent="0">
              <a:buNone/>
            </a:pPr>
            <a:r>
              <a:rPr lang="en-US" sz="1000" b="1" dirty="0">
                <a:solidFill>
                  <a:srgbClr val="1C2330"/>
                </a:solidFill>
                <a:latin typeface="Calibri" pitchFamily="34" charset="0"/>
                <a:ea typeface="Calibri" pitchFamily="34" charset="-122"/>
                <a:cs typeface="Calibri" pitchFamily="34" charset="-120"/>
              </a:rPr>
              <a:t>Recon Services</a:t>
            </a:r>
            <a:endParaRPr lang="en-US" sz="1000" dirty="0"/>
          </a:p>
          <a:p>
            <a:pPr marL="0" indent="0">
              <a:buNone/>
            </a:pPr>
            <a:r>
              <a:rPr lang="en-US" sz="1000" dirty="0">
                <a:solidFill>
                  <a:srgbClr val="5A6272"/>
                </a:solidFill>
                <a:latin typeface="Calibri" pitchFamily="34" charset="0"/>
                <a:ea typeface="Calibri" pitchFamily="34" charset="-122"/>
                <a:cs typeface="Calibri" pitchFamily="34" charset="-120"/>
              </a:rPr>
              <a:t>Touchpoints via MSMQ; reprocessing</a:t>
            </a:r>
            <a:endParaRPr lang="en-US" sz="1000" dirty="0"/>
          </a:p>
        </p:txBody>
      </p:sp>
      <p:sp>
        <p:nvSpPr>
          <p:cNvPr id="82" name="Shape 79"/>
          <p:cNvSpPr/>
          <p:nvPr/>
        </p:nvSpPr>
        <p:spPr>
          <a:xfrm flipH="1">
            <a:off x="4885822" y="5824728"/>
            <a:ext cx="228600" cy="0"/>
          </a:xfrm>
          <a:prstGeom prst="line">
            <a:avLst/>
          </a:prstGeom>
          <a:noFill/>
          <a:ln w="19050">
            <a:solidFill>
              <a:srgbClr val="2E7D6B"/>
            </a:solidFill>
            <a:prstDash val="solid"/>
            <a:tailEnd type="triangle"/>
          </a:ln>
        </p:spPr>
        <p:txBody>
          <a:bodyPr/>
          <a:lstStyle/>
          <a:p>
            <a:endParaRPr lang="en-US"/>
          </a:p>
        </p:txBody>
      </p:sp>
      <p:sp>
        <p:nvSpPr>
          <p:cNvPr id="83" name="Shape 80"/>
          <p:cNvSpPr/>
          <p:nvPr/>
        </p:nvSpPr>
        <p:spPr>
          <a:xfrm>
            <a:off x="5114422" y="5440680"/>
            <a:ext cx="1962851" cy="777240"/>
          </a:xfrm>
          <a:prstGeom prst="rect">
            <a:avLst/>
          </a:prstGeom>
          <a:solidFill>
            <a:srgbClr val="FFFFFF"/>
          </a:solidFill>
          <a:ln w="19050">
            <a:solidFill>
              <a:srgbClr val="2E7D6B"/>
            </a:solidFill>
            <a:prstDash val="solid"/>
          </a:ln>
        </p:spPr>
        <p:txBody>
          <a:bodyPr/>
          <a:lstStyle/>
          <a:p>
            <a:endParaRPr lang="en-US"/>
          </a:p>
        </p:txBody>
      </p:sp>
      <p:sp>
        <p:nvSpPr>
          <p:cNvPr id="84" name="Text 81"/>
          <p:cNvSpPr txBox="1"/>
          <p:nvPr/>
        </p:nvSpPr>
        <p:spPr>
          <a:xfrm>
            <a:off x="5205862" y="5458968"/>
            <a:ext cx="1779971" cy="740664"/>
          </a:xfrm>
          <a:prstGeom prst="rect">
            <a:avLst/>
          </a:prstGeom>
          <a:noFill/>
          <a:ln/>
        </p:spPr>
        <p:txBody>
          <a:bodyPr wrap="square" lIns="0" tIns="0" rIns="0" bIns="0" rtlCol="0" anchor="ctr"/>
          <a:lstStyle/>
          <a:p>
            <a:pPr marL="0" indent="0">
              <a:buNone/>
            </a:pPr>
            <a:r>
              <a:rPr lang="en-US" sz="1000" b="1" dirty="0">
                <a:solidFill>
                  <a:srgbClr val="1C2330"/>
                </a:solidFill>
                <a:latin typeface="Calibri" pitchFamily="34" charset="0"/>
                <a:ea typeface="Calibri" pitchFamily="34" charset="-122"/>
                <a:cs typeface="Calibri" pitchFamily="34" charset="-120"/>
              </a:rPr>
              <a:t>Recon (SQL Server)</a:t>
            </a:r>
            <a:endParaRPr lang="en-US" sz="1000" dirty="0"/>
          </a:p>
          <a:p>
            <a:pPr marL="0" indent="0">
              <a:buNone/>
            </a:pPr>
            <a:r>
              <a:rPr lang="en-US" sz="1000" dirty="0">
                <a:solidFill>
                  <a:srgbClr val="5A6272"/>
                </a:solidFill>
                <a:latin typeface="Calibri" pitchFamily="34" charset="0"/>
                <a:ea typeface="Calibri" pitchFamily="34" charset="-122"/>
                <a:cs typeface="Calibri" pitchFamily="34" charset="-120"/>
              </a:rPr>
              <a:t>Every request, status, content ID</a:t>
            </a:r>
            <a:endParaRPr lang="en-US" sz="1000" dirty="0"/>
          </a:p>
        </p:txBody>
      </p:sp>
      <p:sp>
        <p:nvSpPr>
          <p:cNvPr id="85" name="Shape 82"/>
          <p:cNvSpPr/>
          <p:nvPr/>
        </p:nvSpPr>
        <p:spPr>
          <a:xfrm flipH="1">
            <a:off x="7077273" y="5824728"/>
            <a:ext cx="228600" cy="0"/>
          </a:xfrm>
          <a:prstGeom prst="line">
            <a:avLst/>
          </a:prstGeom>
          <a:noFill/>
          <a:ln w="19050">
            <a:solidFill>
              <a:srgbClr val="2E7D6B"/>
            </a:solidFill>
            <a:prstDash val="solid"/>
            <a:tailEnd type="triangle"/>
          </a:ln>
        </p:spPr>
        <p:txBody>
          <a:bodyPr/>
          <a:lstStyle/>
          <a:p>
            <a:endParaRPr lang="en-US"/>
          </a:p>
        </p:txBody>
      </p:sp>
      <p:sp>
        <p:nvSpPr>
          <p:cNvPr id="86" name="Shape 83"/>
          <p:cNvSpPr/>
          <p:nvPr/>
        </p:nvSpPr>
        <p:spPr>
          <a:xfrm>
            <a:off x="7305873" y="5440680"/>
            <a:ext cx="1962851" cy="777240"/>
          </a:xfrm>
          <a:prstGeom prst="rect">
            <a:avLst/>
          </a:prstGeom>
          <a:solidFill>
            <a:srgbClr val="FFFFFF"/>
          </a:solidFill>
          <a:ln w="19050">
            <a:solidFill>
              <a:srgbClr val="2E7D6B"/>
            </a:solidFill>
            <a:prstDash val="solid"/>
          </a:ln>
        </p:spPr>
        <p:txBody>
          <a:bodyPr/>
          <a:lstStyle/>
          <a:p>
            <a:endParaRPr lang="en-US"/>
          </a:p>
        </p:txBody>
      </p:sp>
      <p:sp>
        <p:nvSpPr>
          <p:cNvPr id="87" name="Text 84"/>
          <p:cNvSpPr txBox="1"/>
          <p:nvPr/>
        </p:nvSpPr>
        <p:spPr>
          <a:xfrm>
            <a:off x="7397313" y="5458968"/>
            <a:ext cx="1779971" cy="740664"/>
          </a:xfrm>
          <a:prstGeom prst="rect">
            <a:avLst/>
          </a:prstGeom>
          <a:noFill/>
          <a:ln/>
        </p:spPr>
        <p:txBody>
          <a:bodyPr wrap="square" lIns="0" tIns="0" rIns="0" bIns="0" rtlCol="0" anchor="ctr"/>
          <a:lstStyle/>
          <a:p>
            <a:pPr marL="0" indent="0">
              <a:buNone/>
            </a:pPr>
            <a:r>
              <a:rPr lang="en-US" sz="1000" b="1" dirty="0">
                <a:solidFill>
                  <a:srgbClr val="1C2330"/>
                </a:solidFill>
                <a:latin typeface="Calibri" pitchFamily="34" charset="0"/>
                <a:ea typeface="Calibri" pitchFamily="34" charset="-122"/>
                <a:cs typeface="Calibri" pitchFamily="34" charset="-120"/>
              </a:rPr>
              <a:t>Delivery receipts</a:t>
            </a:r>
            <a:endParaRPr lang="en-US" sz="1000" dirty="0"/>
          </a:p>
          <a:p>
            <a:pPr marL="0" indent="0">
              <a:buNone/>
            </a:pPr>
            <a:r>
              <a:rPr lang="en-US" sz="1000" dirty="0">
                <a:solidFill>
                  <a:srgbClr val="5A6272"/>
                </a:solidFill>
                <a:latin typeface="Calibri" pitchFamily="34" charset="0"/>
                <a:ea typeface="Calibri" pitchFamily="34" charset="-122"/>
                <a:cs typeface="Calibri" pitchFamily="34" charset="-120"/>
              </a:rPr>
              <a:t>Vendor SFTP inbox; SMS response handler</a:t>
            </a:r>
            <a:endParaRPr lang="en-US" sz="1000" dirty="0"/>
          </a:p>
        </p:txBody>
      </p:sp>
      <p:sp>
        <p:nvSpPr>
          <p:cNvPr id="88" name="Shape 85"/>
          <p:cNvSpPr/>
          <p:nvPr/>
        </p:nvSpPr>
        <p:spPr>
          <a:xfrm>
            <a:off x="9497324" y="5440680"/>
            <a:ext cx="1962851" cy="777240"/>
          </a:xfrm>
          <a:prstGeom prst="rect">
            <a:avLst/>
          </a:prstGeom>
          <a:solidFill>
            <a:srgbClr val="FFFFFF"/>
          </a:solidFill>
          <a:ln w="9525">
            <a:solidFill>
              <a:srgbClr val="D3D8DF"/>
            </a:solidFill>
            <a:prstDash val="solid"/>
          </a:ln>
        </p:spPr>
        <p:txBody>
          <a:bodyPr/>
          <a:lstStyle/>
          <a:p>
            <a:endParaRPr lang="en-US"/>
          </a:p>
        </p:txBody>
      </p:sp>
      <p:sp>
        <p:nvSpPr>
          <p:cNvPr id="89" name="Text 86"/>
          <p:cNvSpPr txBox="1"/>
          <p:nvPr/>
        </p:nvSpPr>
        <p:spPr>
          <a:xfrm>
            <a:off x="9588764" y="5458968"/>
            <a:ext cx="1779971" cy="740664"/>
          </a:xfrm>
          <a:prstGeom prst="rect">
            <a:avLst/>
          </a:prstGeom>
          <a:noFill/>
          <a:ln/>
        </p:spPr>
        <p:txBody>
          <a:bodyPr wrap="square" lIns="0" tIns="0" rIns="0" bIns="0" rtlCol="0" anchor="ctr"/>
          <a:lstStyle/>
          <a:p>
            <a:pPr marL="0" indent="0">
              <a:buNone/>
            </a:pPr>
            <a:r>
              <a:rPr lang="en-US" sz="1000" b="1" dirty="0">
                <a:solidFill>
                  <a:srgbClr val="1C2330"/>
                </a:solidFill>
                <a:latin typeface="Calibri" pitchFamily="34" charset="0"/>
                <a:ea typeface="Calibri" pitchFamily="34" charset="-122"/>
                <a:cs typeface="Calibri" pitchFamily="34" charset="-120"/>
              </a:rPr>
              <a:t>Kafka events</a:t>
            </a:r>
            <a:endParaRPr lang="en-US" sz="1000" dirty="0"/>
          </a:p>
          <a:p>
            <a:pPr marL="0" indent="0">
              <a:buNone/>
            </a:pPr>
            <a:r>
              <a:rPr lang="en-US" sz="1000" dirty="0">
                <a:solidFill>
                  <a:srgbClr val="5A6272"/>
                </a:solidFill>
                <a:latin typeface="Calibri" pitchFamily="34" charset="0"/>
                <a:ea typeface="Calibri" pitchFamily="34" charset="-122"/>
                <a:cs typeface="Calibri" pitchFamily="34" charset="-120"/>
              </a:rPr>
              <a:t>Content ID back to sources and EWoC → Message Center</a:t>
            </a:r>
            <a:endParaRPr lang="en-US" sz="1000" dirty="0"/>
          </a:p>
        </p:txBody>
      </p:sp>
      <p:sp>
        <p:nvSpPr>
          <p:cNvPr id="90" name="Shape 87"/>
          <p:cNvSpPr/>
          <p:nvPr/>
        </p:nvSpPr>
        <p:spPr>
          <a:xfrm>
            <a:off x="8458200" y="4800600"/>
            <a:ext cx="0" cy="640080"/>
          </a:xfrm>
          <a:prstGeom prst="line">
            <a:avLst/>
          </a:prstGeom>
          <a:noFill/>
          <a:ln w="19050">
            <a:solidFill>
              <a:srgbClr val="2E7D6B"/>
            </a:solidFill>
            <a:prstDash val="solid"/>
            <a:tailEnd type="triangle"/>
          </a:ln>
        </p:spPr>
        <p:txBody>
          <a:bodyPr/>
          <a:lstStyle/>
          <a:p>
            <a:endParaRPr lang="en-US"/>
          </a:p>
        </p:txBody>
      </p:sp>
      <p:sp>
        <p:nvSpPr>
          <p:cNvPr id="92" name="Text 39">
            <a:extLst>
              <a:ext uri="{FF2B5EF4-FFF2-40B4-BE49-F238E27FC236}">
                <a16:creationId xmlns:a16="http://schemas.microsoft.com/office/drawing/2014/main" id="{36C1ED06-092D-0BAF-3FCA-B4ACE2EB6675}"/>
              </a:ext>
            </a:extLst>
          </p:cNvPr>
          <p:cNvSpPr txBox="1"/>
          <p:nvPr/>
        </p:nvSpPr>
        <p:spPr>
          <a:xfrm rot="16200000">
            <a:off x="4136012" y="3904488"/>
            <a:ext cx="1408175" cy="384048"/>
          </a:xfrm>
          <a:prstGeom prst="rect">
            <a:avLst/>
          </a:prstGeom>
          <a:noFill/>
          <a:ln/>
        </p:spPr>
        <p:txBody>
          <a:bodyPr wrap="square" lIns="0" tIns="0" rIns="0" bIns="0" rtlCol="0" anchor="ctr"/>
          <a:lstStyle/>
          <a:p>
            <a:pPr marL="0" indent="0" algn="ctr">
              <a:buNone/>
            </a:pPr>
            <a:r>
              <a:rPr lang="en-US" sz="950" b="1" kern="0" spc="200" dirty="0">
                <a:solidFill>
                  <a:srgbClr val="1C2330"/>
                </a:solidFill>
                <a:latin typeface="Calibri" pitchFamily="34" charset="0"/>
                <a:ea typeface="Calibri" pitchFamily="34" charset="-122"/>
                <a:cs typeface="Calibri" pitchFamily="34" charset="-120"/>
              </a:rPr>
              <a:t>CLOUDERA / </a:t>
            </a:r>
          </a:p>
          <a:p>
            <a:pPr marL="0" indent="0" algn="ctr">
              <a:buNone/>
            </a:pPr>
            <a:r>
              <a:rPr lang="en-US" sz="950" b="1" kern="0" spc="200" dirty="0">
                <a:solidFill>
                  <a:srgbClr val="1C2330"/>
                </a:solidFill>
                <a:latin typeface="Calibri" pitchFamily="34" charset="0"/>
                <a:ea typeface="Calibri" pitchFamily="34" charset="-122"/>
                <a:cs typeface="Calibri" pitchFamily="34" charset="-120"/>
              </a:rPr>
              <a:t>I DRIVE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3">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141C2B"/>
          </a:solidFill>
          <a:ln/>
        </p:spPr>
        <p:txBody>
          <a:bodyPr/>
          <a:lstStyle/>
          <a:p>
            <a:endParaRPr lang="en-US"/>
          </a:p>
        </p:txBody>
      </p:sp>
      <p:sp>
        <p:nvSpPr>
          <p:cNvPr id="3" name="Shape 1"/>
          <p:cNvSpPr/>
          <p:nvPr/>
        </p:nvSpPr>
        <p:spPr>
          <a:xfrm>
            <a:off x="0" y="0"/>
            <a:ext cx="12191695" cy="45720"/>
          </a:xfrm>
          <a:prstGeom prst="rect">
            <a:avLst/>
          </a:prstGeom>
          <a:solidFill>
            <a:srgbClr val="E4572E"/>
          </a:solidFill>
          <a:ln/>
        </p:spPr>
        <p:txBody>
          <a:bodyPr/>
          <a:lstStyle/>
          <a:p>
            <a:endParaRPr lang="en-US"/>
          </a:p>
        </p:txBody>
      </p:sp>
      <p:sp>
        <p:nvSpPr>
          <p:cNvPr id="4" name="Text 2"/>
          <p:cNvSpPr txBox="1"/>
          <p:nvPr/>
        </p:nvSpPr>
        <p:spPr>
          <a:xfrm>
            <a:off x="548640" y="246888"/>
            <a:ext cx="7772400" cy="256032"/>
          </a:xfrm>
          <a:prstGeom prst="rect">
            <a:avLst/>
          </a:prstGeom>
          <a:noFill/>
          <a:ln/>
        </p:spPr>
        <p:txBody>
          <a:bodyPr wrap="square" lIns="0" tIns="0" rIns="0" bIns="0" rtlCol="0" anchor="t"/>
          <a:lstStyle/>
          <a:p>
            <a:pPr marL="0" indent="0">
              <a:buNone/>
            </a:pPr>
            <a:r>
              <a:rPr lang="en-US" sz="1100" b="1" kern="0" spc="500" dirty="0">
                <a:solidFill>
                  <a:srgbClr val="E4572E"/>
                </a:solidFill>
                <a:latin typeface="Calibri" pitchFamily="34" charset="0"/>
                <a:ea typeface="Calibri" pitchFamily="34" charset="-122"/>
                <a:cs typeface="Calibri" pitchFamily="34" charset="-120"/>
              </a:rPr>
              <a:t>PLATFORM INVENTORY</a:t>
            </a:r>
            <a:endParaRPr lang="en-US" sz="1100" dirty="0"/>
          </a:p>
        </p:txBody>
      </p:sp>
      <p:sp>
        <p:nvSpPr>
          <p:cNvPr id="5" name="Text 3"/>
          <p:cNvSpPr txBox="1"/>
          <p:nvPr/>
        </p:nvSpPr>
        <p:spPr>
          <a:xfrm>
            <a:off x="548640" y="502920"/>
            <a:ext cx="941832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CCM by the numbers</a:t>
            </a:r>
            <a:endParaRPr lang="en-US" sz="2700" dirty="0"/>
          </a:p>
        </p:txBody>
      </p:sp>
      <p:sp>
        <p:nvSpPr>
          <p:cNvPr id="9" name="Text 7"/>
          <p:cNvSpPr txBox="1"/>
          <p:nvPr/>
        </p:nvSpPr>
        <p:spPr>
          <a:xfrm>
            <a:off x="10728655" y="6510528"/>
            <a:ext cx="914400" cy="201168"/>
          </a:xfrm>
          <a:prstGeom prst="rect">
            <a:avLst/>
          </a:prstGeom>
          <a:noFill/>
          <a:ln/>
        </p:spPr>
        <p:txBody>
          <a:bodyPr wrap="square" lIns="0" tIns="0" rIns="0" bIns="0" rtlCol="0" anchor="t"/>
          <a:lstStyle/>
          <a:p>
            <a:pPr marL="0" indent="0" algn="r">
              <a:buNone/>
            </a:pPr>
            <a:r>
              <a:rPr lang="en-US" sz="900" dirty="0">
                <a:solidFill>
                  <a:srgbClr val="5A6272"/>
                </a:solidFill>
                <a:latin typeface="Calibri" pitchFamily="34" charset="0"/>
                <a:ea typeface="Calibri" pitchFamily="34" charset="-122"/>
                <a:cs typeface="Calibri" pitchFamily="34" charset="-120"/>
              </a:rPr>
              <a:t>3</a:t>
            </a:r>
            <a:endParaRPr lang="en-US" sz="900" dirty="0"/>
          </a:p>
        </p:txBody>
      </p:sp>
      <p:sp>
        <p:nvSpPr>
          <p:cNvPr id="10" name="Shape 8"/>
          <p:cNvSpPr/>
          <p:nvPr/>
        </p:nvSpPr>
        <p:spPr>
          <a:xfrm>
            <a:off x="548640" y="1389888"/>
            <a:ext cx="2622728" cy="384048"/>
          </a:xfrm>
          <a:prstGeom prst="rect">
            <a:avLst/>
          </a:prstGeom>
          <a:solidFill>
            <a:srgbClr val="0E1A33"/>
          </a:solidFill>
          <a:ln/>
        </p:spPr>
        <p:txBody>
          <a:bodyPr/>
          <a:lstStyle/>
          <a:p>
            <a:endParaRPr lang="en-US"/>
          </a:p>
        </p:txBody>
      </p:sp>
      <p:sp>
        <p:nvSpPr>
          <p:cNvPr id="11" name="Text 9"/>
          <p:cNvSpPr txBox="1"/>
          <p:nvPr/>
        </p:nvSpPr>
        <p:spPr>
          <a:xfrm>
            <a:off x="676656" y="1389888"/>
            <a:ext cx="184548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UI applications</a:t>
            </a:r>
            <a:endParaRPr lang="en-US" sz="1200" dirty="0"/>
          </a:p>
        </p:txBody>
      </p:sp>
      <p:sp>
        <p:nvSpPr>
          <p:cNvPr id="12" name="Text 10"/>
          <p:cNvSpPr txBox="1"/>
          <p:nvPr/>
        </p:nvSpPr>
        <p:spPr>
          <a:xfrm>
            <a:off x="2439848" y="1389888"/>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5</a:t>
            </a:r>
            <a:endParaRPr lang="en-US" sz="1700" dirty="0"/>
          </a:p>
        </p:txBody>
      </p:sp>
      <p:sp>
        <p:nvSpPr>
          <p:cNvPr id="13" name="Shape 11"/>
          <p:cNvSpPr/>
          <p:nvPr/>
        </p:nvSpPr>
        <p:spPr>
          <a:xfrm>
            <a:off x="548640" y="1773936"/>
            <a:ext cx="2622728" cy="1060704"/>
          </a:xfrm>
          <a:prstGeom prst="rect">
            <a:avLst/>
          </a:prstGeom>
          <a:solidFill>
            <a:srgbClr val="FFFFFF"/>
          </a:solidFill>
          <a:ln w="9525">
            <a:solidFill>
              <a:srgbClr val="D3D8DF"/>
            </a:solidFill>
            <a:prstDash val="solid"/>
          </a:ln>
        </p:spPr>
        <p:txBody>
          <a:bodyPr/>
          <a:lstStyle/>
          <a:p>
            <a:endParaRPr lang="en-US"/>
          </a:p>
        </p:txBody>
      </p:sp>
      <p:sp>
        <p:nvSpPr>
          <p:cNvPr id="14" name="Text 12"/>
          <p:cNvSpPr txBox="1"/>
          <p:nvPr/>
        </p:nvSpPr>
        <p:spPr>
          <a:xfrm>
            <a:off x="676656" y="1865376"/>
            <a:ext cx="2366696" cy="896112"/>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Recon Dashboard · On-Demand Reusable UI · Inspire Interactive · Inspire Designer · Power BI reports</a:t>
            </a:r>
            <a:endParaRPr lang="en-US" sz="1050" dirty="0"/>
          </a:p>
        </p:txBody>
      </p:sp>
      <p:sp>
        <p:nvSpPr>
          <p:cNvPr id="15" name="Shape 13"/>
          <p:cNvSpPr/>
          <p:nvPr/>
        </p:nvSpPr>
        <p:spPr>
          <a:xfrm>
            <a:off x="3372536" y="1389888"/>
            <a:ext cx="2622728" cy="384048"/>
          </a:xfrm>
          <a:prstGeom prst="rect">
            <a:avLst/>
          </a:prstGeom>
          <a:solidFill>
            <a:srgbClr val="1E4FC0"/>
          </a:solidFill>
          <a:ln/>
        </p:spPr>
        <p:txBody>
          <a:bodyPr/>
          <a:lstStyle/>
          <a:p>
            <a:endParaRPr lang="en-US"/>
          </a:p>
        </p:txBody>
      </p:sp>
      <p:sp>
        <p:nvSpPr>
          <p:cNvPr id="16" name="Text 14"/>
          <p:cNvSpPr txBox="1"/>
          <p:nvPr/>
        </p:nvSpPr>
        <p:spPr>
          <a:xfrm>
            <a:off x="3500552" y="1389888"/>
            <a:ext cx="184548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Backend services</a:t>
            </a:r>
            <a:endParaRPr lang="en-US" sz="1200" dirty="0"/>
          </a:p>
        </p:txBody>
      </p:sp>
      <p:sp>
        <p:nvSpPr>
          <p:cNvPr id="17" name="Text 15"/>
          <p:cNvSpPr txBox="1"/>
          <p:nvPr/>
        </p:nvSpPr>
        <p:spPr>
          <a:xfrm>
            <a:off x="5263744" y="1389888"/>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9</a:t>
            </a:r>
            <a:endParaRPr lang="en-US" sz="1700" dirty="0"/>
          </a:p>
        </p:txBody>
      </p:sp>
      <p:sp>
        <p:nvSpPr>
          <p:cNvPr id="18" name="Shape 16"/>
          <p:cNvSpPr/>
          <p:nvPr/>
        </p:nvSpPr>
        <p:spPr>
          <a:xfrm>
            <a:off x="3372536" y="1773936"/>
            <a:ext cx="2622728" cy="1060704"/>
          </a:xfrm>
          <a:prstGeom prst="rect">
            <a:avLst/>
          </a:prstGeom>
          <a:solidFill>
            <a:srgbClr val="FFFFFF"/>
          </a:solidFill>
          <a:ln w="9525">
            <a:solidFill>
              <a:srgbClr val="D3D8DF"/>
            </a:solidFill>
            <a:prstDash val="solid"/>
          </a:ln>
        </p:spPr>
        <p:txBody>
          <a:bodyPr/>
          <a:lstStyle/>
          <a:p>
            <a:endParaRPr lang="en-US"/>
          </a:p>
        </p:txBody>
      </p:sp>
      <p:sp>
        <p:nvSpPr>
          <p:cNvPr id="19" name="Text 17"/>
          <p:cNvSpPr txBox="1"/>
          <p:nvPr/>
        </p:nvSpPr>
        <p:spPr>
          <a:xfrm>
            <a:off x="3500552" y="1865376"/>
            <a:ext cx="2366696" cy="896112"/>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4 in ccm-</a:t>
            </a:r>
            <a:r>
              <a:rPr lang="en-US" sz="1050" dirty="0" err="1">
                <a:solidFill>
                  <a:srgbClr val="1C2330"/>
                </a:solidFill>
                <a:latin typeface="Calibri" pitchFamily="34" charset="0"/>
                <a:ea typeface="Calibri" pitchFamily="34" charset="-122"/>
                <a:cs typeface="Calibri" pitchFamily="34" charset="-120"/>
              </a:rPr>
              <a:t>dcs</a:t>
            </a:r>
            <a:r>
              <a:rPr lang="en-US" sz="1050" dirty="0">
                <a:solidFill>
                  <a:srgbClr val="1C2330"/>
                </a:solidFill>
                <a:latin typeface="Calibri" pitchFamily="34" charset="0"/>
                <a:ea typeface="Calibri" pitchFamily="34" charset="-122"/>
                <a:cs typeface="Calibri" pitchFamily="34" charset="-120"/>
              </a:rPr>
              <a:t>-prod · 4 in ccm-preprocessor-prod · SMS/MMS Response Handler</a:t>
            </a:r>
            <a:endParaRPr lang="en-US" sz="1050" dirty="0"/>
          </a:p>
        </p:txBody>
      </p:sp>
      <p:sp>
        <p:nvSpPr>
          <p:cNvPr id="20" name="Shape 18"/>
          <p:cNvSpPr/>
          <p:nvPr/>
        </p:nvSpPr>
        <p:spPr>
          <a:xfrm>
            <a:off x="6196432" y="1389888"/>
            <a:ext cx="2622728" cy="384048"/>
          </a:xfrm>
          <a:prstGeom prst="rect">
            <a:avLst/>
          </a:prstGeom>
          <a:solidFill>
            <a:srgbClr val="1F6E4A"/>
          </a:solidFill>
          <a:ln/>
        </p:spPr>
        <p:txBody>
          <a:bodyPr/>
          <a:lstStyle/>
          <a:p>
            <a:endParaRPr lang="en-US"/>
          </a:p>
        </p:txBody>
      </p:sp>
      <p:sp>
        <p:nvSpPr>
          <p:cNvPr id="21" name="Text 19"/>
          <p:cNvSpPr txBox="1"/>
          <p:nvPr/>
        </p:nvSpPr>
        <p:spPr>
          <a:xfrm>
            <a:off x="6324448" y="1389888"/>
            <a:ext cx="184548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API endpoints</a:t>
            </a:r>
            <a:endParaRPr lang="en-US" sz="1200" dirty="0"/>
          </a:p>
        </p:txBody>
      </p:sp>
      <p:sp>
        <p:nvSpPr>
          <p:cNvPr id="22" name="Text 20"/>
          <p:cNvSpPr txBox="1"/>
          <p:nvPr/>
        </p:nvSpPr>
        <p:spPr>
          <a:xfrm>
            <a:off x="8087639" y="1389888"/>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7</a:t>
            </a:r>
            <a:endParaRPr lang="en-US" sz="1700" dirty="0"/>
          </a:p>
        </p:txBody>
      </p:sp>
      <p:sp>
        <p:nvSpPr>
          <p:cNvPr id="23" name="Shape 21"/>
          <p:cNvSpPr/>
          <p:nvPr/>
        </p:nvSpPr>
        <p:spPr>
          <a:xfrm>
            <a:off x="6196432" y="1773936"/>
            <a:ext cx="2622728" cy="1060704"/>
          </a:xfrm>
          <a:prstGeom prst="rect">
            <a:avLst/>
          </a:prstGeom>
          <a:solidFill>
            <a:srgbClr val="FFFFFF"/>
          </a:solidFill>
          <a:ln w="9525">
            <a:solidFill>
              <a:srgbClr val="D3D8DF"/>
            </a:solidFill>
            <a:prstDash val="solid"/>
          </a:ln>
        </p:spPr>
        <p:txBody>
          <a:bodyPr/>
          <a:lstStyle/>
          <a:p>
            <a:endParaRPr lang="en-US"/>
          </a:p>
        </p:txBody>
      </p:sp>
      <p:sp>
        <p:nvSpPr>
          <p:cNvPr id="24" name="Text 22"/>
          <p:cNvSpPr txBox="1"/>
          <p:nvPr/>
        </p:nvSpPr>
        <p:spPr>
          <a:xfrm>
            <a:off x="6324448" y="1865376"/>
            <a:ext cx="2366696" cy="896112"/>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CCM API · Template Lookup · URL shortener · Comm Request · Line-type lookup · phoneNumbers · Send Messages</a:t>
            </a:r>
            <a:endParaRPr lang="en-US" sz="1050" dirty="0"/>
          </a:p>
        </p:txBody>
      </p:sp>
      <p:sp>
        <p:nvSpPr>
          <p:cNvPr id="25" name="Shape 23"/>
          <p:cNvSpPr/>
          <p:nvPr/>
        </p:nvSpPr>
        <p:spPr>
          <a:xfrm>
            <a:off x="9020327" y="1389888"/>
            <a:ext cx="2622728" cy="384048"/>
          </a:xfrm>
          <a:prstGeom prst="rect">
            <a:avLst/>
          </a:prstGeom>
          <a:solidFill>
            <a:srgbClr val="C9591F"/>
          </a:solidFill>
          <a:ln/>
        </p:spPr>
        <p:txBody>
          <a:bodyPr/>
          <a:lstStyle/>
          <a:p>
            <a:endParaRPr lang="en-US"/>
          </a:p>
        </p:txBody>
      </p:sp>
      <p:sp>
        <p:nvSpPr>
          <p:cNvPr id="26" name="Text 24"/>
          <p:cNvSpPr txBox="1"/>
          <p:nvPr/>
        </p:nvSpPr>
        <p:spPr>
          <a:xfrm>
            <a:off x="9148343" y="1389888"/>
            <a:ext cx="184548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Batch &amp; scheduled jobs</a:t>
            </a:r>
            <a:endParaRPr lang="en-US" sz="1200" dirty="0"/>
          </a:p>
        </p:txBody>
      </p:sp>
      <p:sp>
        <p:nvSpPr>
          <p:cNvPr id="27" name="Text 25"/>
          <p:cNvSpPr txBox="1"/>
          <p:nvPr/>
        </p:nvSpPr>
        <p:spPr>
          <a:xfrm>
            <a:off x="10911535" y="1389888"/>
            <a:ext cx="603504" cy="384048"/>
          </a:xfrm>
          <a:prstGeom prst="rect">
            <a:avLst/>
          </a:prstGeom>
          <a:noFill/>
          <a:ln/>
        </p:spPr>
        <p:txBody>
          <a:bodyPr wrap="square" lIns="0" tIns="0" rIns="0" bIns="0" rtlCol="0" anchor="ctr"/>
          <a:lstStyle/>
          <a:p>
            <a:pPr marL="0" indent="0" algn="r">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8" name="Shape 26"/>
          <p:cNvSpPr/>
          <p:nvPr/>
        </p:nvSpPr>
        <p:spPr>
          <a:xfrm>
            <a:off x="9020327" y="1773936"/>
            <a:ext cx="2622728" cy="1060704"/>
          </a:xfrm>
          <a:prstGeom prst="rect">
            <a:avLst/>
          </a:prstGeom>
          <a:solidFill>
            <a:srgbClr val="FFFFFF"/>
          </a:solidFill>
          <a:ln w="9525">
            <a:solidFill>
              <a:srgbClr val="D3D8DF"/>
            </a:solidFill>
            <a:prstDash val="solid"/>
          </a:ln>
        </p:spPr>
        <p:txBody>
          <a:bodyPr/>
          <a:lstStyle/>
          <a:p>
            <a:endParaRPr lang="en-US"/>
          </a:p>
        </p:txBody>
      </p:sp>
      <p:sp>
        <p:nvSpPr>
          <p:cNvPr id="29" name="Text 27"/>
          <p:cNvSpPr txBox="1"/>
          <p:nvPr/>
        </p:nvSpPr>
        <p:spPr>
          <a:xfrm>
            <a:off x="9148343" y="1865376"/>
            <a:ext cx="2366696" cy="896112"/>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CCM Preprocessor · Scaler file consolidation · Recon Batch Load · Recon Services</a:t>
            </a:r>
            <a:endParaRPr lang="en-US" sz="1050" dirty="0"/>
          </a:p>
        </p:txBody>
      </p:sp>
      <p:sp>
        <p:nvSpPr>
          <p:cNvPr id="30" name="Shape 28"/>
          <p:cNvSpPr/>
          <p:nvPr/>
        </p:nvSpPr>
        <p:spPr>
          <a:xfrm>
            <a:off x="548640" y="3017520"/>
            <a:ext cx="2622728" cy="384048"/>
          </a:xfrm>
          <a:prstGeom prst="rect">
            <a:avLst/>
          </a:prstGeom>
          <a:solidFill>
            <a:srgbClr val="3D4757"/>
          </a:solidFill>
          <a:ln/>
        </p:spPr>
        <p:txBody>
          <a:bodyPr/>
          <a:lstStyle/>
          <a:p>
            <a:endParaRPr lang="en-US"/>
          </a:p>
        </p:txBody>
      </p:sp>
      <p:sp>
        <p:nvSpPr>
          <p:cNvPr id="31" name="Text 29"/>
          <p:cNvSpPr txBox="1"/>
          <p:nvPr/>
        </p:nvSpPr>
        <p:spPr>
          <a:xfrm>
            <a:off x="676656" y="3017520"/>
            <a:ext cx="184548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Databases</a:t>
            </a:r>
            <a:endParaRPr lang="en-US" sz="1200" dirty="0"/>
          </a:p>
        </p:txBody>
      </p:sp>
      <p:sp>
        <p:nvSpPr>
          <p:cNvPr id="32" name="Text 30"/>
          <p:cNvSpPr txBox="1"/>
          <p:nvPr/>
        </p:nvSpPr>
        <p:spPr>
          <a:xfrm>
            <a:off x="2439848" y="3017520"/>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6</a:t>
            </a:r>
            <a:endParaRPr lang="en-US" sz="1700" dirty="0"/>
          </a:p>
        </p:txBody>
      </p:sp>
      <p:sp>
        <p:nvSpPr>
          <p:cNvPr id="33" name="Shape 31"/>
          <p:cNvSpPr/>
          <p:nvPr/>
        </p:nvSpPr>
        <p:spPr>
          <a:xfrm>
            <a:off x="548640" y="3401568"/>
            <a:ext cx="2622728" cy="1060704"/>
          </a:xfrm>
          <a:prstGeom prst="rect">
            <a:avLst/>
          </a:prstGeom>
          <a:solidFill>
            <a:srgbClr val="FFFFFF"/>
          </a:solidFill>
          <a:ln w="9525">
            <a:solidFill>
              <a:srgbClr val="D3D8DF"/>
            </a:solidFill>
            <a:prstDash val="solid"/>
          </a:ln>
        </p:spPr>
        <p:txBody>
          <a:bodyPr/>
          <a:lstStyle/>
          <a:p>
            <a:endParaRPr lang="en-US"/>
          </a:p>
        </p:txBody>
      </p:sp>
      <p:sp>
        <p:nvSpPr>
          <p:cNvPr id="34" name="Text 32"/>
          <p:cNvSpPr txBox="1"/>
          <p:nvPr/>
        </p:nvSpPr>
        <p:spPr>
          <a:xfrm>
            <a:off x="676656" y="3493008"/>
            <a:ext cx="2366696" cy="896112"/>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4 SQL Server 2019 (Recon, Interactive, Scaler, Content Manager) · P360 (PostgreSQL) · Snowflake</a:t>
            </a:r>
            <a:endParaRPr lang="en-US" sz="1050" dirty="0"/>
          </a:p>
        </p:txBody>
      </p:sp>
      <p:sp>
        <p:nvSpPr>
          <p:cNvPr id="35" name="Shape 33"/>
          <p:cNvSpPr/>
          <p:nvPr/>
        </p:nvSpPr>
        <p:spPr>
          <a:xfrm>
            <a:off x="3372536" y="3017520"/>
            <a:ext cx="2622728" cy="384048"/>
          </a:xfrm>
          <a:prstGeom prst="rect">
            <a:avLst/>
          </a:prstGeom>
          <a:solidFill>
            <a:srgbClr val="1E4FC0"/>
          </a:solidFill>
          <a:ln/>
        </p:spPr>
        <p:txBody>
          <a:bodyPr/>
          <a:lstStyle/>
          <a:p>
            <a:endParaRPr lang="en-US"/>
          </a:p>
        </p:txBody>
      </p:sp>
      <p:sp>
        <p:nvSpPr>
          <p:cNvPr id="36" name="Text 34"/>
          <p:cNvSpPr txBox="1"/>
          <p:nvPr/>
        </p:nvSpPr>
        <p:spPr>
          <a:xfrm>
            <a:off x="3500552" y="3017520"/>
            <a:ext cx="184548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Other data stores</a:t>
            </a:r>
            <a:endParaRPr lang="en-US" sz="1200" dirty="0"/>
          </a:p>
        </p:txBody>
      </p:sp>
      <p:sp>
        <p:nvSpPr>
          <p:cNvPr id="37" name="Text 35"/>
          <p:cNvSpPr txBox="1"/>
          <p:nvPr/>
        </p:nvSpPr>
        <p:spPr>
          <a:xfrm>
            <a:off x="5263744" y="3017520"/>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3</a:t>
            </a:r>
            <a:endParaRPr lang="en-US" sz="1700" dirty="0"/>
          </a:p>
        </p:txBody>
      </p:sp>
      <p:sp>
        <p:nvSpPr>
          <p:cNvPr id="38" name="Shape 36"/>
          <p:cNvSpPr/>
          <p:nvPr/>
        </p:nvSpPr>
        <p:spPr>
          <a:xfrm>
            <a:off x="3372536" y="3401568"/>
            <a:ext cx="2622728" cy="1060704"/>
          </a:xfrm>
          <a:prstGeom prst="rect">
            <a:avLst/>
          </a:prstGeom>
          <a:solidFill>
            <a:srgbClr val="FFFFFF"/>
          </a:solidFill>
          <a:ln w="9525">
            <a:solidFill>
              <a:srgbClr val="D3D8DF"/>
            </a:solidFill>
            <a:prstDash val="solid"/>
          </a:ln>
        </p:spPr>
        <p:txBody>
          <a:bodyPr/>
          <a:lstStyle/>
          <a:p>
            <a:endParaRPr lang="en-US"/>
          </a:p>
        </p:txBody>
      </p:sp>
      <p:sp>
        <p:nvSpPr>
          <p:cNvPr id="39" name="Text 37"/>
          <p:cNvSpPr txBox="1"/>
          <p:nvPr/>
        </p:nvSpPr>
        <p:spPr>
          <a:xfrm>
            <a:off x="3500552" y="3493008"/>
            <a:ext cx="2366696" cy="896112"/>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ECMS / Content Central archive · NAS network share · Google Analytics</a:t>
            </a:r>
            <a:endParaRPr lang="en-US" sz="1050" dirty="0"/>
          </a:p>
        </p:txBody>
      </p:sp>
      <p:sp>
        <p:nvSpPr>
          <p:cNvPr id="40" name="Shape 38"/>
          <p:cNvSpPr/>
          <p:nvPr/>
        </p:nvSpPr>
        <p:spPr>
          <a:xfrm>
            <a:off x="6196432" y="3017520"/>
            <a:ext cx="2622728" cy="384048"/>
          </a:xfrm>
          <a:prstGeom prst="rect">
            <a:avLst/>
          </a:prstGeom>
          <a:solidFill>
            <a:srgbClr val="0E1A33"/>
          </a:solidFill>
          <a:ln/>
        </p:spPr>
        <p:txBody>
          <a:bodyPr/>
          <a:lstStyle/>
          <a:p>
            <a:endParaRPr lang="en-US"/>
          </a:p>
        </p:txBody>
      </p:sp>
      <p:sp>
        <p:nvSpPr>
          <p:cNvPr id="41" name="Text 39"/>
          <p:cNvSpPr txBox="1"/>
          <p:nvPr/>
        </p:nvSpPr>
        <p:spPr>
          <a:xfrm>
            <a:off x="6324448" y="3017520"/>
            <a:ext cx="184548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Inspire R15 servers</a:t>
            </a:r>
            <a:endParaRPr lang="en-US" sz="1200" dirty="0"/>
          </a:p>
        </p:txBody>
      </p:sp>
      <p:sp>
        <p:nvSpPr>
          <p:cNvPr id="42" name="Text 40"/>
          <p:cNvSpPr txBox="1"/>
          <p:nvPr/>
        </p:nvSpPr>
        <p:spPr>
          <a:xfrm>
            <a:off x="8087639" y="3017520"/>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13</a:t>
            </a:r>
            <a:endParaRPr lang="en-US" sz="1700" dirty="0"/>
          </a:p>
        </p:txBody>
      </p:sp>
      <p:sp>
        <p:nvSpPr>
          <p:cNvPr id="43" name="Shape 41"/>
          <p:cNvSpPr/>
          <p:nvPr/>
        </p:nvSpPr>
        <p:spPr>
          <a:xfrm>
            <a:off x="6196432" y="3401568"/>
            <a:ext cx="2622728" cy="1060704"/>
          </a:xfrm>
          <a:prstGeom prst="rect">
            <a:avLst/>
          </a:prstGeom>
          <a:solidFill>
            <a:srgbClr val="FFFFFF"/>
          </a:solidFill>
          <a:ln w="9525">
            <a:solidFill>
              <a:srgbClr val="D3D8DF"/>
            </a:solidFill>
            <a:prstDash val="solid"/>
          </a:ln>
        </p:spPr>
        <p:txBody>
          <a:bodyPr/>
          <a:lstStyle/>
          <a:p>
            <a:endParaRPr lang="en-US"/>
          </a:p>
        </p:txBody>
      </p:sp>
      <p:sp>
        <p:nvSpPr>
          <p:cNvPr id="44" name="Text 42"/>
          <p:cNvSpPr txBox="1"/>
          <p:nvPr/>
        </p:nvSpPr>
        <p:spPr>
          <a:xfrm>
            <a:off x="6324448" y="3493008"/>
            <a:ext cx="2366696" cy="896112"/>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Scaler ×6 · Interactive ×5 · License Manager ×2 · Content Manager on all</a:t>
            </a:r>
            <a:endParaRPr lang="en-US" sz="1050" dirty="0"/>
          </a:p>
        </p:txBody>
      </p:sp>
      <p:sp>
        <p:nvSpPr>
          <p:cNvPr id="45" name="Shape 43"/>
          <p:cNvSpPr/>
          <p:nvPr/>
        </p:nvSpPr>
        <p:spPr>
          <a:xfrm>
            <a:off x="9020327" y="3017520"/>
            <a:ext cx="2622728" cy="384048"/>
          </a:xfrm>
          <a:prstGeom prst="rect">
            <a:avLst/>
          </a:prstGeom>
          <a:solidFill>
            <a:srgbClr val="1F6E4A"/>
          </a:solidFill>
          <a:ln/>
        </p:spPr>
        <p:txBody>
          <a:bodyPr/>
          <a:lstStyle/>
          <a:p>
            <a:endParaRPr lang="en-US"/>
          </a:p>
        </p:txBody>
      </p:sp>
      <p:sp>
        <p:nvSpPr>
          <p:cNvPr id="46" name="Text 44"/>
          <p:cNvSpPr txBox="1"/>
          <p:nvPr/>
        </p:nvSpPr>
        <p:spPr>
          <a:xfrm>
            <a:off x="9148343" y="3017520"/>
            <a:ext cx="184548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OpenShift projects</a:t>
            </a:r>
            <a:endParaRPr lang="en-US" sz="1200" dirty="0"/>
          </a:p>
        </p:txBody>
      </p:sp>
      <p:sp>
        <p:nvSpPr>
          <p:cNvPr id="47" name="Text 45"/>
          <p:cNvSpPr txBox="1"/>
          <p:nvPr/>
        </p:nvSpPr>
        <p:spPr>
          <a:xfrm>
            <a:off x="10911535" y="3017520"/>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3</a:t>
            </a:r>
            <a:endParaRPr lang="en-US" sz="1700" dirty="0"/>
          </a:p>
        </p:txBody>
      </p:sp>
      <p:sp>
        <p:nvSpPr>
          <p:cNvPr id="48" name="Shape 46"/>
          <p:cNvSpPr/>
          <p:nvPr/>
        </p:nvSpPr>
        <p:spPr>
          <a:xfrm>
            <a:off x="9020327" y="3401568"/>
            <a:ext cx="2622728" cy="1060704"/>
          </a:xfrm>
          <a:prstGeom prst="rect">
            <a:avLst/>
          </a:prstGeom>
          <a:solidFill>
            <a:srgbClr val="FFFFFF"/>
          </a:solidFill>
          <a:ln w="9525">
            <a:solidFill>
              <a:srgbClr val="D3D8DF"/>
            </a:solidFill>
            <a:prstDash val="solid"/>
          </a:ln>
        </p:spPr>
        <p:txBody>
          <a:bodyPr/>
          <a:lstStyle/>
          <a:p>
            <a:endParaRPr lang="en-US"/>
          </a:p>
        </p:txBody>
      </p:sp>
      <p:sp>
        <p:nvSpPr>
          <p:cNvPr id="49" name="Text 47"/>
          <p:cNvSpPr txBox="1"/>
          <p:nvPr/>
        </p:nvSpPr>
        <p:spPr>
          <a:xfrm>
            <a:off x="9148343" y="3493008"/>
            <a:ext cx="2366696" cy="896112"/>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ccm-dcs-prod · ccm-preprocessor-prod · sms-handler-prod · 13 routes</a:t>
            </a:r>
            <a:endParaRPr lang="en-US" sz="1050" dirty="0"/>
          </a:p>
        </p:txBody>
      </p:sp>
      <p:sp>
        <p:nvSpPr>
          <p:cNvPr id="50" name="Shape 48"/>
          <p:cNvSpPr/>
          <p:nvPr/>
        </p:nvSpPr>
        <p:spPr>
          <a:xfrm>
            <a:off x="548640" y="4645152"/>
            <a:ext cx="2622728" cy="384048"/>
          </a:xfrm>
          <a:prstGeom prst="rect">
            <a:avLst/>
          </a:prstGeom>
          <a:solidFill>
            <a:srgbClr val="C9591F"/>
          </a:solidFill>
          <a:ln/>
        </p:spPr>
        <p:txBody>
          <a:bodyPr/>
          <a:lstStyle/>
          <a:p>
            <a:endParaRPr lang="en-US"/>
          </a:p>
        </p:txBody>
      </p:sp>
      <p:sp>
        <p:nvSpPr>
          <p:cNvPr id="51" name="Text 49"/>
          <p:cNvSpPr txBox="1"/>
          <p:nvPr/>
        </p:nvSpPr>
        <p:spPr>
          <a:xfrm>
            <a:off x="676656" y="4645152"/>
            <a:ext cx="184548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External vendors</a:t>
            </a:r>
            <a:endParaRPr lang="en-US" sz="1200" dirty="0"/>
          </a:p>
        </p:txBody>
      </p:sp>
      <p:sp>
        <p:nvSpPr>
          <p:cNvPr id="52" name="Text 50"/>
          <p:cNvSpPr txBox="1"/>
          <p:nvPr/>
        </p:nvSpPr>
        <p:spPr>
          <a:xfrm>
            <a:off x="2439848" y="4645152"/>
            <a:ext cx="603504" cy="384048"/>
          </a:xfrm>
          <a:prstGeom prst="rect">
            <a:avLst/>
          </a:prstGeom>
          <a:noFill/>
          <a:ln/>
        </p:spPr>
        <p:txBody>
          <a:bodyPr wrap="square" lIns="0" tIns="0" rIns="0" bIns="0" rtlCol="0" anchor="ctr"/>
          <a:lstStyle/>
          <a:p>
            <a:pPr marL="0" indent="0" algn="r">
              <a:buNone/>
            </a:pPr>
            <a:r>
              <a:rPr lang="en-US" sz="1700" b="1" dirty="0">
                <a:solidFill>
                  <a:srgbClr val="FFFFFF"/>
                </a:solidFill>
                <a:latin typeface="Calibri" pitchFamily="34" charset="0"/>
                <a:ea typeface="Calibri" pitchFamily="34" charset="-122"/>
                <a:cs typeface="Calibri" pitchFamily="34" charset="-120"/>
              </a:rPr>
              <a:t>7</a:t>
            </a:r>
            <a:endParaRPr lang="en-US" sz="1700" dirty="0"/>
          </a:p>
        </p:txBody>
      </p:sp>
      <p:sp>
        <p:nvSpPr>
          <p:cNvPr id="53" name="Shape 51"/>
          <p:cNvSpPr/>
          <p:nvPr/>
        </p:nvSpPr>
        <p:spPr>
          <a:xfrm>
            <a:off x="548640" y="5029200"/>
            <a:ext cx="2622728" cy="1060704"/>
          </a:xfrm>
          <a:prstGeom prst="rect">
            <a:avLst/>
          </a:prstGeom>
          <a:solidFill>
            <a:srgbClr val="FFFFFF"/>
          </a:solidFill>
          <a:ln w="9525">
            <a:solidFill>
              <a:srgbClr val="D3D8DF"/>
            </a:solidFill>
            <a:prstDash val="solid"/>
          </a:ln>
        </p:spPr>
        <p:txBody>
          <a:bodyPr/>
          <a:lstStyle/>
          <a:p>
            <a:endParaRPr lang="en-US"/>
          </a:p>
        </p:txBody>
      </p:sp>
      <p:sp>
        <p:nvSpPr>
          <p:cNvPr id="54" name="Text 52"/>
          <p:cNvSpPr txBox="1"/>
          <p:nvPr/>
        </p:nvSpPr>
        <p:spPr>
          <a:xfrm>
            <a:off x="676656" y="5120640"/>
            <a:ext cx="2366696" cy="896112"/>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Quadient · Twilio · Salesforce MC · O’Neil · Highmark · Forge · Bloomreach</a:t>
            </a:r>
            <a:endParaRPr lang="en-US" sz="1050" dirty="0"/>
          </a:p>
        </p:txBody>
      </p:sp>
      <p:sp>
        <p:nvSpPr>
          <p:cNvPr id="55" name="Shape 53"/>
          <p:cNvSpPr/>
          <p:nvPr/>
        </p:nvSpPr>
        <p:spPr>
          <a:xfrm>
            <a:off x="3372536" y="4645152"/>
            <a:ext cx="2622728" cy="384048"/>
          </a:xfrm>
          <a:prstGeom prst="rect">
            <a:avLst/>
          </a:prstGeom>
          <a:solidFill>
            <a:srgbClr val="3D4757"/>
          </a:solidFill>
          <a:ln/>
        </p:spPr>
        <p:txBody>
          <a:bodyPr/>
          <a:lstStyle/>
          <a:p>
            <a:endParaRPr lang="en-US"/>
          </a:p>
        </p:txBody>
      </p:sp>
      <p:sp>
        <p:nvSpPr>
          <p:cNvPr id="56" name="Text 54"/>
          <p:cNvSpPr txBox="1"/>
          <p:nvPr/>
        </p:nvSpPr>
        <p:spPr>
          <a:xfrm>
            <a:off x="3500552" y="4645152"/>
            <a:ext cx="184548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Platform &amp; infrastructure</a:t>
            </a:r>
            <a:endParaRPr lang="en-US" sz="1200" dirty="0"/>
          </a:p>
        </p:txBody>
      </p:sp>
      <p:sp>
        <p:nvSpPr>
          <p:cNvPr id="57" name="Text 55"/>
          <p:cNvSpPr txBox="1"/>
          <p:nvPr/>
        </p:nvSpPr>
        <p:spPr>
          <a:xfrm>
            <a:off x="5263744" y="4645152"/>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7</a:t>
            </a:r>
            <a:endParaRPr lang="en-US" sz="1700" dirty="0"/>
          </a:p>
        </p:txBody>
      </p:sp>
      <p:sp>
        <p:nvSpPr>
          <p:cNvPr id="58" name="Shape 56"/>
          <p:cNvSpPr/>
          <p:nvPr/>
        </p:nvSpPr>
        <p:spPr>
          <a:xfrm>
            <a:off x="3372536" y="5029200"/>
            <a:ext cx="2622728" cy="1060704"/>
          </a:xfrm>
          <a:prstGeom prst="rect">
            <a:avLst/>
          </a:prstGeom>
          <a:solidFill>
            <a:srgbClr val="FFFFFF"/>
          </a:solidFill>
          <a:ln w="9525">
            <a:solidFill>
              <a:srgbClr val="D3D8DF"/>
            </a:solidFill>
            <a:prstDash val="solid"/>
          </a:ln>
        </p:spPr>
        <p:txBody>
          <a:bodyPr/>
          <a:lstStyle/>
          <a:p>
            <a:endParaRPr lang="en-US"/>
          </a:p>
        </p:txBody>
      </p:sp>
      <p:sp>
        <p:nvSpPr>
          <p:cNvPr id="59" name="Text 57"/>
          <p:cNvSpPr txBox="1"/>
          <p:nvPr/>
        </p:nvSpPr>
        <p:spPr>
          <a:xfrm>
            <a:off x="3500552" y="5120640"/>
            <a:ext cx="2366696" cy="896112"/>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DataPower/APIC · NetScaler · PMI · Control-M · Hadoop/Spark · Kafka · Splunk</a:t>
            </a:r>
            <a:endParaRPr lang="en-US" sz="1050" dirty="0"/>
          </a:p>
        </p:txBody>
      </p:sp>
      <p:sp>
        <p:nvSpPr>
          <p:cNvPr id="60" name="Shape 58"/>
          <p:cNvSpPr/>
          <p:nvPr/>
        </p:nvSpPr>
        <p:spPr>
          <a:xfrm>
            <a:off x="6196432" y="4645152"/>
            <a:ext cx="2622728" cy="384048"/>
          </a:xfrm>
          <a:prstGeom prst="rect">
            <a:avLst/>
          </a:prstGeom>
          <a:solidFill>
            <a:srgbClr val="1E4FC0"/>
          </a:solidFill>
          <a:ln/>
        </p:spPr>
        <p:txBody>
          <a:bodyPr/>
          <a:lstStyle/>
          <a:p>
            <a:endParaRPr lang="en-US"/>
          </a:p>
        </p:txBody>
      </p:sp>
      <p:sp>
        <p:nvSpPr>
          <p:cNvPr id="61" name="Text 59"/>
          <p:cNvSpPr txBox="1"/>
          <p:nvPr/>
        </p:nvSpPr>
        <p:spPr>
          <a:xfrm>
            <a:off x="6324448" y="4645152"/>
            <a:ext cx="184548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Integrated source systems</a:t>
            </a:r>
            <a:endParaRPr lang="en-US" sz="1200" dirty="0"/>
          </a:p>
        </p:txBody>
      </p:sp>
      <p:sp>
        <p:nvSpPr>
          <p:cNvPr id="62" name="Text 60"/>
          <p:cNvSpPr txBox="1"/>
          <p:nvPr/>
        </p:nvSpPr>
        <p:spPr>
          <a:xfrm>
            <a:off x="8087639" y="4645152"/>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36</a:t>
            </a:r>
            <a:endParaRPr lang="en-US" sz="1700" dirty="0"/>
          </a:p>
        </p:txBody>
      </p:sp>
      <p:sp>
        <p:nvSpPr>
          <p:cNvPr id="63" name="Shape 61"/>
          <p:cNvSpPr/>
          <p:nvPr/>
        </p:nvSpPr>
        <p:spPr>
          <a:xfrm>
            <a:off x="6196432" y="5029200"/>
            <a:ext cx="2622728" cy="1060704"/>
          </a:xfrm>
          <a:prstGeom prst="rect">
            <a:avLst/>
          </a:prstGeom>
          <a:solidFill>
            <a:srgbClr val="FFFFFF"/>
          </a:solidFill>
          <a:ln w="9525">
            <a:solidFill>
              <a:srgbClr val="D3D8DF"/>
            </a:solidFill>
            <a:prstDash val="solid"/>
          </a:ln>
        </p:spPr>
        <p:txBody>
          <a:bodyPr/>
          <a:lstStyle/>
          <a:p>
            <a:endParaRPr lang="en-US"/>
          </a:p>
        </p:txBody>
      </p:sp>
      <p:sp>
        <p:nvSpPr>
          <p:cNvPr id="64" name="Text 62"/>
          <p:cNvSpPr txBox="1"/>
          <p:nvPr/>
        </p:nvSpPr>
        <p:spPr>
          <a:xfrm>
            <a:off x="6324448" y="5120640"/>
            <a:ext cx="2366696" cy="896112"/>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e.g. PPX, CIAM, EWoC, Claims, ECIR, VIVR, Contracts, PCP</a:t>
            </a:r>
            <a:endParaRPr lang="en-US" sz="1050" dirty="0"/>
          </a:p>
        </p:txBody>
      </p:sp>
      <p:sp>
        <p:nvSpPr>
          <p:cNvPr id="65" name="Shape 63"/>
          <p:cNvSpPr/>
          <p:nvPr/>
        </p:nvSpPr>
        <p:spPr>
          <a:xfrm>
            <a:off x="9020327" y="4645152"/>
            <a:ext cx="2622728" cy="384048"/>
          </a:xfrm>
          <a:prstGeom prst="rect">
            <a:avLst/>
          </a:prstGeom>
          <a:solidFill>
            <a:srgbClr val="1F6E4A"/>
          </a:solidFill>
          <a:ln/>
        </p:spPr>
        <p:txBody>
          <a:bodyPr/>
          <a:lstStyle/>
          <a:p>
            <a:endParaRPr lang="en-US"/>
          </a:p>
        </p:txBody>
      </p:sp>
      <p:sp>
        <p:nvSpPr>
          <p:cNvPr id="66" name="Text 64"/>
          <p:cNvSpPr txBox="1"/>
          <p:nvPr/>
        </p:nvSpPr>
        <p:spPr>
          <a:xfrm>
            <a:off x="9148343" y="4645152"/>
            <a:ext cx="184548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Delivery channels</a:t>
            </a:r>
            <a:endParaRPr lang="en-US" sz="1200" dirty="0"/>
          </a:p>
        </p:txBody>
      </p:sp>
      <p:sp>
        <p:nvSpPr>
          <p:cNvPr id="67" name="Text 65"/>
          <p:cNvSpPr txBox="1"/>
          <p:nvPr/>
        </p:nvSpPr>
        <p:spPr>
          <a:xfrm>
            <a:off x="10911535" y="4645152"/>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4</a:t>
            </a:r>
            <a:endParaRPr lang="en-US" sz="1700" dirty="0"/>
          </a:p>
        </p:txBody>
      </p:sp>
      <p:sp>
        <p:nvSpPr>
          <p:cNvPr id="68" name="Shape 66"/>
          <p:cNvSpPr/>
          <p:nvPr/>
        </p:nvSpPr>
        <p:spPr>
          <a:xfrm>
            <a:off x="9020327" y="5029200"/>
            <a:ext cx="2622728" cy="1060704"/>
          </a:xfrm>
          <a:prstGeom prst="rect">
            <a:avLst/>
          </a:prstGeom>
          <a:solidFill>
            <a:srgbClr val="FFFFFF"/>
          </a:solidFill>
          <a:ln w="9525">
            <a:solidFill>
              <a:srgbClr val="D3D8DF"/>
            </a:solidFill>
            <a:prstDash val="solid"/>
          </a:ln>
        </p:spPr>
        <p:txBody>
          <a:bodyPr/>
          <a:lstStyle/>
          <a:p>
            <a:endParaRPr lang="en-US"/>
          </a:p>
        </p:txBody>
      </p:sp>
      <p:sp>
        <p:nvSpPr>
          <p:cNvPr id="69" name="Text 67"/>
          <p:cNvSpPr txBox="1"/>
          <p:nvPr/>
        </p:nvSpPr>
        <p:spPr>
          <a:xfrm>
            <a:off x="9148343" y="5120640"/>
            <a:ext cx="2366696" cy="896112"/>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Email · SMS/MMS · Print · Digital (Message Center), plus PDF archive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4">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141C2B"/>
          </a:solidFill>
          <a:ln/>
        </p:spPr>
        <p:txBody>
          <a:bodyPr/>
          <a:lstStyle/>
          <a:p>
            <a:endParaRPr lang="en-US"/>
          </a:p>
        </p:txBody>
      </p:sp>
      <p:sp>
        <p:nvSpPr>
          <p:cNvPr id="3" name="Shape 1"/>
          <p:cNvSpPr/>
          <p:nvPr/>
        </p:nvSpPr>
        <p:spPr>
          <a:xfrm>
            <a:off x="0" y="0"/>
            <a:ext cx="12191695" cy="45720"/>
          </a:xfrm>
          <a:prstGeom prst="rect">
            <a:avLst/>
          </a:prstGeom>
          <a:solidFill>
            <a:srgbClr val="E4572E"/>
          </a:solidFill>
          <a:ln/>
        </p:spPr>
        <p:txBody>
          <a:bodyPr/>
          <a:lstStyle/>
          <a:p>
            <a:endParaRPr lang="en-US"/>
          </a:p>
        </p:txBody>
      </p:sp>
      <p:sp>
        <p:nvSpPr>
          <p:cNvPr id="4" name="Text 2"/>
          <p:cNvSpPr txBox="1"/>
          <p:nvPr/>
        </p:nvSpPr>
        <p:spPr>
          <a:xfrm>
            <a:off x="548640" y="246888"/>
            <a:ext cx="7772400" cy="256032"/>
          </a:xfrm>
          <a:prstGeom prst="rect">
            <a:avLst/>
          </a:prstGeom>
          <a:noFill/>
          <a:ln/>
        </p:spPr>
        <p:txBody>
          <a:bodyPr wrap="square" lIns="0" tIns="0" rIns="0" bIns="0" rtlCol="0" anchor="t"/>
          <a:lstStyle/>
          <a:p>
            <a:pPr marL="0" indent="0">
              <a:buNone/>
            </a:pPr>
            <a:r>
              <a:rPr lang="en-US" sz="1100" b="1" kern="0" spc="500" dirty="0">
                <a:solidFill>
                  <a:srgbClr val="E4572E"/>
                </a:solidFill>
                <a:latin typeface="Calibri" pitchFamily="34" charset="0"/>
                <a:ea typeface="Calibri" pitchFamily="34" charset="-122"/>
                <a:cs typeface="Calibri" pitchFamily="34" charset="-120"/>
              </a:rPr>
              <a:t>PLATFORM INVENTORY</a:t>
            </a:r>
            <a:endParaRPr lang="en-US" sz="1100" dirty="0"/>
          </a:p>
        </p:txBody>
      </p:sp>
      <p:sp>
        <p:nvSpPr>
          <p:cNvPr id="5" name="Text 3"/>
          <p:cNvSpPr txBox="1"/>
          <p:nvPr/>
        </p:nvSpPr>
        <p:spPr>
          <a:xfrm>
            <a:off x="548640" y="502920"/>
            <a:ext cx="941832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UI applications and backend services</a:t>
            </a:r>
            <a:endParaRPr lang="en-US" sz="2700" dirty="0"/>
          </a:p>
        </p:txBody>
      </p:sp>
      <p:sp>
        <p:nvSpPr>
          <p:cNvPr id="8" name="Text 6"/>
          <p:cNvSpPr txBox="1"/>
          <p:nvPr/>
        </p:nvSpPr>
        <p:spPr>
          <a:xfrm>
            <a:off x="548640" y="6510528"/>
            <a:ext cx="5486400" cy="201168"/>
          </a:xfrm>
          <a:prstGeom prst="rect">
            <a:avLst/>
          </a:prstGeom>
          <a:noFill/>
          <a:ln/>
        </p:spPr>
        <p:txBody>
          <a:bodyPr wrap="square" lIns="0" tIns="0" rIns="0" bIns="0" rtlCol="0" anchor="t"/>
          <a:lstStyle/>
          <a:p>
            <a:pPr marL="0" indent="0">
              <a:buNone/>
            </a:pPr>
            <a:r>
              <a:rPr lang="en-US" sz="900" dirty="0">
                <a:solidFill>
                  <a:srgbClr val="5A6272"/>
                </a:solidFill>
                <a:latin typeface="Calibri" pitchFamily="34" charset="0"/>
                <a:ea typeface="Calibri" pitchFamily="34" charset="-122"/>
                <a:cs typeface="Calibri" pitchFamily="34" charset="-120"/>
              </a:rPr>
              <a:t>CCM Architecture Deep Dive  |  GuideWell internal</a:t>
            </a:r>
            <a:endParaRPr lang="en-US" sz="900" dirty="0"/>
          </a:p>
        </p:txBody>
      </p:sp>
      <p:sp>
        <p:nvSpPr>
          <p:cNvPr id="9" name="Text 7"/>
          <p:cNvSpPr txBox="1"/>
          <p:nvPr/>
        </p:nvSpPr>
        <p:spPr>
          <a:xfrm>
            <a:off x="10728655" y="6510528"/>
            <a:ext cx="914400" cy="201168"/>
          </a:xfrm>
          <a:prstGeom prst="rect">
            <a:avLst/>
          </a:prstGeom>
          <a:noFill/>
          <a:ln/>
        </p:spPr>
        <p:txBody>
          <a:bodyPr wrap="square" lIns="0" tIns="0" rIns="0" bIns="0" rtlCol="0" anchor="t"/>
          <a:lstStyle/>
          <a:p>
            <a:pPr marL="0" indent="0" algn="r">
              <a:buNone/>
            </a:pPr>
            <a:r>
              <a:rPr lang="en-US" sz="900" dirty="0">
                <a:solidFill>
                  <a:srgbClr val="5A6272"/>
                </a:solidFill>
                <a:latin typeface="Calibri" pitchFamily="34" charset="0"/>
                <a:ea typeface="Calibri" pitchFamily="34" charset="-122"/>
                <a:cs typeface="Calibri" pitchFamily="34" charset="-120"/>
              </a:rPr>
              <a:t>4</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3784126220"/>
              </p:ext>
            </p:extLst>
          </p:nvPr>
        </p:nvGraphicFramePr>
        <p:xfrm>
          <a:off x="548640" y="1371600"/>
          <a:ext cx="11091672" cy="4663440"/>
        </p:xfrm>
        <a:graphic>
          <a:graphicData uri="http://schemas.openxmlformats.org/drawingml/2006/table">
            <a:tbl>
              <a:tblPr/>
              <a:tblGrid>
                <a:gridCol w="2514600">
                  <a:extLst>
                    <a:ext uri="{9D8B030D-6E8A-4147-A177-3AD203B41FA5}">
                      <a16:colId xmlns:a16="http://schemas.microsoft.com/office/drawing/2014/main" val="20000"/>
                    </a:ext>
                  </a:extLst>
                </a:gridCol>
                <a:gridCol w="1417320">
                  <a:extLst>
                    <a:ext uri="{9D8B030D-6E8A-4147-A177-3AD203B41FA5}">
                      <a16:colId xmlns:a16="http://schemas.microsoft.com/office/drawing/2014/main" val="20001"/>
                    </a:ext>
                  </a:extLst>
                </a:gridCol>
                <a:gridCol w="4434840">
                  <a:extLst>
                    <a:ext uri="{9D8B030D-6E8A-4147-A177-3AD203B41FA5}">
                      <a16:colId xmlns:a16="http://schemas.microsoft.com/office/drawing/2014/main" val="20002"/>
                    </a:ext>
                  </a:extLst>
                </a:gridCol>
                <a:gridCol w="2724912">
                  <a:extLst>
                    <a:ext uri="{9D8B030D-6E8A-4147-A177-3AD203B41FA5}">
                      <a16:colId xmlns:a16="http://schemas.microsoft.com/office/drawing/2014/main" val="20003"/>
                    </a:ext>
                  </a:extLst>
                </a:gridCol>
              </a:tblGrid>
              <a:tr h="27432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Name</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3D4757"/>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Type</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3D4757"/>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3D4757"/>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Runs on</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3D4757"/>
                    </a:solidFill>
                  </a:tcPr>
                </a:tc>
                <a:extLst>
                  <a:ext uri="{0D108BD9-81ED-4DB2-BD59-A6C34878D82A}">
                    <a16:rowId xmlns:a16="http://schemas.microsoft.com/office/drawing/2014/main" val="10000"/>
                  </a:ext>
                </a:extLst>
              </a:tr>
              <a:tr h="274320">
                <a:tc gridSpan="4">
                  <a:txBody>
                    <a:bodyPr/>
                    <a:lstStyle/>
                    <a:p>
                      <a:pPr marL="0" indent="0">
                        <a:buNone/>
                      </a:pPr>
                      <a:r>
                        <a:rPr lang="en-US" sz="1000" b="1" kern="0" spc="300" dirty="0">
                          <a:solidFill>
                            <a:srgbClr val="FFFFFF"/>
                          </a:solidFill>
                          <a:latin typeface="Calibri" pitchFamily="34" charset="0"/>
                          <a:ea typeface="Calibri" pitchFamily="34" charset="-122"/>
                          <a:cs typeface="Calibri" pitchFamily="34" charset="-120"/>
                        </a:rPr>
                        <a:t>UI APPLICATIONS  ·  5</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0E1A33"/>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Recon Dashboard</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Web UI</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Business self-service: tracking, suppression, templates, contracts, short URLs</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ccm-dcs-prod · recon-dashboard.bcbsfl.com</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CCM On-Demand Reusable UI</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Web UI (React/Node)</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Template lookup and hand-off to Inspire Interactive</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ccm-dcs-prod · ccm-ondemand.bcbsfl.com</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Inspire Interactive</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Vendor UI</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Letter authoring, approval and submission</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Inspire R15 · P413–P417</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Inspire Designer</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Vendor Design tool</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Template design and data transformation</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Quadient Inspire</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Power BI CCM Reports</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Reporting UI</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Email, SMS, print and URL audit reporting</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srsps0063 · CCM_Reports_Prod</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gridSpan="4">
                  <a:txBody>
                    <a:bodyPr/>
                    <a:lstStyle/>
                    <a:p>
                      <a:pPr marL="0" indent="0">
                        <a:buNone/>
                      </a:pPr>
                      <a:r>
                        <a:rPr lang="en-US" sz="1000" b="1" kern="0" spc="300" dirty="0">
                          <a:solidFill>
                            <a:srgbClr val="FFFFFF"/>
                          </a:solidFill>
                          <a:latin typeface="Calibri" pitchFamily="34" charset="0"/>
                          <a:ea typeface="Calibri" pitchFamily="34" charset="-122"/>
                          <a:cs typeface="Calibri" pitchFamily="34" charset="-120"/>
                        </a:rPr>
                        <a:t>BACKEND SERVICES  ·  9</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E4FC0"/>
                    </a:solidFill>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7"/>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data-retrieval-services</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REST</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Data retrieval for CCM consumers</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ccm-dcs-prod</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document-composition-services</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REST</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Document composition services</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ccm-dcs-prod</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recon-load-services</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REST</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Stores Content Central content IDs in Recon</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ccm-dcs-prod</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recon-services</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REST / scheduled</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Touchpoint creation (MSMQ) and reprocessing</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ccm-dcs-prod</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ccm-preprocessor-services</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REST</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Comm Request, line-type lookup, preprocessor APIs</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ccm-preprocessor-prod</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ccm-kafka-services</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REST / events</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Publishes content ID and EWoC task ID to Kafka</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ccm-preprocessor-prod</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ccm-urlshortnener-service</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REST</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URL shortener to shorten long links when using in text messages</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ccm-preprocessor-prod</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recon-realtime-load-service</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REST</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Real-time load of request details into Recon</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ccm-preprocessor-prod</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r h="274320">
                <a:tc>
                  <a:txBody>
                    <a:bodyPr/>
                    <a:lstStyle/>
                    <a:p>
                      <a:pPr marL="0" indent="0">
                        <a:buNone/>
                      </a:pPr>
                      <a:r>
                        <a:rPr lang="en-US" sz="1000" b="1" dirty="0">
                          <a:solidFill>
                            <a:srgbClr val="1C2330"/>
                          </a:solidFill>
                          <a:latin typeface="Calibri" pitchFamily="34" charset="0"/>
                          <a:ea typeface="Calibri" pitchFamily="34" charset="-122"/>
                          <a:cs typeface="Calibri" pitchFamily="34" charset="-120"/>
                        </a:rPr>
                        <a:t>SMS/MMS Response Handler</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REST</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1C2330"/>
                          </a:solidFill>
                          <a:latin typeface="Calibri" pitchFamily="34" charset="0"/>
                          <a:ea typeface="Calibri" pitchFamily="34" charset="-122"/>
                          <a:cs typeface="Calibri" pitchFamily="34" charset="-120"/>
                        </a:rPr>
                        <a:t>Loads SMS/MMS delivery status into Recon</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000" dirty="0">
                          <a:solidFill>
                            <a:srgbClr val="5A6272"/>
                          </a:solidFill>
                          <a:latin typeface="Calibri" pitchFamily="34" charset="0"/>
                          <a:ea typeface="Calibri" pitchFamily="34" charset="-122"/>
                          <a:cs typeface="Calibri" pitchFamily="34" charset="-120"/>
                        </a:rPr>
                        <a:t>sms-handler-prod</a:t>
                      </a:r>
                      <a:endParaRPr lang="en-US" sz="1000" dirty="0">
                        <a:latin typeface="Calibri" charset="0"/>
                        <a:ea typeface="Calibri" charset="0"/>
                        <a:cs typeface="Calibri" charset="0"/>
                      </a:endParaRPr>
                    </a:p>
                  </a:txBody>
                  <a:tcPr marL="76200" marR="76200" marT="25400" marB="254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141C2B"/>
          </a:solidFill>
          <a:ln/>
        </p:spPr>
        <p:txBody>
          <a:bodyPr/>
          <a:lstStyle/>
          <a:p>
            <a:endParaRPr lang="en-US"/>
          </a:p>
        </p:txBody>
      </p:sp>
      <p:sp>
        <p:nvSpPr>
          <p:cNvPr id="3" name="Shape 1"/>
          <p:cNvSpPr/>
          <p:nvPr/>
        </p:nvSpPr>
        <p:spPr>
          <a:xfrm>
            <a:off x="0" y="0"/>
            <a:ext cx="12191695" cy="45720"/>
          </a:xfrm>
          <a:prstGeom prst="rect">
            <a:avLst/>
          </a:prstGeom>
          <a:solidFill>
            <a:srgbClr val="E4572E"/>
          </a:solidFill>
          <a:ln/>
        </p:spPr>
        <p:txBody>
          <a:bodyPr/>
          <a:lstStyle/>
          <a:p>
            <a:endParaRPr lang="en-US"/>
          </a:p>
        </p:txBody>
      </p:sp>
      <p:sp>
        <p:nvSpPr>
          <p:cNvPr id="4" name="Text 2"/>
          <p:cNvSpPr txBox="1"/>
          <p:nvPr/>
        </p:nvSpPr>
        <p:spPr>
          <a:xfrm>
            <a:off x="548640" y="246888"/>
            <a:ext cx="7772400" cy="256032"/>
          </a:xfrm>
          <a:prstGeom prst="rect">
            <a:avLst/>
          </a:prstGeom>
          <a:noFill/>
          <a:ln/>
        </p:spPr>
        <p:txBody>
          <a:bodyPr wrap="square" lIns="0" tIns="0" rIns="0" bIns="0" rtlCol="0" anchor="t"/>
          <a:lstStyle/>
          <a:p>
            <a:pPr marL="0" indent="0">
              <a:buNone/>
            </a:pPr>
            <a:r>
              <a:rPr lang="en-US" sz="1100" b="1" kern="0" spc="500" dirty="0">
                <a:solidFill>
                  <a:srgbClr val="E4572E"/>
                </a:solidFill>
                <a:latin typeface="Calibri" pitchFamily="34" charset="0"/>
                <a:ea typeface="Calibri" pitchFamily="34" charset="-122"/>
                <a:cs typeface="Calibri" pitchFamily="34" charset="-120"/>
              </a:rPr>
              <a:t>INTEGRATION</a:t>
            </a:r>
            <a:endParaRPr lang="en-US" sz="1100" dirty="0"/>
          </a:p>
        </p:txBody>
      </p:sp>
      <p:sp>
        <p:nvSpPr>
          <p:cNvPr id="5" name="Text 3"/>
          <p:cNvSpPr txBox="1"/>
          <p:nvPr/>
        </p:nvSpPr>
        <p:spPr>
          <a:xfrm>
            <a:off x="548640" y="502920"/>
            <a:ext cx="941832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Three Integration Types, one delivery pipeline</a:t>
            </a:r>
            <a:endParaRPr lang="en-US" sz="2700" dirty="0"/>
          </a:p>
        </p:txBody>
      </p:sp>
      <p:sp>
        <p:nvSpPr>
          <p:cNvPr id="9" name="Text 7"/>
          <p:cNvSpPr txBox="1"/>
          <p:nvPr/>
        </p:nvSpPr>
        <p:spPr>
          <a:xfrm>
            <a:off x="10728655" y="6510528"/>
            <a:ext cx="914400" cy="201168"/>
          </a:xfrm>
          <a:prstGeom prst="rect">
            <a:avLst/>
          </a:prstGeom>
          <a:noFill/>
          <a:ln/>
        </p:spPr>
        <p:txBody>
          <a:bodyPr wrap="square" lIns="0" tIns="0" rIns="0" bIns="0" rtlCol="0" anchor="t"/>
          <a:lstStyle/>
          <a:p>
            <a:pPr marL="0" indent="0" algn="r">
              <a:buNone/>
            </a:pPr>
            <a:r>
              <a:rPr lang="en-US" sz="900" dirty="0">
                <a:solidFill>
                  <a:srgbClr val="5A6272"/>
                </a:solidFill>
                <a:latin typeface="Calibri" pitchFamily="34" charset="0"/>
                <a:ea typeface="Calibri" pitchFamily="34" charset="-122"/>
                <a:cs typeface="Calibri" pitchFamily="34" charset="-120"/>
              </a:rPr>
              <a:t>7</a:t>
            </a:r>
            <a:endParaRPr lang="en-US" sz="900" dirty="0"/>
          </a:p>
        </p:txBody>
      </p:sp>
      <p:sp>
        <p:nvSpPr>
          <p:cNvPr id="10" name="Shape 8"/>
          <p:cNvSpPr/>
          <p:nvPr/>
        </p:nvSpPr>
        <p:spPr>
          <a:xfrm>
            <a:off x="548640" y="1417320"/>
            <a:ext cx="3545738" cy="4846320"/>
          </a:xfrm>
          <a:prstGeom prst="rect">
            <a:avLst/>
          </a:prstGeom>
          <a:solidFill>
            <a:srgbClr val="E9EBEF"/>
          </a:solidFill>
          <a:ln/>
        </p:spPr>
        <p:txBody>
          <a:bodyPr/>
          <a:lstStyle/>
          <a:p>
            <a:endParaRPr lang="en-US"/>
          </a:p>
        </p:txBody>
      </p:sp>
      <p:sp>
        <p:nvSpPr>
          <p:cNvPr id="11" name="Shape 9"/>
          <p:cNvSpPr/>
          <p:nvPr/>
        </p:nvSpPr>
        <p:spPr>
          <a:xfrm>
            <a:off x="548640" y="1417320"/>
            <a:ext cx="3545738" cy="54864"/>
          </a:xfrm>
          <a:prstGeom prst="rect">
            <a:avLst/>
          </a:prstGeom>
          <a:solidFill>
            <a:srgbClr val="3B8FD4"/>
          </a:solidFill>
          <a:ln/>
        </p:spPr>
        <p:txBody>
          <a:bodyPr/>
          <a:lstStyle/>
          <a:p>
            <a:endParaRPr lang="en-US"/>
          </a:p>
        </p:txBody>
      </p:sp>
      <p:sp>
        <p:nvSpPr>
          <p:cNvPr id="12" name="Shape 10"/>
          <p:cNvSpPr/>
          <p:nvPr/>
        </p:nvSpPr>
        <p:spPr>
          <a:xfrm>
            <a:off x="548640" y="1417320"/>
            <a:ext cx="54864" cy="4846320"/>
          </a:xfrm>
          <a:prstGeom prst="rect">
            <a:avLst/>
          </a:prstGeom>
          <a:solidFill>
            <a:srgbClr val="3B8FD4"/>
          </a:solidFill>
          <a:ln/>
        </p:spPr>
        <p:txBody>
          <a:bodyPr/>
          <a:lstStyle/>
          <a:p>
            <a:endParaRPr lang="en-US"/>
          </a:p>
        </p:txBody>
      </p:sp>
      <p:sp>
        <p:nvSpPr>
          <p:cNvPr id="13" name="Text 11"/>
          <p:cNvSpPr txBox="1"/>
          <p:nvPr/>
        </p:nvSpPr>
        <p:spPr>
          <a:xfrm>
            <a:off x="731520" y="1536192"/>
            <a:ext cx="3271418" cy="237744"/>
          </a:xfrm>
          <a:prstGeom prst="rect">
            <a:avLst/>
          </a:prstGeom>
          <a:noFill/>
          <a:ln/>
        </p:spPr>
        <p:txBody>
          <a:bodyPr wrap="square" lIns="0" tIns="0" rIns="0" bIns="0" rtlCol="0" anchor="t"/>
          <a:lstStyle/>
          <a:p>
            <a:pPr marL="0" indent="0">
              <a:buNone/>
            </a:pPr>
            <a:r>
              <a:rPr lang="en-US" sz="1000" b="1" kern="0" spc="300" dirty="0">
                <a:solidFill>
                  <a:srgbClr val="3B8FD4"/>
                </a:solidFill>
                <a:latin typeface="Calibri" pitchFamily="34" charset="0"/>
                <a:ea typeface="Calibri" pitchFamily="34" charset="-122"/>
                <a:cs typeface="Calibri" pitchFamily="34" charset="-120"/>
              </a:rPr>
              <a:t>ON-DEMAND REUSABLE UI</a:t>
            </a:r>
            <a:endParaRPr lang="en-US" sz="1000" dirty="0"/>
          </a:p>
        </p:txBody>
      </p:sp>
      <p:sp>
        <p:nvSpPr>
          <p:cNvPr id="14" name="Text 12"/>
          <p:cNvSpPr txBox="1"/>
          <p:nvPr/>
        </p:nvSpPr>
        <p:spPr>
          <a:xfrm>
            <a:off x="749808" y="1856232"/>
            <a:ext cx="3179978" cy="457200"/>
          </a:xfrm>
          <a:prstGeom prst="rect">
            <a:avLst/>
          </a:prstGeom>
          <a:noFill/>
          <a:ln/>
        </p:spPr>
        <p:txBody>
          <a:bodyPr wrap="square" lIns="0" tIns="0" rIns="0" bIns="0" rtlCol="0" anchor="t"/>
          <a:lstStyle/>
          <a:p>
            <a:pPr marL="0" indent="0">
              <a:buNone/>
            </a:pPr>
            <a:r>
              <a:rPr lang="en-US" sz="1150" b="1" dirty="0">
                <a:solidFill>
                  <a:srgbClr val="3B8FD4"/>
                </a:solidFill>
                <a:latin typeface="Calibri" pitchFamily="34" charset="0"/>
                <a:ea typeface="Calibri" pitchFamily="34" charset="-122"/>
                <a:cs typeface="Calibri" pitchFamily="34" charset="-120"/>
              </a:rPr>
              <a:t>Best for  </a:t>
            </a:r>
            <a:r>
              <a:rPr lang="en-US" sz="1150" dirty="0">
                <a:solidFill>
                  <a:srgbClr val="1C2330"/>
                </a:solidFill>
                <a:latin typeface="Calibri" pitchFamily="34" charset="0"/>
                <a:ea typeface="Calibri" pitchFamily="34" charset="-122"/>
                <a:cs typeface="Calibri" pitchFamily="34" charset="-120"/>
              </a:rPr>
              <a:t>Service Advocates / Agents composing one-off letters while working a case.</a:t>
            </a:r>
            <a:endParaRPr lang="en-US" sz="1150" dirty="0"/>
          </a:p>
        </p:txBody>
      </p:sp>
      <p:sp>
        <p:nvSpPr>
          <p:cNvPr id="15" name="Shape 13"/>
          <p:cNvSpPr/>
          <p:nvPr/>
        </p:nvSpPr>
        <p:spPr>
          <a:xfrm>
            <a:off x="731520" y="2377440"/>
            <a:ext cx="3198266" cy="685800"/>
          </a:xfrm>
          <a:prstGeom prst="rect">
            <a:avLst/>
          </a:prstGeom>
          <a:solidFill>
            <a:srgbClr val="FFFFFF"/>
          </a:solidFill>
          <a:ln w="9525">
            <a:solidFill>
              <a:srgbClr val="D3D8DF"/>
            </a:solidFill>
            <a:prstDash val="solid"/>
          </a:ln>
        </p:spPr>
        <p:txBody>
          <a:bodyPr/>
          <a:lstStyle/>
          <a:p>
            <a:endParaRPr lang="en-US"/>
          </a:p>
        </p:txBody>
      </p:sp>
      <p:sp>
        <p:nvSpPr>
          <p:cNvPr id="16" name="Shape 14"/>
          <p:cNvSpPr/>
          <p:nvPr/>
        </p:nvSpPr>
        <p:spPr>
          <a:xfrm>
            <a:off x="841248" y="2560320"/>
            <a:ext cx="310896" cy="310896"/>
          </a:xfrm>
          <a:prstGeom prst="ellipse">
            <a:avLst/>
          </a:prstGeom>
          <a:solidFill>
            <a:srgbClr val="3B8FD4"/>
          </a:solidFill>
          <a:ln/>
        </p:spPr>
        <p:txBody>
          <a:bodyPr/>
          <a:lstStyle/>
          <a:p>
            <a:endParaRPr lang="en-US"/>
          </a:p>
        </p:txBody>
      </p:sp>
      <p:sp>
        <p:nvSpPr>
          <p:cNvPr id="17" name="Text 15"/>
          <p:cNvSpPr txBox="1"/>
          <p:nvPr/>
        </p:nvSpPr>
        <p:spPr>
          <a:xfrm>
            <a:off x="841248" y="25603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6"/>
          <p:cNvSpPr txBox="1"/>
          <p:nvPr/>
        </p:nvSpPr>
        <p:spPr>
          <a:xfrm>
            <a:off x="1261872" y="2432304"/>
            <a:ext cx="2558186" cy="585216"/>
          </a:xfrm>
          <a:prstGeom prst="rect">
            <a:avLst/>
          </a:prstGeom>
          <a:noFill/>
          <a:ln/>
        </p:spPr>
        <p:txBody>
          <a:bodyPr wrap="square" lIns="0" tIns="0" rIns="0" bIns="0" rtlCol="0" anchor="ctr"/>
          <a:lstStyle/>
          <a:p>
            <a:pPr marL="0" indent="0">
              <a:buNone/>
            </a:pPr>
            <a:r>
              <a:rPr lang="en-US" sz="1050" dirty="0">
                <a:solidFill>
                  <a:srgbClr val="1C2330"/>
                </a:solidFill>
                <a:latin typeface="Calibri" pitchFamily="34" charset="0"/>
                <a:ea typeface="Calibri" pitchFamily="34" charset="-122"/>
                <a:cs typeface="Calibri" pitchFamily="34" charset="-120"/>
              </a:rPr>
              <a:t>Source app (EWoC, Claims Workflow, OPL/Quest) opens the UI and passes data via postMessage.</a:t>
            </a:r>
            <a:endParaRPr lang="en-US" sz="1050" dirty="0"/>
          </a:p>
        </p:txBody>
      </p:sp>
      <p:sp>
        <p:nvSpPr>
          <p:cNvPr id="19" name="Shape 17"/>
          <p:cNvSpPr/>
          <p:nvPr/>
        </p:nvSpPr>
        <p:spPr>
          <a:xfrm>
            <a:off x="731520" y="3154680"/>
            <a:ext cx="3198266" cy="685800"/>
          </a:xfrm>
          <a:prstGeom prst="rect">
            <a:avLst/>
          </a:prstGeom>
          <a:solidFill>
            <a:srgbClr val="FFFFFF"/>
          </a:solidFill>
          <a:ln w="9525">
            <a:solidFill>
              <a:srgbClr val="D3D8DF"/>
            </a:solidFill>
            <a:prstDash val="solid"/>
          </a:ln>
        </p:spPr>
        <p:txBody>
          <a:bodyPr/>
          <a:lstStyle/>
          <a:p>
            <a:endParaRPr lang="en-US"/>
          </a:p>
        </p:txBody>
      </p:sp>
      <p:sp>
        <p:nvSpPr>
          <p:cNvPr id="20" name="Shape 18"/>
          <p:cNvSpPr/>
          <p:nvPr/>
        </p:nvSpPr>
        <p:spPr>
          <a:xfrm>
            <a:off x="841248" y="3337560"/>
            <a:ext cx="310896" cy="310896"/>
          </a:xfrm>
          <a:prstGeom prst="ellipse">
            <a:avLst/>
          </a:prstGeom>
          <a:solidFill>
            <a:srgbClr val="3B8FD4"/>
          </a:solidFill>
          <a:ln/>
        </p:spPr>
        <p:txBody>
          <a:bodyPr/>
          <a:lstStyle/>
          <a:p>
            <a:endParaRPr lang="en-US"/>
          </a:p>
        </p:txBody>
      </p:sp>
      <p:sp>
        <p:nvSpPr>
          <p:cNvPr id="21" name="Text 19"/>
          <p:cNvSpPr txBox="1"/>
          <p:nvPr/>
        </p:nvSpPr>
        <p:spPr>
          <a:xfrm>
            <a:off x="841248" y="333756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2" name="Text 20"/>
          <p:cNvSpPr txBox="1"/>
          <p:nvPr/>
        </p:nvSpPr>
        <p:spPr>
          <a:xfrm>
            <a:off x="1261872" y="3209544"/>
            <a:ext cx="2558186" cy="585216"/>
          </a:xfrm>
          <a:prstGeom prst="rect">
            <a:avLst/>
          </a:prstGeom>
          <a:noFill/>
          <a:ln/>
        </p:spPr>
        <p:txBody>
          <a:bodyPr wrap="square" lIns="0" tIns="0" rIns="0" bIns="0" rtlCol="0" anchor="ctr"/>
          <a:lstStyle/>
          <a:p>
            <a:pPr marL="0" indent="0">
              <a:buNone/>
            </a:pPr>
            <a:r>
              <a:rPr lang="en-US" sz="1050" dirty="0">
                <a:solidFill>
                  <a:srgbClr val="1C2330"/>
                </a:solidFill>
                <a:latin typeface="Calibri" pitchFamily="34" charset="0"/>
                <a:ea typeface="Calibri" pitchFamily="34" charset="-122"/>
                <a:cs typeface="Calibri" pitchFamily="34" charset="-120"/>
              </a:rPr>
              <a:t>Template Lookup returns only templates the user is entitled to.</a:t>
            </a:r>
            <a:endParaRPr lang="en-US" sz="1050" dirty="0"/>
          </a:p>
        </p:txBody>
      </p:sp>
      <p:sp>
        <p:nvSpPr>
          <p:cNvPr id="23" name="Shape 21"/>
          <p:cNvSpPr/>
          <p:nvPr/>
        </p:nvSpPr>
        <p:spPr>
          <a:xfrm>
            <a:off x="731520" y="3931920"/>
            <a:ext cx="3198266" cy="685800"/>
          </a:xfrm>
          <a:prstGeom prst="rect">
            <a:avLst/>
          </a:prstGeom>
          <a:solidFill>
            <a:srgbClr val="FFFFFF"/>
          </a:solidFill>
          <a:ln w="9525">
            <a:solidFill>
              <a:srgbClr val="D3D8DF"/>
            </a:solidFill>
            <a:prstDash val="solid"/>
          </a:ln>
        </p:spPr>
        <p:txBody>
          <a:bodyPr/>
          <a:lstStyle/>
          <a:p>
            <a:endParaRPr lang="en-US"/>
          </a:p>
        </p:txBody>
      </p:sp>
      <p:sp>
        <p:nvSpPr>
          <p:cNvPr id="24" name="Shape 22"/>
          <p:cNvSpPr/>
          <p:nvPr/>
        </p:nvSpPr>
        <p:spPr>
          <a:xfrm>
            <a:off x="841248" y="4114800"/>
            <a:ext cx="310896" cy="310896"/>
          </a:xfrm>
          <a:prstGeom prst="ellipse">
            <a:avLst/>
          </a:prstGeom>
          <a:solidFill>
            <a:srgbClr val="3B8FD4"/>
          </a:solidFill>
          <a:ln/>
        </p:spPr>
        <p:txBody>
          <a:bodyPr/>
          <a:lstStyle/>
          <a:p>
            <a:endParaRPr lang="en-US"/>
          </a:p>
        </p:txBody>
      </p:sp>
      <p:sp>
        <p:nvSpPr>
          <p:cNvPr id="25" name="Text 23"/>
          <p:cNvSpPr txBox="1"/>
          <p:nvPr/>
        </p:nvSpPr>
        <p:spPr>
          <a:xfrm>
            <a:off x="841248" y="41148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6" name="Text 24"/>
          <p:cNvSpPr txBox="1"/>
          <p:nvPr/>
        </p:nvSpPr>
        <p:spPr>
          <a:xfrm>
            <a:off x="1261872" y="3986784"/>
            <a:ext cx="2558186" cy="585216"/>
          </a:xfrm>
          <a:prstGeom prst="rect">
            <a:avLst/>
          </a:prstGeom>
          <a:noFill/>
          <a:ln/>
        </p:spPr>
        <p:txBody>
          <a:bodyPr wrap="square" lIns="0" tIns="0" rIns="0" bIns="0" rtlCol="0" anchor="ctr"/>
          <a:lstStyle/>
          <a:p>
            <a:pPr marL="0" indent="0">
              <a:buNone/>
            </a:pPr>
            <a:r>
              <a:rPr lang="en-US" sz="1050" dirty="0">
                <a:solidFill>
                  <a:srgbClr val="1C2330"/>
                </a:solidFill>
                <a:latin typeface="Calibri" pitchFamily="34" charset="0"/>
                <a:ea typeface="Calibri" pitchFamily="34" charset="-122"/>
                <a:cs typeface="Calibri" pitchFamily="34" charset="-120"/>
              </a:rPr>
              <a:t>CCM API saves the request in Recon, creates an Inspire ticket and returns its URL.</a:t>
            </a:r>
            <a:endParaRPr lang="en-US" sz="1050" dirty="0"/>
          </a:p>
        </p:txBody>
      </p:sp>
      <p:sp>
        <p:nvSpPr>
          <p:cNvPr id="27" name="Shape 25"/>
          <p:cNvSpPr/>
          <p:nvPr/>
        </p:nvSpPr>
        <p:spPr>
          <a:xfrm>
            <a:off x="731520" y="4709160"/>
            <a:ext cx="3198266" cy="685800"/>
          </a:xfrm>
          <a:prstGeom prst="rect">
            <a:avLst/>
          </a:prstGeom>
          <a:solidFill>
            <a:srgbClr val="FFFFFF"/>
          </a:solidFill>
          <a:ln w="9525">
            <a:solidFill>
              <a:srgbClr val="D3D8DF"/>
            </a:solidFill>
            <a:prstDash val="solid"/>
          </a:ln>
        </p:spPr>
        <p:txBody>
          <a:bodyPr/>
          <a:lstStyle/>
          <a:p>
            <a:endParaRPr lang="en-US"/>
          </a:p>
        </p:txBody>
      </p:sp>
      <p:sp>
        <p:nvSpPr>
          <p:cNvPr id="28" name="Shape 26"/>
          <p:cNvSpPr/>
          <p:nvPr/>
        </p:nvSpPr>
        <p:spPr>
          <a:xfrm>
            <a:off x="841248" y="4892040"/>
            <a:ext cx="310896" cy="310896"/>
          </a:xfrm>
          <a:prstGeom prst="ellipse">
            <a:avLst/>
          </a:prstGeom>
          <a:solidFill>
            <a:srgbClr val="3B8FD4"/>
          </a:solidFill>
          <a:ln/>
        </p:spPr>
        <p:txBody>
          <a:bodyPr/>
          <a:lstStyle/>
          <a:p>
            <a:endParaRPr lang="en-US"/>
          </a:p>
        </p:txBody>
      </p:sp>
      <p:sp>
        <p:nvSpPr>
          <p:cNvPr id="29" name="Text 27"/>
          <p:cNvSpPr txBox="1"/>
          <p:nvPr/>
        </p:nvSpPr>
        <p:spPr>
          <a:xfrm>
            <a:off x="841248" y="489204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0" name="Text 28"/>
          <p:cNvSpPr txBox="1"/>
          <p:nvPr/>
        </p:nvSpPr>
        <p:spPr>
          <a:xfrm>
            <a:off x="1261872" y="4764024"/>
            <a:ext cx="2558186" cy="585216"/>
          </a:xfrm>
          <a:prstGeom prst="rect">
            <a:avLst/>
          </a:prstGeom>
          <a:noFill/>
          <a:ln/>
        </p:spPr>
        <p:txBody>
          <a:bodyPr wrap="square" lIns="0" tIns="0" rIns="0" bIns="0" rtlCol="0" anchor="ctr"/>
          <a:lstStyle/>
          <a:p>
            <a:pPr marL="0" indent="0">
              <a:buNone/>
            </a:pPr>
            <a:r>
              <a:rPr lang="en-US" sz="1050" dirty="0">
                <a:solidFill>
                  <a:srgbClr val="1C2330"/>
                </a:solidFill>
                <a:latin typeface="Calibri" pitchFamily="34" charset="0"/>
                <a:ea typeface="Calibri" pitchFamily="34" charset="-122"/>
                <a:cs typeface="Calibri" pitchFamily="34" charset="-120"/>
              </a:rPr>
              <a:t>User completes and submits the letter in Inspire Interactive; Kafka notifies the source app.</a:t>
            </a:r>
            <a:endParaRPr lang="en-US" sz="1050" dirty="0"/>
          </a:p>
        </p:txBody>
      </p:sp>
      <p:sp>
        <p:nvSpPr>
          <p:cNvPr id="31" name="Text 29"/>
          <p:cNvSpPr txBox="1"/>
          <p:nvPr/>
        </p:nvSpPr>
        <p:spPr>
          <a:xfrm>
            <a:off x="749808" y="5532120"/>
            <a:ext cx="3179978" cy="594360"/>
          </a:xfrm>
          <a:prstGeom prst="rect">
            <a:avLst/>
          </a:prstGeom>
          <a:noFill/>
          <a:ln/>
        </p:spPr>
        <p:txBody>
          <a:bodyPr wrap="square" lIns="0" tIns="0" rIns="0" bIns="0" rtlCol="0" anchor="t"/>
          <a:lstStyle/>
          <a:p>
            <a:pPr marL="0" indent="0">
              <a:buNone/>
            </a:pPr>
            <a:r>
              <a:rPr lang="en-US" sz="1050" b="1" dirty="0">
                <a:solidFill>
                  <a:srgbClr val="3B8FD4"/>
                </a:solidFill>
                <a:latin typeface="Calibri" pitchFamily="34" charset="0"/>
                <a:ea typeface="Calibri" pitchFamily="34" charset="-122"/>
                <a:cs typeface="Calibri" pitchFamily="34" charset="-120"/>
              </a:rPr>
              <a:t>Guardrail  </a:t>
            </a:r>
            <a:r>
              <a:rPr lang="en-US" sz="1050" dirty="0">
                <a:solidFill>
                  <a:srgbClr val="5A6272"/>
                </a:solidFill>
                <a:latin typeface="Calibri" pitchFamily="34" charset="0"/>
                <a:ea typeface="Calibri" pitchFamily="34" charset="-122"/>
                <a:cs typeface="Calibri" pitchFamily="34" charset="-120"/>
              </a:rPr>
              <a:t>PMI role ccm-ondemand-[env]-users; JWT + role validation.</a:t>
            </a:r>
            <a:endParaRPr lang="en-US" sz="1050" dirty="0"/>
          </a:p>
        </p:txBody>
      </p:sp>
      <p:sp>
        <p:nvSpPr>
          <p:cNvPr id="32" name="Shape 30"/>
          <p:cNvSpPr/>
          <p:nvPr/>
        </p:nvSpPr>
        <p:spPr>
          <a:xfrm>
            <a:off x="4322978" y="1417320"/>
            <a:ext cx="3545738" cy="4846320"/>
          </a:xfrm>
          <a:prstGeom prst="rect">
            <a:avLst/>
          </a:prstGeom>
          <a:solidFill>
            <a:srgbClr val="E9EBEF"/>
          </a:solidFill>
          <a:ln/>
        </p:spPr>
        <p:txBody>
          <a:bodyPr/>
          <a:lstStyle/>
          <a:p>
            <a:endParaRPr lang="en-US"/>
          </a:p>
        </p:txBody>
      </p:sp>
      <p:sp>
        <p:nvSpPr>
          <p:cNvPr id="33" name="Shape 31"/>
          <p:cNvSpPr/>
          <p:nvPr/>
        </p:nvSpPr>
        <p:spPr>
          <a:xfrm>
            <a:off x="4322978" y="1417320"/>
            <a:ext cx="3545738" cy="54864"/>
          </a:xfrm>
          <a:prstGeom prst="rect">
            <a:avLst/>
          </a:prstGeom>
          <a:solidFill>
            <a:srgbClr val="E4572E"/>
          </a:solidFill>
          <a:ln/>
        </p:spPr>
        <p:txBody>
          <a:bodyPr/>
          <a:lstStyle/>
          <a:p>
            <a:endParaRPr lang="en-US"/>
          </a:p>
        </p:txBody>
      </p:sp>
      <p:sp>
        <p:nvSpPr>
          <p:cNvPr id="34" name="Shape 32"/>
          <p:cNvSpPr/>
          <p:nvPr/>
        </p:nvSpPr>
        <p:spPr>
          <a:xfrm>
            <a:off x="4322978" y="1417320"/>
            <a:ext cx="54864" cy="4846320"/>
          </a:xfrm>
          <a:prstGeom prst="rect">
            <a:avLst/>
          </a:prstGeom>
          <a:solidFill>
            <a:srgbClr val="E4572E"/>
          </a:solidFill>
          <a:ln/>
        </p:spPr>
        <p:txBody>
          <a:bodyPr/>
          <a:lstStyle/>
          <a:p>
            <a:endParaRPr lang="en-US"/>
          </a:p>
        </p:txBody>
      </p:sp>
      <p:sp>
        <p:nvSpPr>
          <p:cNvPr id="35" name="Text 33"/>
          <p:cNvSpPr txBox="1"/>
          <p:nvPr/>
        </p:nvSpPr>
        <p:spPr>
          <a:xfrm>
            <a:off x="4505858" y="1536192"/>
            <a:ext cx="3271418" cy="237744"/>
          </a:xfrm>
          <a:prstGeom prst="rect">
            <a:avLst/>
          </a:prstGeom>
          <a:noFill/>
          <a:ln/>
        </p:spPr>
        <p:txBody>
          <a:bodyPr wrap="square" lIns="0" tIns="0" rIns="0" bIns="0" rtlCol="0" anchor="t"/>
          <a:lstStyle/>
          <a:p>
            <a:pPr marL="0" indent="0">
              <a:buNone/>
            </a:pPr>
            <a:r>
              <a:rPr lang="en-US" sz="1000" b="1" kern="0" spc="300" dirty="0">
                <a:solidFill>
                  <a:srgbClr val="E4572E"/>
                </a:solidFill>
                <a:latin typeface="Calibri" pitchFamily="34" charset="0"/>
                <a:ea typeface="Calibri" pitchFamily="34" charset="-122"/>
                <a:cs typeface="Calibri" pitchFamily="34" charset="-120"/>
              </a:rPr>
              <a:t>REAL-TIME CCM API</a:t>
            </a:r>
            <a:endParaRPr lang="en-US" sz="1000" dirty="0"/>
          </a:p>
        </p:txBody>
      </p:sp>
      <p:sp>
        <p:nvSpPr>
          <p:cNvPr id="36" name="Text 34"/>
          <p:cNvSpPr txBox="1"/>
          <p:nvPr/>
        </p:nvSpPr>
        <p:spPr>
          <a:xfrm>
            <a:off x="4524146" y="1856232"/>
            <a:ext cx="3179978" cy="457200"/>
          </a:xfrm>
          <a:prstGeom prst="rect">
            <a:avLst/>
          </a:prstGeom>
          <a:noFill/>
          <a:ln/>
        </p:spPr>
        <p:txBody>
          <a:bodyPr wrap="square" lIns="0" tIns="0" rIns="0" bIns="0" rtlCol="0" anchor="t"/>
          <a:lstStyle/>
          <a:p>
            <a:pPr marL="0" indent="0">
              <a:buNone/>
            </a:pPr>
            <a:r>
              <a:rPr lang="en-US" sz="1150" b="1" dirty="0">
                <a:solidFill>
                  <a:srgbClr val="E4572E"/>
                </a:solidFill>
                <a:latin typeface="Calibri" pitchFamily="34" charset="0"/>
                <a:ea typeface="Calibri" pitchFamily="34" charset="-122"/>
                <a:cs typeface="Calibri" pitchFamily="34" charset="-120"/>
              </a:rPr>
              <a:t>Best for  </a:t>
            </a:r>
            <a:r>
              <a:rPr lang="en-US" sz="1150" dirty="0">
                <a:solidFill>
                  <a:srgbClr val="1C2330"/>
                </a:solidFill>
                <a:latin typeface="Calibri" pitchFamily="34" charset="0"/>
                <a:ea typeface="Calibri" pitchFamily="34" charset="-122"/>
                <a:cs typeface="Calibri" pitchFamily="34" charset="-120"/>
              </a:rPr>
              <a:t>Event-driven, single messages triggered by a system.</a:t>
            </a:r>
            <a:endParaRPr lang="en-US" sz="1150" dirty="0"/>
          </a:p>
        </p:txBody>
      </p:sp>
      <p:sp>
        <p:nvSpPr>
          <p:cNvPr id="37" name="Shape 35"/>
          <p:cNvSpPr/>
          <p:nvPr/>
        </p:nvSpPr>
        <p:spPr>
          <a:xfrm>
            <a:off x="4505858" y="2377440"/>
            <a:ext cx="3198266" cy="685800"/>
          </a:xfrm>
          <a:prstGeom prst="rect">
            <a:avLst/>
          </a:prstGeom>
          <a:solidFill>
            <a:srgbClr val="FFFFFF"/>
          </a:solidFill>
          <a:ln w="9525">
            <a:solidFill>
              <a:srgbClr val="D3D8DF"/>
            </a:solidFill>
            <a:prstDash val="solid"/>
          </a:ln>
        </p:spPr>
        <p:txBody>
          <a:bodyPr/>
          <a:lstStyle/>
          <a:p>
            <a:endParaRPr lang="en-US"/>
          </a:p>
        </p:txBody>
      </p:sp>
      <p:sp>
        <p:nvSpPr>
          <p:cNvPr id="38" name="Shape 36"/>
          <p:cNvSpPr/>
          <p:nvPr/>
        </p:nvSpPr>
        <p:spPr>
          <a:xfrm>
            <a:off x="4615586" y="2560320"/>
            <a:ext cx="310896" cy="310896"/>
          </a:xfrm>
          <a:prstGeom prst="ellipse">
            <a:avLst/>
          </a:prstGeom>
          <a:solidFill>
            <a:srgbClr val="E4572E"/>
          </a:solidFill>
          <a:ln/>
        </p:spPr>
        <p:txBody>
          <a:bodyPr/>
          <a:lstStyle/>
          <a:p>
            <a:endParaRPr lang="en-US"/>
          </a:p>
        </p:txBody>
      </p:sp>
      <p:sp>
        <p:nvSpPr>
          <p:cNvPr id="39" name="Text 37"/>
          <p:cNvSpPr txBox="1"/>
          <p:nvPr/>
        </p:nvSpPr>
        <p:spPr>
          <a:xfrm>
            <a:off x="4615586" y="25603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8"/>
          <p:cNvSpPr txBox="1"/>
          <p:nvPr/>
        </p:nvSpPr>
        <p:spPr>
          <a:xfrm>
            <a:off x="5036210" y="2432304"/>
            <a:ext cx="2558186" cy="585216"/>
          </a:xfrm>
          <a:prstGeom prst="rect">
            <a:avLst/>
          </a:prstGeom>
          <a:noFill/>
          <a:ln/>
        </p:spPr>
        <p:txBody>
          <a:bodyPr wrap="square" lIns="0" tIns="0" rIns="0" bIns="0" rtlCol="0" anchor="ctr"/>
          <a:lstStyle/>
          <a:p>
            <a:pPr marL="0" indent="0">
              <a:buNone/>
            </a:pPr>
            <a:r>
              <a:rPr lang="en-US" sz="1050" dirty="0">
                <a:solidFill>
                  <a:srgbClr val="1C2330"/>
                </a:solidFill>
                <a:latin typeface="Calibri" pitchFamily="34" charset="0"/>
                <a:ea typeface="Calibri" pitchFamily="34" charset="-122"/>
                <a:cs typeface="Calibri" pitchFamily="34" charset="-120"/>
              </a:rPr>
              <a:t>Source app calls the CCM API via DataPower with Party ID / HCCID, template, image URL and profile.</a:t>
            </a:r>
            <a:endParaRPr lang="en-US" sz="1050" dirty="0"/>
          </a:p>
        </p:txBody>
      </p:sp>
      <p:sp>
        <p:nvSpPr>
          <p:cNvPr id="41" name="Shape 39"/>
          <p:cNvSpPr/>
          <p:nvPr/>
        </p:nvSpPr>
        <p:spPr>
          <a:xfrm>
            <a:off x="4505858" y="3154680"/>
            <a:ext cx="3198266" cy="685800"/>
          </a:xfrm>
          <a:prstGeom prst="rect">
            <a:avLst/>
          </a:prstGeom>
          <a:solidFill>
            <a:srgbClr val="FFFFFF"/>
          </a:solidFill>
          <a:ln w="9525">
            <a:solidFill>
              <a:srgbClr val="D3D8DF"/>
            </a:solidFill>
            <a:prstDash val="solid"/>
          </a:ln>
        </p:spPr>
        <p:txBody>
          <a:bodyPr/>
          <a:lstStyle/>
          <a:p>
            <a:endParaRPr lang="en-US"/>
          </a:p>
        </p:txBody>
      </p:sp>
      <p:sp>
        <p:nvSpPr>
          <p:cNvPr id="42" name="Shape 40"/>
          <p:cNvSpPr/>
          <p:nvPr/>
        </p:nvSpPr>
        <p:spPr>
          <a:xfrm>
            <a:off x="4615586" y="3337560"/>
            <a:ext cx="310896" cy="310896"/>
          </a:xfrm>
          <a:prstGeom prst="ellipse">
            <a:avLst/>
          </a:prstGeom>
          <a:solidFill>
            <a:srgbClr val="E4572E"/>
          </a:solidFill>
          <a:ln/>
        </p:spPr>
        <p:txBody>
          <a:bodyPr/>
          <a:lstStyle/>
          <a:p>
            <a:endParaRPr lang="en-US"/>
          </a:p>
        </p:txBody>
      </p:sp>
      <p:sp>
        <p:nvSpPr>
          <p:cNvPr id="43" name="Text 41"/>
          <p:cNvSpPr txBox="1"/>
          <p:nvPr/>
        </p:nvSpPr>
        <p:spPr>
          <a:xfrm>
            <a:off x="4615586" y="333756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4" name="Text 42"/>
          <p:cNvSpPr txBox="1"/>
          <p:nvPr/>
        </p:nvSpPr>
        <p:spPr>
          <a:xfrm>
            <a:off x="5036210" y="3209544"/>
            <a:ext cx="2558186" cy="585216"/>
          </a:xfrm>
          <a:prstGeom prst="rect">
            <a:avLst/>
          </a:prstGeom>
          <a:noFill/>
          <a:ln/>
        </p:spPr>
        <p:txBody>
          <a:bodyPr wrap="square" lIns="0" tIns="0" rIns="0" bIns="0" rtlCol="0" anchor="ctr"/>
          <a:lstStyle/>
          <a:p>
            <a:pPr marL="0" indent="0">
              <a:buNone/>
            </a:pPr>
            <a:r>
              <a:rPr lang="en-US" sz="1050" dirty="0">
                <a:solidFill>
                  <a:srgbClr val="1C2330"/>
                </a:solidFill>
                <a:latin typeface="Calibri" pitchFamily="34" charset="0"/>
                <a:ea typeface="Calibri" pitchFamily="34" charset="-122"/>
                <a:cs typeface="Calibri" pitchFamily="34" charset="-120"/>
              </a:rPr>
              <a:t>Request and entitlements validated; rejections return to the caller.</a:t>
            </a:r>
            <a:endParaRPr lang="en-US" sz="1050" dirty="0"/>
          </a:p>
        </p:txBody>
      </p:sp>
      <p:sp>
        <p:nvSpPr>
          <p:cNvPr id="45" name="Shape 43"/>
          <p:cNvSpPr/>
          <p:nvPr/>
        </p:nvSpPr>
        <p:spPr>
          <a:xfrm>
            <a:off x="4505858" y="3931920"/>
            <a:ext cx="3198266" cy="685800"/>
          </a:xfrm>
          <a:prstGeom prst="rect">
            <a:avLst/>
          </a:prstGeom>
          <a:solidFill>
            <a:srgbClr val="FFFFFF"/>
          </a:solidFill>
          <a:ln w="9525">
            <a:solidFill>
              <a:srgbClr val="D3D8DF"/>
            </a:solidFill>
            <a:prstDash val="solid"/>
          </a:ln>
        </p:spPr>
        <p:txBody>
          <a:bodyPr/>
          <a:lstStyle/>
          <a:p>
            <a:endParaRPr lang="en-US"/>
          </a:p>
        </p:txBody>
      </p:sp>
      <p:sp>
        <p:nvSpPr>
          <p:cNvPr id="46" name="Shape 44"/>
          <p:cNvSpPr/>
          <p:nvPr/>
        </p:nvSpPr>
        <p:spPr>
          <a:xfrm>
            <a:off x="4615586" y="4114800"/>
            <a:ext cx="310896" cy="310896"/>
          </a:xfrm>
          <a:prstGeom prst="ellipse">
            <a:avLst/>
          </a:prstGeom>
          <a:solidFill>
            <a:srgbClr val="E4572E"/>
          </a:solidFill>
          <a:ln/>
        </p:spPr>
        <p:txBody>
          <a:bodyPr/>
          <a:lstStyle/>
          <a:p>
            <a:endParaRPr lang="en-US"/>
          </a:p>
        </p:txBody>
      </p:sp>
      <p:sp>
        <p:nvSpPr>
          <p:cNvPr id="47" name="Text 45"/>
          <p:cNvSpPr txBox="1"/>
          <p:nvPr/>
        </p:nvSpPr>
        <p:spPr>
          <a:xfrm>
            <a:off x="4615586" y="41148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6"/>
          <p:cNvSpPr txBox="1"/>
          <p:nvPr/>
        </p:nvSpPr>
        <p:spPr>
          <a:xfrm>
            <a:off x="5036210" y="3986784"/>
            <a:ext cx="2558186" cy="585216"/>
          </a:xfrm>
          <a:prstGeom prst="rect">
            <a:avLst/>
          </a:prstGeom>
          <a:noFill/>
          <a:ln/>
        </p:spPr>
        <p:txBody>
          <a:bodyPr wrap="square" lIns="0" tIns="0" rIns="0" bIns="0" rtlCol="0" anchor="ctr"/>
          <a:lstStyle/>
          <a:p>
            <a:pPr marL="0" indent="0">
              <a:buNone/>
            </a:pPr>
            <a:r>
              <a:rPr lang="en-US" sz="1050" dirty="0">
                <a:solidFill>
                  <a:srgbClr val="1C2330"/>
                </a:solidFill>
                <a:latin typeface="Calibri" pitchFamily="34" charset="0"/>
                <a:ea typeface="Calibri" pitchFamily="34" charset="-122"/>
                <a:cs typeface="Calibri" pitchFamily="34" charset="-120"/>
              </a:rPr>
              <a:t>Member mapped to party ID; profile and preferences pulled from P360; request saved to Recon.</a:t>
            </a:r>
            <a:endParaRPr lang="en-US" sz="1050" dirty="0"/>
          </a:p>
        </p:txBody>
      </p:sp>
      <p:sp>
        <p:nvSpPr>
          <p:cNvPr id="49" name="Shape 47"/>
          <p:cNvSpPr/>
          <p:nvPr/>
        </p:nvSpPr>
        <p:spPr>
          <a:xfrm>
            <a:off x="4505858" y="4709160"/>
            <a:ext cx="3198266" cy="685800"/>
          </a:xfrm>
          <a:prstGeom prst="rect">
            <a:avLst/>
          </a:prstGeom>
          <a:solidFill>
            <a:srgbClr val="FFFFFF"/>
          </a:solidFill>
          <a:ln w="9525">
            <a:solidFill>
              <a:srgbClr val="D3D8DF"/>
            </a:solidFill>
            <a:prstDash val="solid"/>
          </a:ln>
        </p:spPr>
        <p:txBody>
          <a:bodyPr/>
          <a:lstStyle/>
          <a:p>
            <a:endParaRPr lang="en-US"/>
          </a:p>
        </p:txBody>
      </p:sp>
      <p:sp>
        <p:nvSpPr>
          <p:cNvPr id="50" name="Shape 48"/>
          <p:cNvSpPr/>
          <p:nvPr/>
        </p:nvSpPr>
        <p:spPr>
          <a:xfrm>
            <a:off x="4615586" y="4892040"/>
            <a:ext cx="310896" cy="310896"/>
          </a:xfrm>
          <a:prstGeom prst="ellipse">
            <a:avLst/>
          </a:prstGeom>
          <a:solidFill>
            <a:srgbClr val="E4572E"/>
          </a:solidFill>
          <a:ln/>
        </p:spPr>
        <p:txBody>
          <a:bodyPr/>
          <a:lstStyle/>
          <a:p>
            <a:endParaRPr lang="en-US"/>
          </a:p>
        </p:txBody>
      </p:sp>
      <p:sp>
        <p:nvSpPr>
          <p:cNvPr id="51" name="Text 49"/>
          <p:cNvSpPr txBox="1"/>
          <p:nvPr/>
        </p:nvSpPr>
        <p:spPr>
          <a:xfrm>
            <a:off x="4615586" y="489204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2" name="Text 50"/>
          <p:cNvSpPr txBox="1"/>
          <p:nvPr/>
        </p:nvSpPr>
        <p:spPr>
          <a:xfrm>
            <a:off x="5036210" y="4764024"/>
            <a:ext cx="2558186" cy="585216"/>
          </a:xfrm>
          <a:prstGeom prst="rect">
            <a:avLst/>
          </a:prstGeom>
          <a:noFill/>
          <a:ln/>
        </p:spPr>
        <p:txBody>
          <a:bodyPr wrap="square" lIns="0" tIns="0" rIns="0" bIns="0" rtlCol="0" anchor="ctr"/>
          <a:lstStyle/>
          <a:p>
            <a:pPr marL="0" indent="0">
              <a:buNone/>
            </a:pPr>
            <a:r>
              <a:rPr lang="en-US" sz="1050" dirty="0">
                <a:solidFill>
                  <a:srgbClr val="1C2330"/>
                </a:solidFill>
                <a:latin typeface="Calibri" pitchFamily="34" charset="0"/>
                <a:ea typeface="Calibri" pitchFamily="34" charset="-122"/>
                <a:cs typeface="Calibri" pitchFamily="34" charset="-120"/>
              </a:rPr>
              <a:t>Inspire composes, archives the PDF and delivers per channel.</a:t>
            </a:r>
            <a:endParaRPr lang="en-US" sz="1050" dirty="0"/>
          </a:p>
        </p:txBody>
      </p:sp>
      <p:sp>
        <p:nvSpPr>
          <p:cNvPr id="53" name="Text 51"/>
          <p:cNvSpPr txBox="1"/>
          <p:nvPr/>
        </p:nvSpPr>
        <p:spPr>
          <a:xfrm>
            <a:off x="4524146" y="5532120"/>
            <a:ext cx="3179978" cy="594360"/>
          </a:xfrm>
          <a:prstGeom prst="rect">
            <a:avLst/>
          </a:prstGeom>
          <a:noFill/>
          <a:ln/>
        </p:spPr>
        <p:txBody>
          <a:bodyPr wrap="square" lIns="0" tIns="0" rIns="0" bIns="0" rtlCol="0" anchor="t"/>
          <a:lstStyle/>
          <a:p>
            <a:pPr marL="0" indent="0">
              <a:buNone/>
            </a:pPr>
            <a:r>
              <a:rPr lang="en-US" sz="1050" b="1" dirty="0">
                <a:solidFill>
                  <a:srgbClr val="E4572E"/>
                </a:solidFill>
                <a:latin typeface="Calibri" pitchFamily="34" charset="0"/>
                <a:ea typeface="Calibri" pitchFamily="34" charset="-122"/>
                <a:cs typeface="Calibri" pitchFamily="34" charset="-120"/>
              </a:rPr>
              <a:t>Guardrail  </a:t>
            </a:r>
            <a:r>
              <a:rPr lang="en-US" sz="1050" dirty="0">
                <a:solidFill>
                  <a:srgbClr val="5A6272"/>
                </a:solidFill>
                <a:latin typeface="Calibri" pitchFamily="34" charset="0"/>
                <a:ea typeface="Calibri" pitchFamily="34" charset="-122"/>
                <a:cs typeface="Calibri" pitchFamily="34" charset="-120"/>
              </a:rPr>
              <a:t>Request and entitlement validation at the API.</a:t>
            </a:r>
            <a:endParaRPr lang="en-US" sz="1050" dirty="0"/>
          </a:p>
        </p:txBody>
      </p:sp>
      <p:sp>
        <p:nvSpPr>
          <p:cNvPr id="54" name="Shape 52"/>
          <p:cNvSpPr/>
          <p:nvPr/>
        </p:nvSpPr>
        <p:spPr>
          <a:xfrm>
            <a:off x="8097317" y="1417320"/>
            <a:ext cx="3545738" cy="4846320"/>
          </a:xfrm>
          <a:prstGeom prst="rect">
            <a:avLst/>
          </a:prstGeom>
          <a:solidFill>
            <a:srgbClr val="E9EBEF"/>
          </a:solidFill>
          <a:ln/>
        </p:spPr>
        <p:txBody>
          <a:bodyPr/>
          <a:lstStyle/>
          <a:p>
            <a:endParaRPr lang="en-US"/>
          </a:p>
        </p:txBody>
      </p:sp>
      <p:sp>
        <p:nvSpPr>
          <p:cNvPr id="55" name="Shape 53"/>
          <p:cNvSpPr/>
          <p:nvPr/>
        </p:nvSpPr>
        <p:spPr>
          <a:xfrm>
            <a:off x="8097317" y="1417320"/>
            <a:ext cx="3545738" cy="54864"/>
          </a:xfrm>
          <a:prstGeom prst="rect">
            <a:avLst/>
          </a:prstGeom>
          <a:solidFill>
            <a:srgbClr val="6A30D8"/>
          </a:solidFill>
          <a:ln/>
        </p:spPr>
        <p:txBody>
          <a:bodyPr/>
          <a:lstStyle/>
          <a:p>
            <a:endParaRPr lang="en-US"/>
          </a:p>
        </p:txBody>
      </p:sp>
      <p:sp>
        <p:nvSpPr>
          <p:cNvPr id="56" name="Shape 54"/>
          <p:cNvSpPr/>
          <p:nvPr/>
        </p:nvSpPr>
        <p:spPr>
          <a:xfrm>
            <a:off x="8097317" y="1417320"/>
            <a:ext cx="54864" cy="4846320"/>
          </a:xfrm>
          <a:prstGeom prst="rect">
            <a:avLst/>
          </a:prstGeom>
          <a:solidFill>
            <a:srgbClr val="6A30D8"/>
          </a:solidFill>
          <a:ln/>
        </p:spPr>
        <p:txBody>
          <a:bodyPr/>
          <a:lstStyle/>
          <a:p>
            <a:endParaRPr lang="en-US"/>
          </a:p>
        </p:txBody>
      </p:sp>
      <p:sp>
        <p:nvSpPr>
          <p:cNvPr id="57" name="Text 55"/>
          <p:cNvSpPr txBox="1"/>
          <p:nvPr/>
        </p:nvSpPr>
        <p:spPr>
          <a:xfrm>
            <a:off x="8280197" y="1536192"/>
            <a:ext cx="3271418" cy="237744"/>
          </a:xfrm>
          <a:prstGeom prst="rect">
            <a:avLst/>
          </a:prstGeom>
          <a:noFill/>
          <a:ln/>
        </p:spPr>
        <p:txBody>
          <a:bodyPr wrap="square" lIns="0" tIns="0" rIns="0" bIns="0" rtlCol="0" anchor="t"/>
          <a:lstStyle/>
          <a:p>
            <a:pPr marL="0" indent="0">
              <a:buNone/>
            </a:pPr>
            <a:r>
              <a:rPr lang="en-US" sz="1000" b="1" kern="0" spc="300" dirty="0">
                <a:solidFill>
                  <a:srgbClr val="6A30D8"/>
                </a:solidFill>
                <a:latin typeface="Calibri" pitchFamily="34" charset="0"/>
                <a:ea typeface="Calibri" pitchFamily="34" charset="-122"/>
                <a:cs typeface="Calibri" pitchFamily="34" charset="-120"/>
              </a:rPr>
              <a:t>BATCH PREPROCESSOR</a:t>
            </a:r>
            <a:endParaRPr lang="en-US" sz="1000" dirty="0"/>
          </a:p>
        </p:txBody>
      </p:sp>
      <p:sp>
        <p:nvSpPr>
          <p:cNvPr id="58" name="Text 56"/>
          <p:cNvSpPr txBox="1"/>
          <p:nvPr/>
        </p:nvSpPr>
        <p:spPr>
          <a:xfrm>
            <a:off x="8298485" y="1856232"/>
            <a:ext cx="3179978" cy="457200"/>
          </a:xfrm>
          <a:prstGeom prst="rect">
            <a:avLst/>
          </a:prstGeom>
          <a:noFill/>
          <a:ln/>
        </p:spPr>
        <p:txBody>
          <a:bodyPr wrap="square" lIns="0" tIns="0" rIns="0" bIns="0" rtlCol="0" anchor="t"/>
          <a:lstStyle/>
          <a:p>
            <a:pPr marL="0" indent="0">
              <a:buNone/>
            </a:pPr>
            <a:r>
              <a:rPr lang="en-US" sz="1150" b="1" dirty="0">
                <a:solidFill>
                  <a:srgbClr val="6A30D8"/>
                </a:solidFill>
                <a:latin typeface="Calibri" pitchFamily="34" charset="0"/>
                <a:ea typeface="Calibri" pitchFamily="34" charset="-122"/>
                <a:cs typeface="Calibri" pitchFamily="34" charset="-120"/>
              </a:rPr>
              <a:t>Best for  </a:t>
            </a:r>
            <a:r>
              <a:rPr lang="en-US" sz="1150" dirty="0">
                <a:solidFill>
                  <a:srgbClr val="1C2330"/>
                </a:solidFill>
                <a:latin typeface="Calibri" pitchFamily="34" charset="0"/>
                <a:ea typeface="Calibri" pitchFamily="34" charset="-122"/>
                <a:cs typeface="Calibri" pitchFamily="34" charset="-120"/>
              </a:rPr>
              <a:t>High-volume, scheduled communications.</a:t>
            </a:r>
            <a:endParaRPr lang="en-US" sz="1150" dirty="0"/>
          </a:p>
        </p:txBody>
      </p:sp>
      <p:sp>
        <p:nvSpPr>
          <p:cNvPr id="59" name="Shape 57"/>
          <p:cNvSpPr/>
          <p:nvPr/>
        </p:nvSpPr>
        <p:spPr>
          <a:xfrm>
            <a:off x="8280197" y="2377440"/>
            <a:ext cx="3198266" cy="685800"/>
          </a:xfrm>
          <a:prstGeom prst="rect">
            <a:avLst/>
          </a:prstGeom>
          <a:solidFill>
            <a:srgbClr val="FFFFFF"/>
          </a:solidFill>
          <a:ln w="9525">
            <a:solidFill>
              <a:srgbClr val="D3D8DF"/>
            </a:solidFill>
            <a:prstDash val="solid"/>
          </a:ln>
        </p:spPr>
        <p:txBody>
          <a:bodyPr/>
          <a:lstStyle/>
          <a:p>
            <a:endParaRPr lang="en-US"/>
          </a:p>
        </p:txBody>
      </p:sp>
      <p:sp>
        <p:nvSpPr>
          <p:cNvPr id="60" name="Shape 58"/>
          <p:cNvSpPr/>
          <p:nvPr/>
        </p:nvSpPr>
        <p:spPr>
          <a:xfrm>
            <a:off x="8389925" y="2560320"/>
            <a:ext cx="310896" cy="310896"/>
          </a:xfrm>
          <a:prstGeom prst="ellipse">
            <a:avLst/>
          </a:prstGeom>
          <a:solidFill>
            <a:srgbClr val="6A30D8"/>
          </a:solidFill>
          <a:ln/>
        </p:spPr>
        <p:txBody>
          <a:bodyPr/>
          <a:lstStyle/>
          <a:p>
            <a:endParaRPr lang="en-US"/>
          </a:p>
        </p:txBody>
      </p:sp>
      <p:sp>
        <p:nvSpPr>
          <p:cNvPr id="61" name="Text 59"/>
          <p:cNvSpPr txBox="1"/>
          <p:nvPr/>
        </p:nvSpPr>
        <p:spPr>
          <a:xfrm>
            <a:off x="8389925" y="256032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2" name="Text 60"/>
          <p:cNvSpPr txBox="1"/>
          <p:nvPr/>
        </p:nvSpPr>
        <p:spPr>
          <a:xfrm>
            <a:off x="8810549" y="2432304"/>
            <a:ext cx="2558186" cy="585216"/>
          </a:xfrm>
          <a:prstGeom prst="rect">
            <a:avLst/>
          </a:prstGeom>
          <a:noFill/>
          <a:ln/>
        </p:spPr>
        <p:txBody>
          <a:bodyPr wrap="square" lIns="0" tIns="0" rIns="0" bIns="0" rtlCol="0" anchor="ctr"/>
          <a:lstStyle/>
          <a:p>
            <a:pPr marL="0" indent="0">
              <a:buNone/>
            </a:pPr>
            <a:r>
              <a:rPr lang="en-US" sz="1050" dirty="0">
                <a:solidFill>
                  <a:srgbClr val="1C2330"/>
                </a:solidFill>
                <a:latin typeface="Calibri" pitchFamily="34" charset="0"/>
                <a:ea typeface="Calibri" pitchFamily="34" charset="-122"/>
                <a:cs typeface="Calibri" pitchFamily="34" charset="-120"/>
              </a:rPr>
              <a:t>Source app drops an input file; layout is defined in configuration.</a:t>
            </a:r>
            <a:endParaRPr lang="en-US" sz="1050" dirty="0"/>
          </a:p>
        </p:txBody>
      </p:sp>
      <p:sp>
        <p:nvSpPr>
          <p:cNvPr id="63" name="Shape 61"/>
          <p:cNvSpPr/>
          <p:nvPr/>
        </p:nvSpPr>
        <p:spPr>
          <a:xfrm>
            <a:off x="8280197" y="3154680"/>
            <a:ext cx="3198266" cy="685800"/>
          </a:xfrm>
          <a:prstGeom prst="rect">
            <a:avLst/>
          </a:prstGeom>
          <a:solidFill>
            <a:srgbClr val="FFFFFF"/>
          </a:solidFill>
          <a:ln w="9525">
            <a:solidFill>
              <a:srgbClr val="D3D8DF"/>
            </a:solidFill>
            <a:prstDash val="solid"/>
          </a:ln>
        </p:spPr>
        <p:txBody>
          <a:bodyPr/>
          <a:lstStyle/>
          <a:p>
            <a:endParaRPr lang="en-US"/>
          </a:p>
        </p:txBody>
      </p:sp>
      <p:sp>
        <p:nvSpPr>
          <p:cNvPr id="64" name="Shape 62"/>
          <p:cNvSpPr/>
          <p:nvPr/>
        </p:nvSpPr>
        <p:spPr>
          <a:xfrm>
            <a:off x="8389925" y="3337560"/>
            <a:ext cx="310896" cy="310896"/>
          </a:xfrm>
          <a:prstGeom prst="ellipse">
            <a:avLst/>
          </a:prstGeom>
          <a:solidFill>
            <a:srgbClr val="6A30D8"/>
          </a:solidFill>
          <a:ln/>
        </p:spPr>
        <p:txBody>
          <a:bodyPr/>
          <a:lstStyle/>
          <a:p>
            <a:endParaRPr lang="en-US"/>
          </a:p>
        </p:txBody>
      </p:sp>
      <p:sp>
        <p:nvSpPr>
          <p:cNvPr id="65" name="Text 63"/>
          <p:cNvSpPr txBox="1"/>
          <p:nvPr/>
        </p:nvSpPr>
        <p:spPr>
          <a:xfrm>
            <a:off x="8389925" y="333756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66" name="Text 64"/>
          <p:cNvSpPr txBox="1"/>
          <p:nvPr/>
        </p:nvSpPr>
        <p:spPr>
          <a:xfrm>
            <a:off x="8810549" y="3209544"/>
            <a:ext cx="2558186" cy="585216"/>
          </a:xfrm>
          <a:prstGeom prst="rect">
            <a:avLst/>
          </a:prstGeom>
          <a:noFill/>
          <a:ln/>
        </p:spPr>
        <p:txBody>
          <a:bodyPr wrap="square" lIns="0" tIns="0" rIns="0" bIns="0" rtlCol="0" anchor="ctr"/>
          <a:lstStyle/>
          <a:p>
            <a:pPr marL="0" indent="0">
              <a:buNone/>
            </a:pPr>
            <a:r>
              <a:rPr lang="en-US" sz="1050" dirty="0">
                <a:solidFill>
                  <a:srgbClr val="1C2330"/>
                </a:solidFill>
                <a:latin typeface="Calibri" pitchFamily="34" charset="0"/>
                <a:ea typeface="Calibri" pitchFamily="34" charset="-122"/>
                <a:cs typeface="Calibri" pitchFamily="34" charset="-120"/>
              </a:rPr>
              <a:t>Control-M runs the Spark preprocessor on Hadoop to parse and validate.</a:t>
            </a:r>
            <a:endParaRPr lang="en-US" sz="1050" dirty="0"/>
          </a:p>
        </p:txBody>
      </p:sp>
      <p:sp>
        <p:nvSpPr>
          <p:cNvPr id="67" name="Shape 65"/>
          <p:cNvSpPr/>
          <p:nvPr/>
        </p:nvSpPr>
        <p:spPr>
          <a:xfrm>
            <a:off x="8280197" y="3931920"/>
            <a:ext cx="3198266" cy="685800"/>
          </a:xfrm>
          <a:prstGeom prst="rect">
            <a:avLst/>
          </a:prstGeom>
          <a:solidFill>
            <a:srgbClr val="FFFFFF"/>
          </a:solidFill>
          <a:ln w="9525">
            <a:solidFill>
              <a:srgbClr val="D3D8DF"/>
            </a:solidFill>
            <a:prstDash val="solid"/>
          </a:ln>
        </p:spPr>
        <p:txBody>
          <a:bodyPr/>
          <a:lstStyle/>
          <a:p>
            <a:endParaRPr lang="en-US"/>
          </a:p>
        </p:txBody>
      </p:sp>
      <p:sp>
        <p:nvSpPr>
          <p:cNvPr id="68" name="Shape 66"/>
          <p:cNvSpPr/>
          <p:nvPr/>
        </p:nvSpPr>
        <p:spPr>
          <a:xfrm>
            <a:off x="8389925" y="4114800"/>
            <a:ext cx="310896" cy="310896"/>
          </a:xfrm>
          <a:prstGeom prst="ellipse">
            <a:avLst/>
          </a:prstGeom>
          <a:solidFill>
            <a:srgbClr val="6A30D8"/>
          </a:solidFill>
          <a:ln/>
        </p:spPr>
        <p:txBody>
          <a:bodyPr/>
          <a:lstStyle/>
          <a:p>
            <a:endParaRPr lang="en-US"/>
          </a:p>
        </p:txBody>
      </p:sp>
      <p:sp>
        <p:nvSpPr>
          <p:cNvPr id="69" name="Text 67"/>
          <p:cNvSpPr txBox="1"/>
          <p:nvPr/>
        </p:nvSpPr>
        <p:spPr>
          <a:xfrm>
            <a:off x="8389925" y="411480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70" name="Text 68"/>
          <p:cNvSpPr txBox="1"/>
          <p:nvPr/>
        </p:nvSpPr>
        <p:spPr>
          <a:xfrm>
            <a:off x="8810549" y="3986784"/>
            <a:ext cx="2558186" cy="585216"/>
          </a:xfrm>
          <a:prstGeom prst="rect">
            <a:avLst/>
          </a:prstGeom>
          <a:noFill/>
          <a:ln/>
        </p:spPr>
        <p:txBody>
          <a:bodyPr wrap="square" lIns="0" tIns="0" rIns="0" bIns="0" rtlCol="0" anchor="ctr"/>
          <a:lstStyle/>
          <a:p>
            <a:pPr marL="0" indent="0">
              <a:buNone/>
            </a:pPr>
            <a:r>
              <a:rPr lang="en-US" sz="1050" dirty="0">
                <a:solidFill>
                  <a:srgbClr val="1C2330"/>
                </a:solidFill>
                <a:latin typeface="Calibri" pitchFamily="34" charset="0"/>
                <a:ea typeface="Calibri" pitchFamily="34" charset="-122"/>
                <a:cs typeface="Calibri" pitchFamily="34" charset="-120"/>
              </a:rPr>
              <a:t>Records enriched from P360 and Snowflake; one request per channel per template config.</a:t>
            </a:r>
            <a:endParaRPr lang="en-US" sz="1050" dirty="0"/>
          </a:p>
        </p:txBody>
      </p:sp>
      <p:sp>
        <p:nvSpPr>
          <p:cNvPr id="71" name="Shape 69"/>
          <p:cNvSpPr/>
          <p:nvPr/>
        </p:nvSpPr>
        <p:spPr>
          <a:xfrm>
            <a:off x="8280197" y="4709160"/>
            <a:ext cx="3198266" cy="685800"/>
          </a:xfrm>
          <a:prstGeom prst="rect">
            <a:avLst/>
          </a:prstGeom>
          <a:solidFill>
            <a:srgbClr val="FFFFFF"/>
          </a:solidFill>
          <a:ln w="9525">
            <a:solidFill>
              <a:srgbClr val="D3D8DF"/>
            </a:solidFill>
            <a:prstDash val="solid"/>
          </a:ln>
        </p:spPr>
        <p:txBody>
          <a:bodyPr/>
          <a:lstStyle/>
          <a:p>
            <a:endParaRPr lang="en-US"/>
          </a:p>
        </p:txBody>
      </p:sp>
      <p:sp>
        <p:nvSpPr>
          <p:cNvPr id="72" name="Shape 70"/>
          <p:cNvSpPr/>
          <p:nvPr/>
        </p:nvSpPr>
        <p:spPr>
          <a:xfrm>
            <a:off x="8389925" y="4892040"/>
            <a:ext cx="310896" cy="310896"/>
          </a:xfrm>
          <a:prstGeom prst="ellipse">
            <a:avLst/>
          </a:prstGeom>
          <a:solidFill>
            <a:srgbClr val="6A30D8"/>
          </a:solidFill>
          <a:ln/>
        </p:spPr>
        <p:txBody>
          <a:bodyPr/>
          <a:lstStyle/>
          <a:p>
            <a:endParaRPr lang="en-US"/>
          </a:p>
        </p:txBody>
      </p:sp>
      <p:sp>
        <p:nvSpPr>
          <p:cNvPr id="73" name="Text 71"/>
          <p:cNvSpPr txBox="1"/>
          <p:nvPr/>
        </p:nvSpPr>
        <p:spPr>
          <a:xfrm>
            <a:off x="8389925" y="4892040"/>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74" name="Text 72"/>
          <p:cNvSpPr txBox="1"/>
          <p:nvPr/>
        </p:nvSpPr>
        <p:spPr>
          <a:xfrm>
            <a:off x="8810549" y="4764024"/>
            <a:ext cx="2558186" cy="585216"/>
          </a:xfrm>
          <a:prstGeom prst="rect">
            <a:avLst/>
          </a:prstGeom>
          <a:noFill/>
          <a:ln/>
        </p:spPr>
        <p:txBody>
          <a:bodyPr wrap="square" lIns="0" tIns="0" rIns="0" bIns="0" rtlCol="0" anchor="ctr"/>
          <a:lstStyle/>
          <a:p>
            <a:pPr marL="0" indent="0">
              <a:buNone/>
            </a:pPr>
            <a:r>
              <a:rPr lang="en-US" sz="1050" dirty="0">
                <a:solidFill>
                  <a:srgbClr val="1C2330"/>
                </a:solidFill>
                <a:latin typeface="Calibri" pitchFamily="34" charset="0"/>
                <a:ea typeface="Calibri" pitchFamily="34" charset="-122"/>
                <a:cs typeface="Calibri" pitchFamily="34" charset="-120"/>
              </a:rPr>
              <a:t>Inspire composes, archives and delivers; rejected records return as a file.</a:t>
            </a:r>
            <a:endParaRPr lang="en-US" sz="1050" dirty="0"/>
          </a:p>
        </p:txBody>
      </p:sp>
      <p:sp>
        <p:nvSpPr>
          <p:cNvPr id="75" name="Text 73"/>
          <p:cNvSpPr txBox="1"/>
          <p:nvPr/>
        </p:nvSpPr>
        <p:spPr>
          <a:xfrm>
            <a:off x="8298485" y="5532120"/>
            <a:ext cx="3179978" cy="594360"/>
          </a:xfrm>
          <a:prstGeom prst="rect">
            <a:avLst/>
          </a:prstGeom>
          <a:noFill/>
          <a:ln/>
        </p:spPr>
        <p:txBody>
          <a:bodyPr wrap="square" lIns="0" tIns="0" rIns="0" bIns="0" rtlCol="0" anchor="t"/>
          <a:lstStyle/>
          <a:p>
            <a:pPr marL="0" indent="0">
              <a:buNone/>
            </a:pPr>
            <a:r>
              <a:rPr lang="en-US" sz="1050" b="1" dirty="0">
                <a:solidFill>
                  <a:srgbClr val="6A30D8"/>
                </a:solidFill>
                <a:latin typeface="Calibri" pitchFamily="34" charset="0"/>
                <a:ea typeface="Calibri" pitchFamily="34" charset="-122"/>
                <a:cs typeface="Calibri" pitchFamily="34" charset="-120"/>
              </a:rPr>
              <a:t>Guardrail  </a:t>
            </a:r>
            <a:r>
              <a:rPr lang="en-US" sz="1050" dirty="0">
                <a:solidFill>
                  <a:srgbClr val="5A6272"/>
                </a:solidFill>
                <a:latin typeface="Calibri" pitchFamily="34" charset="0"/>
                <a:ea typeface="Calibri" pitchFamily="34" charset="-122"/>
                <a:cs typeface="Calibri" pitchFamily="34" charset="-120"/>
              </a:rPr>
              <a:t>Invalid records returned in a rejected-requests file.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141C2B"/>
          </a:solidFill>
          <a:ln/>
        </p:spPr>
        <p:txBody>
          <a:bodyPr/>
          <a:lstStyle/>
          <a:p>
            <a:endParaRPr lang="en-US"/>
          </a:p>
        </p:txBody>
      </p:sp>
      <p:sp>
        <p:nvSpPr>
          <p:cNvPr id="3" name="Shape 1"/>
          <p:cNvSpPr/>
          <p:nvPr/>
        </p:nvSpPr>
        <p:spPr>
          <a:xfrm>
            <a:off x="0" y="0"/>
            <a:ext cx="12191695" cy="45720"/>
          </a:xfrm>
          <a:prstGeom prst="rect">
            <a:avLst/>
          </a:prstGeom>
          <a:solidFill>
            <a:srgbClr val="E4572E"/>
          </a:solidFill>
          <a:ln/>
        </p:spPr>
        <p:txBody>
          <a:bodyPr/>
          <a:lstStyle/>
          <a:p>
            <a:endParaRPr lang="en-US"/>
          </a:p>
        </p:txBody>
      </p:sp>
      <p:sp>
        <p:nvSpPr>
          <p:cNvPr id="4" name="Text 2"/>
          <p:cNvSpPr txBox="1"/>
          <p:nvPr/>
        </p:nvSpPr>
        <p:spPr>
          <a:xfrm>
            <a:off x="548640" y="246888"/>
            <a:ext cx="7772400" cy="256032"/>
          </a:xfrm>
          <a:prstGeom prst="rect">
            <a:avLst/>
          </a:prstGeom>
          <a:noFill/>
          <a:ln/>
        </p:spPr>
        <p:txBody>
          <a:bodyPr wrap="square" lIns="0" tIns="0" rIns="0" bIns="0" rtlCol="0" anchor="t"/>
          <a:lstStyle/>
          <a:p>
            <a:pPr marL="0" indent="0">
              <a:buNone/>
            </a:pPr>
            <a:r>
              <a:rPr lang="en-US" sz="1100" b="1" kern="0" spc="500" dirty="0">
                <a:solidFill>
                  <a:srgbClr val="E4572E"/>
                </a:solidFill>
                <a:latin typeface="Calibri" pitchFamily="34" charset="0"/>
                <a:ea typeface="Calibri" pitchFamily="34" charset="-122"/>
                <a:cs typeface="Calibri" pitchFamily="34" charset="-120"/>
              </a:rPr>
              <a:t>DELIVERY</a:t>
            </a:r>
            <a:endParaRPr lang="en-US" sz="1100" dirty="0"/>
          </a:p>
        </p:txBody>
      </p:sp>
      <p:sp>
        <p:nvSpPr>
          <p:cNvPr id="5" name="Text 3"/>
          <p:cNvSpPr txBox="1"/>
          <p:nvPr/>
        </p:nvSpPr>
        <p:spPr>
          <a:xfrm>
            <a:off x="548640" y="502920"/>
            <a:ext cx="941832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How each channel is handed off and confirmed</a:t>
            </a:r>
            <a:endParaRPr lang="en-US" sz="2700" dirty="0"/>
          </a:p>
        </p:txBody>
      </p:sp>
      <p:sp>
        <p:nvSpPr>
          <p:cNvPr id="9" name="Text 7"/>
          <p:cNvSpPr txBox="1"/>
          <p:nvPr/>
        </p:nvSpPr>
        <p:spPr>
          <a:xfrm>
            <a:off x="10728655" y="6510528"/>
            <a:ext cx="914400" cy="201168"/>
          </a:xfrm>
          <a:prstGeom prst="rect">
            <a:avLst/>
          </a:prstGeom>
          <a:noFill/>
          <a:ln/>
        </p:spPr>
        <p:txBody>
          <a:bodyPr wrap="square" lIns="0" tIns="0" rIns="0" bIns="0" rtlCol="0" anchor="t"/>
          <a:lstStyle/>
          <a:p>
            <a:pPr marL="0" indent="0" algn="r">
              <a:buNone/>
            </a:pPr>
            <a:r>
              <a:rPr lang="en-US" sz="900" dirty="0">
                <a:solidFill>
                  <a:srgbClr val="5A6272"/>
                </a:solidFill>
                <a:latin typeface="Calibri" pitchFamily="34" charset="0"/>
                <a:ea typeface="Calibri" pitchFamily="34" charset="-122"/>
                <a:cs typeface="Calibri" pitchFamily="34" charset="-120"/>
              </a:rPr>
              <a:t>8</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829165434"/>
              </p:ext>
            </p:extLst>
          </p:nvPr>
        </p:nvGraphicFramePr>
        <p:xfrm>
          <a:off x="548640" y="1417320"/>
          <a:ext cx="11091672" cy="4069080"/>
        </p:xfrm>
        <a:graphic>
          <a:graphicData uri="http://schemas.openxmlformats.org/drawingml/2006/table">
            <a:tbl>
              <a:tblPr/>
              <a:tblGrid>
                <a:gridCol w="1417320">
                  <a:extLst>
                    <a:ext uri="{9D8B030D-6E8A-4147-A177-3AD203B41FA5}">
                      <a16:colId xmlns:a16="http://schemas.microsoft.com/office/drawing/2014/main" val="20000"/>
                    </a:ext>
                  </a:extLst>
                </a:gridCol>
                <a:gridCol w="214884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gridCol w="3456432">
                  <a:extLst>
                    <a:ext uri="{9D8B030D-6E8A-4147-A177-3AD203B41FA5}">
                      <a16:colId xmlns:a16="http://schemas.microsoft.com/office/drawing/2014/main" val="20003"/>
                    </a:ext>
                  </a:extLst>
                </a:gridCol>
              </a:tblGrid>
              <a:tr h="41148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Channel</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2F8F5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Vendor</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2F8F5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Hand-off from CCM</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2F8F57"/>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Delivery status back to CCM</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2F8F57"/>
                    </a:solidFill>
                  </a:tcPr>
                </a:tc>
                <a:extLst>
                  <a:ext uri="{0D108BD9-81ED-4DB2-BD59-A6C34878D82A}">
                    <a16:rowId xmlns:a16="http://schemas.microsoft.com/office/drawing/2014/main" val="10000"/>
                  </a:ext>
                </a:extLst>
              </a:tr>
              <a:tr h="731520">
                <a:tc>
                  <a:txBody>
                    <a:bodyPr/>
                    <a:lstStyle/>
                    <a:p>
                      <a:pPr marL="0" indent="0">
                        <a:buNone/>
                      </a:pPr>
                      <a:r>
                        <a:rPr lang="en-US" sz="1200" b="1" dirty="0">
                          <a:solidFill>
                            <a:srgbClr val="1C2330"/>
                          </a:solidFill>
                          <a:latin typeface="Calibri" pitchFamily="34" charset="0"/>
                          <a:ea typeface="Calibri" pitchFamily="34" charset="-122"/>
                          <a:cs typeface="Calibri" pitchFamily="34" charset="-120"/>
                        </a:rPr>
                        <a:t>Email</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Salesforce Marketing Cloud</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REST via DataPower; email links to Message Center</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Status file via SFTP inbox → Recon Batch Load</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buNone/>
                      </a:pPr>
                      <a:r>
                        <a:rPr lang="en-US" sz="1200" b="1" dirty="0">
                          <a:solidFill>
                            <a:srgbClr val="1C2330"/>
                          </a:solidFill>
                          <a:latin typeface="Calibri" pitchFamily="34" charset="0"/>
                          <a:ea typeface="Calibri" pitchFamily="34" charset="-122"/>
                          <a:cs typeface="Calibri" pitchFamily="34" charset="-120"/>
                        </a:rPr>
                        <a:t>SMS / MMS</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Twilio</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REST via DataPower; Twilio pulls MMS images from Bloomreach and transcodes</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SMS/MMS Response Handler → Recon</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31520">
                <a:tc>
                  <a:txBody>
                    <a:bodyPr/>
                    <a:lstStyle/>
                    <a:p>
                      <a:pPr marL="0" indent="0">
                        <a:buNone/>
                      </a:pPr>
                      <a:r>
                        <a:rPr lang="en-US" sz="1200" b="1" dirty="0">
                          <a:solidFill>
                            <a:srgbClr val="1C2330"/>
                          </a:solidFill>
                          <a:latin typeface="Calibri" pitchFamily="34" charset="0"/>
                          <a:ea typeface="Calibri" pitchFamily="34" charset="-122"/>
                          <a:cs typeface="Calibri" pitchFamily="34" charset="-120"/>
                        </a:rPr>
                        <a:t>Print</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Forge, O’Neil</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One consolidated file per vendor per day via SFTP outbox</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Status file via SFTP inbox → Recon Batch Load</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buNone/>
                      </a:pPr>
                      <a:r>
                        <a:rPr lang="en-US" sz="1200" b="1" dirty="0">
                          <a:solidFill>
                            <a:srgbClr val="1C2330"/>
                          </a:solidFill>
                          <a:latin typeface="Calibri" pitchFamily="34" charset="0"/>
                          <a:ea typeface="Calibri" pitchFamily="34" charset="-122"/>
                          <a:cs typeface="Calibri" pitchFamily="34" charset="-120"/>
                        </a:rPr>
                        <a:t>Digital</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Message Center</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Kafka event → EWoC → CAM Inventories → Message Center</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Content ID tracked in Recon; member reads after login</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31520">
                <a:tc>
                  <a:txBody>
                    <a:bodyPr/>
                    <a:lstStyle/>
                    <a:p>
                      <a:pPr marL="0" indent="0">
                        <a:buNone/>
                      </a:pPr>
                      <a:r>
                        <a:rPr lang="en-US" sz="1200" b="1" dirty="0">
                          <a:solidFill>
                            <a:srgbClr val="1C2330"/>
                          </a:solidFill>
                          <a:latin typeface="Calibri" pitchFamily="34" charset="0"/>
                          <a:ea typeface="Calibri" pitchFamily="34" charset="-122"/>
                          <a:cs typeface="Calibri" pitchFamily="34" charset="-120"/>
                        </a:rPr>
                        <a:t>Archive</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ECMS / Content Central</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PDF generated and uploaded over REST</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marL="0" indent="0">
                        <a:buNone/>
                      </a:pPr>
                      <a:r>
                        <a:rPr lang="en-US" sz="1200" dirty="0">
                          <a:solidFill>
                            <a:srgbClr val="1C2330"/>
                          </a:solidFill>
                          <a:latin typeface="Calibri" pitchFamily="34" charset="0"/>
                          <a:ea typeface="Calibri" pitchFamily="34" charset="-122"/>
                          <a:cs typeface="Calibri" pitchFamily="34" charset="-120"/>
                        </a:rPr>
                        <a:t>Content ID stored by Recon Load Services; failures retried</a:t>
                      </a:r>
                      <a:endParaRPr lang="en-US" sz="1200" dirty="0">
                        <a:latin typeface="Calibri" charset="0"/>
                        <a:ea typeface="Calibri" charset="0"/>
                        <a:cs typeface="Calibri" charset="0"/>
                      </a:endParaRPr>
                    </a:p>
                  </a:txBody>
                  <a:tcPr marL="88900" marR="88900" marT="50800" marB="508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141C2B"/>
          </a:solidFill>
          <a:ln/>
        </p:spPr>
        <p:txBody>
          <a:bodyPr/>
          <a:lstStyle/>
          <a:p>
            <a:endParaRPr lang="en-US"/>
          </a:p>
        </p:txBody>
      </p:sp>
      <p:sp>
        <p:nvSpPr>
          <p:cNvPr id="3" name="Shape 1"/>
          <p:cNvSpPr/>
          <p:nvPr/>
        </p:nvSpPr>
        <p:spPr>
          <a:xfrm>
            <a:off x="0" y="0"/>
            <a:ext cx="12191695" cy="45720"/>
          </a:xfrm>
          <a:prstGeom prst="rect">
            <a:avLst/>
          </a:prstGeom>
          <a:solidFill>
            <a:srgbClr val="E4572E"/>
          </a:solidFill>
          <a:ln/>
        </p:spPr>
        <p:txBody>
          <a:bodyPr/>
          <a:lstStyle/>
          <a:p>
            <a:endParaRPr lang="en-US"/>
          </a:p>
        </p:txBody>
      </p:sp>
      <p:sp>
        <p:nvSpPr>
          <p:cNvPr id="4" name="Text 2"/>
          <p:cNvSpPr txBox="1"/>
          <p:nvPr/>
        </p:nvSpPr>
        <p:spPr>
          <a:xfrm>
            <a:off x="548640" y="246888"/>
            <a:ext cx="7772400" cy="256032"/>
          </a:xfrm>
          <a:prstGeom prst="rect">
            <a:avLst/>
          </a:prstGeom>
          <a:noFill/>
          <a:ln/>
        </p:spPr>
        <p:txBody>
          <a:bodyPr wrap="square" lIns="0" tIns="0" rIns="0" bIns="0" rtlCol="0" anchor="t"/>
          <a:lstStyle/>
          <a:p>
            <a:pPr marL="0" indent="0">
              <a:buNone/>
            </a:pPr>
            <a:r>
              <a:rPr lang="en-US" sz="1100" b="1" kern="0" spc="500" dirty="0">
                <a:solidFill>
                  <a:srgbClr val="E4572E"/>
                </a:solidFill>
                <a:latin typeface="Calibri" pitchFamily="34" charset="0"/>
                <a:ea typeface="Calibri" pitchFamily="34" charset="-122"/>
                <a:cs typeface="Calibri" pitchFamily="34" charset="-120"/>
              </a:rPr>
              <a:t>SHARED AND NEW SERVICES</a:t>
            </a:r>
            <a:endParaRPr lang="en-US" sz="1100" dirty="0"/>
          </a:p>
        </p:txBody>
      </p:sp>
      <p:sp>
        <p:nvSpPr>
          <p:cNvPr id="5" name="Text 3"/>
          <p:cNvSpPr txBox="1"/>
          <p:nvPr/>
        </p:nvSpPr>
        <p:spPr>
          <a:xfrm>
            <a:off x="548640" y="502920"/>
            <a:ext cx="941832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URL shortener and SMS line-type lookup</a:t>
            </a:r>
            <a:endParaRPr lang="en-US" sz="2700" dirty="0"/>
          </a:p>
        </p:txBody>
      </p:sp>
      <p:sp>
        <p:nvSpPr>
          <p:cNvPr id="9" name="Text 7"/>
          <p:cNvSpPr txBox="1"/>
          <p:nvPr/>
        </p:nvSpPr>
        <p:spPr>
          <a:xfrm>
            <a:off x="10728655" y="6510528"/>
            <a:ext cx="914400" cy="201168"/>
          </a:xfrm>
          <a:prstGeom prst="rect">
            <a:avLst/>
          </a:prstGeom>
          <a:noFill/>
          <a:ln/>
        </p:spPr>
        <p:txBody>
          <a:bodyPr wrap="square" lIns="0" tIns="0" rIns="0" bIns="0" rtlCol="0" anchor="t"/>
          <a:lstStyle/>
          <a:p>
            <a:pPr marL="0" indent="0" algn="r">
              <a:buNone/>
            </a:pPr>
            <a:r>
              <a:rPr lang="en-US" sz="900" dirty="0">
                <a:solidFill>
                  <a:srgbClr val="5A6272"/>
                </a:solidFill>
                <a:latin typeface="Calibri" pitchFamily="34" charset="0"/>
                <a:ea typeface="Calibri" pitchFamily="34" charset="-122"/>
                <a:cs typeface="Calibri" pitchFamily="34" charset="-120"/>
              </a:rPr>
              <a:t>10</a:t>
            </a:r>
            <a:endParaRPr lang="en-US" sz="900" dirty="0"/>
          </a:p>
        </p:txBody>
      </p:sp>
      <p:sp>
        <p:nvSpPr>
          <p:cNvPr id="10" name="Shape 8"/>
          <p:cNvSpPr/>
          <p:nvPr/>
        </p:nvSpPr>
        <p:spPr>
          <a:xfrm>
            <a:off x="548640" y="1371600"/>
            <a:ext cx="11094415" cy="2331720"/>
          </a:xfrm>
          <a:prstGeom prst="rect">
            <a:avLst/>
          </a:prstGeom>
          <a:solidFill>
            <a:srgbClr val="E9EBEF"/>
          </a:solidFill>
          <a:ln/>
        </p:spPr>
        <p:txBody>
          <a:bodyPr/>
          <a:lstStyle/>
          <a:p>
            <a:endParaRPr lang="en-US"/>
          </a:p>
        </p:txBody>
      </p:sp>
      <p:sp>
        <p:nvSpPr>
          <p:cNvPr id="11" name="Shape 9"/>
          <p:cNvSpPr/>
          <p:nvPr/>
        </p:nvSpPr>
        <p:spPr>
          <a:xfrm>
            <a:off x="548640" y="1371600"/>
            <a:ext cx="11094415" cy="54864"/>
          </a:xfrm>
          <a:prstGeom prst="rect">
            <a:avLst/>
          </a:prstGeom>
          <a:solidFill>
            <a:srgbClr val="3B8FD4"/>
          </a:solidFill>
          <a:ln/>
        </p:spPr>
        <p:txBody>
          <a:bodyPr/>
          <a:lstStyle/>
          <a:p>
            <a:endParaRPr lang="en-US"/>
          </a:p>
        </p:txBody>
      </p:sp>
      <p:sp>
        <p:nvSpPr>
          <p:cNvPr id="12" name="Shape 10"/>
          <p:cNvSpPr/>
          <p:nvPr/>
        </p:nvSpPr>
        <p:spPr>
          <a:xfrm>
            <a:off x="548640" y="1371600"/>
            <a:ext cx="54864" cy="2331720"/>
          </a:xfrm>
          <a:prstGeom prst="rect">
            <a:avLst/>
          </a:prstGeom>
          <a:solidFill>
            <a:srgbClr val="3B8FD4"/>
          </a:solidFill>
          <a:ln/>
        </p:spPr>
        <p:txBody>
          <a:bodyPr/>
          <a:lstStyle/>
          <a:p>
            <a:endParaRPr lang="en-US"/>
          </a:p>
        </p:txBody>
      </p:sp>
      <p:sp>
        <p:nvSpPr>
          <p:cNvPr id="13" name="Text 11"/>
          <p:cNvSpPr txBox="1"/>
          <p:nvPr/>
        </p:nvSpPr>
        <p:spPr>
          <a:xfrm>
            <a:off x="731520" y="1490472"/>
            <a:ext cx="10820095" cy="237744"/>
          </a:xfrm>
          <a:prstGeom prst="rect">
            <a:avLst/>
          </a:prstGeom>
          <a:noFill/>
          <a:ln/>
        </p:spPr>
        <p:txBody>
          <a:bodyPr wrap="square" lIns="0" tIns="0" rIns="0" bIns="0" rtlCol="0" anchor="t"/>
          <a:lstStyle/>
          <a:p>
            <a:pPr marL="0" indent="0">
              <a:buNone/>
            </a:pPr>
            <a:r>
              <a:rPr lang="en-US" sz="950" b="1" kern="0" spc="300" dirty="0">
                <a:solidFill>
                  <a:srgbClr val="3B8FD4"/>
                </a:solidFill>
                <a:latin typeface="Calibri" pitchFamily="34" charset="0"/>
                <a:ea typeface="Calibri" pitchFamily="34" charset="-122"/>
                <a:cs typeface="Calibri" pitchFamily="34" charset="-120"/>
              </a:rPr>
              <a:t>URL SHORTENER  ·  /CCM/API/V1/URLSHORTENER</a:t>
            </a:r>
            <a:endParaRPr lang="en-US" sz="950" dirty="0"/>
          </a:p>
        </p:txBody>
      </p:sp>
      <p:sp>
        <p:nvSpPr>
          <p:cNvPr id="14" name="Shape 12"/>
          <p:cNvSpPr/>
          <p:nvPr/>
        </p:nvSpPr>
        <p:spPr>
          <a:xfrm>
            <a:off x="731520" y="1783080"/>
            <a:ext cx="2834640" cy="914400"/>
          </a:xfrm>
          <a:prstGeom prst="rect">
            <a:avLst/>
          </a:prstGeom>
          <a:solidFill>
            <a:srgbClr val="FFFFFF"/>
          </a:solidFill>
          <a:ln w="9525">
            <a:solidFill>
              <a:srgbClr val="D3D8DF"/>
            </a:solidFill>
            <a:prstDash val="solid"/>
          </a:ln>
        </p:spPr>
        <p:txBody>
          <a:bodyPr/>
          <a:lstStyle/>
          <a:p>
            <a:endParaRPr lang="en-US"/>
          </a:p>
        </p:txBody>
      </p:sp>
      <p:sp>
        <p:nvSpPr>
          <p:cNvPr id="15" name="Text 13"/>
          <p:cNvSpPr txBox="1"/>
          <p:nvPr/>
        </p:nvSpPr>
        <p:spPr>
          <a:xfrm>
            <a:off x="822960" y="1783080"/>
            <a:ext cx="2651760" cy="914400"/>
          </a:xfrm>
          <a:prstGeom prst="rect">
            <a:avLst/>
          </a:prstGeom>
          <a:noFill/>
          <a:ln/>
        </p:spPr>
        <p:txBody>
          <a:bodyPr wrap="square" lIns="0" tIns="0" rIns="0" bIns="0" rtlCol="0" anchor="ctr"/>
          <a:lstStyle/>
          <a:p>
            <a:pPr marL="0" indent="0" algn="ctr">
              <a:buNone/>
            </a:pPr>
            <a:r>
              <a:rPr lang="en-US" sz="1200" b="1" dirty="0">
                <a:solidFill>
                  <a:srgbClr val="1C2330"/>
                </a:solidFill>
                <a:latin typeface="Calibri" pitchFamily="34" charset="0"/>
                <a:ea typeface="Calibri" pitchFamily="34" charset="-122"/>
                <a:cs typeface="Calibri" pitchFamily="34" charset="-120"/>
              </a:rPr>
              <a:t>Requesters</a:t>
            </a:r>
            <a:endParaRPr lang="en-US" sz="1200" dirty="0"/>
          </a:p>
          <a:p>
            <a:pPr marL="0" indent="0" algn="ctr">
              <a:buNone/>
            </a:pPr>
            <a:r>
              <a:rPr lang="en-US" sz="1050" dirty="0">
                <a:solidFill>
                  <a:srgbClr val="5A6272"/>
                </a:solidFill>
                <a:latin typeface="Calibri" pitchFamily="34" charset="0"/>
                <a:ea typeface="Calibri" pitchFamily="34" charset="-122"/>
                <a:cs typeface="Calibri" pitchFamily="34" charset="-120"/>
              </a:rPr>
              <a:t>Recon Dashboard users (Read-URL, Update-URL); Smart IVR and other apps</a:t>
            </a:r>
            <a:endParaRPr lang="en-US" sz="1200" dirty="0"/>
          </a:p>
        </p:txBody>
      </p:sp>
      <p:sp>
        <p:nvSpPr>
          <p:cNvPr id="16" name="Shape 14"/>
          <p:cNvSpPr/>
          <p:nvPr/>
        </p:nvSpPr>
        <p:spPr>
          <a:xfrm>
            <a:off x="3566160" y="2240280"/>
            <a:ext cx="192938" cy="0"/>
          </a:xfrm>
          <a:prstGeom prst="line">
            <a:avLst/>
          </a:prstGeom>
          <a:noFill/>
          <a:ln w="19050">
            <a:solidFill>
              <a:srgbClr val="5A6272"/>
            </a:solidFill>
            <a:prstDash val="solid"/>
            <a:tailEnd type="triangle"/>
          </a:ln>
        </p:spPr>
        <p:txBody>
          <a:bodyPr/>
          <a:lstStyle/>
          <a:p>
            <a:endParaRPr lang="en-US"/>
          </a:p>
        </p:txBody>
      </p:sp>
      <p:sp>
        <p:nvSpPr>
          <p:cNvPr id="17" name="Shape 15"/>
          <p:cNvSpPr/>
          <p:nvPr/>
        </p:nvSpPr>
        <p:spPr>
          <a:xfrm>
            <a:off x="3759098" y="1783080"/>
            <a:ext cx="1463040" cy="914400"/>
          </a:xfrm>
          <a:prstGeom prst="rect">
            <a:avLst/>
          </a:prstGeom>
          <a:solidFill>
            <a:srgbClr val="FFFFFF"/>
          </a:solidFill>
          <a:ln w="9525">
            <a:solidFill>
              <a:srgbClr val="D3D8DF"/>
            </a:solidFill>
            <a:prstDash val="solid"/>
          </a:ln>
        </p:spPr>
        <p:txBody>
          <a:bodyPr/>
          <a:lstStyle/>
          <a:p>
            <a:endParaRPr lang="en-US"/>
          </a:p>
        </p:txBody>
      </p:sp>
      <p:sp>
        <p:nvSpPr>
          <p:cNvPr id="18" name="Text 16"/>
          <p:cNvSpPr txBox="1"/>
          <p:nvPr/>
        </p:nvSpPr>
        <p:spPr>
          <a:xfrm>
            <a:off x="3850538" y="1783080"/>
            <a:ext cx="1280160" cy="914400"/>
          </a:xfrm>
          <a:prstGeom prst="rect">
            <a:avLst/>
          </a:prstGeom>
          <a:noFill/>
          <a:ln/>
        </p:spPr>
        <p:txBody>
          <a:bodyPr wrap="square" lIns="0" tIns="0" rIns="0" bIns="0" rtlCol="0" anchor="ctr"/>
          <a:lstStyle/>
          <a:p>
            <a:pPr marL="0" indent="0" algn="ctr">
              <a:buNone/>
            </a:pPr>
            <a:r>
              <a:rPr lang="en-US" sz="1200" b="1" dirty="0">
                <a:solidFill>
                  <a:srgbClr val="1C2330"/>
                </a:solidFill>
                <a:latin typeface="Calibri" pitchFamily="34" charset="0"/>
                <a:ea typeface="Calibri" pitchFamily="34" charset="-122"/>
                <a:cs typeface="Calibri" pitchFamily="34" charset="-120"/>
              </a:rPr>
              <a:t>DataPower</a:t>
            </a:r>
            <a:endParaRPr lang="en-US" sz="1200" dirty="0"/>
          </a:p>
          <a:p>
            <a:pPr marL="0" indent="0" algn="ctr">
              <a:buNone/>
            </a:pPr>
            <a:r>
              <a:rPr lang="en-US" sz="1050" dirty="0">
                <a:solidFill>
                  <a:srgbClr val="5A6272"/>
                </a:solidFill>
                <a:latin typeface="Calibri" pitchFamily="34" charset="0"/>
                <a:ea typeface="Calibri" pitchFamily="34" charset="-122"/>
                <a:cs typeface="Calibri" pitchFamily="34" charset="-120"/>
              </a:rPr>
              <a:t>API gateway</a:t>
            </a:r>
            <a:endParaRPr lang="en-US" sz="1200" dirty="0"/>
          </a:p>
        </p:txBody>
      </p:sp>
      <p:sp>
        <p:nvSpPr>
          <p:cNvPr id="19" name="Shape 17"/>
          <p:cNvSpPr/>
          <p:nvPr/>
        </p:nvSpPr>
        <p:spPr>
          <a:xfrm>
            <a:off x="5222138" y="2240280"/>
            <a:ext cx="192938" cy="0"/>
          </a:xfrm>
          <a:prstGeom prst="line">
            <a:avLst/>
          </a:prstGeom>
          <a:noFill/>
          <a:ln w="19050">
            <a:solidFill>
              <a:srgbClr val="5A6272"/>
            </a:solidFill>
            <a:prstDash val="solid"/>
            <a:tailEnd type="triangle"/>
          </a:ln>
        </p:spPr>
        <p:txBody>
          <a:bodyPr/>
          <a:lstStyle/>
          <a:p>
            <a:endParaRPr lang="en-US"/>
          </a:p>
        </p:txBody>
      </p:sp>
      <p:sp>
        <p:nvSpPr>
          <p:cNvPr id="20" name="Shape 18"/>
          <p:cNvSpPr/>
          <p:nvPr/>
        </p:nvSpPr>
        <p:spPr>
          <a:xfrm>
            <a:off x="5415077" y="1783080"/>
            <a:ext cx="3017520" cy="914400"/>
          </a:xfrm>
          <a:prstGeom prst="rect">
            <a:avLst/>
          </a:prstGeom>
          <a:solidFill>
            <a:srgbClr val="3B8FD4"/>
          </a:solidFill>
          <a:ln/>
        </p:spPr>
        <p:txBody>
          <a:bodyPr/>
          <a:lstStyle/>
          <a:p>
            <a:endParaRPr lang="en-US"/>
          </a:p>
        </p:txBody>
      </p:sp>
      <p:sp>
        <p:nvSpPr>
          <p:cNvPr id="21" name="Text 19"/>
          <p:cNvSpPr txBox="1"/>
          <p:nvPr/>
        </p:nvSpPr>
        <p:spPr>
          <a:xfrm>
            <a:off x="5506517" y="1783080"/>
            <a:ext cx="283464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Shorten service</a:t>
            </a:r>
            <a:endParaRPr lang="en-US" sz="1200" dirty="0"/>
          </a:p>
          <a:p>
            <a:pPr marL="0" indent="0" algn="ctr">
              <a:buNone/>
            </a:pPr>
            <a:r>
              <a:rPr lang="en-US" sz="1050" dirty="0">
                <a:solidFill>
                  <a:srgbClr val="EEF2FB"/>
                </a:solidFill>
                <a:latin typeface="Calibri" pitchFamily="34" charset="0"/>
                <a:ea typeface="Calibri" pitchFamily="34" charset="-122"/>
                <a:cs typeface="Calibri" pitchFamily="34" charset="-120"/>
              </a:rPr>
              <a:t>7-char Base62 key (~3.5 trillion), DNS whitelist, HTTP encoding</a:t>
            </a:r>
            <a:endParaRPr lang="en-US" sz="1200" dirty="0"/>
          </a:p>
        </p:txBody>
      </p:sp>
      <p:sp>
        <p:nvSpPr>
          <p:cNvPr id="22" name="Shape 20"/>
          <p:cNvSpPr/>
          <p:nvPr/>
        </p:nvSpPr>
        <p:spPr>
          <a:xfrm>
            <a:off x="8432597" y="2240280"/>
            <a:ext cx="192938" cy="0"/>
          </a:xfrm>
          <a:prstGeom prst="line">
            <a:avLst/>
          </a:prstGeom>
          <a:noFill/>
          <a:ln w="19050">
            <a:solidFill>
              <a:srgbClr val="5A6272"/>
            </a:solidFill>
            <a:prstDash val="solid"/>
            <a:tailEnd type="triangle"/>
          </a:ln>
        </p:spPr>
        <p:txBody>
          <a:bodyPr/>
          <a:lstStyle/>
          <a:p>
            <a:endParaRPr lang="en-US"/>
          </a:p>
        </p:txBody>
      </p:sp>
      <p:sp>
        <p:nvSpPr>
          <p:cNvPr id="23" name="Shape 21"/>
          <p:cNvSpPr/>
          <p:nvPr/>
        </p:nvSpPr>
        <p:spPr>
          <a:xfrm>
            <a:off x="8625535" y="1783080"/>
            <a:ext cx="2834640" cy="914400"/>
          </a:xfrm>
          <a:prstGeom prst="rect">
            <a:avLst/>
          </a:prstGeom>
          <a:solidFill>
            <a:srgbClr val="FFFFFF"/>
          </a:solidFill>
          <a:ln w="9525">
            <a:solidFill>
              <a:srgbClr val="D3D8DF"/>
            </a:solidFill>
            <a:prstDash val="solid"/>
          </a:ln>
        </p:spPr>
        <p:txBody>
          <a:bodyPr/>
          <a:lstStyle/>
          <a:p>
            <a:endParaRPr lang="en-US"/>
          </a:p>
        </p:txBody>
      </p:sp>
      <p:sp>
        <p:nvSpPr>
          <p:cNvPr id="24" name="Text 22"/>
          <p:cNvSpPr txBox="1"/>
          <p:nvPr/>
        </p:nvSpPr>
        <p:spPr>
          <a:xfrm>
            <a:off x="8716975" y="1783080"/>
            <a:ext cx="2651760" cy="914400"/>
          </a:xfrm>
          <a:prstGeom prst="rect">
            <a:avLst/>
          </a:prstGeom>
          <a:noFill/>
          <a:ln/>
        </p:spPr>
        <p:txBody>
          <a:bodyPr wrap="square" lIns="0" tIns="0" rIns="0" bIns="0" rtlCol="0" anchor="ctr"/>
          <a:lstStyle/>
          <a:p>
            <a:pPr marL="0" indent="0" algn="ctr">
              <a:buNone/>
            </a:pPr>
            <a:r>
              <a:rPr lang="en-US" sz="1200" b="1" dirty="0">
                <a:solidFill>
                  <a:srgbClr val="1C2330"/>
                </a:solidFill>
                <a:latin typeface="Calibri" pitchFamily="34" charset="0"/>
                <a:ea typeface="Calibri" pitchFamily="34" charset="-122"/>
                <a:cs typeface="Calibri" pitchFamily="34" charset="-120"/>
              </a:rPr>
              <a:t>Recon (SQL)</a:t>
            </a:r>
            <a:endParaRPr lang="en-US" sz="1200" dirty="0"/>
          </a:p>
          <a:p>
            <a:pPr marL="0" indent="0" algn="ctr">
              <a:buNone/>
            </a:pPr>
            <a:r>
              <a:rPr lang="en-US" sz="1050" dirty="0">
                <a:solidFill>
                  <a:srgbClr val="5A6272"/>
                </a:solidFill>
                <a:latin typeface="Calibri" pitchFamily="34" charset="0"/>
                <a:ea typeface="Calibri" pitchFamily="34" charset="-122"/>
                <a:cs typeface="Calibri" pitchFamily="34" charset="-120"/>
              </a:rPr>
              <a:t>Short URL saved; request written to audit tables; logs to Splunk</a:t>
            </a:r>
            <a:endParaRPr lang="en-US" sz="1200" dirty="0"/>
          </a:p>
        </p:txBody>
      </p:sp>
      <p:sp>
        <p:nvSpPr>
          <p:cNvPr id="25" name="Text 23"/>
          <p:cNvSpPr txBox="1"/>
          <p:nvPr/>
        </p:nvSpPr>
        <p:spPr>
          <a:xfrm>
            <a:off x="731520" y="2926080"/>
            <a:ext cx="10728655" cy="548640"/>
          </a:xfrm>
          <a:prstGeom prst="rect">
            <a:avLst/>
          </a:prstGeom>
          <a:noFill/>
          <a:ln/>
        </p:spPr>
        <p:txBody>
          <a:bodyPr wrap="square" lIns="0" tIns="0" rIns="0" bIns="0" rtlCol="0" anchor="ctr"/>
          <a:lstStyle/>
          <a:p>
            <a:pPr marL="0" indent="0">
              <a:buNone/>
            </a:pPr>
            <a:r>
              <a:rPr lang="en-US" sz="1100" b="1" dirty="0">
                <a:solidFill>
                  <a:srgbClr val="1C2330"/>
                </a:solidFill>
                <a:latin typeface="Calibri" pitchFamily="34" charset="0"/>
                <a:ea typeface="Calibri" pitchFamily="34" charset="-122"/>
                <a:cs typeface="Calibri" pitchFamily="34" charset="-120"/>
              </a:rPr>
              <a:t>Request: </a:t>
            </a:r>
            <a:r>
              <a:rPr lang="en-US" sz="1100" dirty="0" err="1">
                <a:solidFill>
                  <a:srgbClr val="1C2330"/>
                </a:solidFill>
                <a:latin typeface="Courier New" pitchFamily="34" charset="0"/>
                <a:ea typeface="Courier New" pitchFamily="34" charset="-122"/>
                <a:cs typeface="Courier New" pitchFamily="34" charset="-120"/>
              </a:rPr>
              <a:t>long_url</a:t>
            </a:r>
            <a:r>
              <a:rPr lang="en-US" sz="1100" dirty="0">
                <a:solidFill>
                  <a:srgbClr val="1C2330"/>
                </a:solidFill>
                <a:latin typeface="Courier New" pitchFamily="34" charset="0"/>
                <a:ea typeface="Courier New" pitchFamily="34" charset="-122"/>
                <a:cs typeface="Courier New" pitchFamily="34" charset="-120"/>
              </a:rPr>
              <a:t>, </a:t>
            </a:r>
            <a:r>
              <a:rPr lang="en-US" sz="1100" dirty="0" err="1">
                <a:solidFill>
                  <a:srgbClr val="1C2330"/>
                </a:solidFill>
                <a:latin typeface="Courier New" pitchFamily="34" charset="0"/>
                <a:ea typeface="Courier New" pitchFamily="34" charset="-122"/>
                <a:cs typeface="Courier New" pitchFamily="34" charset="-120"/>
              </a:rPr>
              <a:t>expire_date</a:t>
            </a:r>
            <a:r>
              <a:rPr lang="en-US" sz="1100" dirty="0">
                <a:solidFill>
                  <a:srgbClr val="1C2330"/>
                </a:solidFill>
                <a:latin typeface="Courier New" pitchFamily="34" charset="0"/>
                <a:ea typeface="Courier New" pitchFamily="34" charset="-122"/>
                <a:cs typeface="Courier New" pitchFamily="34" charset="-120"/>
              </a:rPr>
              <a:t>, </a:t>
            </a:r>
            <a:r>
              <a:rPr lang="en-US" sz="1100" dirty="0" err="1">
                <a:solidFill>
                  <a:srgbClr val="1C2330"/>
                </a:solidFill>
                <a:latin typeface="Courier New" pitchFamily="34" charset="0"/>
                <a:ea typeface="Courier New" pitchFamily="34" charset="-122"/>
                <a:cs typeface="Courier New" pitchFamily="34" charset="-120"/>
              </a:rPr>
              <a:t>app_id</a:t>
            </a:r>
            <a:r>
              <a:rPr lang="en-US" sz="1100" dirty="0">
                <a:solidFill>
                  <a:srgbClr val="1C2330"/>
                </a:solidFill>
                <a:latin typeface="Courier New" pitchFamily="34" charset="0"/>
                <a:ea typeface="Courier New" pitchFamily="34" charset="-122"/>
                <a:cs typeface="Courier New" pitchFamily="34" charset="-120"/>
              </a:rPr>
              <a:t>, </a:t>
            </a:r>
            <a:r>
              <a:rPr lang="en-US" sz="1100" dirty="0" err="1">
                <a:solidFill>
                  <a:srgbClr val="1C2330"/>
                </a:solidFill>
                <a:latin typeface="Courier New" pitchFamily="34" charset="0"/>
                <a:ea typeface="Courier New" pitchFamily="34" charset="-122"/>
                <a:cs typeface="Courier New" pitchFamily="34" charset="-120"/>
              </a:rPr>
              <a:t>transaction_id</a:t>
            </a:r>
            <a:r>
              <a:rPr lang="en-US" sz="1100" dirty="0">
                <a:solidFill>
                  <a:srgbClr val="1C2330"/>
                </a:solidFill>
                <a:latin typeface="Courier New" pitchFamily="34" charset="0"/>
                <a:ea typeface="Courier New" pitchFamily="34" charset="-122"/>
                <a:cs typeface="Courier New" pitchFamily="34" charset="-120"/>
              </a:rPr>
              <a:t>     </a:t>
            </a:r>
            <a:r>
              <a:rPr lang="en-US" sz="1100" b="1" dirty="0">
                <a:solidFill>
                  <a:srgbClr val="1C2330"/>
                </a:solidFill>
                <a:latin typeface="Calibri" pitchFamily="34" charset="0"/>
                <a:ea typeface="Calibri" pitchFamily="34" charset="-122"/>
                <a:cs typeface="Calibri" pitchFamily="34" charset="-120"/>
              </a:rPr>
              <a:t>Response: </a:t>
            </a:r>
            <a:r>
              <a:rPr lang="en-US" sz="1100" dirty="0">
                <a:solidFill>
                  <a:srgbClr val="1C2330"/>
                </a:solidFill>
                <a:latin typeface="Courier New" pitchFamily="34" charset="0"/>
                <a:ea typeface="Courier New" pitchFamily="34" charset="-122"/>
                <a:cs typeface="Courier New" pitchFamily="34" charset="-120"/>
              </a:rPr>
              <a:t>long_url, short_url</a:t>
            </a:r>
            <a:endParaRPr lang="en-US" sz="1100" dirty="0"/>
          </a:p>
        </p:txBody>
      </p:sp>
      <p:sp>
        <p:nvSpPr>
          <p:cNvPr id="26" name="Shape 24"/>
          <p:cNvSpPr/>
          <p:nvPr/>
        </p:nvSpPr>
        <p:spPr>
          <a:xfrm>
            <a:off x="548640" y="3886200"/>
            <a:ext cx="11094415" cy="2377440"/>
          </a:xfrm>
          <a:prstGeom prst="rect">
            <a:avLst/>
          </a:prstGeom>
          <a:solidFill>
            <a:srgbClr val="E9EBEF"/>
          </a:solidFill>
          <a:ln/>
        </p:spPr>
        <p:txBody>
          <a:bodyPr/>
          <a:lstStyle/>
          <a:p>
            <a:endParaRPr lang="en-US"/>
          </a:p>
        </p:txBody>
      </p:sp>
      <p:sp>
        <p:nvSpPr>
          <p:cNvPr id="27" name="Shape 25"/>
          <p:cNvSpPr/>
          <p:nvPr/>
        </p:nvSpPr>
        <p:spPr>
          <a:xfrm>
            <a:off x="548640" y="3886200"/>
            <a:ext cx="11094415" cy="54864"/>
          </a:xfrm>
          <a:prstGeom prst="rect">
            <a:avLst/>
          </a:prstGeom>
          <a:solidFill>
            <a:srgbClr val="E4572E"/>
          </a:solidFill>
          <a:ln/>
        </p:spPr>
        <p:txBody>
          <a:bodyPr/>
          <a:lstStyle/>
          <a:p>
            <a:endParaRPr lang="en-US"/>
          </a:p>
        </p:txBody>
      </p:sp>
      <p:sp>
        <p:nvSpPr>
          <p:cNvPr id="28" name="Shape 26"/>
          <p:cNvSpPr/>
          <p:nvPr/>
        </p:nvSpPr>
        <p:spPr>
          <a:xfrm>
            <a:off x="548640" y="3886200"/>
            <a:ext cx="54864" cy="2377440"/>
          </a:xfrm>
          <a:prstGeom prst="rect">
            <a:avLst/>
          </a:prstGeom>
          <a:solidFill>
            <a:srgbClr val="E4572E"/>
          </a:solidFill>
          <a:ln/>
        </p:spPr>
        <p:txBody>
          <a:bodyPr/>
          <a:lstStyle/>
          <a:p>
            <a:endParaRPr lang="en-US"/>
          </a:p>
        </p:txBody>
      </p:sp>
      <p:sp>
        <p:nvSpPr>
          <p:cNvPr id="29" name="Text 27"/>
          <p:cNvSpPr txBox="1"/>
          <p:nvPr/>
        </p:nvSpPr>
        <p:spPr>
          <a:xfrm>
            <a:off x="731520" y="4005072"/>
            <a:ext cx="10820095" cy="237744"/>
          </a:xfrm>
          <a:prstGeom prst="rect">
            <a:avLst/>
          </a:prstGeom>
          <a:noFill/>
          <a:ln/>
        </p:spPr>
        <p:txBody>
          <a:bodyPr wrap="square" lIns="0" tIns="0" rIns="0" bIns="0" rtlCol="0" anchor="t"/>
          <a:lstStyle/>
          <a:p>
            <a:pPr marL="0" indent="0">
              <a:buNone/>
            </a:pPr>
            <a:r>
              <a:rPr lang="en-US" sz="950" b="1" kern="0" spc="300" dirty="0">
                <a:solidFill>
                  <a:srgbClr val="E4572E"/>
                </a:solidFill>
                <a:latin typeface="Calibri" pitchFamily="34" charset="0"/>
                <a:ea typeface="Calibri" pitchFamily="34" charset="-122"/>
                <a:cs typeface="Calibri" pitchFamily="34" charset="-120"/>
              </a:rPr>
              <a:t>SMS LINE-TYPE LOOKUP  ·  NEW, REQUIRED FOR SALES CONNECT / EDE</a:t>
            </a:r>
            <a:endParaRPr lang="en-US" sz="950" dirty="0"/>
          </a:p>
        </p:txBody>
      </p:sp>
      <p:sp>
        <p:nvSpPr>
          <p:cNvPr id="30" name="Shape 28"/>
          <p:cNvSpPr/>
          <p:nvPr/>
        </p:nvSpPr>
        <p:spPr>
          <a:xfrm>
            <a:off x="731520" y="4297680"/>
            <a:ext cx="2194560" cy="914400"/>
          </a:xfrm>
          <a:prstGeom prst="rect">
            <a:avLst/>
          </a:prstGeom>
          <a:solidFill>
            <a:srgbClr val="FFFFFF"/>
          </a:solidFill>
          <a:ln w="9525">
            <a:solidFill>
              <a:srgbClr val="D3D8DF"/>
            </a:solidFill>
            <a:prstDash val="solid"/>
          </a:ln>
        </p:spPr>
        <p:txBody>
          <a:bodyPr/>
          <a:lstStyle/>
          <a:p>
            <a:endParaRPr lang="en-US"/>
          </a:p>
        </p:txBody>
      </p:sp>
      <p:sp>
        <p:nvSpPr>
          <p:cNvPr id="31" name="Text 29"/>
          <p:cNvSpPr txBox="1"/>
          <p:nvPr/>
        </p:nvSpPr>
        <p:spPr>
          <a:xfrm>
            <a:off x="822960" y="4297680"/>
            <a:ext cx="2011680" cy="914400"/>
          </a:xfrm>
          <a:prstGeom prst="rect">
            <a:avLst/>
          </a:prstGeom>
          <a:noFill/>
          <a:ln/>
        </p:spPr>
        <p:txBody>
          <a:bodyPr wrap="square" lIns="0" tIns="0" rIns="0" bIns="0" rtlCol="0" anchor="ctr"/>
          <a:lstStyle/>
          <a:p>
            <a:pPr marL="0" indent="0" algn="ctr">
              <a:buNone/>
            </a:pPr>
            <a:r>
              <a:rPr lang="en-US" sz="1200" b="1" dirty="0">
                <a:solidFill>
                  <a:srgbClr val="1C2330"/>
                </a:solidFill>
                <a:latin typeface="Calibri" pitchFamily="34" charset="0"/>
                <a:ea typeface="Calibri" pitchFamily="34" charset="-122"/>
                <a:cs typeface="Calibri" pitchFamily="34" charset="-120"/>
              </a:rPr>
              <a:t>Sales Connect / EDE</a:t>
            </a:r>
            <a:endParaRPr lang="en-US" sz="1200" dirty="0"/>
          </a:p>
          <a:p>
            <a:pPr marL="0" indent="0" algn="ctr">
              <a:buNone/>
            </a:pPr>
            <a:r>
              <a:rPr lang="en-US" sz="1050" dirty="0">
                <a:solidFill>
                  <a:srgbClr val="5A6272"/>
                </a:solidFill>
                <a:latin typeface="Calibri" pitchFamily="34" charset="0"/>
                <a:ea typeface="Calibri" pitchFamily="34" charset="-122"/>
                <a:cs typeface="Calibri" pitchFamily="34" charset="-120"/>
              </a:rPr>
              <a:t>DivBiz, external</a:t>
            </a:r>
            <a:endParaRPr lang="en-US" sz="1200" dirty="0"/>
          </a:p>
        </p:txBody>
      </p:sp>
      <p:sp>
        <p:nvSpPr>
          <p:cNvPr id="32" name="Shape 30"/>
          <p:cNvSpPr/>
          <p:nvPr/>
        </p:nvSpPr>
        <p:spPr>
          <a:xfrm>
            <a:off x="2926080" y="4754880"/>
            <a:ext cx="314858" cy="0"/>
          </a:xfrm>
          <a:prstGeom prst="line">
            <a:avLst/>
          </a:prstGeom>
          <a:noFill/>
          <a:ln w="19050">
            <a:solidFill>
              <a:srgbClr val="5A6272"/>
            </a:solidFill>
            <a:prstDash val="solid"/>
            <a:tailEnd type="triangle"/>
          </a:ln>
        </p:spPr>
        <p:txBody>
          <a:bodyPr/>
          <a:lstStyle/>
          <a:p>
            <a:endParaRPr lang="en-US"/>
          </a:p>
        </p:txBody>
      </p:sp>
      <p:sp>
        <p:nvSpPr>
          <p:cNvPr id="33" name="Shape 31"/>
          <p:cNvSpPr/>
          <p:nvPr/>
        </p:nvSpPr>
        <p:spPr>
          <a:xfrm>
            <a:off x="3240938" y="4297680"/>
            <a:ext cx="2286000" cy="914400"/>
          </a:xfrm>
          <a:prstGeom prst="rect">
            <a:avLst/>
          </a:prstGeom>
          <a:solidFill>
            <a:srgbClr val="FFFFFF"/>
          </a:solidFill>
          <a:ln w="9525">
            <a:solidFill>
              <a:srgbClr val="D3D8DF"/>
            </a:solidFill>
            <a:prstDash val="solid"/>
          </a:ln>
        </p:spPr>
        <p:txBody>
          <a:bodyPr/>
          <a:lstStyle/>
          <a:p>
            <a:endParaRPr lang="en-US"/>
          </a:p>
        </p:txBody>
      </p:sp>
      <p:sp>
        <p:nvSpPr>
          <p:cNvPr id="34" name="Text 32"/>
          <p:cNvSpPr txBox="1"/>
          <p:nvPr/>
        </p:nvSpPr>
        <p:spPr>
          <a:xfrm>
            <a:off x="3332378" y="4297680"/>
            <a:ext cx="2103120" cy="914400"/>
          </a:xfrm>
          <a:prstGeom prst="rect">
            <a:avLst/>
          </a:prstGeom>
          <a:noFill/>
          <a:ln/>
        </p:spPr>
        <p:txBody>
          <a:bodyPr wrap="square" lIns="0" tIns="0" rIns="0" bIns="0" rtlCol="0" anchor="ctr"/>
          <a:lstStyle/>
          <a:p>
            <a:pPr marL="0" indent="0" algn="ctr">
              <a:buNone/>
            </a:pPr>
            <a:r>
              <a:rPr lang="en-US" sz="1200" b="1" dirty="0">
                <a:solidFill>
                  <a:srgbClr val="1C2330"/>
                </a:solidFill>
                <a:latin typeface="Calibri" pitchFamily="34" charset="0"/>
                <a:ea typeface="Calibri" pitchFamily="34" charset="-122"/>
                <a:cs typeface="Calibri" pitchFamily="34" charset="-120"/>
              </a:rPr>
              <a:t>DataPower</a:t>
            </a:r>
            <a:endParaRPr lang="en-US" sz="1200" dirty="0"/>
          </a:p>
          <a:p>
            <a:pPr marL="0" indent="0" algn="ctr">
              <a:buNone/>
            </a:pPr>
            <a:r>
              <a:rPr lang="en-US" sz="1050" dirty="0">
                <a:solidFill>
                  <a:srgbClr val="5A6272"/>
                </a:solidFill>
                <a:latin typeface="Calibri" pitchFamily="34" charset="0"/>
                <a:ea typeface="Calibri" pitchFamily="34" charset="-122"/>
                <a:cs typeface="Calibri" pitchFamily="34" charset="-120"/>
              </a:rPr>
              <a:t>Basic auth · ccmpreprocessor-ext</a:t>
            </a:r>
            <a:endParaRPr lang="en-US" sz="1200" dirty="0"/>
          </a:p>
        </p:txBody>
      </p:sp>
      <p:sp>
        <p:nvSpPr>
          <p:cNvPr id="35" name="Shape 33"/>
          <p:cNvSpPr/>
          <p:nvPr/>
        </p:nvSpPr>
        <p:spPr>
          <a:xfrm>
            <a:off x="5526938" y="4754880"/>
            <a:ext cx="314858" cy="0"/>
          </a:xfrm>
          <a:prstGeom prst="line">
            <a:avLst/>
          </a:prstGeom>
          <a:noFill/>
          <a:ln w="19050">
            <a:solidFill>
              <a:srgbClr val="5A6272"/>
            </a:solidFill>
            <a:prstDash val="solid"/>
            <a:tailEnd type="triangle"/>
          </a:ln>
        </p:spPr>
        <p:txBody>
          <a:bodyPr/>
          <a:lstStyle/>
          <a:p>
            <a:endParaRPr lang="en-US"/>
          </a:p>
        </p:txBody>
      </p:sp>
      <p:sp>
        <p:nvSpPr>
          <p:cNvPr id="36" name="Shape 34"/>
          <p:cNvSpPr/>
          <p:nvPr/>
        </p:nvSpPr>
        <p:spPr>
          <a:xfrm>
            <a:off x="5841797" y="4297680"/>
            <a:ext cx="3108960" cy="914400"/>
          </a:xfrm>
          <a:prstGeom prst="rect">
            <a:avLst/>
          </a:prstGeom>
          <a:solidFill>
            <a:srgbClr val="E4572E"/>
          </a:solidFill>
          <a:ln/>
        </p:spPr>
        <p:txBody>
          <a:bodyPr/>
          <a:lstStyle/>
          <a:p>
            <a:endParaRPr lang="en-US"/>
          </a:p>
        </p:txBody>
      </p:sp>
      <p:sp>
        <p:nvSpPr>
          <p:cNvPr id="37" name="Text 35"/>
          <p:cNvSpPr txBox="1"/>
          <p:nvPr/>
        </p:nvSpPr>
        <p:spPr>
          <a:xfrm>
            <a:off x="5933237" y="4297680"/>
            <a:ext cx="2926080" cy="9144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Phone Line Type</a:t>
            </a:r>
            <a:endParaRPr lang="en-US" sz="1200" dirty="0"/>
          </a:p>
          <a:p>
            <a:pPr marL="0" indent="0" algn="ctr">
              <a:buNone/>
            </a:pPr>
            <a:r>
              <a:rPr lang="en-US" sz="1050" dirty="0">
                <a:solidFill>
                  <a:srgbClr val="EEF2FB"/>
                </a:solidFill>
                <a:latin typeface="Calibri" pitchFamily="34" charset="0"/>
                <a:ea typeface="Calibri" pitchFamily="34" charset="-122"/>
                <a:cs typeface="Calibri" pitchFamily="34" charset="-120"/>
              </a:rPr>
              <a:t>New /lookupLineType in commRequest; recorded in Recon</a:t>
            </a:r>
            <a:endParaRPr lang="en-US" sz="1200" dirty="0"/>
          </a:p>
        </p:txBody>
      </p:sp>
      <p:sp>
        <p:nvSpPr>
          <p:cNvPr id="38" name="Shape 36"/>
          <p:cNvSpPr/>
          <p:nvPr/>
        </p:nvSpPr>
        <p:spPr>
          <a:xfrm>
            <a:off x="8950757" y="4754880"/>
            <a:ext cx="314858" cy="0"/>
          </a:xfrm>
          <a:prstGeom prst="line">
            <a:avLst/>
          </a:prstGeom>
          <a:noFill/>
          <a:ln w="19050">
            <a:solidFill>
              <a:srgbClr val="5A6272"/>
            </a:solidFill>
            <a:prstDash val="solid"/>
            <a:tailEnd type="triangle"/>
          </a:ln>
        </p:spPr>
        <p:txBody>
          <a:bodyPr/>
          <a:lstStyle/>
          <a:p>
            <a:endParaRPr lang="en-US"/>
          </a:p>
        </p:txBody>
      </p:sp>
      <p:sp>
        <p:nvSpPr>
          <p:cNvPr id="39" name="Shape 37"/>
          <p:cNvSpPr/>
          <p:nvPr/>
        </p:nvSpPr>
        <p:spPr>
          <a:xfrm>
            <a:off x="9265615" y="4297680"/>
            <a:ext cx="2194560" cy="914400"/>
          </a:xfrm>
          <a:prstGeom prst="rect">
            <a:avLst/>
          </a:prstGeom>
          <a:solidFill>
            <a:srgbClr val="FFFFFF"/>
          </a:solidFill>
          <a:ln w="9525">
            <a:solidFill>
              <a:srgbClr val="D3D8DF"/>
            </a:solidFill>
            <a:prstDash val="solid"/>
          </a:ln>
        </p:spPr>
        <p:txBody>
          <a:bodyPr/>
          <a:lstStyle/>
          <a:p>
            <a:endParaRPr lang="en-US"/>
          </a:p>
        </p:txBody>
      </p:sp>
      <p:sp>
        <p:nvSpPr>
          <p:cNvPr id="40" name="Text 38"/>
          <p:cNvSpPr txBox="1"/>
          <p:nvPr/>
        </p:nvSpPr>
        <p:spPr>
          <a:xfrm>
            <a:off x="9357055" y="4297680"/>
            <a:ext cx="2011680" cy="914400"/>
          </a:xfrm>
          <a:prstGeom prst="rect">
            <a:avLst/>
          </a:prstGeom>
          <a:noFill/>
          <a:ln/>
        </p:spPr>
        <p:txBody>
          <a:bodyPr wrap="square" lIns="0" tIns="0" rIns="0" bIns="0" rtlCol="0" anchor="ctr"/>
          <a:lstStyle/>
          <a:p>
            <a:pPr marL="0" indent="0" algn="ctr">
              <a:buNone/>
            </a:pPr>
            <a:r>
              <a:rPr lang="en-US" sz="1200" b="1" dirty="0">
                <a:solidFill>
                  <a:srgbClr val="1C2330"/>
                </a:solidFill>
                <a:latin typeface="Calibri" pitchFamily="34" charset="0"/>
                <a:ea typeface="Calibri" pitchFamily="34" charset="-122"/>
                <a:cs typeface="Calibri" pitchFamily="34" charset="-120"/>
              </a:rPr>
              <a:t>Twilio Lookup API</a:t>
            </a:r>
            <a:endParaRPr lang="en-US" sz="1200" dirty="0"/>
          </a:p>
          <a:p>
            <a:pPr marL="0" indent="0" algn="ctr">
              <a:buNone/>
            </a:pPr>
            <a:r>
              <a:rPr lang="en-US" sz="1050" dirty="0">
                <a:solidFill>
                  <a:srgbClr val="5A6272"/>
                </a:solidFill>
                <a:latin typeface="Calibri" pitchFamily="34" charset="0"/>
                <a:ea typeface="Calibri" pitchFamily="34" charset="-122"/>
                <a:cs typeface="Calibri" pitchFamily="34" charset="-120"/>
              </a:rPr>
              <a:t>lookups.twilio.com</a:t>
            </a:r>
            <a:endParaRPr lang="en-US" sz="1200" dirty="0"/>
          </a:p>
        </p:txBody>
      </p:sp>
      <p:sp>
        <p:nvSpPr>
          <p:cNvPr id="41" name="Text 39"/>
          <p:cNvSpPr txBox="1"/>
          <p:nvPr/>
        </p:nvSpPr>
        <p:spPr>
          <a:xfrm>
            <a:off x="731520" y="5440680"/>
            <a:ext cx="10728655" cy="640080"/>
          </a:xfrm>
          <a:prstGeom prst="rect">
            <a:avLst/>
          </a:prstGeom>
          <a:noFill/>
          <a:ln/>
        </p:spPr>
        <p:txBody>
          <a:bodyPr wrap="square" lIns="0" tIns="0" rIns="0" bIns="0" rtlCol="0" anchor="ctr"/>
          <a:lstStyle/>
          <a:p>
            <a:pPr marL="0" indent="0">
              <a:buNone/>
            </a:pPr>
            <a:r>
              <a:rPr lang="en-US" sz="1100" b="1" dirty="0">
                <a:solidFill>
                  <a:srgbClr val="1C2330"/>
                </a:solidFill>
                <a:latin typeface="Calibri" pitchFamily="34" charset="0"/>
                <a:ea typeface="Calibri" pitchFamily="34" charset="-122"/>
                <a:cs typeface="Calibri" pitchFamily="34" charset="-120"/>
              </a:rPr>
              <a:t>If textable (not VOIP): </a:t>
            </a:r>
            <a:r>
              <a:rPr lang="en-US" sz="1100" dirty="0">
                <a:solidFill>
                  <a:srgbClr val="1C2330"/>
                </a:solidFill>
                <a:latin typeface="Calibri" pitchFamily="34" charset="0"/>
                <a:ea typeface="Calibri" pitchFamily="34" charset="-122"/>
                <a:cs typeface="Calibri" pitchFamily="34" charset="-120"/>
              </a:rPr>
              <a:t>Comm Request → Inspire → /ccm/api/v1/sms/sendMessages → Twilio → customer. Internal apps (ECIR, CIAM, P360) keep using the internal /commrequest endpoint.</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141C2B"/>
          </a:solidFill>
          <a:ln/>
        </p:spPr>
        <p:txBody>
          <a:bodyPr/>
          <a:lstStyle/>
          <a:p>
            <a:endParaRPr lang="en-US"/>
          </a:p>
        </p:txBody>
      </p:sp>
      <p:sp>
        <p:nvSpPr>
          <p:cNvPr id="3" name="Shape 1"/>
          <p:cNvSpPr/>
          <p:nvPr/>
        </p:nvSpPr>
        <p:spPr>
          <a:xfrm>
            <a:off x="0" y="0"/>
            <a:ext cx="12191695" cy="45720"/>
          </a:xfrm>
          <a:prstGeom prst="rect">
            <a:avLst/>
          </a:prstGeom>
          <a:solidFill>
            <a:srgbClr val="E4572E"/>
          </a:solidFill>
          <a:ln/>
        </p:spPr>
        <p:txBody>
          <a:bodyPr/>
          <a:lstStyle/>
          <a:p>
            <a:endParaRPr lang="en-US"/>
          </a:p>
        </p:txBody>
      </p:sp>
      <p:sp>
        <p:nvSpPr>
          <p:cNvPr id="4" name="Text 2"/>
          <p:cNvSpPr txBox="1"/>
          <p:nvPr/>
        </p:nvSpPr>
        <p:spPr>
          <a:xfrm>
            <a:off x="548640" y="246888"/>
            <a:ext cx="7772400" cy="256032"/>
          </a:xfrm>
          <a:prstGeom prst="rect">
            <a:avLst/>
          </a:prstGeom>
          <a:noFill/>
          <a:ln/>
        </p:spPr>
        <p:txBody>
          <a:bodyPr wrap="square" lIns="0" tIns="0" rIns="0" bIns="0" rtlCol="0" anchor="t"/>
          <a:lstStyle/>
          <a:p>
            <a:pPr marL="0" indent="0">
              <a:buNone/>
            </a:pPr>
            <a:r>
              <a:rPr lang="en-US" sz="1100" b="1" kern="0" spc="500" dirty="0">
                <a:solidFill>
                  <a:srgbClr val="E4572E"/>
                </a:solidFill>
                <a:latin typeface="Calibri" pitchFamily="34" charset="0"/>
                <a:ea typeface="Calibri" pitchFamily="34" charset="-122"/>
                <a:cs typeface="Calibri" pitchFamily="34" charset="-120"/>
              </a:rPr>
              <a:t>2025 VOLUME</a:t>
            </a:r>
            <a:endParaRPr lang="en-US" sz="1100" dirty="0"/>
          </a:p>
        </p:txBody>
      </p:sp>
      <p:sp>
        <p:nvSpPr>
          <p:cNvPr id="5" name="Text 3"/>
          <p:cNvSpPr txBox="1"/>
          <p:nvPr/>
        </p:nvSpPr>
        <p:spPr>
          <a:xfrm>
            <a:off x="548640" y="502920"/>
            <a:ext cx="749808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Where communications came from</a:t>
            </a:r>
            <a:endParaRPr lang="en-US" sz="2700" dirty="0"/>
          </a:p>
        </p:txBody>
      </p:sp>
      <p:sp>
        <p:nvSpPr>
          <p:cNvPr id="6" name="Shape 4"/>
          <p:cNvSpPr/>
          <p:nvPr/>
        </p:nvSpPr>
        <p:spPr>
          <a:xfrm>
            <a:off x="7583494" y="155448"/>
            <a:ext cx="1051560" cy="877824"/>
          </a:xfrm>
          <a:prstGeom prst="rect">
            <a:avLst/>
          </a:prstGeom>
          <a:solidFill>
            <a:srgbClr val="1E4FC0"/>
          </a:solidFill>
          <a:ln/>
        </p:spPr>
        <p:txBody>
          <a:bodyPr/>
          <a:lstStyle/>
          <a:p>
            <a:endParaRPr lang="en-US"/>
          </a:p>
        </p:txBody>
      </p:sp>
      <p:sp>
        <p:nvSpPr>
          <p:cNvPr id="7" name="Text 5"/>
          <p:cNvSpPr txBox="1"/>
          <p:nvPr/>
        </p:nvSpPr>
        <p:spPr>
          <a:xfrm>
            <a:off x="7583494" y="182880"/>
            <a:ext cx="105156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18.25M</a:t>
            </a:r>
            <a:endParaRPr lang="en-US" sz="2200" dirty="0"/>
          </a:p>
        </p:txBody>
      </p:sp>
      <p:sp>
        <p:nvSpPr>
          <p:cNvPr id="8" name="Text 6"/>
          <p:cNvSpPr txBox="1"/>
          <p:nvPr/>
        </p:nvSpPr>
        <p:spPr>
          <a:xfrm>
            <a:off x="7583494" y="676656"/>
            <a:ext cx="1051560" cy="292608"/>
          </a:xfrm>
          <a:prstGeom prst="rect">
            <a:avLst/>
          </a:prstGeom>
          <a:noFill/>
          <a:ln/>
        </p:spPr>
        <p:txBody>
          <a:bodyPr wrap="square" lIns="0" tIns="0" rIns="0" bIns="0" rtlCol="0" anchor="ctr"/>
          <a:lstStyle/>
          <a:p>
            <a:pPr marL="0" indent="0" algn="ctr">
              <a:buNone/>
            </a:pPr>
            <a:r>
              <a:rPr lang="en-US" sz="900" dirty="0">
                <a:solidFill>
                  <a:srgbClr val="DCE6FA"/>
                </a:solidFill>
                <a:latin typeface="Calibri" pitchFamily="34" charset="0"/>
                <a:ea typeface="Calibri" pitchFamily="34" charset="-122"/>
                <a:cs typeface="Calibri" pitchFamily="34" charset="-120"/>
              </a:rPr>
              <a:t>Email</a:t>
            </a:r>
            <a:endParaRPr lang="en-US" sz="900" dirty="0"/>
          </a:p>
        </p:txBody>
      </p:sp>
      <p:sp>
        <p:nvSpPr>
          <p:cNvPr id="9" name="Shape 7"/>
          <p:cNvSpPr/>
          <p:nvPr/>
        </p:nvSpPr>
        <p:spPr>
          <a:xfrm>
            <a:off x="8744782" y="155448"/>
            <a:ext cx="1051560" cy="877824"/>
          </a:xfrm>
          <a:prstGeom prst="rect">
            <a:avLst/>
          </a:prstGeom>
          <a:solidFill>
            <a:srgbClr val="1E4FC0"/>
          </a:solidFill>
          <a:ln/>
        </p:spPr>
        <p:txBody>
          <a:bodyPr/>
          <a:lstStyle/>
          <a:p>
            <a:endParaRPr lang="en-US"/>
          </a:p>
        </p:txBody>
      </p:sp>
      <p:sp>
        <p:nvSpPr>
          <p:cNvPr id="10" name="Text 8"/>
          <p:cNvSpPr txBox="1"/>
          <p:nvPr/>
        </p:nvSpPr>
        <p:spPr>
          <a:xfrm>
            <a:off x="8744782" y="182880"/>
            <a:ext cx="105156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4.41M</a:t>
            </a:r>
            <a:endParaRPr lang="en-US" sz="2200" dirty="0"/>
          </a:p>
        </p:txBody>
      </p:sp>
      <p:sp>
        <p:nvSpPr>
          <p:cNvPr id="11" name="Text 9"/>
          <p:cNvSpPr txBox="1"/>
          <p:nvPr/>
        </p:nvSpPr>
        <p:spPr>
          <a:xfrm>
            <a:off x="8744782" y="676656"/>
            <a:ext cx="1051560" cy="292608"/>
          </a:xfrm>
          <a:prstGeom prst="rect">
            <a:avLst/>
          </a:prstGeom>
          <a:noFill/>
          <a:ln/>
        </p:spPr>
        <p:txBody>
          <a:bodyPr wrap="square" lIns="0" tIns="0" rIns="0" bIns="0" rtlCol="0" anchor="ctr"/>
          <a:lstStyle/>
          <a:p>
            <a:pPr marL="0" indent="0" algn="ctr">
              <a:buNone/>
            </a:pPr>
            <a:r>
              <a:rPr lang="en-US" sz="900" dirty="0">
                <a:solidFill>
                  <a:srgbClr val="DCE6FA"/>
                </a:solidFill>
                <a:latin typeface="Calibri" pitchFamily="34" charset="0"/>
                <a:ea typeface="Calibri" pitchFamily="34" charset="-122"/>
                <a:cs typeface="Calibri" pitchFamily="34" charset="-120"/>
              </a:rPr>
              <a:t>SMS / MMS</a:t>
            </a:r>
            <a:endParaRPr lang="en-US" sz="900" dirty="0"/>
          </a:p>
        </p:txBody>
      </p:sp>
      <p:sp>
        <p:nvSpPr>
          <p:cNvPr id="12" name="Shape 10"/>
          <p:cNvSpPr/>
          <p:nvPr/>
        </p:nvSpPr>
        <p:spPr>
          <a:xfrm>
            <a:off x="9906070" y="155448"/>
            <a:ext cx="1051560" cy="877824"/>
          </a:xfrm>
          <a:prstGeom prst="rect">
            <a:avLst/>
          </a:prstGeom>
          <a:solidFill>
            <a:srgbClr val="1E4FC0"/>
          </a:solidFill>
          <a:ln/>
        </p:spPr>
        <p:txBody>
          <a:bodyPr/>
          <a:lstStyle/>
          <a:p>
            <a:endParaRPr lang="en-US"/>
          </a:p>
        </p:txBody>
      </p:sp>
      <p:sp>
        <p:nvSpPr>
          <p:cNvPr id="13" name="Text 11"/>
          <p:cNvSpPr txBox="1"/>
          <p:nvPr/>
        </p:nvSpPr>
        <p:spPr>
          <a:xfrm>
            <a:off x="9906070" y="182880"/>
            <a:ext cx="1051560" cy="50292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1.35M</a:t>
            </a:r>
            <a:endParaRPr lang="en-US" sz="2200" dirty="0"/>
          </a:p>
        </p:txBody>
      </p:sp>
      <p:sp>
        <p:nvSpPr>
          <p:cNvPr id="14" name="Text 12"/>
          <p:cNvSpPr txBox="1"/>
          <p:nvPr/>
        </p:nvSpPr>
        <p:spPr>
          <a:xfrm>
            <a:off x="9906070" y="676656"/>
            <a:ext cx="1051560" cy="292608"/>
          </a:xfrm>
          <a:prstGeom prst="rect">
            <a:avLst/>
          </a:prstGeom>
          <a:noFill/>
          <a:ln/>
        </p:spPr>
        <p:txBody>
          <a:bodyPr wrap="square" lIns="0" tIns="0" rIns="0" bIns="0" rtlCol="0" anchor="ctr"/>
          <a:lstStyle/>
          <a:p>
            <a:pPr marL="0" indent="0" algn="ctr">
              <a:buNone/>
            </a:pPr>
            <a:r>
              <a:rPr lang="en-US" sz="900" dirty="0">
                <a:solidFill>
                  <a:srgbClr val="DCE6FA"/>
                </a:solidFill>
                <a:latin typeface="Calibri" pitchFamily="34" charset="0"/>
                <a:ea typeface="Calibri" pitchFamily="34" charset="-122"/>
                <a:cs typeface="Calibri" pitchFamily="34" charset="-120"/>
              </a:rPr>
              <a:t>Print</a:t>
            </a:r>
            <a:endParaRPr lang="en-US" sz="900" dirty="0"/>
          </a:p>
        </p:txBody>
      </p:sp>
      <p:sp>
        <p:nvSpPr>
          <p:cNvPr id="15" name="Shape 13"/>
          <p:cNvSpPr/>
          <p:nvPr/>
        </p:nvSpPr>
        <p:spPr>
          <a:xfrm>
            <a:off x="11067358" y="155448"/>
            <a:ext cx="1051560" cy="877824"/>
          </a:xfrm>
          <a:prstGeom prst="rect">
            <a:avLst/>
          </a:prstGeom>
          <a:solidFill>
            <a:srgbClr val="1E4FC0"/>
          </a:solidFill>
          <a:ln/>
        </p:spPr>
        <p:txBody>
          <a:bodyPr/>
          <a:lstStyle/>
          <a:p>
            <a:endParaRPr lang="en-US"/>
          </a:p>
        </p:txBody>
      </p:sp>
      <p:sp>
        <p:nvSpPr>
          <p:cNvPr id="16" name="Text 14"/>
          <p:cNvSpPr txBox="1"/>
          <p:nvPr/>
        </p:nvSpPr>
        <p:spPr>
          <a:xfrm>
            <a:off x="11067358" y="182880"/>
            <a:ext cx="10515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307K</a:t>
            </a:r>
            <a:endParaRPr lang="en-US" sz="2600" dirty="0"/>
          </a:p>
        </p:txBody>
      </p:sp>
      <p:sp>
        <p:nvSpPr>
          <p:cNvPr id="17" name="Text 15"/>
          <p:cNvSpPr txBox="1"/>
          <p:nvPr/>
        </p:nvSpPr>
        <p:spPr>
          <a:xfrm>
            <a:off x="11067358" y="676656"/>
            <a:ext cx="1051560" cy="292608"/>
          </a:xfrm>
          <a:prstGeom prst="rect">
            <a:avLst/>
          </a:prstGeom>
          <a:noFill/>
          <a:ln/>
        </p:spPr>
        <p:txBody>
          <a:bodyPr wrap="square" lIns="0" tIns="0" rIns="0" bIns="0" rtlCol="0" anchor="ctr"/>
          <a:lstStyle/>
          <a:p>
            <a:pPr marL="0" indent="0" algn="ctr">
              <a:buNone/>
            </a:pPr>
            <a:r>
              <a:rPr lang="en-US" sz="900" dirty="0">
                <a:solidFill>
                  <a:srgbClr val="DCE6FA"/>
                </a:solidFill>
                <a:latin typeface="Calibri" pitchFamily="34" charset="0"/>
                <a:ea typeface="Calibri" pitchFamily="34" charset="-122"/>
                <a:cs typeface="Calibri" pitchFamily="34" charset="-120"/>
              </a:rPr>
              <a:t>Digital</a:t>
            </a:r>
            <a:endParaRPr lang="en-US" sz="900" dirty="0"/>
          </a:p>
        </p:txBody>
      </p:sp>
      <p:sp>
        <p:nvSpPr>
          <p:cNvPr id="19" name="Text 17"/>
          <p:cNvSpPr txBox="1"/>
          <p:nvPr/>
        </p:nvSpPr>
        <p:spPr>
          <a:xfrm>
            <a:off x="10728655" y="6510528"/>
            <a:ext cx="914400" cy="201168"/>
          </a:xfrm>
          <a:prstGeom prst="rect">
            <a:avLst/>
          </a:prstGeom>
          <a:noFill/>
          <a:ln/>
        </p:spPr>
        <p:txBody>
          <a:bodyPr wrap="square" lIns="0" tIns="0" rIns="0" bIns="0" rtlCol="0" anchor="t"/>
          <a:lstStyle/>
          <a:p>
            <a:pPr marL="0" indent="0" algn="r">
              <a:buNone/>
            </a:pPr>
            <a:r>
              <a:rPr lang="en-US" sz="900" dirty="0">
                <a:solidFill>
                  <a:srgbClr val="5A6272"/>
                </a:solidFill>
                <a:latin typeface="Calibri" pitchFamily="34" charset="0"/>
                <a:ea typeface="Calibri" pitchFamily="34" charset="-122"/>
                <a:cs typeface="Calibri" pitchFamily="34" charset="-120"/>
              </a:rPr>
              <a:t>11</a:t>
            </a:r>
            <a:endParaRPr lang="en-US" sz="900" dirty="0"/>
          </a:p>
        </p:txBody>
      </p:sp>
      <p:sp>
        <p:nvSpPr>
          <p:cNvPr id="20" name="Shape 18"/>
          <p:cNvSpPr/>
          <p:nvPr/>
        </p:nvSpPr>
        <p:spPr>
          <a:xfrm>
            <a:off x="548640" y="1371600"/>
            <a:ext cx="7863840" cy="4937760"/>
          </a:xfrm>
          <a:prstGeom prst="rect">
            <a:avLst/>
          </a:prstGeom>
          <a:solidFill>
            <a:srgbClr val="E9EBEF"/>
          </a:solidFill>
          <a:ln/>
        </p:spPr>
        <p:txBody>
          <a:bodyPr/>
          <a:lstStyle/>
          <a:p>
            <a:endParaRPr lang="en-US"/>
          </a:p>
        </p:txBody>
      </p:sp>
      <p:sp>
        <p:nvSpPr>
          <p:cNvPr id="21" name="Shape 19"/>
          <p:cNvSpPr/>
          <p:nvPr/>
        </p:nvSpPr>
        <p:spPr>
          <a:xfrm>
            <a:off x="548640" y="1371600"/>
            <a:ext cx="7863840" cy="54864"/>
          </a:xfrm>
          <a:prstGeom prst="rect">
            <a:avLst/>
          </a:prstGeom>
          <a:solidFill>
            <a:srgbClr val="1E4FC0"/>
          </a:solidFill>
          <a:ln/>
        </p:spPr>
        <p:txBody>
          <a:bodyPr/>
          <a:lstStyle/>
          <a:p>
            <a:endParaRPr lang="en-US"/>
          </a:p>
        </p:txBody>
      </p:sp>
      <p:sp>
        <p:nvSpPr>
          <p:cNvPr id="22" name="Shape 20"/>
          <p:cNvSpPr/>
          <p:nvPr/>
        </p:nvSpPr>
        <p:spPr>
          <a:xfrm>
            <a:off x="548640" y="1371600"/>
            <a:ext cx="54864" cy="4937760"/>
          </a:xfrm>
          <a:prstGeom prst="rect">
            <a:avLst/>
          </a:prstGeom>
          <a:solidFill>
            <a:srgbClr val="1E4FC0"/>
          </a:solidFill>
          <a:ln/>
        </p:spPr>
        <p:txBody>
          <a:bodyPr/>
          <a:lstStyle/>
          <a:p>
            <a:endParaRPr lang="en-US"/>
          </a:p>
        </p:txBody>
      </p:sp>
      <p:sp>
        <p:nvSpPr>
          <p:cNvPr id="23" name="Text 21"/>
          <p:cNvSpPr txBox="1"/>
          <p:nvPr/>
        </p:nvSpPr>
        <p:spPr>
          <a:xfrm>
            <a:off x="731520" y="1490472"/>
            <a:ext cx="7589520" cy="237744"/>
          </a:xfrm>
          <a:prstGeom prst="rect">
            <a:avLst/>
          </a:prstGeom>
          <a:noFill/>
          <a:ln/>
        </p:spPr>
        <p:txBody>
          <a:bodyPr wrap="square" lIns="0" tIns="0" rIns="0" bIns="0" rtlCol="0" anchor="t"/>
          <a:lstStyle/>
          <a:p>
            <a:pPr marL="0" indent="0">
              <a:buNone/>
            </a:pPr>
            <a:r>
              <a:rPr lang="en-US" sz="900" b="1" kern="0" spc="300" dirty="0">
                <a:solidFill>
                  <a:srgbClr val="1E4FC0"/>
                </a:solidFill>
                <a:latin typeface="Calibri" pitchFamily="34" charset="0"/>
                <a:ea typeface="Calibri" pitchFamily="34" charset="-122"/>
                <a:cs typeface="Calibri" pitchFamily="34" charset="-120"/>
              </a:rPr>
              <a:t>TOP 10 SOURCES BY CHANNEL · JAN 1 – SEP 2, 2025</a:t>
            </a:r>
            <a:endParaRPr lang="en-US" sz="900" dirty="0"/>
          </a:p>
        </p:txBody>
      </p:sp>
      <p:graphicFrame>
        <p:nvGraphicFramePr>
          <p:cNvPr id="24" name="Chart 0"/>
          <p:cNvGraphicFramePr/>
          <p:nvPr/>
        </p:nvGraphicFramePr>
        <p:xfrm>
          <a:off x="731520" y="1691640"/>
          <a:ext cx="754380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25" name="Shape 22"/>
          <p:cNvSpPr/>
          <p:nvPr/>
        </p:nvSpPr>
        <p:spPr>
          <a:xfrm>
            <a:off x="8641080" y="1371600"/>
            <a:ext cx="3001975" cy="4937760"/>
          </a:xfrm>
          <a:prstGeom prst="rect">
            <a:avLst/>
          </a:prstGeom>
          <a:solidFill>
            <a:srgbClr val="E9EBEF"/>
          </a:solidFill>
          <a:ln/>
        </p:spPr>
        <p:txBody>
          <a:bodyPr/>
          <a:lstStyle/>
          <a:p>
            <a:endParaRPr lang="en-US"/>
          </a:p>
        </p:txBody>
      </p:sp>
      <p:sp>
        <p:nvSpPr>
          <p:cNvPr id="26" name="Shape 23"/>
          <p:cNvSpPr/>
          <p:nvPr/>
        </p:nvSpPr>
        <p:spPr>
          <a:xfrm>
            <a:off x="9116943" y="1371600"/>
            <a:ext cx="3001975" cy="54864"/>
          </a:xfrm>
          <a:prstGeom prst="rect">
            <a:avLst/>
          </a:prstGeom>
          <a:solidFill>
            <a:srgbClr val="E4572E"/>
          </a:solidFill>
          <a:ln/>
        </p:spPr>
        <p:txBody>
          <a:bodyPr/>
          <a:lstStyle/>
          <a:p>
            <a:endParaRPr lang="en-US"/>
          </a:p>
        </p:txBody>
      </p:sp>
      <p:sp>
        <p:nvSpPr>
          <p:cNvPr id="27" name="Shape 24"/>
          <p:cNvSpPr/>
          <p:nvPr/>
        </p:nvSpPr>
        <p:spPr>
          <a:xfrm>
            <a:off x="8641080" y="1371600"/>
            <a:ext cx="54864" cy="4937760"/>
          </a:xfrm>
          <a:prstGeom prst="rect">
            <a:avLst/>
          </a:prstGeom>
          <a:solidFill>
            <a:srgbClr val="E4572E"/>
          </a:solidFill>
          <a:ln/>
        </p:spPr>
        <p:txBody>
          <a:bodyPr/>
          <a:lstStyle/>
          <a:p>
            <a:endParaRPr lang="en-US"/>
          </a:p>
        </p:txBody>
      </p:sp>
      <p:sp>
        <p:nvSpPr>
          <p:cNvPr id="28" name="Text 25"/>
          <p:cNvSpPr txBox="1"/>
          <p:nvPr/>
        </p:nvSpPr>
        <p:spPr>
          <a:xfrm>
            <a:off x="8823960" y="1490472"/>
            <a:ext cx="2727655" cy="237744"/>
          </a:xfrm>
          <a:prstGeom prst="rect">
            <a:avLst/>
          </a:prstGeom>
          <a:noFill/>
          <a:ln/>
        </p:spPr>
        <p:txBody>
          <a:bodyPr wrap="square" lIns="0" tIns="0" rIns="0" bIns="0" rtlCol="0" anchor="t"/>
          <a:lstStyle/>
          <a:p>
            <a:pPr marL="0" indent="0">
              <a:buNone/>
            </a:pPr>
            <a:r>
              <a:rPr lang="en-US" sz="900" b="1" kern="0" spc="300" dirty="0">
                <a:solidFill>
                  <a:srgbClr val="E4572E"/>
                </a:solidFill>
                <a:latin typeface="Calibri" pitchFamily="34" charset="0"/>
                <a:ea typeface="Calibri" pitchFamily="34" charset="-122"/>
                <a:cs typeface="Calibri" pitchFamily="34" charset="-120"/>
              </a:rPr>
              <a:t>WHAT STANDS OUT</a:t>
            </a:r>
            <a:endParaRPr lang="en-US" sz="900" dirty="0"/>
          </a:p>
        </p:txBody>
      </p:sp>
      <p:sp>
        <p:nvSpPr>
          <p:cNvPr id="29" name="Shape 26"/>
          <p:cNvSpPr/>
          <p:nvPr/>
        </p:nvSpPr>
        <p:spPr>
          <a:xfrm>
            <a:off x="8823960" y="1783080"/>
            <a:ext cx="2654503" cy="960120"/>
          </a:xfrm>
          <a:prstGeom prst="rect">
            <a:avLst/>
          </a:prstGeom>
          <a:solidFill>
            <a:srgbClr val="FFFFFF"/>
          </a:solidFill>
          <a:ln w="9525">
            <a:solidFill>
              <a:srgbClr val="D3D8DF"/>
            </a:solidFill>
            <a:prstDash val="solid"/>
          </a:ln>
        </p:spPr>
        <p:txBody>
          <a:bodyPr/>
          <a:lstStyle/>
          <a:p>
            <a:endParaRPr lang="en-US"/>
          </a:p>
        </p:txBody>
      </p:sp>
      <p:sp>
        <p:nvSpPr>
          <p:cNvPr id="30" name="Text 27"/>
          <p:cNvSpPr txBox="1"/>
          <p:nvPr/>
        </p:nvSpPr>
        <p:spPr>
          <a:xfrm>
            <a:off x="8961120" y="1874520"/>
            <a:ext cx="1097280" cy="777240"/>
          </a:xfrm>
          <a:prstGeom prst="rect">
            <a:avLst/>
          </a:prstGeom>
          <a:noFill/>
          <a:ln/>
        </p:spPr>
        <p:txBody>
          <a:bodyPr wrap="square" lIns="0" tIns="0" rIns="0" bIns="0" rtlCol="0" anchor="ctr"/>
          <a:lstStyle/>
          <a:p>
            <a:pPr marL="0" indent="0">
              <a:buNone/>
            </a:pPr>
            <a:r>
              <a:rPr lang="en-US" sz="2600" b="1" dirty="0">
                <a:solidFill>
                  <a:srgbClr val="E4572E"/>
                </a:solidFill>
                <a:latin typeface="Calibri" pitchFamily="34" charset="0"/>
                <a:ea typeface="Calibri" pitchFamily="34" charset="-122"/>
                <a:cs typeface="Calibri" pitchFamily="34" charset="-120"/>
              </a:rPr>
              <a:t>56%</a:t>
            </a:r>
            <a:endParaRPr lang="en-US" sz="2600" dirty="0"/>
          </a:p>
        </p:txBody>
      </p:sp>
      <p:sp>
        <p:nvSpPr>
          <p:cNvPr id="31" name="Text 28"/>
          <p:cNvSpPr txBox="1"/>
          <p:nvPr/>
        </p:nvSpPr>
        <p:spPr>
          <a:xfrm>
            <a:off x="10058400" y="1874520"/>
            <a:ext cx="1310335" cy="777240"/>
          </a:xfrm>
          <a:prstGeom prst="rect">
            <a:avLst/>
          </a:prstGeom>
          <a:noFill/>
          <a:ln/>
        </p:spPr>
        <p:txBody>
          <a:bodyPr wrap="square" lIns="0" tIns="0" rIns="0" bIns="0" rtlCol="0" anchor="ctr"/>
          <a:lstStyle/>
          <a:p>
            <a:pPr marL="0" indent="0">
              <a:buNone/>
            </a:pPr>
            <a:r>
              <a:rPr lang="en-US" sz="1150" dirty="0">
                <a:solidFill>
                  <a:srgbClr val="1C2330"/>
                </a:solidFill>
                <a:latin typeface="Calibri" pitchFamily="34" charset="0"/>
                <a:ea typeface="Calibri" pitchFamily="34" charset="-122"/>
                <a:cs typeface="Calibri" pitchFamily="34" charset="-120"/>
              </a:rPr>
              <a:t>of all deliveries come from Payments (PPX)</a:t>
            </a:r>
            <a:endParaRPr lang="en-US" sz="1150" dirty="0"/>
          </a:p>
        </p:txBody>
      </p:sp>
      <p:sp>
        <p:nvSpPr>
          <p:cNvPr id="32" name="Shape 29"/>
          <p:cNvSpPr/>
          <p:nvPr/>
        </p:nvSpPr>
        <p:spPr>
          <a:xfrm>
            <a:off x="8823960" y="2880360"/>
            <a:ext cx="2654503" cy="960120"/>
          </a:xfrm>
          <a:prstGeom prst="rect">
            <a:avLst/>
          </a:prstGeom>
          <a:solidFill>
            <a:srgbClr val="FFFFFF"/>
          </a:solidFill>
          <a:ln w="9525">
            <a:solidFill>
              <a:srgbClr val="D3D8DF"/>
            </a:solidFill>
            <a:prstDash val="solid"/>
          </a:ln>
        </p:spPr>
        <p:txBody>
          <a:bodyPr/>
          <a:lstStyle/>
          <a:p>
            <a:endParaRPr lang="en-US"/>
          </a:p>
        </p:txBody>
      </p:sp>
      <p:sp>
        <p:nvSpPr>
          <p:cNvPr id="33" name="Text 30"/>
          <p:cNvSpPr txBox="1"/>
          <p:nvPr/>
        </p:nvSpPr>
        <p:spPr>
          <a:xfrm>
            <a:off x="8961120" y="2971800"/>
            <a:ext cx="1097280" cy="777240"/>
          </a:xfrm>
          <a:prstGeom prst="rect">
            <a:avLst/>
          </a:prstGeom>
          <a:noFill/>
          <a:ln/>
        </p:spPr>
        <p:txBody>
          <a:bodyPr wrap="square" lIns="0" tIns="0" rIns="0" bIns="0" rtlCol="0" anchor="ctr"/>
          <a:lstStyle/>
          <a:p>
            <a:pPr marL="0" indent="0">
              <a:buNone/>
            </a:pPr>
            <a:r>
              <a:rPr lang="en-US" sz="2600" b="1" dirty="0">
                <a:solidFill>
                  <a:srgbClr val="E4572E"/>
                </a:solidFill>
                <a:latin typeface="Calibri" pitchFamily="34" charset="0"/>
                <a:ea typeface="Calibri" pitchFamily="34" charset="-122"/>
                <a:cs typeface="Calibri" pitchFamily="34" charset="-120"/>
              </a:rPr>
              <a:t>80%</a:t>
            </a:r>
            <a:endParaRPr lang="en-US" sz="2600" dirty="0"/>
          </a:p>
        </p:txBody>
      </p:sp>
      <p:sp>
        <p:nvSpPr>
          <p:cNvPr id="34" name="Text 31"/>
          <p:cNvSpPr txBox="1"/>
          <p:nvPr/>
        </p:nvSpPr>
        <p:spPr>
          <a:xfrm>
            <a:off x="10058400" y="2971800"/>
            <a:ext cx="1310335" cy="777240"/>
          </a:xfrm>
          <a:prstGeom prst="rect">
            <a:avLst/>
          </a:prstGeom>
          <a:noFill/>
          <a:ln/>
        </p:spPr>
        <p:txBody>
          <a:bodyPr wrap="square" lIns="0" tIns="0" rIns="0" bIns="0" rtlCol="0" anchor="ctr"/>
          <a:lstStyle/>
          <a:p>
            <a:pPr marL="0" indent="0">
              <a:buNone/>
            </a:pPr>
            <a:r>
              <a:rPr lang="en-US" sz="1150" dirty="0">
                <a:solidFill>
                  <a:srgbClr val="1C2330"/>
                </a:solidFill>
                <a:latin typeface="Calibri" pitchFamily="34" charset="0"/>
                <a:ea typeface="Calibri" pitchFamily="34" charset="-122"/>
                <a:cs typeface="Calibri" pitchFamily="34" charset="-120"/>
              </a:rPr>
              <a:t>from the top three sources: PPX, CIAM, Email Registration</a:t>
            </a:r>
            <a:endParaRPr lang="en-US" sz="1150" dirty="0"/>
          </a:p>
        </p:txBody>
      </p:sp>
      <p:sp>
        <p:nvSpPr>
          <p:cNvPr id="35" name="Shape 32"/>
          <p:cNvSpPr/>
          <p:nvPr/>
        </p:nvSpPr>
        <p:spPr>
          <a:xfrm>
            <a:off x="8823960" y="3977640"/>
            <a:ext cx="2654503" cy="960120"/>
          </a:xfrm>
          <a:prstGeom prst="rect">
            <a:avLst/>
          </a:prstGeom>
          <a:solidFill>
            <a:srgbClr val="FFFFFF"/>
          </a:solidFill>
          <a:ln w="9525">
            <a:solidFill>
              <a:srgbClr val="D3D8DF"/>
            </a:solidFill>
            <a:prstDash val="solid"/>
          </a:ln>
        </p:spPr>
        <p:txBody>
          <a:bodyPr/>
          <a:lstStyle/>
          <a:p>
            <a:endParaRPr lang="en-US"/>
          </a:p>
        </p:txBody>
      </p:sp>
      <p:sp>
        <p:nvSpPr>
          <p:cNvPr id="36" name="Text 33"/>
          <p:cNvSpPr txBox="1"/>
          <p:nvPr/>
        </p:nvSpPr>
        <p:spPr>
          <a:xfrm>
            <a:off x="8961120" y="4069080"/>
            <a:ext cx="1097280" cy="777240"/>
          </a:xfrm>
          <a:prstGeom prst="rect">
            <a:avLst/>
          </a:prstGeom>
          <a:noFill/>
          <a:ln/>
        </p:spPr>
        <p:txBody>
          <a:bodyPr wrap="square" lIns="0" tIns="0" rIns="0" bIns="0" rtlCol="0" anchor="ctr"/>
          <a:lstStyle/>
          <a:p>
            <a:pPr marL="0" indent="0">
              <a:buNone/>
            </a:pPr>
            <a:r>
              <a:rPr lang="en-US" sz="2600" b="1" dirty="0">
                <a:solidFill>
                  <a:srgbClr val="E4572E"/>
                </a:solidFill>
                <a:latin typeface="Calibri" pitchFamily="34" charset="0"/>
                <a:ea typeface="Calibri" pitchFamily="34" charset="-122"/>
                <a:cs typeface="Calibri" pitchFamily="34" charset="-120"/>
              </a:rPr>
              <a:t>75%</a:t>
            </a:r>
            <a:endParaRPr lang="en-US" sz="2600" dirty="0"/>
          </a:p>
        </p:txBody>
      </p:sp>
      <p:sp>
        <p:nvSpPr>
          <p:cNvPr id="37" name="Text 34"/>
          <p:cNvSpPr txBox="1"/>
          <p:nvPr/>
        </p:nvSpPr>
        <p:spPr>
          <a:xfrm>
            <a:off x="10058400" y="4069080"/>
            <a:ext cx="1310335" cy="777240"/>
          </a:xfrm>
          <a:prstGeom prst="rect">
            <a:avLst/>
          </a:prstGeom>
          <a:noFill/>
          <a:ln/>
        </p:spPr>
        <p:txBody>
          <a:bodyPr wrap="square" lIns="0" tIns="0" rIns="0" bIns="0" rtlCol="0" anchor="ctr"/>
          <a:lstStyle/>
          <a:p>
            <a:pPr marL="0" indent="0">
              <a:buNone/>
            </a:pPr>
            <a:r>
              <a:rPr lang="en-US" sz="1150" dirty="0">
                <a:solidFill>
                  <a:srgbClr val="1C2330"/>
                </a:solidFill>
                <a:latin typeface="Calibri" pitchFamily="34" charset="0"/>
                <a:ea typeface="Calibri" pitchFamily="34" charset="-122"/>
                <a:cs typeface="Calibri" pitchFamily="34" charset="-120"/>
              </a:rPr>
              <a:t>of volume is email; print is 6%</a:t>
            </a:r>
            <a:endParaRPr lang="en-US" sz="1150" dirty="0"/>
          </a:p>
        </p:txBody>
      </p:sp>
      <p:sp>
        <p:nvSpPr>
          <p:cNvPr id="38" name="Shape 35"/>
          <p:cNvSpPr/>
          <p:nvPr/>
        </p:nvSpPr>
        <p:spPr>
          <a:xfrm>
            <a:off x="8823960" y="5074920"/>
            <a:ext cx="2654503" cy="960120"/>
          </a:xfrm>
          <a:prstGeom prst="rect">
            <a:avLst/>
          </a:prstGeom>
          <a:solidFill>
            <a:srgbClr val="FFFFFF"/>
          </a:solidFill>
          <a:ln w="9525">
            <a:solidFill>
              <a:srgbClr val="D3D8DF"/>
            </a:solidFill>
            <a:prstDash val="solid"/>
          </a:ln>
        </p:spPr>
        <p:txBody>
          <a:bodyPr/>
          <a:lstStyle/>
          <a:p>
            <a:endParaRPr lang="en-US"/>
          </a:p>
        </p:txBody>
      </p:sp>
      <p:sp>
        <p:nvSpPr>
          <p:cNvPr id="39" name="Text 36"/>
          <p:cNvSpPr txBox="1"/>
          <p:nvPr/>
        </p:nvSpPr>
        <p:spPr>
          <a:xfrm>
            <a:off x="8961120" y="5166360"/>
            <a:ext cx="1097280" cy="777240"/>
          </a:xfrm>
          <a:prstGeom prst="rect">
            <a:avLst/>
          </a:prstGeom>
          <a:noFill/>
          <a:ln/>
        </p:spPr>
        <p:txBody>
          <a:bodyPr wrap="square" lIns="0" tIns="0" rIns="0" bIns="0" rtlCol="0" anchor="ctr"/>
          <a:lstStyle/>
          <a:p>
            <a:pPr marL="0" indent="0">
              <a:buNone/>
            </a:pPr>
            <a:r>
              <a:rPr lang="en-US" sz="2600" b="1" dirty="0">
                <a:solidFill>
                  <a:srgbClr val="E4572E"/>
                </a:solidFill>
                <a:latin typeface="Calibri" pitchFamily="34" charset="0"/>
                <a:ea typeface="Calibri" pitchFamily="34" charset="-122"/>
                <a:cs typeface="Calibri" pitchFamily="34" charset="-120"/>
              </a:rPr>
              <a:t>28</a:t>
            </a:r>
            <a:endParaRPr lang="en-US" sz="2600" dirty="0"/>
          </a:p>
        </p:txBody>
      </p:sp>
      <p:sp>
        <p:nvSpPr>
          <p:cNvPr id="40" name="Text 37"/>
          <p:cNvSpPr txBox="1"/>
          <p:nvPr/>
        </p:nvSpPr>
        <p:spPr>
          <a:xfrm>
            <a:off x="10058400" y="5166360"/>
            <a:ext cx="1310335" cy="777240"/>
          </a:xfrm>
          <a:prstGeom prst="rect">
            <a:avLst/>
          </a:prstGeom>
          <a:noFill/>
          <a:ln/>
        </p:spPr>
        <p:txBody>
          <a:bodyPr wrap="square" lIns="0" tIns="0" rIns="0" bIns="0" rtlCol="0" anchor="ctr"/>
          <a:lstStyle/>
          <a:p>
            <a:pPr marL="0" indent="0">
              <a:buNone/>
            </a:pPr>
            <a:r>
              <a:rPr lang="en-US" sz="1150" dirty="0">
                <a:solidFill>
                  <a:srgbClr val="1C2330"/>
                </a:solidFill>
                <a:latin typeface="Calibri" pitchFamily="34" charset="0"/>
                <a:ea typeface="Calibri" pitchFamily="34" charset="-122"/>
                <a:cs typeface="Calibri" pitchFamily="34" charset="-120"/>
              </a:rPr>
              <a:t>source programs sent volume in 2025</a:t>
            </a:r>
            <a:endParaRPr lang="en-US" sz="1150" dirty="0"/>
          </a:p>
        </p:txBody>
      </p:sp>
      <p:sp>
        <p:nvSpPr>
          <p:cNvPr id="42" name="Shape 13">
            <a:extLst>
              <a:ext uri="{FF2B5EF4-FFF2-40B4-BE49-F238E27FC236}">
                <a16:creationId xmlns:a16="http://schemas.microsoft.com/office/drawing/2014/main" id="{FFF91402-9A03-ED03-524F-E75772280FDA}"/>
              </a:ext>
            </a:extLst>
          </p:cNvPr>
          <p:cNvSpPr/>
          <p:nvPr/>
        </p:nvSpPr>
        <p:spPr>
          <a:xfrm>
            <a:off x="6422206" y="149881"/>
            <a:ext cx="1051560" cy="877824"/>
          </a:xfrm>
          <a:prstGeom prst="rect">
            <a:avLst/>
          </a:prstGeom>
          <a:solidFill>
            <a:srgbClr val="E4572E"/>
          </a:solidFill>
          <a:ln/>
        </p:spPr>
        <p:txBody>
          <a:bodyPr/>
          <a:lstStyle/>
          <a:p>
            <a:endParaRPr lang="en-US"/>
          </a:p>
        </p:txBody>
      </p:sp>
      <p:sp>
        <p:nvSpPr>
          <p:cNvPr id="44" name="Text 14">
            <a:extLst>
              <a:ext uri="{FF2B5EF4-FFF2-40B4-BE49-F238E27FC236}">
                <a16:creationId xmlns:a16="http://schemas.microsoft.com/office/drawing/2014/main" id="{06BB9ADA-21B8-781A-E565-EEA7B9A21554}"/>
              </a:ext>
            </a:extLst>
          </p:cNvPr>
          <p:cNvSpPr txBox="1"/>
          <p:nvPr/>
        </p:nvSpPr>
        <p:spPr>
          <a:xfrm>
            <a:off x="6422206" y="177313"/>
            <a:ext cx="10515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23.5M</a:t>
            </a:r>
            <a:endParaRPr lang="en-US" sz="2600" dirty="0"/>
          </a:p>
        </p:txBody>
      </p:sp>
      <p:sp>
        <p:nvSpPr>
          <p:cNvPr id="46" name="Text 15">
            <a:extLst>
              <a:ext uri="{FF2B5EF4-FFF2-40B4-BE49-F238E27FC236}">
                <a16:creationId xmlns:a16="http://schemas.microsoft.com/office/drawing/2014/main" id="{844C08F8-4FBB-0036-0662-95318D100BF5}"/>
              </a:ext>
            </a:extLst>
          </p:cNvPr>
          <p:cNvSpPr txBox="1"/>
          <p:nvPr/>
        </p:nvSpPr>
        <p:spPr>
          <a:xfrm>
            <a:off x="6422206" y="671089"/>
            <a:ext cx="1051560" cy="292608"/>
          </a:xfrm>
          <a:prstGeom prst="rect">
            <a:avLst/>
          </a:prstGeom>
          <a:noFill/>
          <a:ln/>
        </p:spPr>
        <p:txBody>
          <a:bodyPr wrap="square" lIns="0" tIns="0" rIns="0" bIns="0" rtlCol="0" anchor="ctr"/>
          <a:lstStyle/>
          <a:p>
            <a:pPr algn="ctr"/>
            <a:r>
              <a:rPr lang="en-US" sz="900" b="1" dirty="0">
                <a:solidFill>
                  <a:srgbClr val="DCE6FA"/>
                </a:solidFill>
                <a:latin typeface="Calibri" pitchFamily="34" charset="0"/>
                <a:ea typeface="Calibri" pitchFamily="34" charset="-122"/>
                <a:cs typeface="Calibri" pitchFamily="34" charset="-120"/>
              </a:rPr>
              <a:t>2025 Total Volume</a:t>
            </a:r>
            <a:endParaRPr lang="en-US" sz="900" b="1"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141C2B"/>
          </a:solidFill>
          <a:ln/>
        </p:spPr>
        <p:txBody>
          <a:bodyPr/>
          <a:lstStyle/>
          <a:p>
            <a:endParaRPr lang="en-US"/>
          </a:p>
        </p:txBody>
      </p:sp>
      <p:sp>
        <p:nvSpPr>
          <p:cNvPr id="3" name="Shape 1"/>
          <p:cNvSpPr/>
          <p:nvPr/>
        </p:nvSpPr>
        <p:spPr>
          <a:xfrm>
            <a:off x="0" y="0"/>
            <a:ext cx="12191695" cy="45720"/>
          </a:xfrm>
          <a:prstGeom prst="rect">
            <a:avLst/>
          </a:prstGeom>
          <a:solidFill>
            <a:srgbClr val="E4572E"/>
          </a:solidFill>
          <a:ln/>
        </p:spPr>
        <p:txBody>
          <a:bodyPr/>
          <a:lstStyle/>
          <a:p>
            <a:endParaRPr lang="en-US"/>
          </a:p>
        </p:txBody>
      </p:sp>
      <p:sp>
        <p:nvSpPr>
          <p:cNvPr id="4" name="Text 2"/>
          <p:cNvSpPr txBox="1"/>
          <p:nvPr/>
        </p:nvSpPr>
        <p:spPr>
          <a:xfrm>
            <a:off x="548640" y="246888"/>
            <a:ext cx="7772400" cy="256032"/>
          </a:xfrm>
          <a:prstGeom prst="rect">
            <a:avLst/>
          </a:prstGeom>
          <a:noFill/>
          <a:ln/>
        </p:spPr>
        <p:txBody>
          <a:bodyPr wrap="square" lIns="0" tIns="0" rIns="0" bIns="0" rtlCol="0" anchor="t"/>
          <a:lstStyle/>
          <a:p>
            <a:pPr marL="0" indent="0">
              <a:buNone/>
            </a:pPr>
            <a:r>
              <a:rPr lang="en-US" sz="1100" b="1" kern="0" spc="500" dirty="0">
                <a:solidFill>
                  <a:srgbClr val="E4572E"/>
                </a:solidFill>
                <a:latin typeface="Calibri" pitchFamily="34" charset="0"/>
                <a:ea typeface="Calibri" pitchFamily="34" charset="-122"/>
                <a:cs typeface="Calibri" pitchFamily="34" charset="-120"/>
              </a:rPr>
              <a:t>ROADMAP</a:t>
            </a:r>
            <a:endParaRPr lang="en-US" sz="1100" dirty="0"/>
          </a:p>
        </p:txBody>
      </p:sp>
      <p:sp>
        <p:nvSpPr>
          <p:cNvPr id="5" name="Text 3"/>
          <p:cNvSpPr txBox="1"/>
          <p:nvPr/>
        </p:nvSpPr>
        <p:spPr>
          <a:xfrm>
            <a:off x="548640" y="502920"/>
            <a:ext cx="749808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Client Letter retirement and migration to Inspire</a:t>
            </a:r>
            <a:endParaRPr lang="en-US" sz="2700" dirty="0"/>
          </a:p>
        </p:txBody>
      </p:sp>
      <p:sp>
        <p:nvSpPr>
          <p:cNvPr id="6" name="Shape 4"/>
          <p:cNvSpPr/>
          <p:nvPr/>
        </p:nvSpPr>
        <p:spPr>
          <a:xfrm>
            <a:off x="9430207" y="155448"/>
            <a:ext cx="1051560" cy="877824"/>
          </a:xfrm>
          <a:prstGeom prst="rect">
            <a:avLst/>
          </a:prstGeom>
          <a:solidFill>
            <a:srgbClr val="1E4FC0"/>
          </a:solidFill>
          <a:ln/>
        </p:spPr>
        <p:txBody>
          <a:bodyPr/>
          <a:lstStyle/>
          <a:p>
            <a:endParaRPr lang="en-US"/>
          </a:p>
        </p:txBody>
      </p:sp>
      <p:sp>
        <p:nvSpPr>
          <p:cNvPr id="7" name="Text 5"/>
          <p:cNvSpPr txBox="1"/>
          <p:nvPr/>
        </p:nvSpPr>
        <p:spPr>
          <a:xfrm>
            <a:off x="9430207" y="182880"/>
            <a:ext cx="10515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442</a:t>
            </a:r>
            <a:endParaRPr lang="en-US" sz="2600" dirty="0"/>
          </a:p>
        </p:txBody>
      </p:sp>
      <p:sp>
        <p:nvSpPr>
          <p:cNvPr id="8" name="Text 6"/>
          <p:cNvSpPr txBox="1"/>
          <p:nvPr/>
        </p:nvSpPr>
        <p:spPr>
          <a:xfrm>
            <a:off x="9430207" y="676656"/>
            <a:ext cx="1051560" cy="292608"/>
          </a:xfrm>
          <a:prstGeom prst="rect">
            <a:avLst/>
          </a:prstGeom>
          <a:noFill/>
          <a:ln/>
        </p:spPr>
        <p:txBody>
          <a:bodyPr wrap="square" lIns="0" tIns="0" rIns="0" bIns="0" rtlCol="0" anchor="ctr"/>
          <a:lstStyle/>
          <a:p>
            <a:pPr marL="0" indent="0" algn="ctr">
              <a:buNone/>
            </a:pPr>
            <a:r>
              <a:rPr lang="en-US" sz="900" dirty="0">
                <a:solidFill>
                  <a:srgbClr val="DCE6FA"/>
                </a:solidFill>
                <a:latin typeface="Calibri" pitchFamily="34" charset="0"/>
                <a:ea typeface="Calibri" pitchFamily="34" charset="-122"/>
                <a:cs typeface="Calibri" pitchFamily="34" charset="-120"/>
              </a:rPr>
              <a:t>Templates</a:t>
            </a:r>
            <a:endParaRPr lang="en-US" sz="900" dirty="0"/>
          </a:p>
        </p:txBody>
      </p:sp>
      <p:sp>
        <p:nvSpPr>
          <p:cNvPr id="9" name="Shape 7"/>
          <p:cNvSpPr/>
          <p:nvPr/>
        </p:nvSpPr>
        <p:spPr>
          <a:xfrm>
            <a:off x="10591495" y="155448"/>
            <a:ext cx="1051560" cy="877824"/>
          </a:xfrm>
          <a:prstGeom prst="rect">
            <a:avLst/>
          </a:prstGeom>
          <a:solidFill>
            <a:srgbClr val="1E4FC0"/>
          </a:solidFill>
          <a:ln/>
        </p:spPr>
        <p:txBody>
          <a:bodyPr/>
          <a:lstStyle/>
          <a:p>
            <a:endParaRPr lang="en-US"/>
          </a:p>
        </p:txBody>
      </p:sp>
      <p:sp>
        <p:nvSpPr>
          <p:cNvPr id="10" name="Text 8"/>
          <p:cNvSpPr txBox="1"/>
          <p:nvPr/>
        </p:nvSpPr>
        <p:spPr>
          <a:xfrm>
            <a:off x="10591495" y="182880"/>
            <a:ext cx="105156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3.4M</a:t>
            </a:r>
            <a:endParaRPr lang="en-US" sz="2600" dirty="0"/>
          </a:p>
        </p:txBody>
      </p:sp>
      <p:sp>
        <p:nvSpPr>
          <p:cNvPr id="11" name="Text 9"/>
          <p:cNvSpPr txBox="1"/>
          <p:nvPr/>
        </p:nvSpPr>
        <p:spPr>
          <a:xfrm>
            <a:off x="10591495" y="676656"/>
            <a:ext cx="1051560" cy="292608"/>
          </a:xfrm>
          <a:prstGeom prst="rect">
            <a:avLst/>
          </a:prstGeom>
          <a:noFill/>
          <a:ln/>
        </p:spPr>
        <p:txBody>
          <a:bodyPr wrap="square" lIns="0" tIns="0" rIns="0" bIns="0" rtlCol="0" anchor="ctr"/>
          <a:lstStyle/>
          <a:p>
            <a:pPr marL="0" indent="0" algn="ctr">
              <a:buNone/>
            </a:pPr>
            <a:r>
              <a:rPr lang="en-US" sz="900" dirty="0">
                <a:solidFill>
                  <a:srgbClr val="DCE6FA"/>
                </a:solidFill>
                <a:latin typeface="Calibri" pitchFamily="34" charset="0"/>
                <a:ea typeface="Calibri" pitchFamily="34" charset="-122"/>
                <a:cs typeface="Calibri" pitchFamily="34" charset="-120"/>
              </a:rPr>
              <a:t>Letters / yr</a:t>
            </a:r>
            <a:endParaRPr lang="en-US" sz="900" dirty="0"/>
          </a:p>
        </p:txBody>
      </p:sp>
      <p:sp>
        <p:nvSpPr>
          <p:cNvPr id="13" name="Text 11"/>
          <p:cNvSpPr txBox="1"/>
          <p:nvPr/>
        </p:nvSpPr>
        <p:spPr>
          <a:xfrm>
            <a:off x="10728655" y="6510528"/>
            <a:ext cx="914400" cy="201168"/>
          </a:xfrm>
          <a:prstGeom prst="rect">
            <a:avLst/>
          </a:prstGeom>
          <a:noFill/>
          <a:ln/>
        </p:spPr>
        <p:txBody>
          <a:bodyPr wrap="square" lIns="0" tIns="0" rIns="0" bIns="0" rtlCol="0" anchor="t"/>
          <a:lstStyle/>
          <a:p>
            <a:pPr marL="0" indent="0" algn="r">
              <a:buNone/>
            </a:pPr>
            <a:r>
              <a:rPr lang="en-US" sz="900" dirty="0">
                <a:solidFill>
                  <a:srgbClr val="5A6272"/>
                </a:solidFill>
                <a:latin typeface="Calibri" pitchFamily="34" charset="0"/>
                <a:ea typeface="Calibri" pitchFamily="34" charset="-122"/>
                <a:cs typeface="Calibri" pitchFamily="34" charset="-120"/>
              </a:rPr>
              <a:t>12</a:t>
            </a:r>
            <a:endParaRPr lang="en-US" sz="900" dirty="0"/>
          </a:p>
        </p:txBody>
      </p:sp>
      <p:sp>
        <p:nvSpPr>
          <p:cNvPr id="14" name="Text 12"/>
          <p:cNvSpPr txBox="1"/>
          <p:nvPr/>
        </p:nvSpPr>
        <p:spPr>
          <a:xfrm>
            <a:off x="548640" y="1371600"/>
            <a:ext cx="11094415" cy="365760"/>
          </a:xfrm>
          <a:prstGeom prst="rect">
            <a:avLst/>
          </a:prstGeom>
          <a:noFill/>
          <a:ln/>
        </p:spPr>
        <p:txBody>
          <a:bodyPr wrap="square" lIns="0" tIns="0" rIns="0" bIns="0" rtlCol="0" anchor="t"/>
          <a:lstStyle/>
          <a:p>
            <a:pPr marL="0" indent="0">
              <a:buNone/>
            </a:pPr>
            <a:r>
              <a:rPr lang="en-US" sz="1400" dirty="0">
                <a:solidFill>
                  <a:srgbClr val="5A6272"/>
                </a:solidFill>
                <a:latin typeface="Calibri" pitchFamily="34" charset="0"/>
                <a:ea typeface="Calibri" pitchFamily="34" charset="-122"/>
                <a:cs typeface="Calibri" pitchFamily="34" charset="-120"/>
              </a:rPr>
              <a:t>Moving legacy Client Letter templates onto CCM / Inspire to standardize digital and print communication across the enterprise.</a:t>
            </a:r>
            <a:endParaRPr lang="en-US" sz="1400" dirty="0"/>
          </a:p>
        </p:txBody>
      </p:sp>
      <p:sp>
        <p:nvSpPr>
          <p:cNvPr id="15" name="Shape 13"/>
          <p:cNvSpPr/>
          <p:nvPr/>
        </p:nvSpPr>
        <p:spPr>
          <a:xfrm>
            <a:off x="548640" y="1874520"/>
            <a:ext cx="2602154" cy="384048"/>
          </a:xfrm>
          <a:prstGeom prst="rect">
            <a:avLst/>
          </a:prstGeom>
          <a:solidFill>
            <a:srgbClr val="0E1A33"/>
          </a:solidFill>
          <a:ln/>
        </p:spPr>
        <p:txBody>
          <a:bodyPr/>
          <a:lstStyle/>
          <a:p>
            <a:endParaRPr lang="en-US"/>
          </a:p>
        </p:txBody>
      </p:sp>
      <p:sp>
        <p:nvSpPr>
          <p:cNvPr id="16" name="Text 14"/>
          <p:cNvSpPr txBox="1"/>
          <p:nvPr/>
        </p:nvSpPr>
        <p:spPr>
          <a:xfrm>
            <a:off x="676656" y="1874520"/>
            <a:ext cx="1824914"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2025 migrations</a:t>
            </a:r>
            <a:endParaRPr lang="en-US" sz="1200" dirty="0"/>
          </a:p>
        </p:txBody>
      </p:sp>
      <p:sp>
        <p:nvSpPr>
          <p:cNvPr id="17" name="Text 15"/>
          <p:cNvSpPr txBox="1"/>
          <p:nvPr/>
        </p:nvSpPr>
        <p:spPr>
          <a:xfrm>
            <a:off x="2419274" y="1874520"/>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274</a:t>
            </a:r>
            <a:endParaRPr lang="en-US" sz="1700" dirty="0"/>
          </a:p>
        </p:txBody>
      </p:sp>
      <p:sp>
        <p:nvSpPr>
          <p:cNvPr id="18" name="Shape 16"/>
          <p:cNvSpPr/>
          <p:nvPr/>
        </p:nvSpPr>
        <p:spPr>
          <a:xfrm>
            <a:off x="548640" y="2258568"/>
            <a:ext cx="2602154" cy="804672"/>
          </a:xfrm>
          <a:prstGeom prst="rect">
            <a:avLst/>
          </a:prstGeom>
          <a:solidFill>
            <a:srgbClr val="FFFFFF"/>
          </a:solidFill>
          <a:ln w="9525">
            <a:solidFill>
              <a:srgbClr val="D3D8DF"/>
            </a:solidFill>
            <a:prstDash val="solid"/>
          </a:ln>
        </p:spPr>
        <p:txBody>
          <a:bodyPr/>
          <a:lstStyle/>
          <a:p>
            <a:endParaRPr lang="en-US"/>
          </a:p>
        </p:txBody>
      </p:sp>
      <p:sp>
        <p:nvSpPr>
          <p:cNvPr id="19" name="Text 17"/>
          <p:cNvSpPr txBox="1"/>
          <p:nvPr/>
        </p:nvSpPr>
        <p:spPr>
          <a:xfrm>
            <a:off x="676656" y="2350008"/>
            <a:ext cx="2346122" cy="640080"/>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Critical business communications</a:t>
            </a:r>
            <a:endParaRPr lang="en-US" sz="1050" dirty="0"/>
          </a:p>
        </p:txBody>
      </p:sp>
      <p:sp>
        <p:nvSpPr>
          <p:cNvPr id="20" name="Shape 18"/>
          <p:cNvSpPr/>
          <p:nvPr/>
        </p:nvSpPr>
        <p:spPr>
          <a:xfrm>
            <a:off x="3379394" y="1874520"/>
            <a:ext cx="2602154" cy="384048"/>
          </a:xfrm>
          <a:prstGeom prst="rect">
            <a:avLst/>
          </a:prstGeom>
          <a:solidFill>
            <a:srgbClr val="1E4FC0"/>
          </a:solidFill>
          <a:ln/>
        </p:spPr>
        <p:txBody>
          <a:bodyPr/>
          <a:lstStyle/>
          <a:p>
            <a:endParaRPr lang="en-US"/>
          </a:p>
        </p:txBody>
      </p:sp>
      <p:sp>
        <p:nvSpPr>
          <p:cNvPr id="21" name="Text 19"/>
          <p:cNvSpPr txBox="1"/>
          <p:nvPr/>
        </p:nvSpPr>
        <p:spPr>
          <a:xfrm>
            <a:off x="3507410" y="1874520"/>
            <a:ext cx="1824914"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2026 potential</a:t>
            </a:r>
            <a:endParaRPr lang="en-US" sz="1200" dirty="0"/>
          </a:p>
        </p:txBody>
      </p:sp>
      <p:sp>
        <p:nvSpPr>
          <p:cNvPr id="22" name="Text 20"/>
          <p:cNvSpPr txBox="1"/>
          <p:nvPr/>
        </p:nvSpPr>
        <p:spPr>
          <a:xfrm>
            <a:off x="5250028" y="1874520"/>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168</a:t>
            </a:r>
            <a:endParaRPr lang="en-US" sz="1700" dirty="0"/>
          </a:p>
        </p:txBody>
      </p:sp>
      <p:sp>
        <p:nvSpPr>
          <p:cNvPr id="23" name="Shape 21"/>
          <p:cNvSpPr/>
          <p:nvPr/>
        </p:nvSpPr>
        <p:spPr>
          <a:xfrm>
            <a:off x="3379394" y="2258568"/>
            <a:ext cx="2602154" cy="804672"/>
          </a:xfrm>
          <a:prstGeom prst="rect">
            <a:avLst/>
          </a:prstGeom>
          <a:solidFill>
            <a:srgbClr val="FFFFFF"/>
          </a:solidFill>
          <a:ln w="9525">
            <a:solidFill>
              <a:srgbClr val="D3D8DF"/>
            </a:solidFill>
            <a:prstDash val="solid"/>
          </a:ln>
        </p:spPr>
        <p:txBody>
          <a:bodyPr/>
          <a:lstStyle/>
          <a:p>
            <a:endParaRPr lang="en-US"/>
          </a:p>
        </p:txBody>
      </p:sp>
      <p:sp>
        <p:nvSpPr>
          <p:cNvPr id="24" name="Text 22"/>
          <p:cNvSpPr txBox="1"/>
          <p:nvPr/>
        </p:nvSpPr>
        <p:spPr>
          <a:xfrm>
            <a:off x="3507410" y="2350008"/>
            <a:ext cx="2346122" cy="640080"/>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Based on evolving business needs</a:t>
            </a:r>
            <a:endParaRPr lang="en-US" sz="1050" dirty="0"/>
          </a:p>
        </p:txBody>
      </p:sp>
      <p:sp>
        <p:nvSpPr>
          <p:cNvPr id="25" name="Shape 23"/>
          <p:cNvSpPr/>
          <p:nvPr/>
        </p:nvSpPr>
        <p:spPr>
          <a:xfrm>
            <a:off x="6210148" y="1874520"/>
            <a:ext cx="2602154" cy="384048"/>
          </a:xfrm>
          <a:prstGeom prst="rect">
            <a:avLst/>
          </a:prstGeom>
          <a:solidFill>
            <a:srgbClr val="1F6E4A"/>
          </a:solidFill>
          <a:ln/>
        </p:spPr>
        <p:txBody>
          <a:bodyPr/>
          <a:lstStyle/>
          <a:p>
            <a:endParaRPr lang="en-US"/>
          </a:p>
        </p:txBody>
      </p:sp>
      <p:sp>
        <p:nvSpPr>
          <p:cNvPr id="26" name="Text 24"/>
          <p:cNvSpPr txBox="1"/>
          <p:nvPr/>
        </p:nvSpPr>
        <p:spPr>
          <a:xfrm>
            <a:off x="6338164" y="1874520"/>
            <a:ext cx="1824914"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Systems integrated</a:t>
            </a:r>
            <a:endParaRPr lang="en-US" sz="1200" dirty="0"/>
          </a:p>
        </p:txBody>
      </p:sp>
      <p:sp>
        <p:nvSpPr>
          <p:cNvPr id="27" name="Text 25"/>
          <p:cNvSpPr txBox="1"/>
          <p:nvPr/>
        </p:nvSpPr>
        <p:spPr>
          <a:xfrm>
            <a:off x="8080781" y="1874520"/>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10+</a:t>
            </a:r>
            <a:endParaRPr lang="en-US" sz="1700" dirty="0"/>
          </a:p>
        </p:txBody>
      </p:sp>
      <p:sp>
        <p:nvSpPr>
          <p:cNvPr id="28" name="Shape 26"/>
          <p:cNvSpPr/>
          <p:nvPr/>
        </p:nvSpPr>
        <p:spPr>
          <a:xfrm>
            <a:off x="6210148" y="2258568"/>
            <a:ext cx="2602154" cy="804672"/>
          </a:xfrm>
          <a:prstGeom prst="rect">
            <a:avLst/>
          </a:prstGeom>
          <a:solidFill>
            <a:srgbClr val="FFFFFF"/>
          </a:solidFill>
          <a:ln w="9525">
            <a:solidFill>
              <a:srgbClr val="D3D8DF"/>
            </a:solidFill>
            <a:prstDash val="solid"/>
          </a:ln>
        </p:spPr>
        <p:txBody>
          <a:bodyPr/>
          <a:lstStyle/>
          <a:p>
            <a:endParaRPr lang="en-US"/>
          </a:p>
        </p:txBody>
      </p:sp>
      <p:sp>
        <p:nvSpPr>
          <p:cNvPr id="29" name="Text 27"/>
          <p:cNvSpPr txBox="1"/>
          <p:nvPr/>
        </p:nvSpPr>
        <p:spPr>
          <a:xfrm>
            <a:off x="6338164" y="2350008"/>
            <a:ext cx="2346122" cy="640080"/>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Uninterrupted communications</a:t>
            </a:r>
            <a:endParaRPr lang="en-US" sz="1050" dirty="0"/>
          </a:p>
        </p:txBody>
      </p:sp>
      <p:sp>
        <p:nvSpPr>
          <p:cNvPr id="30" name="Shape 28"/>
          <p:cNvSpPr/>
          <p:nvPr/>
        </p:nvSpPr>
        <p:spPr>
          <a:xfrm>
            <a:off x="9040901" y="1874520"/>
            <a:ext cx="2602154" cy="384048"/>
          </a:xfrm>
          <a:prstGeom prst="rect">
            <a:avLst/>
          </a:prstGeom>
          <a:solidFill>
            <a:srgbClr val="3D4757"/>
          </a:solidFill>
          <a:ln/>
        </p:spPr>
        <p:txBody>
          <a:bodyPr/>
          <a:lstStyle/>
          <a:p>
            <a:endParaRPr lang="en-US"/>
          </a:p>
        </p:txBody>
      </p:sp>
      <p:sp>
        <p:nvSpPr>
          <p:cNvPr id="31" name="Text 29"/>
          <p:cNvSpPr txBox="1"/>
          <p:nvPr/>
        </p:nvSpPr>
        <p:spPr>
          <a:xfrm>
            <a:off x="9168917" y="1874520"/>
            <a:ext cx="1824914"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Integration paths</a:t>
            </a:r>
            <a:endParaRPr lang="en-US" sz="1200" dirty="0"/>
          </a:p>
        </p:txBody>
      </p:sp>
      <p:sp>
        <p:nvSpPr>
          <p:cNvPr id="32" name="Text 30"/>
          <p:cNvSpPr txBox="1"/>
          <p:nvPr/>
        </p:nvSpPr>
        <p:spPr>
          <a:xfrm>
            <a:off x="10911535" y="1874520"/>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3</a:t>
            </a:r>
            <a:endParaRPr lang="en-US" sz="1700" dirty="0"/>
          </a:p>
        </p:txBody>
      </p:sp>
      <p:sp>
        <p:nvSpPr>
          <p:cNvPr id="33" name="Shape 31"/>
          <p:cNvSpPr/>
          <p:nvPr/>
        </p:nvSpPr>
        <p:spPr>
          <a:xfrm>
            <a:off x="9040901" y="2258568"/>
            <a:ext cx="2602154" cy="804672"/>
          </a:xfrm>
          <a:prstGeom prst="rect">
            <a:avLst/>
          </a:prstGeom>
          <a:solidFill>
            <a:srgbClr val="FFFFFF"/>
          </a:solidFill>
          <a:ln w="9525">
            <a:solidFill>
              <a:srgbClr val="D3D8DF"/>
            </a:solidFill>
            <a:prstDash val="solid"/>
          </a:ln>
        </p:spPr>
        <p:txBody>
          <a:bodyPr/>
          <a:lstStyle/>
          <a:p>
            <a:endParaRPr lang="en-US"/>
          </a:p>
        </p:txBody>
      </p:sp>
      <p:sp>
        <p:nvSpPr>
          <p:cNvPr id="34" name="Text 32"/>
          <p:cNvSpPr txBox="1"/>
          <p:nvPr/>
        </p:nvSpPr>
        <p:spPr>
          <a:xfrm>
            <a:off x="9168917" y="2350008"/>
            <a:ext cx="2346122" cy="640080"/>
          </a:xfrm>
          <a:prstGeom prst="rect">
            <a:avLst/>
          </a:prstGeom>
          <a:noFill/>
          <a:ln/>
        </p:spPr>
        <p:txBody>
          <a:bodyPr wrap="square" lIns="0" tIns="0" rIns="0" bIns="0" rtlCol="0" anchor="t"/>
          <a:lstStyle/>
          <a:p>
            <a:pPr marL="0" indent="0">
              <a:buNone/>
            </a:pPr>
            <a:r>
              <a:rPr lang="en-US" sz="1050" dirty="0">
                <a:solidFill>
                  <a:srgbClr val="1C2330"/>
                </a:solidFill>
                <a:latin typeface="Calibri" pitchFamily="34" charset="0"/>
                <a:ea typeface="Calibri" pitchFamily="34" charset="-122"/>
                <a:cs typeface="Calibri" pitchFamily="34" charset="-120"/>
              </a:rPr>
              <a:t>API, batch, on-demand</a:t>
            </a:r>
            <a:endParaRPr lang="en-US" sz="1050" dirty="0"/>
          </a:p>
        </p:txBody>
      </p:sp>
      <p:sp>
        <p:nvSpPr>
          <p:cNvPr id="35" name="Shape 33"/>
          <p:cNvSpPr/>
          <p:nvPr/>
        </p:nvSpPr>
        <p:spPr>
          <a:xfrm>
            <a:off x="548640" y="3291840"/>
            <a:ext cx="11094415" cy="1783080"/>
          </a:xfrm>
          <a:prstGeom prst="rect">
            <a:avLst/>
          </a:prstGeom>
          <a:solidFill>
            <a:srgbClr val="E9EBEF"/>
          </a:solidFill>
          <a:ln/>
        </p:spPr>
        <p:txBody>
          <a:bodyPr/>
          <a:lstStyle/>
          <a:p>
            <a:endParaRPr lang="en-US"/>
          </a:p>
        </p:txBody>
      </p:sp>
      <p:sp>
        <p:nvSpPr>
          <p:cNvPr id="36" name="Shape 34"/>
          <p:cNvSpPr/>
          <p:nvPr/>
        </p:nvSpPr>
        <p:spPr>
          <a:xfrm>
            <a:off x="548640" y="3291840"/>
            <a:ext cx="11094415" cy="54864"/>
          </a:xfrm>
          <a:prstGeom prst="rect">
            <a:avLst/>
          </a:prstGeom>
          <a:solidFill>
            <a:srgbClr val="E4572E"/>
          </a:solidFill>
          <a:ln/>
        </p:spPr>
        <p:txBody>
          <a:bodyPr/>
          <a:lstStyle/>
          <a:p>
            <a:endParaRPr lang="en-US"/>
          </a:p>
        </p:txBody>
      </p:sp>
      <p:sp>
        <p:nvSpPr>
          <p:cNvPr id="37" name="Shape 35"/>
          <p:cNvSpPr/>
          <p:nvPr/>
        </p:nvSpPr>
        <p:spPr>
          <a:xfrm>
            <a:off x="548640" y="3291840"/>
            <a:ext cx="54864" cy="1783080"/>
          </a:xfrm>
          <a:prstGeom prst="rect">
            <a:avLst/>
          </a:prstGeom>
          <a:solidFill>
            <a:srgbClr val="E4572E"/>
          </a:solidFill>
          <a:ln/>
        </p:spPr>
        <p:txBody>
          <a:bodyPr/>
          <a:lstStyle/>
          <a:p>
            <a:endParaRPr lang="en-US"/>
          </a:p>
        </p:txBody>
      </p:sp>
      <p:sp>
        <p:nvSpPr>
          <p:cNvPr id="38" name="Text 36"/>
          <p:cNvSpPr txBox="1"/>
          <p:nvPr/>
        </p:nvSpPr>
        <p:spPr>
          <a:xfrm>
            <a:off x="731520" y="3410712"/>
            <a:ext cx="10820095" cy="237744"/>
          </a:xfrm>
          <a:prstGeom prst="rect">
            <a:avLst/>
          </a:prstGeom>
          <a:noFill/>
          <a:ln/>
        </p:spPr>
        <p:txBody>
          <a:bodyPr wrap="square" lIns="0" tIns="0" rIns="0" bIns="0" rtlCol="0" anchor="t"/>
          <a:lstStyle/>
          <a:p>
            <a:pPr marL="0" indent="0">
              <a:buNone/>
            </a:pPr>
            <a:r>
              <a:rPr lang="en-US" sz="900" b="1" kern="0" spc="300" dirty="0">
                <a:solidFill>
                  <a:srgbClr val="E4572E"/>
                </a:solidFill>
                <a:latin typeface="Calibri" pitchFamily="34" charset="0"/>
                <a:ea typeface="Calibri" pitchFamily="34" charset="-122"/>
                <a:cs typeface="Calibri" pitchFamily="34" charset="-120"/>
              </a:rPr>
              <a:t>MILESTONES (PLAN OF RECORD)</a:t>
            </a:r>
            <a:endParaRPr lang="en-US" sz="900" dirty="0"/>
          </a:p>
        </p:txBody>
      </p:sp>
      <p:sp>
        <p:nvSpPr>
          <p:cNvPr id="39" name="Shape 37"/>
          <p:cNvSpPr/>
          <p:nvPr/>
        </p:nvSpPr>
        <p:spPr>
          <a:xfrm>
            <a:off x="822960" y="3886200"/>
            <a:ext cx="10545775" cy="0"/>
          </a:xfrm>
          <a:prstGeom prst="line">
            <a:avLst/>
          </a:prstGeom>
          <a:noFill/>
          <a:ln w="25400">
            <a:solidFill>
              <a:srgbClr val="D3D8DF"/>
            </a:solidFill>
            <a:prstDash val="solid"/>
          </a:ln>
        </p:spPr>
        <p:txBody>
          <a:bodyPr/>
          <a:lstStyle/>
          <a:p>
            <a:endParaRPr lang="en-US"/>
          </a:p>
        </p:txBody>
      </p:sp>
      <p:sp>
        <p:nvSpPr>
          <p:cNvPr id="40" name="Shape 38"/>
          <p:cNvSpPr/>
          <p:nvPr/>
        </p:nvSpPr>
        <p:spPr>
          <a:xfrm>
            <a:off x="822960" y="3730752"/>
            <a:ext cx="310896" cy="310896"/>
          </a:xfrm>
          <a:prstGeom prst="ellipse">
            <a:avLst/>
          </a:prstGeom>
          <a:solidFill>
            <a:srgbClr val="1E4FC0"/>
          </a:solidFill>
          <a:ln/>
        </p:spPr>
        <p:txBody>
          <a:bodyPr/>
          <a:lstStyle/>
          <a:p>
            <a:endParaRPr lang="en-US"/>
          </a:p>
        </p:txBody>
      </p:sp>
      <p:sp>
        <p:nvSpPr>
          <p:cNvPr id="41" name="Text 39"/>
          <p:cNvSpPr txBox="1"/>
          <p:nvPr/>
        </p:nvSpPr>
        <p:spPr>
          <a:xfrm>
            <a:off x="822960" y="373075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2" name="Text 40"/>
          <p:cNvSpPr txBox="1"/>
          <p:nvPr/>
        </p:nvSpPr>
        <p:spPr>
          <a:xfrm>
            <a:off x="822960" y="4160520"/>
            <a:ext cx="2362124" cy="822960"/>
          </a:xfrm>
          <a:prstGeom prst="rect">
            <a:avLst/>
          </a:prstGeom>
          <a:noFill/>
          <a:ln/>
        </p:spPr>
        <p:txBody>
          <a:bodyPr wrap="square" lIns="0" tIns="0" rIns="0" bIns="0" rtlCol="0" anchor="t"/>
          <a:lstStyle/>
          <a:p>
            <a:pPr marL="0" indent="0">
              <a:buNone/>
            </a:pPr>
            <a:r>
              <a:rPr lang="en-US" sz="1200" b="1" dirty="0">
                <a:solidFill>
                  <a:srgbClr val="1E4FC0"/>
                </a:solidFill>
                <a:latin typeface="Calibri" pitchFamily="34" charset="0"/>
                <a:ea typeface="Calibri" pitchFamily="34" charset="-122"/>
                <a:cs typeface="Calibri" pitchFamily="34" charset="-120"/>
              </a:rPr>
              <a:t>2025</a:t>
            </a:r>
            <a:endParaRPr lang="en-US" sz="1200" dirty="0"/>
          </a:p>
          <a:p>
            <a:pPr marL="0" indent="0">
              <a:buNone/>
            </a:pPr>
            <a:r>
              <a:rPr lang="en-US" sz="1200" dirty="0">
                <a:solidFill>
                  <a:srgbClr val="1C2330"/>
                </a:solidFill>
                <a:latin typeface="Calibri" pitchFamily="34" charset="0"/>
                <a:ea typeface="Calibri" pitchFamily="34" charset="-122"/>
                <a:cs typeface="Calibri" pitchFamily="34" charset="-120"/>
              </a:rPr>
              <a:t>Core templates migrated, English and Spanish</a:t>
            </a:r>
            <a:endParaRPr lang="en-US" sz="1200" dirty="0"/>
          </a:p>
        </p:txBody>
      </p:sp>
      <p:sp>
        <p:nvSpPr>
          <p:cNvPr id="43" name="Shape 41"/>
          <p:cNvSpPr/>
          <p:nvPr/>
        </p:nvSpPr>
        <p:spPr>
          <a:xfrm>
            <a:off x="3459404" y="3730752"/>
            <a:ext cx="310896" cy="310896"/>
          </a:xfrm>
          <a:prstGeom prst="ellipse">
            <a:avLst/>
          </a:prstGeom>
          <a:solidFill>
            <a:srgbClr val="1E4FC0"/>
          </a:solidFill>
          <a:ln/>
        </p:spPr>
        <p:txBody>
          <a:bodyPr/>
          <a:lstStyle/>
          <a:p>
            <a:endParaRPr lang="en-US"/>
          </a:p>
        </p:txBody>
      </p:sp>
      <p:sp>
        <p:nvSpPr>
          <p:cNvPr id="44" name="Text 42"/>
          <p:cNvSpPr txBox="1"/>
          <p:nvPr/>
        </p:nvSpPr>
        <p:spPr>
          <a:xfrm>
            <a:off x="3459404" y="373075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5" name="Text 43"/>
          <p:cNvSpPr txBox="1"/>
          <p:nvPr/>
        </p:nvSpPr>
        <p:spPr>
          <a:xfrm>
            <a:off x="3459404" y="4160520"/>
            <a:ext cx="2362124" cy="822960"/>
          </a:xfrm>
          <a:prstGeom prst="rect">
            <a:avLst/>
          </a:prstGeom>
          <a:noFill/>
          <a:ln/>
        </p:spPr>
        <p:txBody>
          <a:bodyPr wrap="square" lIns="0" tIns="0" rIns="0" bIns="0" rtlCol="0" anchor="t"/>
          <a:lstStyle/>
          <a:p>
            <a:pPr marL="0" indent="0">
              <a:buNone/>
            </a:pPr>
            <a:r>
              <a:rPr lang="en-US" sz="1200" b="1" dirty="0">
                <a:solidFill>
                  <a:srgbClr val="1E4FC0"/>
                </a:solidFill>
                <a:latin typeface="Calibri" pitchFamily="34" charset="0"/>
                <a:ea typeface="Calibri" pitchFamily="34" charset="-122"/>
                <a:cs typeface="Calibri" pitchFamily="34" charset="-120"/>
              </a:rPr>
              <a:t>2025</a:t>
            </a:r>
            <a:endParaRPr lang="en-US" sz="1200" dirty="0"/>
          </a:p>
          <a:p>
            <a:pPr marL="0" indent="0">
              <a:buNone/>
            </a:pPr>
            <a:r>
              <a:rPr lang="en-US" sz="1200" dirty="0">
                <a:solidFill>
                  <a:srgbClr val="1C2330"/>
                </a:solidFill>
                <a:latin typeface="Calibri" pitchFamily="34" charset="0"/>
                <a:ea typeface="Calibri" pitchFamily="34" charset="-122"/>
                <a:cs typeface="Calibri" pitchFamily="34" charset="-120"/>
              </a:rPr>
              <a:t>Historical Client Letters in Content Central</a:t>
            </a:r>
            <a:endParaRPr lang="en-US" sz="1200" dirty="0"/>
          </a:p>
        </p:txBody>
      </p:sp>
      <p:sp>
        <p:nvSpPr>
          <p:cNvPr id="46" name="Shape 44"/>
          <p:cNvSpPr/>
          <p:nvPr/>
        </p:nvSpPr>
        <p:spPr>
          <a:xfrm>
            <a:off x="6095848" y="3730752"/>
            <a:ext cx="310896" cy="310896"/>
          </a:xfrm>
          <a:prstGeom prst="ellipse">
            <a:avLst/>
          </a:prstGeom>
          <a:solidFill>
            <a:srgbClr val="E4572E"/>
          </a:solidFill>
          <a:ln/>
        </p:spPr>
        <p:txBody>
          <a:bodyPr/>
          <a:lstStyle/>
          <a:p>
            <a:endParaRPr lang="en-US"/>
          </a:p>
        </p:txBody>
      </p:sp>
      <p:sp>
        <p:nvSpPr>
          <p:cNvPr id="47" name="Text 45"/>
          <p:cNvSpPr txBox="1"/>
          <p:nvPr/>
        </p:nvSpPr>
        <p:spPr>
          <a:xfrm>
            <a:off x="6095848" y="373075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6"/>
          <p:cNvSpPr txBox="1"/>
          <p:nvPr/>
        </p:nvSpPr>
        <p:spPr>
          <a:xfrm>
            <a:off x="6095848" y="4160520"/>
            <a:ext cx="2362124" cy="822960"/>
          </a:xfrm>
          <a:prstGeom prst="rect">
            <a:avLst/>
          </a:prstGeom>
          <a:noFill/>
          <a:ln/>
        </p:spPr>
        <p:txBody>
          <a:bodyPr wrap="square" lIns="0" tIns="0" rIns="0" bIns="0" rtlCol="0" anchor="t"/>
          <a:lstStyle/>
          <a:p>
            <a:pPr marL="0" indent="0">
              <a:buNone/>
            </a:pPr>
            <a:r>
              <a:rPr lang="en-US" sz="1200" b="1" dirty="0">
                <a:solidFill>
                  <a:srgbClr val="1E4FC0"/>
                </a:solidFill>
                <a:latin typeface="Calibri" pitchFamily="34" charset="0"/>
                <a:ea typeface="Calibri" pitchFamily="34" charset="-122"/>
                <a:cs typeface="Calibri" pitchFamily="34" charset="-120"/>
              </a:rPr>
              <a:t>End of 2025</a:t>
            </a:r>
            <a:endParaRPr lang="en-US" sz="1200" dirty="0"/>
          </a:p>
          <a:p>
            <a:pPr marL="0" indent="0">
              <a:buNone/>
            </a:pPr>
            <a:r>
              <a:rPr lang="en-US" sz="1200" dirty="0">
                <a:solidFill>
                  <a:srgbClr val="1C2330"/>
                </a:solidFill>
                <a:latin typeface="Calibri" pitchFamily="34" charset="0"/>
                <a:ea typeface="Calibri" pitchFamily="34" charset="-122"/>
                <a:cs typeface="Calibri" pitchFamily="34" charset="-120"/>
              </a:rPr>
              <a:t>Decommission Client Letter</a:t>
            </a:r>
            <a:endParaRPr lang="en-US" sz="1200" dirty="0"/>
          </a:p>
        </p:txBody>
      </p:sp>
      <p:sp>
        <p:nvSpPr>
          <p:cNvPr id="49" name="Shape 47"/>
          <p:cNvSpPr/>
          <p:nvPr/>
        </p:nvSpPr>
        <p:spPr>
          <a:xfrm>
            <a:off x="8732291" y="3730752"/>
            <a:ext cx="310896" cy="310896"/>
          </a:xfrm>
          <a:prstGeom prst="ellipse">
            <a:avLst/>
          </a:prstGeom>
          <a:solidFill>
            <a:srgbClr val="1E4FC0"/>
          </a:solidFill>
          <a:ln/>
        </p:spPr>
        <p:txBody>
          <a:bodyPr/>
          <a:lstStyle/>
          <a:p>
            <a:endParaRPr lang="en-US"/>
          </a:p>
        </p:txBody>
      </p:sp>
      <p:sp>
        <p:nvSpPr>
          <p:cNvPr id="50" name="Text 48"/>
          <p:cNvSpPr txBox="1"/>
          <p:nvPr/>
        </p:nvSpPr>
        <p:spPr>
          <a:xfrm>
            <a:off x="8732291" y="3730752"/>
            <a:ext cx="310896"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1" name="Text 49"/>
          <p:cNvSpPr txBox="1"/>
          <p:nvPr/>
        </p:nvSpPr>
        <p:spPr>
          <a:xfrm>
            <a:off x="8732291" y="4160520"/>
            <a:ext cx="2362124" cy="822960"/>
          </a:xfrm>
          <a:prstGeom prst="rect">
            <a:avLst/>
          </a:prstGeom>
          <a:noFill/>
          <a:ln/>
        </p:spPr>
        <p:txBody>
          <a:bodyPr wrap="square" lIns="0" tIns="0" rIns="0" bIns="0" rtlCol="0" anchor="t"/>
          <a:lstStyle/>
          <a:p>
            <a:pPr marL="0" indent="0">
              <a:buNone/>
            </a:pPr>
            <a:r>
              <a:rPr lang="en-US" sz="1200" b="1" dirty="0">
                <a:solidFill>
                  <a:srgbClr val="1E4FC0"/>
                </a:solidFill>
                <a:latin typeface="Calibri" pitchFamily="34" charset="0"/>
                <a:ea typeface="Calibri" pitchFamily="34" charset="-122"/>
                <a:cs typeface="Calibri" pitchFamily="34" charset="-120"/>
              </a:rPr>
              <a:t>2026</a:t>
            </a:r>
            <a:endParaRPr lang="en-US" sz="1200" dirty="0"/>
          </a:p>
          <a:p>
            <a:pPr marL="0" indent="0">
              <a:buNone/>
            </a:pPr>
            <a:r>
              <a:rPr lang="en-US" sz="1200" dirty="0">
                <a:solidFill>
                  <a:srgbClr val="1C2330"/>
                </a:solidFill>
                <a:latin typeface="Calibri" pitchFamily="34" charset="0"/>
                <a:ea typeface="Calibri" pitchFamily="34" charset="-122"/>
                <a:cs typeface="Calibri" pitchFamily="34" charset="-120"/>
              </a:rPr>
              <a:t>Additional templates based on business needs</a:t>
            </a:r>
            <a:endParaRPr lang="en-US" sz="1200" dirty="0"/>
          </a:p>
        </p:txBody>
      </p:sp>
      <p:sp>
        <p:nvSpPr>
          <p:cNvPr id="52" name="Shape 50"/>
          <p:cNvSpPr/>
          <p:nvPr/>
        </p:nvSpPr>
        <p:spPr>
          <a:xfrm>
            <a:off x="548640" y="5257800"/>
            <a:ext cx="11094415" cy="1005840"/>
          </a:xfrm>
          <a:prstGeom prst="rect">
            <a:avLst/>
          </a:prstGeom>
          <a:solidFill>
            <a:srgbClr val="E9EBEF"/>
          </a:solidFill>
          <a:ln/>
        </p:spPr>
        <p:txBody>
          <a:bodyPr/>
          <a:lstStyle/>
          <a:p>
            <a:endParaRPr lang="en-US"/>
          </a:p>
        </p:txBody>
      </p:sp>
      <p:sp>
        <p:nvSpPr>
          <p:cNvPr id="53" name="Shape 51"/>
          <p:cNvSpPr/>
          <p:nvPr/>
        </p:nvSpPr>
        <p:spPr>
          <a:xfrm>
            <a:off x="548640" y="5257800"/>
            <a:ext cx="11094415" cy="54864"/>
          </a:xfrm>
          <a:prstGeom prst="rect">
            <a:avLst/>
          </a:prstGeom>
          <a:solidFill>
            <a:srgbClr val="2E7D6B"/>
          </a:solidFill>
          <a:ln/>
        </p:spPr>
        <p:txBody>
          <a:bodyPr/>
          <a:lstStyle/>
          <a:p>
            <a:endParaRPr lang="en-US"/>
          </a:p>
        </p:txBody>
      </p:sp>
      <p:sp>
        <p:nvSpPr>
          <p:cNvPr id="54" name="Shape 52"/>
          <p:cNvSpPr/>
          <p:nvPr/>
        </p:nvSpPr>
        <p:spPr>
          <a:xfrm>
            <a:off x="548640" y="5257800"/>
            <a:ext cx="54864" cy="1005840"/>
          </a:xfrm>
          <a:prstGeom prst="rect">
            <a:avLst/>
          </a:prstGeom>
          <a:solidFill>
            <a:srgbClr val="2E7D6B"/>
          </a:solidFill>
          <a:ln/>
        </p:spPr>
        <p:txBody>
          <a:bodyPr/>
          <a:lstStyle/>
          <a:p>
            <a:endParaRPr lang="en-US"/>
          </a:p>
        </p:txBody>
      </p:sp>
      <p:sp>
        <p:nvSpPr>
          <p:cNvPr id="55" name="Text 53"/>
          <p:cNvSpPr txBox="1"/>
          <p:nvPr/>
        </p:nvSpPr>
        <p:spPr>
          <a:xfrm>
            <a:off x="731520" y="5376672"/>
            <a:ext cx="10820095" cy="237744"/>
          </a:xfrm>
          <a:prstGeom prst="rect">
            <a:avLst/>
          </a:prstGeom>
          <a:noFill/>
          <a:ln/>
        </p:spPr>
        <p:txBody>
          <a:bodyPr wrap="square" lIns="0" tIns="0" rIns="0" bIns="0" rtlCol="0" anchor="t"/>
          <a:lstStyle/>
          <a:p>
            <a:pPr marL="0" indent="0">
              <a:buNone/>
            </a:pPr>
            <a:r>
              <a:rPr lang="en-US" sz="850" b="1" kern="0" spc="300" dirty="0">
                <a:solidFill>
                  <a:srgbClr val="2E7D6B"/>
                </a:solidFill>
                <a:latin typeface="Calibri" pitchFamily="34" charset="0"/>
                <a:ea typeface="Calibri" pitchFamily="34" charset="-122"/>
                <a:cs typeface="Calibri" pitchFamily="34" charset="-120"/>
              </a:rPr>
              <a:t>HISTORICAL LETTERS</a:t>
            </a:r>
            <a:endParaRPr lang="en-US" sz="850" dirty="0"/>
          </a:p>
        </p:txBody>
      </p:sp>
      <p:sp>
        <p:nvSpPr>
          <p:cNvPr id="56" name="Text 54"/>
          <p:cNvSpPr txBox="1"/>
          <p:nvPr/>
        </p:nvSpPr>
        <p:spPr>
          <a:xfrm>
            <a:off x="731520" y="5577840"/>
            <a:ext cx="10728655" cy="548640"/>
          </a:xfrm>
          <a:prstGeom prst="rect">
            <a:avLst/>
          </a:prstGeom>
          <a:noFill/>
          <a:ln/>
        </p:spPr>
        <p:txBody>
          <a:bodyPr wrap="square" lIns="0" tIns="0" rIns="0" bIns="0" rtlCol="0" anchor="ctr"/>
          <a:lstStyle/>
          <a:p>
            <a:pPr marL="0" indent="0">
              <a:buNone/>
            </a:pPr>
            <a:r>
              <a:rPr lang="en-US" sz="1200" dirty="0">
                <a:solidFill>
                  <a:srgbClr val="1C2330"/>
                </a:solidFill>
                <a:latin typeface="Calibri" pitchFamily="34" charset="0"/>
                <a:ea typeface="Calibri" pitchFamily="34" charset="-122"/>
                <a:cs typeface="Calibri" pitchFamily="34" charset="-120"/>
              </a:rPr>
              <a:t>Full history stays in the existing Client Letter database. The latest 3 years are available through Content Central using the current ecosystem and UI.</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141C2B"/>
          </a:solidFill>
          <a:ln/>
        </p:spPr>
        <p:txBody>
          <a:bodyPr/>
          <a:lstStyle/>
          <a:p>
            <a:endParaRPr lang="en-US"/>
          </a:p>
        </p:txBody>
      </p:sp>
      <p:sp>
        <p:nvSpPr>
          <p:cNvPr id="3" name="Shape 1"/>
          <p:cNvSpPr/>
          <p:nvPr/>
        </p:nvSpPr>
        <p:spPr>
          <a:xfrm>
            <a:off x="0" y="0"/>
            <a:ext cx="12191695" cy="45720"/>
          </a:xfrm>
          <a:prstGeom prst="rect">
            <a:avLst/>
          </a:prstGeom>
          <a:solidFill>
            <a:srgbClr val="E4572E"/>
          </a:solidFill>
          <a:ln/>
        </p:spPr>
        <p:txBody>
          <a:bodyPr/>
          <a:lstStyle/>
          <a:p>
            <a:endParaRPr lang="en-US"/>
          </a:p>
        </p:txBody>
      </p:sp>
      <p:sp>
        <p:nvSpPr>
          <p:cNvPr id="4" name="Text 2"/>
          <p:cNvSpPr txBox="1"/>
          <p:nvPr/>
        </p:nvSpPr>
        <p:spPr>
          <a:xfrm>
            <a:off x="548640" y="246888"/>
            <a:ext cx="7772400" cy="256032"/>
          </a:xfrm>
          <a:prstGeom prst="rect">
            <a:avLst/>
          </a:prstGeom>
          <a:noFill/>
          <a:ln/>
        </p:spPr>
        <p:txBody>
          <a:bodyPr wrap="square" lIns="0" tIns="0" rIns="0" bIns="0" rtlCol="0" anchor="t"/>
          <a:lstStyle/>
          <a:p>
            <a:pPr marL="0" indent="0">
              <a:buNone/>
            </a:pPr>
            <a:r>
              <a:rPr lang="en-US" sz="1100" b="1" kern="0" spc="500" dirty="0">
                <a:solidFill>
                  <a:srgbClr val="E4572E"/>
                </a:solidFill>
                <a:latin typeface="Calibri" pitchFamily="34" charset="0"/>
                <a:ea typeface="Calibri" pitchFamily="34" charset="-122"/>
                <a:cs typeface="Calibri" pitchFamily="34" charset="-120"/>
              </a:rPr>
              <a:t>REFERENCE</a:t>
            </a:r>
            <a:endParaRPr lang="en-US" sz="1100" dirty="0"/>
          </a:p>
        </p:txBody>
      </p:sp>
      <p:sp>
        <p:nvSpPr>
          <p:cNvPr id="5" name="Text 3"/>
          <p:cNvSpPr txBox="1"/>
          <p:nvPr/>
        </p:nvSpPr>
        <p:spPr>
          <a:xfrm>
            <a:off x="548640" y="502920"/>
            <a:ext cx="941832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Glossary</a:t>
            </a:r>
            <a:endParaRPr lang="en-US" sz="2700" dirty="0"/>
          </a:p>
        </p:txBody>
      </p:sp>
      <p:sp>
        <p:nvSpPr>
          <p:cNvPr id="8" name="Text 6"/>
          <p:cNvSpPr txBox="1"/>
          <p:nvPr/>
        </p:nvSpPr>
        <p:spPr>
          <a:xfrm>
            <a:off x="548640" y="6510528"/>
            <a:ext cx="5486400" cy="201168"/>
          </a:xfrm>
          <a:prstGeom prst="rect">
            <a:avLst/>
          </a:prstGeom>
          <a:noFill/>
          <a:ln/>
        </p:spPr>
        <p:txBody>
          <a:bodyPr wrap="square" lIns="0" tIns="0" rIns="0" bIns="0" rtlCol="0" anchor="t"/>
          <a:lstStyle/>
          <a:p>
            <a:pPr marL="0" indent="0">
              <a:buNone/>
            </a:pPr>
            <a:r>
              <a:rPr lang="en-US" sz="900" dirty="0">
                <a:solidFill>
                  <a:srgbClr val="5A6272"/>
                </a:solidFill>
                <a:latin typeface="Calibri" pitchFamily="34" charset="0"/>
                <a:ea typeface="Calibri" pitchFamily="34" charset="-122"/>
                <a:cs typeface="Calibri" pitchFamily="34" charset="-120"/>
              </a:rPr>
              <a:t>CCM Architecture Deep Dive  |  GuideWell internal</a:t>
            </a:r>
            <a:endParaRPr lang="en-US" sz="900" dirty="0"/>
          </a:p>
        </p:txBody>
      </p:sp>
      <p:sp>
        <p:nvSpPr>
          <p:cNvPr id="9" name="Text 7"/>
          <p:cNvSpPr txBox="1"/>
          <p:nvPr/>
        </p:nvSpPr>
        <p:spPr>
          <a:xfrm>
            <a:off x="10728655" y="6510528"/>
            <a:ext cx="914400" cy="201168"/>
          </a:xfrm>
          <a:prstGeom prst="rect">
            <a:avLst/>
          </a:prstGeom>
          <a:noFill/>
          <a:ln/>
        </p:spPr>
        <p:txBody>
          <a:bodyPr wrap="square" lIns="0" tIns="0" rIns="0" bIns="0" rtlCol="0" anchor="t"/>
          <a:lstStyle/>
          <a:p>
            <a:pPr marL="0" indent="0" algn="r">
              <a:buNone/>
            </a:pPr>
            <a:r>
              <a:rPr lang="en-US" sz="900" dirty="0">
                <a:solidFill>
                  <a:srgbClr val="5A6272"/>
                </a:solidFill>
                <a:latin typeface="Calibri" pitchFamily="34" charset="0"/>
                <a:ea typeface="Calibri" pitchFamily="34" charset="-122"/>
                <a:cs typeface="Calibri" pitchFamily="34" charset="-120"/>
              </a:rPr>
              <a:t>14</a:t>
            </a:r>
            <a:endParaRPr lang="en-US" sz="900" dirty="0"/>
          </a:p>
        </p:txBody>
      </p:sp>
      <p:sp>
        <p:nvSpPr>
          <p:cNvPr id="10" name="Shape 8"/>
          <p:cNvSpPr/>
          <p:nvPr/>
        </p:nvSpPr>
        <p:spPr>
          <a:xfrm>
            <a:off x="548640" y="1371600"/>
            <a:ext cx="5422392" cy="4937760"/>
          </a:xfrm>
          <a:prstGeom prst="rect">
            <a:avLst/>
          </a:prstGeom>
          <a:solidFill>
            <a:srgbClr val="E9EBEF"/>
          </a:solidFill>
          <a:ln/>
        </p:spPr>
        <p:txBody>
          <a:bodyPr/>
          <a:lstStyle/>
          <a:p>
            <a:endParaRPr lang="en-US"/>
          </a:p>
        </p:txBody>
      </p:sp>
      <p:sp>
        <p:nvSpPr>
          <p:cNvPr id="11" name="Shape 9"/>
          <p:cNvSpPr/>
          <p:nvPr/>
        </p:nvSpPr>
        <p:spPr>
          <a:xfrm>
            <a:off x="548640" y="1371600"/>
            <a:ext cx="5422392" cy="54864"/>
          </a:xfrm>
          <a:prstGeom prst="rect">
            <a:avLst/>
          </a:prstGeom>
          <a:solidFill>
            <a:srgbClr val="1E4FC0"/>
          </a:solidFill>
          <a:ln/>
        </p:spPr>
        <p:txBody>
          <a:bodyPr/>
          <a:lstStyle/>
          <a:p>
            <a:endParaRPr lang="en-US"/>
          </a:p>
        </p:txBody>
      </p:sp>
      <p:sp>
        <p:nvSpPr>
          <p:cNvPr id="12" name="Shape 10"/>
          <p:cNvSpPr/>
          <p:nvPr/>
        </p:nvSpPr>
        <p:spPr>
          <a:xfrm>
            <a:off x="548640" y="1371600"/>
            <a:ext cx="54864" cy="4937760"/>
          </a:xfrm>
          <a:prstGeom prst="rect">
            <a:avLst/>
          </a:prstGeom>
          <a:solidFill>
            <a:srgbClr val="1E4FC0"/>
          </a:solidFill>
          <a:ln/>
        </p:spPr>
        <p:txBody>
          <a:bodyPr/>
          <a:lstStyle/>
          <a:p>
            <a:endParaRPr lang="en-US"/>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1520" y="1572768"/>
          <a:ext cx="5074920" cy="4510024"/>
        </p:xfrm>
        <a:graphic>
          <a:graphicData uri="http://schemas.openxmlformats.org/drawingml/2006/table">
            <a:tbl>
              <a:tblPr/>
              <a:tblGrid>
                <a:gridCol w="173736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tblGrid>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ASO</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Administrative Services Only (self-funded groups)</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Binder payment</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First premium payment; turns a prospect into a member</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CAM Inventories</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Service that feeds items into Message Center</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CCM</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Customer Communication Management</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CIAM</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Customer Identity and Access Management</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Content Central / ECMS</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Archive of communication PDFs</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Control-M</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Batch job scheduler</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DataPower</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API gateway in front of CCM services</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EWoC</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Enterprise Work Center</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FEP</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Federal Employee Program</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HCCID</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Member identifier passed to CCM</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Inspire</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Quadient Inspire composition platform (R15)</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14" name="Shape 11"/>
          <p:cNvSpPr/>
          <p:nvPr/>
        </p:nvSpPr>
        <p:spPr>
          <a:xfrm>
            <a:off x="6217920" y="1371600"/>
            <a:ext cx="5422392" cy="4937760"/>
          </a:xfrm>
          <a:prstGeom prst="rect">
            <a:avLst/>
          </a:prstGeom>
          <a:solidFill>
            <a:srgbClr val="E9EBEF"/>
          </a:solidFill>
          <a:ln/>
        </p:spPr>
        <p:txBody>
          <a:bodyPr/>
          <a:lstStyle/>
          <a:p>
            <a:endParaRPr lang="en-US"/>
          </a:p>
        </p:txBody>
      </p:sp>
      <p:sp>
        <p:nvSpPr>
          <p:cNvPr id="13" name="Shape 12"/>
          <p:cNvSpPr/>
          <p:nvPr/>
        </p:nvSpPr>
        <p:spPr>
          <a:xfrm>
            <a:off x="6217920" y="1371600"/>
            <a:ext cx="5422392" cy="54864"/>
          </a:xfrm>
          <a:prstGeom prst="rect">
            <a:avLst/>
          </a:prstGeom>
          <a:solidFill>
            <a:srgbClr val="2E7D6B"/>
          </a:solidFill>
          <a:ln/>
        </p:spPr>
        <p:txBody>
          <a:bodyPr/>
          <a:lstStyle/>
          <a:p>
            <a:endParaRPr lang="en-US"/>
          </a:p>
        </p:txBody>
      </p:sp>
      <p:sp>
        <p:nvSpPr>
          <p:cNvPr id="16" name="Shape 13"/>
          <p:cNvSpPr/>
          <p:nvPr/>
        </p:nvSpPr>
        <p:spPr>
          <a:xfrm>
            <a:off x="6217920" y="1371600"/>
            <a:ext cx="54864" cy="4937760"/>
          </a:xfrm>
          <a:prstGeom prst="rect">
            <a:avLst/>
          </a:prstGeom>
          <a:solidFill>
            <a:srgbClr val="2E7D6B"/>
          </a:solidFill>
          <a:ln/>
        </p:spPr>
        <p:txBody>
          <a:bodyPr/>
          <a:lstStyle/>
          <a:p>
            <a:endParaRPr lang="en-US"/>
          </a:p>
        </p:txBody>
      </p:sp>
      <p:graphicFrame>
        <p:nvGraphicFramePr>
          <p:cNvPr id="29" name="Table 1"/>
          <p:cNvGraphicFramePr>
            <a:graphicFrameLocks noGrp="1"/>
          </p:cNvGraphicFramePr>
          <p:nvPr>
            <p:extLst>
              <p:ext uri="{D42A27DB-BD31-4B8C-83A1-F6EECF244321}">
                <p14:modId xmlns:p14="http://schemas.microsoft.com/office/powerpoint/2010/main" val="1579011935"/>
              </p:ext>
            </p:extLst>
          </p:nvPr>
        </p:nvGraphicFramePr>
        <p:xfrm>
          <a:off x="6400800" y="1572768"/>
          <a:ext cx="5074920" cy="4498848"/>
        </p:xfrm>
        <a:graphic>
          <a:graphicData uri="http://schemas.openxmlformats.org/drawingml/2006/table">
            <a:tbl>
              <a:tblPr/>
              <a:tblGrid>
                <a:gridCol w="1737360">
                  <a:extLst>
                    <a:ext uri="{9D8B030D-6E8A-4147-A177-3AD203B41FA5}">
                      <a16:colId xmlns:a16="http://schemas.microsoft.com/office/drawing/2014/main" val="20000"/>
                    </a:ext>
                  </a:extLst>
                </a:gridCol>
                <a:gridCol w="3337560">
                  <a:extLst>
                    <a:ext uri="{9D8B030D-6E8A-4147-A177-3AD203B41FA5}">
                      <a16:colId xmlns:a16="http://schemas.microsoft.com/office/drawing/2014/main" val="20001"/>
                    </a:ext>
                  </a:extLst>
                </a:gridCol>
              </a:tblGrid>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MSMQ</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Microsoft Message Queuing (touchpoints)</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P360</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Preferences 360: profile, preferences, consents</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PCP</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Primary Care Physician</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PMI</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Access policy layer that grants CCM roles</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PPX</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Payments</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Recon</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Reconciliation store (SQL Server) and dashboard</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SFMC</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Salesforce Marketing Cloud (email)</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U65 / O65</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Under 65 / over 65 member segments</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UBYP</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Unbox Your Plan</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VIVR</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Visual Interactive Voice Recognition</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MKTA</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Marketing Analytics</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74904">
                <a:tc>
                  <a:txBody>
                    <a:bodyPr/>
                    <a:lstStyle/>
                    <a:p>
                      <a:pPr marL="0" indent="0">
                        <a:buNone/>
                      </a:pPr>
                      <a:r>
                        <a:rPr lang="en-US" sz="1100" b="1" dirty="0">
                          <a:solidFill>
                            <a:srgbClr val="1E4FC0"/>
                          </a:solidFill>
                          <a:latin typeface="Calibri" pitchFamily="34" charset="0"/>
                          <a:ea typeface="Calibri" pitchFamily="34" charset="-122"/>
                          <a:cs typeface="Calibri" pitchFamily="34" charset="-120"/>
                        </a:rPr>
                        <a:t>CoC · AnG</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tc>
                  <a:txBody>
                    <a:bodyPr/>
                    <a:lstStyle/>
                    <a:p>
                      <a:pPr marL="0" indent="0">
                        <a:buNone/>
                      </a:pPr>
                      <a:r>
                        <a:rPr lang="en-US" sz="1100" dirty="0">
                          <a:solidFill>
                            <a:srgbClr val="1C2330"/>
                          </a:solidFill>
                          <a:latin typeface="Calibri" pitchFamily="34" charset="0"/>
                          <a:ea typeface="Calibri" pitchFamily="34" charset="-122"/>
                          <a:cs typeface="Calibri" pitchFamily="34" charset="-120"/>
                        </a:rPr>
                        <a:t>Continuity of Care · Appeals and Grievances</a:t>
                      </a:r>
                      <a:endParaRPr lang="en-US" sz="1100" dirty="0">
                        <a:latin typeface="Calibri" charset="0"/>
                        <a:ea typeface="Calibri" charset="0"/>
                        <a:cs typeface="Calibri" charset="0"/>
                      </a:endParaRPr>
                    </a:p>
                  </a:txBody>
                  <a:tcPr marL="76200" marR="76200" marT="25400" marB="25400" anchor="ctr">
                    <a:lnL w="12700" cap="flat" cmpd="sng" algn="ctr">
                      <a:solidFill>
                        <a:srgbClr val="E9EBEF"/>
                      </a:solidFill>
                      <a:prstDash val="solid"/>
                      <a:round/>
                      <a:headEnd type="none" w="med" len="med"/>
                      <a:tailEnd type="none" w="med" len="med"/>
                    </a:lnL>
                    <a:lnR w="12700" cap="flat" cmpd="sng" algn="ctr">
                      <a:solidFill>
                        <a:srgbClr val="E9EBEF"/>
                      </a:solidFill>
                      <a:prstDash val="solid"/>
                      <a:round/>
                      <a:headEnd type="none" w="med" len="med"/>
                      <a:tailEnd type="none" w="med" len="med"/>
                    </a:lnR>
                    <a:lnT w="12700" cap="flat" cmpd="sng" algn="ctr">
                      <a:solidFill>
                        <a:srgbClr val="E9EBEF"/>
                      </a:solidFill>
                      <a:prstDash val="solid"/>
                      <a:round/>
                      <a:headEnd type="none" w="med" len="med"/>
                      <a:tailEnd type="none" w="med" len="med"/>
                    </a:lnT>
                    <a:lnB w="12700" cap="flat" cmpd="sng" algn="ctr">
                      <a:solidFill>
                        <a:srgbClr val="E9EBE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141C2B"/>
          </a:solidFill>
          <a:ln/>
        </p:spPr>
        <p:txBody>
          <a:bodyPr/>
          <a:lstStyle/>
          <a:p>
            <a:endParaRPr lang="en-US"/>
          </a:p>
        </p:txBody>
      </p:sp>
      <p:sp>
        <p:nvSpPr>
          <p:cNvPr id="3" name="Shape 1"/>
          <p:cNvSpPr/>
          <p:nvPr/>
        </p:nvSpPr>
        <p:spPr>
          <a:xfrm>
            <a:off x="0" y="0"/>
            <a:ext cx="12191695" cy="45720"/>
          </a:xfrm>
          <a:prstGeom prst="rect">
            <a:avLst/>
          </a:prstGeom>
          <a:solidFill>
            <a:srgbClr val="E4572E"/>
          </a:solidFill>
          <a:ln/>
        </p:spPr>
        <p:txBody>
          <a:bodyPr/>
          <a:lstStyle/>
          <a:p>
            <a:endParaRPr lang="en-US"/>
          </a:p>
        </p:txBody>
      </p:sp>
      <p:sp>
        <p:nvSpPr>
          <p:cNvPr id="4" name="Text 2"/>
          <p:cNvSpPr txBox="1"/>
          <p:nvPr/>
        </p:nvSpPr>
        <p:spPr>
          <a:xfrm>
            <a:off x="548640" y="246888"/>
            <a:ext cx="7772400" cy="256032"/>
          </a:xfrm>
          <a:prstGeom prst="rect">
            <a:avLst/>
          </a:prstGeom>
          <a:noFill/>
          <a:ln/>
        </p:spPr>
        <p:txBody>
          <a:bodyPr wrap="square" lIns="0" tIns="0" rIns="0" bIns="0" rtlCol="0" anchor="t"/>
          <a:lstStyle/>
          <a:p>
            <a:pPr marL="0" indent="0">
              <a:buNone/>
            </a:pPr>
            <a:r>
              <a:rPr lang="en-US" sz="1100" b="1" kern="0" spc="500" dirty="0">
                <a:solidFill>
                  <a:srgbClr val="E4572E"/>
                </a:solidFill>
                <a:latin typeface="Calibri" pitchFamily="34" charset="0"/>
                <a:ea typeface="Calibri" pitchFamily="34" charset="-122"/>
                <a:cs typeface="Calibri" pitchFamily="34" charset="-120"/>
              </a:rPr>
              <a:t>APPENDIX</a:t>
            </a:r>
            <a:endParaRPr lang="en-US" sz="1100" dirty="0"/>
          </a:p>
        </p:txBody>
      </p:sp>
      <p:sp>
        <p:nvSpPr>
          <p:cNvPr id="5" name="Text 3"/>
          <p:cNvSpPr txBox="1"/>
          <p:nvPr/>
        </p:nvSpPr>
        <p:spPr>
          <a:xfrm>
            <a:off x="548640" y="502920"/>
            <a:ext cx="941832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2025 volume by source (Jan 1 – Sep 2)</a:t>
            </a:r>
            <a:endParaRPr lang="en-US" sz="2700" dirty="0"/>
          </a:p>
        </p:txBody>
      </p:sp>
      <p:sp>
        <p:nvSpPr>
          <p:cNvPr id="8" name="Text 6"/>
          <p:cNvSpPr txBox="1"/>
          <p:nvPr/>
        </p:nvSpPr>
        <p:spPr>
          <a:xfrm>
            <a:off x="548640" y="6510528"/>
            <a:ext cx="5486400" cy="201168"/>
          </a:xfrm>
          <a:prstGeom prst="rect">
            <a:avLst/>
          </a:prstGeom>
          <a:noFill/>
          <a:ln/>
        </p:spPr>
        <p:txBody>
          <a:bodyPr wrap="square" lIns="0" tIns="0" rIns="0" bIns="0" rtlCol="0" anchor="t"/>
          <a:lstStyle/>
          <a:p>
            <a:pPr marL="0" indent="0">
              <a:buNone/>
            </a:pPr>
            <a:r>
              <a:rPr lang="en-US" sz="900" dirty="0">
                <a:solidFill>
                  <a:srgbClr val="5A6272"/>
                </a:solidFill>
                <a:latin typeface="Calibri" pitchFamily="34" charset="0"/>
                <a:ea typeface="Calibri" pitchFamily="34" charset="-122"/>
                <a:cs typeface="Calibri" pitchFamily="34" charset="-120"/>
              </a:rPr>
              <a:t>CCM Architecture Deep Dive  |  GuideWell internal</a:t>
            </a:r>
            <a:endParaRPr lang="en-US" sz="900" dirty="0"/>
          </a:p>
        </p:txBody>
      </p:sp>
      <p:sp>
        <p:nvSpPr>
          <p:cNvPr id="9" name="Text 7"/>
          <p:cNvSpPr txBox="1"/>
          <p:nvPr/>
        </p:nvSpPr>
        <p:spPr>
          <a:xfrm>
            <a:off x="10728655" y="6510528"/>
            <a:ext cx="914400" cy="201168"/>
          </a:xfrm>
          <a:prstGeom prst="rect">
            <a:avLst/>
          </a:prstGeom>
          <a:noFill/>
          <a:ln/>
        </p:spPr>
        <p:txBody>
          <a:bodyPr wrap="square" lIns="0" tIns="0" rIns="0" bIns="0" rtlCol="0" anchor="t"/>
          <a:lstStyle/>
          <a:p>
            <a:pPr marL="0" indent="0" algn="r">
              <a:buNone/>
            </a:pPr>
            <a:r>
              <a:rPr lang="en-US" sz="900" dirty="0">
                <a:solidFill>
                  <a:srgbClr val="5A6272"/>
                </a:solidFill>
                <a:latin typeface="Calibri" pitchFamily="34" charset="0"/>
                <a:ea typeface="Calibri" pitchFamily="34" charset="-122"/>
                <a:cs typeface="Calibri" pitchFamily="34" charset="-120"/>
              </a:rPr>
              <a:t>15</a:t>
            </a:r>
            <a:endParaRPr lang="en-US" sz="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422392" cy="4526280"/>
        </p:xfrm>
        <a:graphic>
          <a:graphicData uri="http://schemas.openxmlformats.org/drawingml/2006/table">
            <a:tbl>
              <a:tblPr/>
              <a:tblGrid>
                <a:gridCol w="1399032">
                  <a:extLst>
                    <a:ext uri="{9D8B030D-6E8A-4147-A177-3AD203B41FA5}">
                      <a16:colId xmlns:a16="http://schemas.microsoft.com/office/drawing/2014/main" val="20000"/>
                    </a:ext>
                  </a:extLst>
                </a:gridCol>
                <a:gridCol w="896112">
                  <a:extLst>
                    <a:ext uri="{9D8B030D-6E8A-4147-A177-3AD203B41FA5}">
                      <a16:colId xmlns:a16="http://schemas.microsoft.com/office/drawing/2014/main" val="20001"/>
                    </a:ext>
                  </a:extLst>
                </a:gridCol>
                <a:gridCol w="804672">
                  <a:extLst>
                    <a:ext uri="{9D8B030D-6E8A-4147-A177-3AD203B41FA5}">
                      <a16:colId xmlns:a16="http://schemas.microsoft.com/office/drawing/2014/main" val="20002"/>
                    </a:ext>
                  </a:extLst>
                </a:gridCol>
                <a:gridCol w="804672">
                  <a:extLst>
                    <a:ext uri="{9D8B030D-6E8A-4147-A177-3AD203B41FA5}">
                      <a16:colId xmlns:a16="http://schemas.microsoft.com/office/drawing/2014/main" val="20003"/>
                    </a:ext>
                  </a:extLst>
                </a:gridCol>
                <a:gridCol w="694944">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301752">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Source</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1E4FC0"/>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Email</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1E4FC0"/>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SMS</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1E4FC0"/>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Print</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1E4FC0"/>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Digital</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1E4FC0"/>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1E4FC0"/>
                    </a:solidFill>
                  </a:tcPr>
                </a:tc>
                <a:extLst>
                  <a:ext uri="{0D108BD9-81ED-4DB2-BD59-A6C34878D82A}">
                    <a16:rowId xmlns:a16="http://schemas.microsoft.com/office/drawing/2014/main" val="10000"/>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PPX</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12,590,612</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1,097,257</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13,687,869</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CIAM</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1,250,101</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2,693,983</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3,944,084</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Email Registration</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1,739,803</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1,739,803</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Provider</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1,089,967</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1,089,967</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MKTA</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711,096</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11,218</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88,495</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810,809</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PCP</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71,157</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21,904</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448,316</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93,064</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634,441</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Agent</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544,878</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544,878</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Contracts</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544,145</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544,145</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VIVR</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1,587</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327,854</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16,824</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346,265</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SMS</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207,848</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207,848</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HLP</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155,969</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155,969</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Medicare</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66,226</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52,711</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118,937</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Digital Inquiry</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106,984</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106,984</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ESR</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106,984</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106,984</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bl>
          </a:graphicData>
        </a:graphic>
      </p:graphicFrame>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6217920" y="1371600"/>
          <a:ext cx="5422392" cy="4828032"/>
        </p:xfrm>
        <a:graphic>
          <a:graphicData uri="http://schemas.openxmlformats.org/drawingml/2006/table">
            <a:tbl>
              <a:tblPr/>
              <a:tblGrid>
                <a:gridCol w="1399032">
                  <a:extLst>
                    <a:ext uri="{9D8B030D-6E8A-4147-A177-3AD203B41FA5}">
                      <a16:colId xmlns:a16="http://schemas.microsoft.com/office/drawing/2014/main" val="20000"/>
                    </a:ext>
                  </a:extLst>
                </a:gridCol>
                <a:gridCol w="896112">
                  <a:extLst>
                    <a:ext uri="{9D8B030D-6E8A-4147-A177-3AD203B41FA5}">
                      <a16:colId xmlns:a16="http://schemas.microsoft.com/office/drawing/2014/main" val="20001"/>
                    </a:ext>
                  </a:extLst>
                </a:gridCol>
                <a:gridCol w="804672">
                  <a:extLst>
                    <a:ext uri="{9D8B030D-6E8A-4147-A177-3AD203B41FA5}">
                      <a16:colId xmlns:a16="http://schemas.microsoft.com/office/drawing/2014/main" val="20002"/>
                    </a:ext>
                  </a:extLst>
                </a:gridCol>
                <a:gridCol w="804672">
                  <a:extLst>
                    <a:ext uri="{9D8B030D-6E8A-4147-A177-3AD203B41FA5}">
                      <a16:colId xmlns:a16="http://schemas.microsoft.com/office/drawing/2014/main" val="20003"/>
                    </a:ext>
                  </a:extLst>
                </a:gridCol>
                <a:gridCol w="694944">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tblGrid>
              <a:tr h="301752">
                <a:tc>
                  <a:txBody>
                    <a:bodyPr/>
                    <a:lstStyle/>
                    <a:p>
                      <a:pPr marL="0" indent="0" algn="l">
                        <a:buNone/>
                      </a:pPr>
                      <a:r>
                        <a:rPr lang="en-US" sz="950" b="1" dirty="0">
                          <a:solidFill>
                            <a:srgbClr val="FFFFFF"/>
                          </a:solidFill>
                          <a:latin typeface="Calibri" pitchFamily="34" charset="0"/>
                          <a:ea typeface="Calibri" pitchFamily="34" charset="-122"/>
                          <a:cs typeface="Calibri" pitchFamily="34" charset="-120"/>
                        </a:rPr>
                        <a:t>Source</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1E4FC0"/>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Email</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1E4FC0"/>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SMS</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1E4FC0"/>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Print</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1E4FC0"/>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Digital</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1E4FC0"/>
                    </a:solidFill>
                  </a:tcPr>
                </a:tc>
                <a:tc>
                  <a:txBody>
                    <a:bodyPr/>
                    <a:lstStyle/>
                    <a:p>
                      <a:pPr marL="0" indent="0" algn="r">
                        <a:buNone/>
                      </a:pPr>
                      <a:r>
                        <a:rPr lang="en-US" sz="950" b="1" dirty="0">
                          <a:solidFill>
                            <a:srgbClr val="FFFFFF"/>
                          </a:solidFill>
                          <a:latin typeface="Calibri" pitchFamily="34" charset="0"/>
                          <a:ea typeface="Calibri" pitchFamily="34" charset="-122"/>
                          <a:cs typeface="Calibri" pitchFamily="34" charset="-120"/>
                        </a:rPr>
                        <a:t>Total</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1E4FC0"/>
                    </a:solidFill>
                  </a:tcPr>
                </a:tc>
                <a:extLst>
                  <a:ext uri="{0D108BD9-81ED-4DB2-BD59-A6C34878D82A}">
                    <a16:rowId xmlns:a16="http://schemas.microsoft.com/office/drawing/2014/main" val="10000"/>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EMB</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102,208</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102,208</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UBYP</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77,373</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77,373</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CoC</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53,803</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53,803</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AnG</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33,450</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33,450</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ECIR</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6,688</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6,688</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Cost Estimate</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2,830</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53</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2,883</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MEDADV</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2,873</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2,873</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SAO</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2,366</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2,366</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ISR</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1,608</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1,608</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Preferences 360</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1,403</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1,403</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FEP</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775</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775</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Truli</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522</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522</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Interoperability</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65</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65</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IDR</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dirty="0">
                          <a:solidFill>
                            <a:srgbClr val="1C2330"/>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301752">
                <a:tc>
                  <a:txBody>
                    <a:bodyPr/>
                    <a:lstStyle/>
                    <a:p>
                      <a:pPr marL="0" indent="0">
                        <a:buNone/>
                      </a:pPr>
                      <a:r>
                        <a:rPr lang="en-US" sz="950" b="1" dirty="0">
                          <a:solidFill>
                            <a:srgbClr val="1C2330"/>
                          </a:solidFill>
                          <a:latin typeface="Calibri" pitchFamily="34" charset="0"/>
                          <a:ea typeface="Calibri" pitchFamily="34" charset="-122"/>
                          <a:cs typeface="Calibri" pitchFamily="34" charset="-120"/>
                        </a:rPr>
                        <a:t>All sources</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E6EDFB"/>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18,250,926</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E6EDFB"/>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4,412,775</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E6EDFB"/>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1,354,279</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E6EDFB"/>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307,032</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E6EDFB"/>
                    </a:solidFill>
                  </a:tcPr>
                </a:tc>
                <a:tc>
                  <a:txBody>
                    <a:bodyPr/>
                    <a:lstStyle/>
                    <a:p>
                      <a:pPr marL="0" indent="0" algn="r">
                        <a:buNone/>
                      </a:pPr>
                      <a:r>
                        <a:rPr lang="en-US" sz="950" b="1" dirty="0">
                          <a:solidFill>
                            <a:srgbClr val="1C2330"/>
                          </a:solidFill>
                          <a:latin typeface="Calibri" pitchFamily="34" charset="0"/>
                          <a:ea typeface="Calibri" pitchFamily="34" charset="-122"/>
                          <a:cs typeface="Calibri" pitchFamily="34" charset="-120"/>
                        </a:rPr>
                        <a:t>24,325,012</a:t>
                      </a:r>
                      <a:endParaRPr lang="en-US" sz="950" dirty="0">
                        <a:latin typeface="Calibri" charset="0"/>
                        <a:ea typeface="Calibri" charset="0"/>
                        <a:cs typeface="Calibri" charset="0"/>
                      </a:endParaRPr>
                    </a:p>
                  </a:txBody>
                  <a:tcPr marL="50800" marR="50800" marT="12700" marB="12700" anchor="ctr">
                    <a:lnL w="6350" cap="flat" cmpd="sng" algn="ctr">
                      <a:solidFill>
                        <a:srgbClr val="D3D8DF"/>
                      </a:solidFill>
                      <a:prstDash val="solid"/>
                      <a:round/>
                      <a:headEnd type="none" w="med" len="med"/>
                      <a:tailEnd type="none" w="med" len="med"/>
                    </a:lnL>
                    <a:lnR w="6350" cap="flat" cmpd="sng" algn="ctr">
                      <a:solidFill>
                        <a:srgbClr val="D3D8DF"/>
                      </a:solidFill>
                      <a:prstDash val="solid"/>
                      <a:round/>
                      <a:headEnd type="none" w="med" len="med"/>
                      <a:tailEnd type="none" w="med" len="med"/>
                    </a:lnR>
                    <a:lnT w="6350" cap="flat" cmpd="sng" algn="ctr">
                      <a:solidFill>
                        <a:srgbClr val="D3D8DF"/>
                      </a:solidFill>
                      <a:prstDash val="solid"/>
                      <a:round/>
                      <a:headEnd type="none" w="med" len="med"/>
                      <a:tailEnd type="none" w="med" len="med"/>
                    </a:lnT>
                    <a:lnB w="6350" cap="flat" cmpd="sng" algn="ctr">
                      <a:solidFill>
                        <a:srgbClr val="D3D8DF"/>
                      </a:solidFill>
                      <a:prstDash val="solid"/>
                      <a:round/>
                      <a:headEnd type="none" w="med" len="med"/>
                      <a:tailEnd type="none" w="med" len="med"/>
                    </a:lnB>
                    <a:solidFill>
                      <a:srgbClr val="E6EDFB"/>
                    </a:solidFill>
                  </a:tcPr>
                </a:tc>
                <a:extLst>
                  <a:ext uri="{0D108BD9-81ED-4DB2-BD59-A6C34878D82A}">
                    <a16:rowId xmlns:a16="http://schemas.microsoft.com/office/drawing/2014/main" val="1001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name="Slide 9">
    <p:bg>
      <p:bgPr>
        <a:solidFill>
          <a:srgbClr val="F3F4F6"/>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70432"/>
          </a:xfrm>
          <a:prstGeom prst="rect">
            <a:avLst/>
          </a:prstGeom>
          <a:solidFill>
            <a:srgbClr val="141C2B"/>
          </a:solidFill>
          <a:ln/>
        </p:spPr>
        <p:txBody>
          <a:bodyPr/>
          <a:lstStyle/>
          <a:p>
            <a:endParaRPr lang="en-US"/>
          </a:p>
        </p:txBody>
      </p:sp>
      <p:sp>
        <p:nvSpPr>
          <p:cNvPr id="3" name="Shape 1"/>
          <p:cNvSpPr/>
          <p:nvPr/>
        </p:nvSpPr>
        <p:spPr>
          <a:xfrm>
            <a:off x="0" y="0"/>
            <a:ext cx="12191695" cy="45720"/>
          </a:xfrm>
          <a:prstGeom prst="rect">
            <a:avLst/>
          </a:prstGeom>
          <a:solidFill>
            <a:srgbClr val="E4572E"/>
          </a:solidFill>
          <a:ln/>
        </p:spPr>
        <p:txBody>
          <a:bodyPr/>
          <a:lstStyle/>
          <a:p>
            <a:endParaRPr lang="en-US"/>
          </a:p>
        </p:txBody>
      </p:sp>
      <p:sp>
        <p:nvSpPr>
          <p:cNvPr id="4" name="Text 2"/>
          <p:cNvSpPr txBox="1"/>
          <p:nvPr/>
        </p:nvSpPr>
        <p:spPr>
          <a:xfrm>
            <a:off x="548640" y="246888"/>
            <a:ext cx="7772400" cy="256032"/>
          </a:xfrm>
          <a:prstGeom prst="rect">
            <a:avLst/>
          </a:prstGeom>
          <a:noFill/>
          <a:ln/>
        </p:spPr>
        <p:txBody>
          <a:bodyPr wrap="square" lIns="0" tIns="0" rIns="0" bIns="0" rtlCol="0" anchor="t"/>
          <a:lstStyle/>
          <a:p>
            <a:pPr marL="0" indent="0">
              <a:buNone/>
            </a:pPr>
            <a:r>
              <a:rPr lang="en-US" sz="1100" b="1" kern="0" spc="500" dirty="0">
                <a:solidFill>
                  <a:srgbClr val="E4572E"/>
                </a:solidFill>
                <a:latin typeface="Calibri" pitchFamily="34" charset="0"/>
                <a:ea typeface="Calibri" pitchFamily="34" charset="-122"/>
                <a:cs typeface="Calibri" pitchFamily="34" charset="-120"/>
              </a:rPr>
              <a:t>DEPLOYMENT TOPOLOGY</a:t>
            </a:r>
            <a:endParaRPr lang="en-US" sz="1100" dirty="0"/>
          </a:p>
        </p:txBody>
      </p:sp>
      <p:sp>
        <p:nvSpPr>
          <p:cNvPr id="5" name="Text 3"/>
          <p:cNvSpPr txBox="1"/>
          <p:nvPr/>
        </p:nvSpPr>
        <p:spPr>
          <a:xfrm>
            <a:off x="548640" y="502920"/>
            <a:ext cx="9418320" cy="548640"/>
          </a:xfrm>
          <a:prstGeom prst="rect">
            <a:avLst/>
          </a:prstGeom>
          <a:noFill/>
          <a:ln/>
        </p:spPr>
        <p:txBody>
          <a:bodyPr wrap="square" lIns="0" tIns="0" rIns="0" bIns="0" rtlCol="0" anchor="t"/>
          <a:lstStyle/>
          <a:p>
            <a:pPr marL="0" indent="0">
              <a:buNone/>
            </a:pPr>
            <a:r>
              <a:rPr lang="en-US" sz="2700" b="1" dirty="0">
                <a:solidFill>
                  <a:srgbClr val="FFFFFF"/>
                </a:solidFill>
                <a:latin typeface="Calibri" pitchFamily="34" charset="0"/>
                <a:ea typeface="Calibri" pitchFamily="34" charset="-122"/>
                <a:cs typeface="Calibri" pitchFamily="34" charset="-120"/>
              </a:rPr>
              <a:t>Runtime estate and monitoring coverage</a:t>
            </a:r>
            <a:endParaRPr lang="en-US" sz="2700" dirty="0"/>
          </a:p>
        </p:txBody>
      </p:sp>
      <p:sp>
        <p:nvSpPr>
          <p:cNvPr id="8" name="Text 6"/>
          <p:cNvSpPr txBox="1"/>
          <p:nvPr/>
        </p:nvSpPr>
        <p:spPr>
          <a:xfrm>
            <a:off x="548640" y="6510528"/>
            <a:ext cx="5486400" cy="201168"/>
          </a:xfrm>
          <a:prstGeom prst="rect">
            <a:avLst/>
          </a:prstGeom>
          <a:noFill/>
          <a:ln/>
        </p:spPr>
        <p:txBody>
          <a:bodyPr wrap="square" lIns="0" tIns="0" rIns="0" bIns="0" rtlCol="0" anchor="t"/>
          <a:lstStyle/>
          <a:p>
            <a:pPr marL="0" indent="0">
              <a:buNone/>
            </a:pPr>
            <a:r>
              <a:rPr lang="en-US" sz="900" dirty="0">
                <a:solidFill>
                  <a:srgbClr val="5A6272"/>
                </a:solidFill>
                <a:latin typeface="Calibri" pitchFamily="34" charset="0"/>
                <a:ea typeface="Calibri" pitchFamily="34" charset="-122"/>
                <a:cs typeface="Calibri" pitchFamily="34" charset="-120"/>
              </a:rPr>
              <a:t>CCM Architecture Deep Dive  |  GuideWell internal</a:t>
            </a:r>
            <a:endParaRPr lang="en-US" sz="900" dirty="0"/>
          </a:p>
        </p:txBody>
      </p:sp>
      <p:sp>
        <p:nvSpPr>
          <p:cNvPr id="9" name="Text 7"/>
          <p:cNvSpPr txBox="1"/>
          <p:nvPr/>
        </p:nvSpPr>
        <p:spPr>
          <a:xfrm>
            <a:off x="10728655" y="6510528"/>
            <a:ext cx="914400" cy="201168"/>
          </a:xfrm>
          <a:prstGeom prst="rect">
            <a:avLst/>
          </a:prstGeom>
          <a:noFill/>
          <a:ln/>
        </p:spPr>
        <p:txBody>
          <a:bodyPr wrap="square" lIns="0" tIns="0" rIns="0" bIns="0" rtlCol="0" anchor="t"/>
          <a:lstStyle/>
          <a:p>
            <a:pPr marL="0" indent="0" algn="r">
              <a:buNone/>
            </a:pPr>
            <a:r>
              <a:rPr lang="en-US" sz="900" dirty="0">
                <a:solidFill>
                  <a:srgbClr val="5A6272"/>
                </a:solidFill>
                <a:latin typeface="Calibri" pitchFamily="34" charset="0"/>
                <a:ea typeface="Calibri" pitchFamily="34" charset="-122"/>
                <a:cs typeface="Calibri" pitchFamily="34" charset="-120"/>
              </a:rPr>
              <a:t>9</a:t>
            </a:r>
            <a:endParaRPr lang="en-US" sz="900" dirty="0"/>
          </a:p>
        </p:txBody>
      </p:sp>
      <p:sp>
        <p:nvSpPr>
          <p:cNvPr id="10" name="Shape 8"/>
          <p:cNvSpPr/>
          <p:nvPr/>
        </p:nvSpPr>
        <p:spPr>
          <a:xfrm>
            <a:off x="548640" y="1353312"/>
            <a:ext cx="11094415" cy="731520"/>
          </a:xfrm>
          <a:prstGeom prst="rect">
            <a:avLst/>
          </a:prstGeom>
          <a:solidFill>
            <a:srgbClr val="FBF1E3"/>
          </a:solidFill>
          <a:ln w="15875">
            <a:solidFill>
              <a:srgbClr val="D9A45B"/>
            </a:solidFill>
            <a:prstDash val="solid"/>
          </a:ln>
        </p:spPr>
        <p:txBody>
          <a:bodyPr/>
          <a:lstStyle/>
          <a:p>
            <a:endParaRPr lang="en-US"/>
          </a:p>
        </p:txBody>
      </p:sp>
      <p:sp>
        <p:nvSpPr>
          <p:cNvPr id="11" name="Text 9"/>
          <p:cNvSpPr txBox="1"/>
          <p:nvPr/>
        </p:nvSpPr>
        <p:spPr>
          <a:xfrm>
            <a:off x="685800" y="1389888"/>
            <a:ext cx="2743200" cy="237744"/>
          </a:xfrm>
          <a:prstGeom prst="rect">
            <a:avLst/>
          </a:prstGeom>
          <a:noFill/>
          <a:ln/>
        </p:spPr>
        <p:txBody>
          <a:bodyPr wrap="square" lIns="0" tIns="0" rIns="0" bIns="0" rtlCol="0" anchor="t"/>
          <a:lstStyle/>
          <a:p>
            <a:pPr marL="0" indent="0">
              <a:buNone/>
            </a:pPr>
            <a:r>
              <a:rPr lang="en-US" sz="850" b="1" kern="0" spc="300" dirty="0">
                <a:solidFill>
                  <a:srgbClr val="B06A1E"/>
                </a:solidFill>
                <a:latin typeface="Calibri" pitchFamily="34" charset="0"/>
                <a:ea typeface="Calibri" pitchFamily="34" charset="-122"/>
                <a:cs typeface="Calibri" pitchFamily="34" charset="-120"/>
              </a:rPr>
              <a:t>ACCESS EDGE</a:t>
            </a:r>
            <a:endParaRPr lang="en-US" sz="850" dirty="0"/>
          </a:p>
        </p:txBody>
      </p:sp>
      <p:sp>
        <p:nvSpPr>
          <p:cNvPr id="12" name="Shape 10"/>
          <p:cNvSpPr/>
          <p:nvPr/>
        </p:nvSpPr>
        <p:spPr>
          <a:xfrm>
            <a:off x="685800" y="1627632"/>
            <a:ext cx="2054291" cy="365760"/>
          </a:xfrm>
          <a:prstGeom prst="rect">
            <a:avLst/>
          </a:prstGeom>
          <a:solidFill>
            <a:srgbClr val="FFFFFF"/>
          </a:solidFill>
          <a:ln w="19050">
            <a:solidFill>
              <a:srgbClr val="E5CFB3"/>
            </a:solidFill>
            <a:prstDash val="solid"/>
          </a:ln>
        </p:spPr>
        <p:txBody>
          <a:bodyPr/>
          <a:lstStyle/>
          <a:p>
            <a:endParaRPr lang="en-US"/>
          </a:p>
        </p:txBody>
      </p:sp>
      <p:sp>
        <p:nvSpPr>
          <p:cNvPr id="13" name="Text 11"/>
          <p:cNvSpPr txBox="1"/>
          <p:nvPr/>
        </p:nvSpPr>
        <p:spPr>
          <a:xfrm>
            <a:off x="685800" y="1627632"/>
            <a:ext cx="2054291" cy="365760"/>
          </a:xfrm>
          <a:prstGeom prst="rect">
            <a:avLst/>
          </a:prstGeom>
          <a:noFill/>
          <a:ln/>
        </p:spPr>
        <p:txBody>
          <a:bodyPr wrap="square" lIns="0" tIns="0" rIns="0" bIns="0" rtlCol="0" anchor="ctr"/>
          <a:lstStyle/>
          <a:p>
            <a:pPr marL="0" indent="0" algn="ctr">
              <a:buNone/>
            </a:pPr>
            <a:r>
              <a:rPr lang="en-US" sz="1050" b="1" dirty="0">
                <a:solidFill>
                  <a:srgbClr val="1C2330"/>
                </a:solidFill>
                <a:latin typeface="Calibri" pitchFamily="34" charset="0"/>
                <a:ea typeface="Calibri" pitchFamily="34" charset="-122"/>
                <a:cs typeface="Calibri" pitchFamily="34" charset="-120"/>
              </a:rPr>
              <a:t>Internal users · advocates</a:t>
            </a:r>
            <a:endParaRPr lang="en-US" sz="1050" dirty="0"/>
          </a:p>
        </p:txBody>
      </p:sp>
      <p:sp>
        <p:nvSpPr>
          <p:cNvPr id="14" name="Shape 12"/>
          <p:cNvSpPr/>
          <p:nvPr/>
        </p:nvSpPr>
        <p:spPr>
          <a:xfrm>
            <a:off x="2877251" y="1627632"/>
            <a:ext cx="2054291" cy="365760"/>
          </a:xfrm>
          <a:prstGeom prst="rect">
            <a:avLst/>
          </a:prstGeom>
          <a:solidFill>
            <a:srgbClr val="FFFFFF"/>
          </a:solidFill>
          <a:ln w="19050">
            <a:solidFill>
              <a:srgbClr val="E5CFB3"/>
            </a:solidFill>
            <a:prstDash val="solid"/>
          </a:ln>
        </p:spPr>
        <p:txBody>
          <a:bodyPr/>
          <a:lstStyle/>
          <a:p>
            <a:endParaRPr lang="en-US"/>
          </a:p>
        </p:txBody>
      </p:sp>
      <p:sp>
        <p:nvSpPr>
          <p:cNvPr id="15" name="Text 13"/>
          <p:cNvSpPr txBox="1"/>
          <p:nvPr/>
        </p:nvSpPr>
        <p:spPr>
          <a:xfrm>
            <a:off x="2877251" y="1627632"/>
            <a:ext cx="2054291" cy="365760"/>
          </a:xfrm>
          <a:prstGeom prst="rect">
            <a:avLst/>
          </a:prstGeom>
          <a:noFill/>
          <a:ln/>
        </p:spPr>
        <p:txBody>
          <a:bodyPr wrap="square" lIns="0" tIns="0" rIns="0" bIns="0" rtlCol="0" anchor="ctr"/>
          <a:lstStyle/>
          <a:p>
            <a:pPr marL="0" indent="0" algn="ctr">
              <a:buNone/>
            </a:pPr>
            <a:r>
              <a:rPr lang="en-US" sz="1050" b="1" dirty="0">
                <a:solidFill>
                  <a:srgbClr val="1C2330"/>
                </a:solidFill>
                <a:latin typeface="Calibri" pitchFamily="34" charset="0"/>
                <a:ea typeface="Calibri" pitchFamily="34" charset="-122"/>
                <a:cs typeface="Calibri" pitchFamily="34" charset="-120"/>
              </a:rPr>
              <a:t>NetScaler</a:t>
            </a:r>
            <a:endParaRPr lang="en-US" sz="1050" dirty="0"/>
          </a:p>
        </p:txBody>
      </p:sp>
      <p:sp>
        <p:nvSpPr>
          <p:cNvPr id="16" name="Shape 14"/>
          <p:cNvSpPr/>
          <p:nvPr/>
        </p:nvSpPr>
        <p:spPr>
          <a:xfrm>
            <a:off x="5068702" y="1627632"/>
            <a:ext cx="2054291" cy="365760"/>
          </a:xfrm>
          <a:prstGeom prst="rect">
            <a:avLst/>
          </a:prstGeom>
          <a:solidFill>
            <a:srgbClr val="FFFFFF"/>
          </a:solidFill>
          <a:ln w="19050">
            <a:solidFill>
              <a:srgbClr val="E5CFB3"/>
            </a:solidFill>
            <a:prstDash val="solid"/>
          </a:ln>
        </p:spPr>
        <p:txBody>
          <a:bodyPr/>
          <a:lstStyle/>
          <a:p>
            <a:endParaRPr lang="en-US"/>
          </a:p>
        </p:txBody>
      </p:sp>
      <p:sp>
        <p:nvSpPr>
          <p:cNvPr id="17" name="Text 15"/>
          <p:cNvSpPr txBox="1"/>
          <p:nvPr/>
        </p:nvSpPr>
        <p:spPr>
          <a:xfrm>
            <a:off x="5068702" y="1627632"/>
            <a:ext cx="2054291" cy="365760"/>
          </a:xfrm>
          <a:prstGeom prst="rect">
            <a:avLst/>
          </a:prstGeom>
          <a:noFill/>
          <a:ln/>
        </p:spPr>
        <p:txBody>
          <a:bodyPr wrap="square" lIns="0" tIns="0" rIns="0" bIns="0" rtlCol="0" anchor="ctr"/>
          <a:lstStyle/>
          <a:p>
            <a:pPr marL="0" indent="0" algn="ctr">
              <a:buNone/>
            </a:pPr>
            <a:r>
              <a:rPr lang="en-US" sz="1050" b="1" dirty="0">
                <a:solidFill>
                  <a:srgbClr val="1C2330"/>
                </a:solidFill>
                <a:latin typeface="Calibri" pitchFamily="34" charset="0"/>
                <a:ea typeface="Calibri" pitchFamily="34" charset="-122"/>
                <a:cs typeface="Calibri" pitchFamily="34" charset="-120"/>
              </a:rPr>
              <a:t>PMI policies</a:t>
            </a:r>
            <a:endParaRPr lang="en-US" sz="1050" dirty="0"/>
          </a:p>
        </p:txBody>
      </p:sp>
      <p:sp>
        <p:nvSpPr>
          <p:cNvPr id="18" name="Shape 16"/>
          <p:cNvSpPr/>
          <p:nvPr/>
        </p:nvSpPr>
        <p:spPr>
          <a:xfrm>
            <a:off x="7260153" y="1627632"/>
            <a:ext cx="2054291" cy="365760"/>
          </a:xfrm>
          <a:prstGeom prst="rect">
            <a:avLst/>
          </a:prstGeom>
          <a:solidFill>
            <a:srgbClr val="FFFFFF"/>
          </a:solidFill>
          <a:ln w="19050">
            <a:solidFill>
              <a:srgbClr val="E5CFB3"/>
            </a:solidFill>
            <a:prstDash val="solid"/>
          </a:ln>
        </p:spPr>
        <p:txBody>
          <a:bodyPr/>
          <a:lstStyle/>
          <a:p>
            <a:endParaRPr lang="en-US"/>
          </a:p>
        </p:txBody>
      </p:sp>
      <p:sp>
        <p:nvSpPr>
          <p:cNvPr id="19" name="Text 17"/>
          <p:cNvSpPr txBox="1"/>
          <p:nvPr/>
        </p:nvSpPr>
        <p:spPr>
          <a:xfrm>
            <a:off x="7260153" y="1627632"/>
            <a:ext cx="2054291" cy="365760"/>
          </a:xfrm>
          <a:prstGeom prst="rect">
            <a:avLst/>
          </a:prstGeom>
          <a:noFill/>
          <a:ln/>
        </p:spPr>
        <p:txBody>
          <a:bodyPr wrap="square" lIns="0" tIns="0" rIns="0" bIns="0" rtlCol="0" anchor="ctr"/>
          <a:lstStyle/>
          <a:p>
            <a:pPr marL="0" indent="0" algn="ctr">
              <a:buNone/>
            </a:pPr>
            <a:r>
              <a:rPr lang="en-US" sz="1050" b="1" dirty="0">
                <a:solidFill>
                  <a:srgbClr val="1C2330"/>
                </a:solidFill>
                <a:latin typeface="Calibri" pitchFamily="34" charset="0"/>
                <a:ea typeface="Calibri" pitchFamily="34" charset="-122"/>
                <a:cs typeface="Calibri" pitchFamily="34" charset="-120"/>
              </a:rPr>
              <a:t>DataPower · api.bcbsfl.com</a:t>
            </a:r>
            <a:endParaRPr lang="en-US" sz="1050" dirty="0"/>
          </a:p>
        </p:txBody>
      </p:sp>
      <p:sp>
        <p:nvSpPr>
          <p:cNvPr id="20" name="Shape 18"/>
          <p:cNvSpPr/>
          <p:nvPr/>
        </p:nvSpPr>
        <p:spPr>
          <a:xfrm>
            <a:off x="9451604" y="1627632"/>
            <a:ext cx="2054291" cy="365760"/>
          </a:xfrm>
          <a:prstGeom prst="rect">
            <a:avLst/>
          </a:prstGeom>
          <a:solidFill>
            <a:srgbClr val="FFFFFF"/>
          </a:solidFill>
          <a:ln w="19050">
            <a:solidFill>
              <a:srgbClr val="E5CFB3"/>
            </a:solidFill>
            <a:prstDash val="solid"/>
          </a:ln>
        </p:spPr>
        <p:txBody>
          <a:bodyPr/>
          <a:lstStyle/>
          <a:p>
            <a:endParaRPr lang="en-US"/>
          </a:p>
        </p:txBody>
      </p:sp>
      <p:sp>
        <p:nvSpPr>
          <p:cNvPr id="21" name="Text 19"/>
          <p:cNvSpPr txBox="1"/>
          <p:nvPr/>
        </p:nvSpPr>
        <p:spPr>
          <a:xfrm>
            <a:off x="9451604" y="1627632"/>
            <a:ext cx="2054291" cy="365760"/>
          </a:xfrm>
          <a:prstGeom prst="rect">
            <a:avLst/>
          </a:prstGeom>
          <a:noFill/>
          <a:ln/>
        </p:spPr>
        <p:txBody>
          <a:bodyPr wrap="square" lIns="0" tIns="0" rIns="0" bIns="0" rtlCol="0" anchor="ctr"/>
          <a:lstStyle/>
          <a:p>
            <a:pPr marL="0" indent="0" algn="ctr">
              <a:buNone/>
            </a:pPr>
            <a:r>
              <a:rPr lang="en-US" sz="1050" b="1" dirty="0">
                <a:solidFill>
                  <a:srgbClr val="1C2330"/>
                </a:solidFill>
                <a:latin typeface="Calibri" pitchFamily="34" charset="0"/>
                <a:ea typeface="Calibri" pitchFamily="34" charset="-122"/>
                <a:cs typeface="Calibri" pitchFamily="34" charset="-120"/>
              </a:rPr>
              <a:t>DivBiz external (basic auth)</a:t>
            </a:r>
            <a:endParaRPr lang="en-US" sz="1050" dirty="0"/>
          </a:p>
        </p:txBody>
      </p:sp>
      <p:sp>
        <p:nvSpPr>
          <p:cNvPr id="22" name="Shape 20"/>
          <p:cNvSpPr/>
          <p:nvPr/>
        </p:nvSpPr>
        <p:spPr>
          <a:xfrm>
            <a:off x="548640" y="2212848"/>
            <a:ext cx="11094415" cy="1691640"/>
          </a:xfrm>
          <a:prstGeom prst="rect">
            <a:avLst/>
          </a:prstGeom>
          <a:ln w="15875">
            <a:solidFill>
              <a:srgbClr val="1E4FC0"/>
            </a:solidFill>
            <a:prstDash val="dash"/>
          </a:ln>
        </p:spPr>
        <p:txBody>
          <a:bodyPr/>
          <a:lstStyle/>
          <a:p>
            <a:endParaRPr lang="en-US"/>
          </a:p>
        </p:txBody>
      </p:sp>
      <p:sp>
        <p:nvSpPr>
          <p:cNvPr id="23" name="Text 21"/>
          <p:cNvSpPr txBox="1"/>
          <p:nvPr/>
        </p:nvSpPr>
        <p:spPr>
          <a:xfrm>
            <a:off x="685800" y="2267712"/>
            <a:ext cx="5486400" cy="237744"/>
          </a:xfrm>
          <a:prstGeom prst="rect">
            <a:avLst/>
          </a:prstGeom>
          <a:noFill/>
          <a:ln/>
        </p:spPr>
        <p:txBody>
          <a:bodyPr wrap="square" lIns="0" tIns="0" rIns="0" bIns="0" rtlCol="0" anchor="t"/>
          <a:lstStyle/>
          <a:p>
            <a:pPr marL="0" indent="0">
              <a:buNone/>
            </a:pPr>
            <a:r>
              <a:rPr lang="en-US" sz="850" b="1" kern="0" spc="300" dirty="0">
                <a:solidFill>
                  <a:srgbClr val="1E4FC0"/>
                </a:solidFill>
                <a:latin typeface="Calibri" pitchFamily="34" charset="0"/>
                <a:ea typeface="Calibri" pitchFamily="34" charset="-122"/>
                <a:cs typeface="Calibri" pitchFamily="34" charset="-120"/>
              </a:rPr>
              <a:t>OPENSHIFT (OSE) · OSE4-PROD</a:t>
            </a:r>
            <a:endParaRPr lang="en-US" sz="850" dirty="0"/>
          </a:p>
        </p:txBody>
      </p:sp>
      <p:sp>
        <p:nvSpPr>
          <p:cNvPr id="24" name="Text 22"/>
          <p:cNvSpPr txBox="1"/>
          <p:nvPr/>
        </p:nvSpPr>
        <p:spPr>
          <a:xfrm>
            <a:off x="5120640" y="2267712"/>
            <a:ext cx="6385255" cy="228600"/>
          </a:xfrm>
          <a:prstGeom prst="rect">
            <a:avLst/>
          </a:prstGeom>
          <a:noFill/>
          <a:ln/>
        </p:spPr>
        <p:txBody>
          <a:bodyPr wrap="square" lIns="0" tIns="0" rIns="0" bIns="0" rtlCol="0" anchor="t"/>
          <a:lstStyle/>
          <a:p>
            <a:pPr marL="0" indent="0" algn="r">
              <a:buNone/>
            </a:pPr>
            <a:r>
              <a:rPr lang="en-US" sz="950" dirty="0">
                <a:solidFill>
                  <a:srgbClr val="5A6272"/>
                </a:solidFill>
                <a:latin typeface="Calibri" pitchFamily="34" charset="0"/>
                <a:ea typeface="Calibri" pitchFamily="34" charset="-122"/>
                <a:cs typeface="Calibri" pitchFamily="34" charset="-120"/>
              </a:rPr>
              <a:t>Count = services  ·  2 duplicate rejected routes in ccm-dcs-prod</a:t>
            </a:r>
            <a:endParaRPr lang="en-US" sz="950" dirty="0"/>
          </a:p>
        </p:txBody>
      </p:sp>
      <p:sp>
        <p:nvSpPr>
          <p:cNvPr id="25" name="Shape 23"/>
          <p:cNvSpPr/>
          <p:nvPr/>
        </p:nvSpPr>
        <p:spPr>
          <a:xfrm>
            <a:off x="685800" y="2542032"/>
            <a:ext cx="3484778" cy="384048"/>
          </a:xfrm>
          <a:prstGeom prst="rect">
            <a:avLst/>
          </a:prstGeom>
          <a:solidFill>
            <a:srgbClr val="0E1A33"/>
          </a:solidFill>
          <a:ln/>
        </p:spPr>
        <p:txBody>
          <a:bodyPr/>
          <a:lstStyle/>
          <a:p>
            <a:endParaRPr lang="en-US"/>
          </a:p>
        </p:txBody>
      </p:sp>
      <p:sp>
        <p:nvSpPr>
          <p:cNvPr id="26" name="Text 24"/>
          <p:cNvSpPr txBox="1"/>
          <p:nvPr/>
        </p:nvSpPr>
        <p:spPr>
          <a:xfrm>
            <a:off x="813816" y="2542032"/>
            <a:ext cx="270753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ccm-dcs-prod</a:t>
            </a:r>
            <a:endParaRPr lang="en-US" sz="1200" dirty="0"/>
          </a:p>
        </p:txBody>
      </p:sp>
      <p:sp>
        <p:nvSpPr>
          <p:cNvPr id="27" name="Text 25"/>
          <p:cNvSpPr txBox="1"/>
          <p:nvPr/>
        </p:nvSpPr>
        <p:spPr>
          <a:xfrm>
            <a:off x="3439058" y="2542032"/>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6</a:t>
            </a:r>
            <a:endParaRPr lang="en-US" sz="1700" dirty="0"/>
          </a:p>
        </p:txBody>
      </p:sp>
      <p:sp>
        <p:nvSpPr>
          <p:cNvPr id="28" name="Shape 26"/>
          <p:cNvSpPr/>
          <p:nvPr/>
        </p:nvSpPr>
        <p:spPr>
          <a:xfrm>
            <a:off x="685800" y="2926080"/>
            <a:ext cx="3484778" cy="877824"/>
          </a:xfrm>
          <a:prstGeom prst="rect">
            <a:avLst/>
          </a:prstGeom>
          <a:solidFill>
            <a:srgbClr val="FFFFFF"/>
          </a:solidFill>
          <a:ln w="9525">
            <a:solidFill>
              <a:srgbClr val="D3D8DF"/>
            </a:solidFill>
            <a:prstDash val="solid"/>
          </a:ln>
        </p:spPr>
        <p:txBody>
          <a:bodyPr/>
          <a:lstStyle/>
          <a:p>
            <a:endParaRPr lang="en-US"/>
          </a:p>
        </p:txBody>
      </p:sp>
      <p:sp>
        <p:nvSpPr>
          <p:cNvPr id="29" name="Text 27"/>
          <p:cNvSpPr txBox="1"/>
          <p:nvPr/>
        </p:nvSpPr>
        <p:spPr>
          <a:xfrm>
            <a:off x="813816" y="3017520"/>
            <a:ext cx="3228746" cy="713232"/>
          </a:xfrm>
          <a:prstGeom prst="rect">
            <a:avLst/>
          </a:prstGeom>
          <a:noFill/>
          <a:ln/>
        </p:spPr>
        <p:txBody>
          <a:bodyPr wrap="square" lIns="0" tIns="0" rIns="0" bIns="0" rtlCol="0" anchor="t"/>
          <a:lstStyle/>
          <a:p>
            <a:pPr marL="0" indent="0">
              <a:buNone/>
            </a:pPr>
            <a:endParaRPr lang="en-US" sz="1050" dirty="0"/>
          </a:p>
        </p:txBody>
      </p:sp>
      <p:sp>
        <p:nvSpPr>
          <p:cNvPr id="30" name="Text 28"/>
          <p:cNvSpPr txBox="1"/>
          <p:nvPr/>
        </p:nvSpPr>
        <p:spPr>
          <a:xfrm>
            <a:off x="813816" y="2999232"/>
            <a:ext cx="3228746" cy="749808"/>
          </a:xfrm>
          <a:prstGeom prst="rect">
            <a:avLst/>
          </a:prstGeom>
          <a:noFill/>
          <a:ln/>
        </p:spPr>
        <p:txBody>
          <a:bodyPr wrap="square" lIns="0" tIns="0" rIns="0" bIns="0" rtlCol="0" anchor="t"/>
          <a:lstStyle/>
          <a:p>
            <a:pPr marL="0" indent="0">
              <a:spcAft>
                <a:spcPts val="400"/>
              </a:spcAft>
              <a:buNone/>
            </a:pPr>
            <a:r>
              <a:rPr lang="en-US" sz="1000" dirty="0">
                <a:solidFill>
                  <a:srgbClr val="1C2330"/>
                </a:solidFill>
                <a:latin typeface="Calibri" pitchFamily="34" charset="0"/>
                <a:ea typeface="Calibri" pitchFamily="34" charset="-122"/>
                <a:cs typeface="Calibri" pitchFamily="34" charset="-120"/>
              </a:rPr>
              <a:t>Recon Dashboard, On-Demand UI, composition, data retrieval, Recon load and services</a:t>
            </a:r>
            <a:endParaRPr lang="en-US" sz="1000" dirty="0"/>
          </a:p>
          <a:p>
            <a:pPr marL="0" indent="0">
              <a:spcAft>
                <a:spcPts val="400"/>
              </a:spcAft>
              <a:buNone/>
            </a:pPr>
            <a:r>
              <a:rPr lang="en-US" sz="1000" b="1" dirty="0">
                <a:solidFill>
                  <a:srgbClr val="1C2330"/>
                </a:solidFill>
                <a:latin typeface="Calibri" pitchFamily="34" charset="0"/>
                <a:ea typeface="Calibri" pitchFamily="34" charset="-122"/>
                <a:cs typeface="Calibri" pitchFamily="34" charset="-120"/>
              </a:rPr>
              <a:t>Alerts: </a:t>
            </a:r>
            <a:r>
              <a:rPr lang="en-US" sz="1000" b="1" dirty="0">
                <a:solidFill>
                  <a:srgbClr val="B03A2E"/>
                </a:solidFill>
                <a:latin typeface="Calibri" pitchFamily="34" charset="0"/>
                <a:ea typeface="Calibri" pitchFamily="34" charset="-122"/>
                <a:cs typeface="Calibri" pitchFamily="34" charset="-120"/>
              </a:rPr>
              <a:t>None</a:t>
            </a:r>
            <a:r>
              <a:rPr lang="en-US" sz="1000" b="1" dirty="0">
                <a:solidFill>
                  <a:srgbClr val="1C2330"/>
                </a:solidFill>
                <a:latin typeface="Calibri" pitchFamily="34" charset="0"/>
                <a:ea typeface="Calibri" pitchFamily="34" charset="-122"/>
                <a:cs typeface="Calibri" pitchFamily="34" charset="-120"/>
              </a:rPr>
              <a:t>   Logs: </a:t>
            </a:r>
            <a:r>
              <a:rPr lang="en-US" sz="1000" b="1" dirty="0">
                <a:solidFill>
                  <a:srgbClr val="B7791F"/>
                </a:solidFill>
                <a:latin typeface="Calibri" pitchFamily="34" charset="0"/>
                <a:ea typeface="Calibri" pitchFamily="34" charset="-122"/>
                <a:cs typeface="Calibri" pitchFamily="34" charset="-120"/>
              </a:rPr>
              <a:t>Needs more</a:t>
            </a:r>
            <a:endParaRPr lang="en-US" sz="1000" dirty="0"/>
          </a:p>
        </p:txBody>
      </p:sp>
      <p:sp>
        <p:nvSpPr>
          <p:cNvPr id="31" name="Shape 29"/>
          <p:cNvSpPr/>
          <p:nvPr/>
        </p:nvSpPr>
        <p:spPr>
          <a:xfrm>
            <a:off x="4353458" y="2542032"/>
            <a:ext cx="3484778" cy="384048"/>
          </a:xfrm>
          <a:prstGeom prst="rect">
            <a:avLst/>
          </a:prstGeom>
          <a:solidFill>
            <a:srgbClr val="1E4FC0"/>
          </a:solidFill>
          <a:ln/>
        </p:spPr>
        <p:txBody>
          <a:bodyPr/>
          <a:lstStyle/>
          <a:p>
            <a:endParaRPr lang="en-US"/>
          </a:p>
        </p:txBody>
      </p:sp>
      <p:sp>
        <p:nvSpPr>
          <p:cNvPr id="32" name="Text 30"/>
          <p:cNvSpPr txBox="1"/>
          <p:nvPr/>
        </p:nvSpPr>
        <p:spPr>
          <a:xfrm>
            <a:off x="4481474" y="2542032"/>
            <a:ext cx="270753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ccm-preprocessor-prod</a:t>
            </a:r>
            <a:endParaRPr lang="en-US" sz="1200" dirty="0"/>
          </a:p>
        </p:txBody>
      </p:sp>
      <p:sp>
        <p:nvSpPr>
          <p:cNvPr id="33" name="Text 31"/>
          <p:cNvSpPr txBox="1"/>
          <p:nvPr/>
        </p:nvSpPr>
        <p:spPr>
          <a:xfrm>
            <a:off x="7106717" y="2542032"/>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4</a:t>
            </a:r>
            <a:endParaRPr lang="en-US" sz="1700" dirty="0"/>
          </a:p>
        </p:txBody>
      </p:sp>
      <p:sp>
        <p:nvSpPr>
          <p:cNvPr id="34" name="Shape 32"/>
          <p:cNvSpPr/>
          <p:nvPr/>
        </p:nvSpPr>
        <p:spPr>
          <a:xfrm>
            <a:off x="4353458" y="2926080"/>
            <a:ext cx="3484778" cy="877824"/>
          </a:xfrm>
          <a:prstGeom prst="rect">
            <a:avLst/>
          </a:prstGeom>
          <a:solidFill>
            <a:srgbClr val="FFFFFF"/>
          </a:solidFill>
          <a:ln w="9525">
            <a:solidFill>
              <a:srgbClr val="D3D8DF"/>
            </a:solidFill>
            <a:prstDash val="solid"/>
          </a:ln>
        </p:spPr>
        <p:txBody>
          <a:bodyPr/>
          <a:lstStyle/>
          <a:p>
            <a:endParaRPr lang="en-US"/>
          </a:p>
        </p:txBody>
      </p:sp>
      <p:sp>
        <p:nvSpPr>
          <p:cNvPr id="35" name="Text 33"/>
          <p:cNvSpPr txBox="1"/>
          <p:nvPr/>
        </p:nvSpPr>
        <p:spPr>
          <a:xfrm>
            <a:off x="4481474" y="3017520"/>
            <a:ext cx="3228746" cy="713232"/>
          </a:xfrm>
          <a:prstGeom prst="rect">
            <a:avLst/>
          </a:prstGeom>
          <a:noFill/>
          <a:ln/>
        </p:spPr>
        <p:txBody>
          <a:bodyPr wrap="square" lIns="0" tIns="0" rIns="0" bIns="0" rtlCol="0" anchor="t"/>
          <a:lstStyle/>
          <a:p>
            <a:pPr marL="0" indent="0">
              <a:buNone/>
            </a:pPr>
            <a:endParaRPr lang="en-US" sz="1050" dirty="0"/>
          </a:p>
        </p:txBody>
      </p:sp>
      <p:sp>
        <p:nvSpPr>
          <p:cNvPr id="36" name="Text 34"/>
          <p:cNvSpPr txBox="1"/>
          <p:nvPr/>
        </p:nvSpPr>
        <p:spPr>
          <a:xfrm>
            <a:off x="4481474" y="2999232"/>
            <a:ext cx="3228746" cy="749808"/>
          </a:xfrm>
          <a:prstGeom prst="rect">
            <a:avLst/>
          </a:prstGeom>
          <a:noFill/>
          <a:ln/>
        </p:spPr>
        <p:txBody>
          <a:bodyPr wrap="square" lIns="0" tIns="0" rIns="0" bIns="0" rtlCol="0" anchor="t"/>
          <a:lstStyle/>
          <a:p>
            <a:pPr marL="0" indent="0">
              <a:spcAft>
                <a:spcPts val="400"/>
              </a:spcAft>
              <a:buNone/>
            </a:pPr>
            <a:r>
              <a:rPr lang="en-US" sz="1000" dirty="0">
                <a:solidFill>
                  <a:srgbClr val="1C2330"/>
                </a:solidFill>
                <a:latin typeface="Calibri" pitchFamily="34" charset="0"/>
                <a:ea typeface="Calibri" pitchFamily="34" charset="-122"/>
                <a:cs typeface="Calibri" pitchFamily="34" charset="-120"/>
              </a:rPr>
              <a:t>Preprocessor and Comm Request APIs, Kafka services, URL shortener, real-time load</a:t>
            </a:r>
            <a:endParaRPr lang="en-US" sz="1000" dirty="0"/>
          </a:p>
          <a:p>
            <a:pPr marL="0" indent="0">
              <a:spcAft>
                <a:spcPts val="400"/>
              </a:spcAft>
              <a:buNone/>
            </a:pPr>
            <a:r>
              <a:rPr lang="en-US" sz="1000" b="1" dirty="0">
                <a:solidFill>
                  <a:srgbClr val="1C2330"/>
                </a:solidFill>
                <a:latin typeface="Calibri" pitchFamily="34" charset="0"/>
                <a:ea typeface="Calibri" pitchFamily="34" charset="-122"/>
                <a:cs typeface="Calibri" pitchFamily="34" charset="-120"/>
              </a:rPr>
              <a:t>Alerts: </a:t>
            </a:r>
            <a:r>
              <a:rPr lang="en-US" sz="1000" b="1" dirty="0">
                <a:solidFill>
                  <a:srgbClr val="B03A2E"/>
                </a:solidFill>
                <a:latin typeface="Calibri" pitchFamily="34" charset="0"/>
                <a:ea typeface="Calibri" pitchFamily="34" charset="-122"/>
                <a:cs typeface="Calibri" pitchFamily="34" charset="-120"/>
              </a:rPr>
              <a:t>None</a:t>
            </a:r>
            <a:r>
              <a:rPr lang="en-US" sz="1000" b="1" dirty="0">
                <a:solidFill>
                  <a:srgbClr val="1C2330"/>
                </a:solidFill>
                <a:latin typeface="Calibri" pitchFamily="34" charset="0"/>
                <a:ea typeface="Calibri" pitchFamily="34" charset="-122"/>
                <a:cs typeface="Calibri" pitchFamily="34" charset="-120"/>
              </a:rPr>
              <a:t>   Logs: </a:t>
            </a:r>
            <a:r>
              <a:rPr lang="en-US" sz="1000" b="1" dirty="0">
                <a:solidFill>
                  <a:srgbClr val="B7791F"/>
                </a:solidFill>
                <a:latin typeface="Calibri" pitchFamily="34" charset="0"/>
                <a:ea typeface="Calibri" pitchFamily="34" charset="-122"/>
                <a:cs typeface="Calibri" pitchFamily="34" charset="-120"/>
              </a:rPr>
              <a:t>Needs more</a:t>
            </a:r>
            <a:endParaRPr lang="en-US" sz="1000" dirty="0"/>
          </a:p>
        </p:txBody>
      </p:sp>
      <p:sp>
        <p:nvSpPr>
          <p:cNvPr id="37" name="Shape 35"/>
          <p:cNvSpPr/>
          <p:nvPr/>
        </p:nvSpPr>
        <p:spPr>
          <a:xfrm>
            <a:off x="8021117" y="2542032"/>
            <a:ext cx="3484778" cy="384048"/>
          </a:xfrm>
          <a:prstGeom prst="rect">
            <a:avLst/>
          </a:prstGeom>
          <a:solidFill>
            <a:srgbClr val="1F6E4A"/>
          </a:solidFill>
          <a:ln/>
        </p:spPr>
        <p:txBody>
          <a:bodyPr/>
          <a:lstStyle/>
          <a:p>
            <a:endParaRPr lang="en-US"/>
          </a:p>
        </p:txBody>
      </p:sp>
      <p:sp>
        <p:nvSpPr>
          <p:cNvPr id="38" name="Text 36"/>
          <p:cNvSpPr txBox="1"/>
          <p:nvPr/>
        </p:nvSpPr>
        <p:spPr>
          <a:xfrm>
            <a:off x="8149133" y="2542032"/>
            <a:ext cx="2707538"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sms-handler-prod</a:t>
            </a:r>
            <a:endParaRPr lang="en-US" sz="1200" dirty="0"/>
          </a:p>
        </p:txBody>
      </p:sp>
      <p:sp>
        <p:nvSpPr>
          <p:cNvPr id="39" name="Text 37"/>
          <p:cNvSpPr txBox="1"/>
          <p:nvPr/>
        </p:nvSpPr>
        <p:spPr>
          <a:xfrm>
            <a:off x="10774375" y="2542032"/>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1</a:t>
            </a:r>
            <a:endParaRPr lang="en-US" sz="1700" dirty="0"/>
          </a:p>
        </p:txBody>
      </p:sp>
      <p:sp>
        <p:nvSpPr>
          <p:cNvPr id="40" name="Shape 38"/>
          <p:cNvSpPr/>
          <p:nvPr/>
        </p:nvSpPr>
        <p:spPr>
          <a:xfrm>
            <a:off x="8021117" y="2926080"/>
            <a:ext cx="3484778" cy="877824"/>
          </a:xfrm>
          <a:prstGeom prst="rect">
            <a:avLst/>
          </a:prstGeom>
          <a:solidFill>
            <a:srgbClr val="FFFFFF"/>
          </a:solidFill>
          <a:ln w="9525">
            <a:solidFill>
              <a:srgbClr val="D3D8DF"/>
            </a:solidFill>
            <a:prstDash val="solid"/>
          </a:ln>
        </p:spPr>
        <p:txBody>
          <a:bodyPr/>
          <a:lstStyle/>
          <a:p>
            <a:endParaRPr lang="en-US"/>
          </a:p>
        </p:txBody>
      </p:sp>
      <p:sp>
        <p:nvSpPr>
          <p:cNvPr id="41" name="Text 39"/>
          <p:cNvSpPr txBox="1"/>
          <p:nvPr/>
        </p:nvSpPr>
        <p:spPr>
          <a:xfrm>
            <a:off x="8149133" y="3017520"/>
            <a:ext cx="3228746" cy="713232"/>
          </a:xfrm>
          <a:prstGeom prst="rect">
            <a:avLst/>
          </a:prstGeom>
          <a:noFill/>
          <a:ln/>
        </p:spPr>
        <p:txBody>
          <a:bodyPr wrap="square" lIns="0" tIns="0" rIns="0" bIns="0" rtlCol="0" anchor="t"/>
          <a:lstStyle/>
          <a:p>
            <a:pPr marL="0" indent="0">
              <a:buNone/>
            </a:pPr>
            <a:endParaRPr lang="en-US" sz="1050" dirty="0"/>
          </a:p>
        </p:txBody>
      </p:sp>
      <p:sp>
        <p:nvSpPr>
          <p:cNvPr id="42" name="Text 40"/>
          <p:cNvSpPr txBox="1"/>
          <p:nvPr/>
        </p:nvSpPr>
        <p:spPr>
          <a:xfrm>
            <a:off x="8149133" y="2999232"/>
            <a:ext cx="3228746" cy="749808"/>
          </a:xfrm>
          <a:prstGeom prst="rect">
            <a:avLst/>
          </a:prstGeom>
          <a:noFill/>
          <a:ln/>
        </p:spPr>
        <p:txBody>
          <a:bodyPr wrap="square" lIns="0" tIns="0" rIns="0" bIns="0" rtlCol="0" anchor="t"/>
          <a:lstStyle/>
          <a:p>
            <a:pPr marL="0" indent="0">
              <a:spcAft>
                <a:spcPts val="400"/>
              </a:spcAft>
              <a:buNone/>
            </a:pPr>
            <a:r>
              <a:rPr lang="en-US" sz="1000" dirty="0">
                <a:solidFill>
                  <a:srgbClr val="1C2330"/>
                </a:solidFill>
                <a:latin typeface="Calibri" pitchFamily="34" charset="0"/>
                <a:ea typeface="Calibri" pitchFamily="34" charset="-122"/>
                <a:cs typeface="Calibri" pitchFamily="34" charset="-120"/>
              </a:rPr>
              <a:t>SMS/MMS response handler writing delivery status to Recon</a:t>
            </a:r>
            <a:endParaRPr lang="en-US" sz="1000" dirty="0"/>
          </a:p>
          <a:p>
            <a:pPr marL="0" indent="0">
              <a:spcAft>
                <a:spcPts val="400"/>
              </a:spcAft>
              <a:buNone/>
            </a:pPr>
            <a:r>
              <a:rPr lang="en-US" sz="1000" b="1" dirty="0">
                <a:solidFill>
                  <a:srgbClr val="1C2330"/>
                </a:solidFill>
                <a:latin typeface="Calibri" pitchFamily="34" charset="0"/>
                <a:ea typeface="Calibri" pitchFamily="34" charset="-122"/>
                <a:cs typeface="Calibri" pitchFamily="34" charset="-120"/>
              </a:rPr>
              <a:t>Alerts: </a:t>
            </a:r>
            <a:r>
              <a:rPr lang="en-US" sz="1000" b="1" dirty="0">
                <a:solidFill>
                  <a:srgbClr val="B03A2E"/>
                </a:solidFill>
                <a:latin typeface="Calibri" pitchFamily="34" charset="0"/>
                <a:ea typeface="Calibri" pitchFamily="34" charset="-122"/>
                <a:cs typeface="Calibri" pitchFamily="34" charset="-120"/>
              </a:rPr>
              <a:t>None</a:t>
            </a:r>
            <a:r>
              <a:rPr lang="en-US" sz="1000" b="1" dirty="0">
                <a:solidFill>
                  <a:srgbClr val="1C2330"/>
                </a:solidFill>
                <a:latin typeface="Calibri" pitchFamily="34" charset="0"/>
                <a:ea typeface="Calibri" pitchFamily="34" charset="-122"/>
                <a:cs typeface="Calibri" pitchFamily="34" charset="-120"/>
              </a:rPr>
              <a:t>   Logs: </a:t>
            </a:r>
            <a:r>
              <a:rPr lang="en-US" sz="1000" b="1" dirty="0">
                <a:solidFill>
                  <a:srgbClr val="B7791F"/>
                </a:solidFill>
                <a:latin typeface="Calibri" pitchFamily="34" charset="0"/>
                <a:ea typeface="Calibri" pitchFamily="34" charset="-122"/>
                <a:cs typeface="Calibri" pitchFamily="34" charset="-120"/>
              </a:rPr>
              <a:t>Needs more</a:t>
            </a:r>
            <a:endParaRPr lang="en-US" sz="1000" dirty="0"/>
          </a:p>
        </p:txBody>
      </p:sp>
      <p:sp>
        <p:nvSpPr>
          <p:cNvPr id="43" name="Shape 41"/>
          <p:cNvSpPr/>
          <p:nvPr/>
        </p:nvSpPr>
        <p:spPr>
          <a:xfrm>
            <a:off x="548640" y="4023360"/>
            <a:ext cx="11094415" cy="1691640"/>
          </a:xfrm>
          <a:prstGeom prst="rect">
            <a:avLst/>
          </a:prstGeom>
          <a:ln w="15875">
            <a:solidFill>
              <a:srgbClr val="3D4757"/>
            </a:solidFill>
            <a:prstDash val="dash"/>
          </a:ln>
        </p:spPr>
        <p:txBody>
          <a:bodyPr/>
          <a:lstStyle/>
          <a:p>
            <a:endParaRPr lang="en-US"/>
          </a:p>
        </p:txBody>
      </p:sp>
      <p:sp>
        <p:nvSpPr>
          <p:cNvPr id="44" name="Text 42"/>
          <p:cNvSpPr txBox="1"/>
          <p:nvPr/>
        </p:nvSpPr>
        <p:spPr>
          <a:xfrm>
            <a:off x="685800" y="4078224"/>
            <a:ext cx="5486400" cy="237744"/>
          </a:xfrm>
          <a:prstGeom prst="rect">
            <a:avLst/>
          </a:prstGeom>
          <a:noFill/>
          <a:ln/>
        </p:spPr>
        <p:txBody>
          <a:bodyPr wrap="square" lIns="0" tIns="0" rIns="0" bIns="0" rtlCol="0" anchor="t"/>
          <a:lstStyle/>
          <a:p>
            <a:pPr marL="0" indent="0">
              <a:buNone/>
            </a:pPr>
            <a:r>
              <a:rPr lang="en-US" sz="850" b="1" kern="0" spc="300" dirty="0">
                <a:solidFill>
                  <a:srgbClr val="3D4757"/>
                </a:solidFill>
                <a:latin typeface="Calibri" pitchFamily="34" charset="0"/>
                <a:ea typeface="Calibri" pitchFamily="34" charset="-122"/>
                <a:cs typeface="Calibri" pitchFamily="34" charset="-120"/>
              </a:rPr>
              <a:t>DEDICATED ON-PREMISES SERVERS</a:t>
            </a:r>
            <a:endParaRPr lang="en-US" sz="850" dirty="0"/>
          </a:p>
        </p:txBody>
      </p:sp>
      <p:sp>
        <p:nvSpPr>
          <p:cNvPr id="45" name="Text 43"/>
          <p:cNvSpPr txBox="1"/>
          <p:nvPr/>
        </p:nvSpPr>
        <p:spPr>
          <a:xfrm>
            <a:off x="6035040" y="4078224"/>
            <a:ext cx="5470855" cy="228600"/>
          </a:xfrm>
          <a:prstGeom prst="rect">
            <a:avLst/>
          </a:prstGeom>
          <a:noFill/>
          <a:ln/>
        </p:spPr>
        <p:txBody>
          <a:bodyPr wrap="square" lIns="0" tIns="0" rIns="0" bIns="0" rtlCol="0" anchor="t"/>
          <a:lstStyle/>
          <a:p>
            <a:pPr marL="0" indent="0" algn="r">
              <a:buNone/>
            </a:pPr>
            <a:r>
              <a:rPr lang="en-US" sz="950" dirty="0">
                <a:solidFill>
                  <a:srgbClr val="5A6272"/>
                </a:solidFill>
                <a:latin typeface="Calibri" pitchFamily="34" charset="0"/>
                <a:ea typeface="Calibri" pitchFamily="34" charset="-122"/>
                <a:cs typeface="Calibri" pitchFamily="34" charset="-120"/>
              </a:rPr>
              <a:t>Count = servers or brokers</a:t>
            </a:r>
            <a:endParaRPr lang="en-US" sz="950" dirty="0"/>
          </a:p>
        </p:txBody>
      </p:sp>
      <p:sp>
        <p:nvSpPr>
          <p:cNvPr id="46" name="Shape 44"/>
          <p:cNvSpPr/>
          <p:nvPr/>
        </p:nvSpPr>
        <p:spPr>
          <a:xfrm>
            <a:off x="685800" y="4352544"/>
            <a:ext cx="2054291" cy="384048"/>
          </a:xfrm>
          <a:prstGeom prst="rect">
            <a:avLst/>
          </a:prstGeom>
          <a:solidFill>
            <a:srgbClr val="C9591F"/>
          </a:solidFill>
          <a:ln/>
        </p:spPr>
        <p:txBody>
          <a:bodyPr/>
          <a:lstStyle/>
          <a:p>
            <a:endParaRPr lang="en-US"/>
          </a:p>
        </p:txBody>
      </p:sp>
      <p:sp>
        <p:nvSpPr>
          <p:cNvPr id="47" name="Text 45"/>
          <p:cNvSpPr txBox="1"/>
          <p:nvPr/>
        </p:nvSpPr>
        <p:spPr>
          <a:xfrm>
            <a:off x="813816" y="4352544"/>
            <a:ext cx="1277051"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Inspire R15</a:t>
            </a:r>
            <a:endParaRPr lang="en-US" sz="1200" dirty="0"/>
          </a:p>
        </p:txBody>
      </p:sp>
      <p:sp>
        <p:nvSpPr>
          <p:cNvPr id="48" name="Text 46"/>
          <p:cNvSpPr txBox="1"/>
          <p:nvPr/>
        </p:nvSpPr>
        <p:spPr>
          <a:xfrm>
            <a:off x="2008571" y="4352544"/>
            <a:ext cx="603504" cy="384048"/>
          </a:xfrm>
          <a:prstGeom prst="rect">
            <a:avLst/>
          </a:prstGeom>
          <a:noFill/>
          <a:ln/>
        </p:spPr>
        <p:txBody>
          <a:bodyPr wrap="square" lIns="0" tIns="0" rIns="0" bIns="0" rtlCol="0" anchor="ctr"/>
          <a:lstStyle/>
          <a:p>
            <a:pPr marL="0" indent="0" algn="r">
              <a:buNone/>
            </a:pPr>
            <a:r>
              <a:rPr lang="en-US" sz="1700" b="1" dirty="0">
                <a:solidFill>
                  <a:srgbClr val="FFFFFF"/>
                </a:solidFill>
                <a:latin typeface="Calibri" pitchFamily="34" charset="0"/>
                <a:ea typeface="Calibri" pitchFamily="34" charset="-122"/>
                <a:cs typeface="Calibri" pitchFamily="34" charset="-120"/>
              </a:rPr>
              <a:t>13</a:t>
            </a:r>
            <a:endParaRPr lang="en-US" sz="1700" dirty="0"/>
          </a:p>
        </p:txBody>
      </p:sp>
      <p:sp>
        <p:nvSpPr>
          <p:cNvPr id="49" name="Shape 47"/>
          <p:cNvSpPr/>
          <p:nvPr/>
        </p:nvSpPr>
        <p:spPr>
          <a:xfrm>
            <a:off x="685800" y="4736592"/>
            <a:ext cx="2054291" cy="877824"/>
          </a:xfrm>
          <a:prstGeom prst="rect">
            <a:avLst/>
          </a:prstGeom>
          <a:solidFill>
            <a:srgbClr val="FFFFFF"/>
          </a:solidFill>
          <a:ln w="9525">
            <a:solidFill>
              <a:srgbClr val="D3D8DF"/>
            </a:solidFill>
            <a:prstDash val="solid"/>
          </a:ln>
        </p:spPr>
        <p:txBody>
          <a:bodyPr/>
          <a:lstStyle/>
          <a:p>
            <a:endParaRPr lang="en-US"/>
          </a:p>
        </p:txBody>
      </p:sp>
      <p:sp>
        <p:nvSpPr>
          <p:cNvPr id="50" name="Text 48"/>
          <p:cNvSpPr txBox="1"/>
          <p:nvPr/>
        </p:nvSpPr>
        <p:spPr>
          <a:xfrm>
            <a:off x="813816" y="4828032"/>
            <a:ext cx="1798259" cy="713232"/>
          </a:xfrm>
          <a:prstGeom prst="rect">
            <a:avLst/>
          </a:prstGeom>
          <a:noFill/>
          <a:ln/>
        </p:spPr>
        <p:txBody>
          <a:bodyPr wrap="square" lIns="0" tIns="0" rIns="0" bIns="0" rtlCol="0" anchor="t"/>
          <a:lstStyle/>
          <a:p>
            <a:pPr marL="0" indent="0">
              <a:buNone/>
            </a:pPr>
            <a:endParaRPr lang="en-US" sz="1050" dirty="0"/>
          </a:p>
        </p:txBody>
      </p:sp>
      <p:sp>
        <p:nvSpPr>
          <p:cNvPr id="51" name="Text 49"/>
          <p:cNvSpPr txBox="1"/>
          <p:nvPr/>
        </p:nvSpPr>
        <p:spPr>
          <a:xfrm>
            <a:off x="813816" y="4809744"/>
            <a:ext cx="1798259" cy="749808"/>
          </a:xfrm>
          <a:prstGeom prst="rect">
            <a:avLst/>
          </a:prstGeom>
          <a:noFill/>
          <a:ln/>
        </p:spPr>
        <p:txBody>
          <a:bodyPr wrap="square" lIns="0" tIns="0" rIns="0" bIns="0" rtlCol="0" anchor="t"/>
          <a:lstStyle/>
          <a:p>
            <a:pPr marL="0" indent="0">
              <a:spcAft>
                <a:spcPts val="400"/>
              </a:spcAft>
              <a:buNone/>
            </a:pPr>
            <a:r>
              <a:rPr lang="en-US" sz="1000" dirty="0">
                <a:solidFill>
                  <a:srgbClr val="1C2330"/>
                </a:solidFill>
                <a:latin typeface="Calibri" pitchFamily="34" charset="0"/>
                <a:ea typeface="Calibri" pitchFamily="34" charset="-122"/>
                <a:cs typeface="Calibri" pitchFamily="34" charset="-120"/>
              </a:rPr>
              <a:t>Scaler P407–412, Interactive P413–417, License P405–406</a:t>
            </a:r>
            <a:endParaRPr lang="en-US" sz="1000" dirty="0"/>
          </a:p>
          <a:p>
            <a:pPr marL="0" indent="0">
              <a:spcAft>
                <a:spcPts val="400"/>
              </a:spcAft>
              <a:buNone/>
            </a:pPr>
            <a:r>
              <a:rPr lang="en-US" sz="1000" b="1" dirty="0">
                <a:solidFill>
                  <a:srgbClr val="1C2330"/>
                </a:solidFill>
                <a:latin typeface="Calibri" pitchFamily="34" charset="0"/>
                <a:ea typeface="Calibri" pitchFamily="34" charset="-122"/>
                <a:cs typeface="Calibri" pitchFamily="34" charset="-120"/>
              </a:rPr>
              <a:t>Alerts: </a:t>
            </a:r>
            <a:r>
              <a:rPr lang="en-US" sz="1000" b="1" dirty="0">
                <a:solidFill>
                  <a:srgbClr val="B7791F"/>
                </a:solidFill>
                <a:latin typeface="Calibri" pitchFamily="34" charset="0"/>
                <a:ea typeface="Calibri" pitchFamily="34" charset="-122"/>
                <a:cs typeface="Calibri" pitchFamily="34" charset="-120"/>
              </a:rPr>
              <a:t>Needs more</a:t>
            </a:r>
            <a:r>
              <a:rPr lang="en-US" sz="1000" b="1" dirty="0">
                <a:solidFill>
                  <a:srgbClr val="1C2330"/>
                </a:solidFill>
                <a:latin typeface="Calibri" pitchFamily="34" charset="0"/>
                <a:ea typeface="Calibri" pitchFamily="34" charset="-122"/>
                <a:cs typeface="Calibri" pitchFamily="34" charset="-120"/>
              </a:rPr>
              <a:t>   Logs: </a:t>
            </a:r>
            <a:r>
              <a:rPr lang="en-US" sz="1000" b="1" dirty="0">
                <a:solidFill>
                  <a:srgbClr val="2E7D32"/>
                </a:solidFill>
                <a:latin typeface="Calibri" pitchFamily="34" charset="0"/>
                <a:ea typeface="Calibri" pitchFamily="34" charset="-122"/>
                <a:cs typeface="Calibri" pitchFamily="34" charset="-120"/>
              </a:rPr>
              <a:t>In place</a:t>
            </a:r>
            <a:endParaRPr lang="en-US" sz="1000" dirty="0"/>
          </a:p>
        </p:txBody>
      </p:sp>
      <p:sp>
        <p:nvSpPr>
          <p:cNvPr id="52" name="Shape 50"/>
          <p:cNvSpPr/>
          <p:nvPr/>
        </p:nvSpPr>
        <p:spPr>
          <a:xfrm>
            <a:off x="2877251" y="4352544"/>
            <a:ext cx="2054291" cy="384048"/>
          </a:xfrm>
          <a:prstGeom prst="rect">
            <a:avLst/>
          </a:prstGeom>
          <a:solidFill>
            <a:srgbClr val="3D4757"/>
          </a:solidFill>
          <a:ln/>
        </p:spPr>
        <p:txBody>
          <a:bodyPr/>
          <a:lstStyle/>
          <a:p>
            <a:endParaRPr lang="en-US"/>
          </a:p>
        </p:txBody>
      </p:sp>
      <p:sp>
        <p:nvSpPr>
          <p:cNvPr id="53" name="Text 51"/>
          <p:cNvSpPr txBox="1"/>
          <p:nvPr/>
        </p:nvSpPr>
        <p:spPr>
          <a:xfrm>
            <a:off x="3005267" y="4352544"/>
            <a:ext cx="1277051"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Batch</a:t>
            </a:r>
            <a:endParaRPr lang="en-US" sz="1200" dirty="0"/>
          </a:p>
        </p:txBody>
      </p:sp>
      <p:sp>
        <p:nvSpPr>
          <p:cNvPr id="54" name="Text 52"/>
          <p:cNvSpPr txBox="1"/>
          <p:nvPr/>
        </p:nvSpPr>
        <p:spPr>
          <a:xfrm>
            <a:off x="4200022" y="4352544"/>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1</a:t>
            </a:r>
            <a:endParaRPr lang="en-US" sz="1700" dirty="0"/>
          </a:p>
        </p:txBody>
      </p:sp>
      <p:sp>
        <p:nvSpPr>
          <p:cNvPr id="55" name="Shape 53"/>
          <p:cNvSpPr/>
          <p:nvPr/>
        </p:nvSpPr>
        <p:spPr>
          <a:xfrm>
            <a:off x="2877251" y="4736592"/>
            <a:ext cx="2054291" cy="877824"/>
          </a:xfrm>
          <a:prstGeom prst="rect">
            <a:avLst/>
          </a:prstGeom>
          <a:solidFill>
            <a:srgbClr val="FFFFFF"/>
          </a:solidFill>
          <a:ln w="9525">
            <a:solidFill>
              <a:srgbClr val="D3D8DF"/>
            </a:solidFill>
            <a:prstDash val="solid"/>
          </a:ln>
        </p:spPr>
        <p:txBody>
          <a:bodyPr/>
          <a:lstStyle/>
          <a:p>
            <a:endParaRPr lang="en-US"/>
          </a:p>
        </p:txBody>
      </p:sp>
      <p:sp>
        <p:nvSpPr>
          <p:cNvPr id="56" name="Text 54"/>
          <p:cNvSpPr txBox="1"/>
          <p:nvPr/>
        </p:nvSpPr>
        <p:spPr>
          <a:xfrm>
            <a:off x="3005267" y="4828032"/>
            <a:ext cx="1798259" cy="713232"/>
          </a:xfrm>
          <a:prstGeom prst="rect">
            <a:avLst/>
          </a:prstGeom>
          <a:noFill/>
          <a:ln/>
        </p:spPr>
        <p:txBody>
          <a:bodyPr wrap="square" lIns="0" tIns="0" rIns="0" bIns="0" rtlCol="0" anchor="t"/>
          <a:lstStyle/>
          <a:p>
            <a:pPr marL="0" indent="0">
              <a:buNone/>
            </a:pPr>
            <a:endParaRPr lang="en-US" sz="1050" dirty="0"/>
          </a:p>
        </p:txBody>
      </p:sp>
      <p:sp>
        <p:nvSpPr>
          <p:cNvPr id="57" name="Text 55"/>
          <p:cNvSpPr txBox="1"/>
          <p:nvPr/>
        </p:nvSpPr>
        <p:spPr>
          <a:xfrm>
            <a:off x="3005267" y="4809744"/>
            <a:ext cx="1798259" cy="749808"/>
          </a:xfrm>
          <a:prstGeom prst="rect">
            <a:avLst/>
          </a:prstGeom>
          <a:noFill/>
          <a:ln/>
        </p:spPr>
        <p:txBody>
          <a:bodyPr wrap="square" lIns="0" tIns="0" rIns="0" bIns="0" rtlCol="0" anchor="t"/>
          <a:lstStyle/>
          <a:p>
            <a:pPr marL="0" indent="0">
              <a:spcAft>
                <a:spcPts val="400"/>
              </a:spcAft>
              <a:buNone/>
            </a:pPr>
            <a:r>
              <a:rPr lang="en-US" sz="1000" dirty="0">
                <a:solidFill>
                  <a:srgbClr val="1C2330"/>
                </a:solidFill>
                <a:latin typeface="Calibri" pitchFamily="34" charset="0"/>
                <a:ea typeface="Calibri" pitchFamily="34" charset="-122"/>
                <a:cs typeface="Calibri" pitchFamily="34" charset="-120"/>
              </a:rPr>
              <a:t>Control-M + Spark on Hadoop · edclhdpp432</a:t>
            </a:r>
            <a:endParaRPr lang="en-US" sz="1000" dirty="0"/>
          </a:p>
          <a:p>
            <a:pPr marL="0" indent="0">
              <a:spcAft>
                <a:spcPts val="400"/>
              </a:spcAft>
              <a:buNone/>
            </a:pPr>
            <a:r>
              <a:rPr lang="en-US" sz="1000" b="1" dirty="0">
                <a:solidFill>
                  <a:srgbClr val="1C2330"/>
                </a:solidFill>
                <a:latin typeface="Calibri" pitchFamily="34" charset="0"/>
                <a:ea typeface="Calibri" pitchFamily="34" charset="-122"/>
                <a:cs typeface="Calibri" pitchFamily="34" charset="-120"/>
              </a:rPr>
              <a:t>Alerts: </a:t>
            </a:r>
            <a:r>
              <a:rPr lang="en-US" sz="1000" b="1" dirty="0">
                <a:solidFill>
                  <a:srgbClr val="2E7D32"/>
                </a:solidFill>
                <a:latin typeface="Calibri" pitchFamily="34" charset="0"/>
                <a:ea typeface="Calibri" pitchFamily="34" charset="-122"/>
                <a:cs typeface="Calibri" pitchFamily="34" charset="-120"/>
              </a:rPr>
              <a:t>In place</a:t>
            </a:r>
            <a:r>
              <a:rPr lang="en-US" sz="1000" b="1" dirty="0">
                <a:solidFill>
                  <a:srgbClr val="1C2330"/>
                </a:solidFill>
                <a:latin typeface="Calibri" pitchFamily="34" charset="0"/>
                <a:ea typeface="Calibri" pitchFamily="34" charset="-122"/>
                <a:cs typeface="Calibri" pitchFamily="34" charset="-120"/>
              </a:rPr>
              <a:t>   Logs: </a:t>
            </a:r>
            <a:r>
              <a:rPr lang="en-US" sz="1000" b="1" dirty="0">
                <a:solidFill>
                  <a:srgbClr val="2E7D32"/>
                </a:solidFill>
                <a:latin typeface="Calibri" pitchFamily="34" charset="0"/>
                <a:ea typeface="Calibri" pitchFamily="34" charset="-122"/>
                <a:cs typeface="Calibri" pitchFamily="34" charset="-120"/>
              </a:rPr>
              <a:t>In place</a:t>
            </a:r>
            <a:endParaRPr lang="en-US" sz="1000" dirty="0"/>
          </a:p>
        </p:txBody>
      </p:sp>
      <p:sp>
        <p:nvSpPr>
          <p:cNvPr id="58" name="Shape 56"/>
          <p:cNvSpPr/>
          <p:nvPr/>
        </p:nvSpPr>
        <p:spPr>
          <a:xfrm>
            <a:off x="5068702" y="4352544"/>
            <a:ext cx="2054291" cy="384048"/>
          </a:xfrm>
          <a:prstGeom prst="rect">
            <a:avLst/>
          </a:prstGeom>
          <a:solidFill>
            <a:srgbClr val="0E1A33"/>
          </a:solidFill>
          <a:ln/>
        </p:spPr>
        <p:txBody>
          <a:bodyPr/>
          <a:lstStyle/>
          <a:p>
            <a:endParaRPr lang="en-US"/>
          </a:p>
        </p:txBody>
      </p:sp>
      <p:sp>
        <p:nvSpPr>
          <p:cNvPr id="59" name="Text 57"/>
          <p:cNvSpPr txBox="1"/>
          <p:nvPr/>
        </p:nvSpPr>
        <p:spPr>
          <a:xfrm>
            <a:off x="5196718" y="4352544"/>
            <a:ext cx="1277051"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SQL Server 2019</a:t>
            </a:r>
            <a:endParaRPr lang="en-US" sz="1200" dirty="0"/>
          </a:p>
        </p:txBody>
      </p:sp>
      <p:sp>
        <p:nvSpPr>
          <p:cNvPr id="60" name="Text 58"/>
          <p:cNvSpPr txBox="1"/>
          <p:nvPr/>
        </p:nvSpPr>
        <p:spPr>
          <a:xfrm>
            <a:off x="6391473" y="4352544"/>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2</a:t>
            </a:r>
            <a:endParaRPr lang="en-US" sz="1700" dirty="0"/>
          </a:p>
        </p:txBody>
      </p:sp>
      <p:sp>
        <p:nvSpPr>
          <p:cNvPr id="61" name="Shape 59"/>
          <p:cNvSpPr/>
          <p:nvPr/>
        </p:nvSpPr>
        <p:spPr>
          <a:xfrm>
            <a:off x="5068702" y="4736592"/>
            <a:ext cx="2054291" cy="877824"/>
          </a:xfrm>
          <a:prstGeom prst="rect">
            <a:avLst/>
          </a:prstGeom>
          <a:solidFill>
            <a:srgbClr val="FFFFFF"/>
          </a:solidFill>
          <a:ln w="9525">
            <a:solidFill>
              <a:srgbClr val="D3D8DF"/>
            </a:solidFill>
            <a:prstDash val="solid"/>
          </a:ln>
        </p:spPr>
        <p:txBody>
          <a:bodyPr/>
          <a:lstStyle/>
          <a:p>
            <a:endParaRPr lang="en-US"/>
          </a:p>
        </p:txBody>
      </p:sp>
      <p:sp>
        <p:nvSpPr>
          <p:cNvPr id="62" name="Text 60"/>
          <p:cNvSpPr txBox="1"/>
          <p:nvPr/>
        </p:nvSpPr>
        <p:spPr>
          <a:xfrm>
            <a:off x="5196718" y="4828032"/>
            <a:ext cx="1798259" cy="713232"/>
          </a:xfrm>
          <a:prstGeom prst="rect">
            <a:avLst/>
          </a:prstGeom>
          <a:noFill/>
          <a:ln/>
        </p:spPr>
        <p:txBody>
          <a:bodyPr wrap="square" lIns="0" tIns="0" rIns="0" bIns="0" rtlCol="0" anchor="t"/>
          <a:lstStyle/>
          <a:p>
            <a:pPr marL="0" indent="0">
              <a:buNone/>
            </a:pPr>
            <a:endParaRPr lang="en-US" sz="1050" dirty="0"/>
          </a:p>
        </p:txBody>
      </p:sp>
      <p:sp>
        <p:nvSpPr>
          <p:cNvPr id="63" name="Text 61"/>
          <p:cNvSpPr txBox="1"/>
          <p:nvPr/>
        </p:nvSpPr>
        <p:spPr>
          <a:xfrm>
            <a:off x="5196718" y="4809744"/>
            <a:ext cx="1798259" cy="749808"/>
          </a:xfrm>
          <a:prstGeom prst="rect">
            <a:avLst/>
          </a:prstGeom>
          <a:noFill/>
          <a:ln/>
        </p:spPr>
        <p:txBody>
          <a:bodyPr wrap="square" lIns="0" tIns="0" rIns="0" bIns="0" rtlCol="0" anchor="t"/>
          <a:lstStyle/>
          <a:p>
            <a:pPr marL="0" indent="0">
              <a:spcAft>
                <a:spcPts val="400"/>
              </a:spcAft>
              <a:buNone/>
            </a:pPr>
            <a:r>
              <a:rPr lang="en-US" sz="1000" dirty="0">
                <a:solidFill>
                  <a:srgbClr val="1C2330"/>
                </a:solidFill>
                <a:latin typeface="Calibri" pitchFamily="34" charset="0"/>
                <a:ea typeface="Calibri" pitchFamily="34" charset="-122"/>
                <a:cs typeface="Calibri" pitchFamily="34" charset="-120"/>
              </a:rPr>
              <a:t>SQLPX0105 Recon · SQLPD9747 Inspire DBs</a:t>
            </a:r>
            <a:endParaRPr lang="en-US" sz="1000" dirty="0"/>
          </a:p>
          <a:p>
            <a:pPr marL="0" indent="0">
              <a:spcAft>
                <a:spcPts val="400"/>
              </a:spcAft>
              <a:buNone/>
            </a:pPr>
            <a:r>
              <a:rPr lang="en-US" sz="1000" b="1" dirty="0">
                <a:solidFill>
                  <a:srgbClr val="1C2330"/>
                </a:solidFill>
                <a:latin typeface="Calibri" pitchFamily="34" charset="0"/>
                <a:ea typeface="Calibri" pitchFamily="34" charset="-122"/>
                <a:cs typeface="Calibri" pitchFamily="34" charset="-120"/>
              </a:rPr>
              <a:t>Alerts: </a:t>
            </a:r>
            <a:r>
              <a:rPr lang="en-US" sz="1000" b="1" dirty="0">
                <a:solidFill>
                  <a:srgbClr val="2E7D32"/>
                </a:solidFill>
                <a:latin typeface="Calibri" pitchFamily="34" charset="0"/>
                <a:ea typeface="Calibri" pitchFamily="34" charset="-122"/>
                <a:cs typeface="Calibri" pitchFamily="34" charset="-120"/>
              </a:rPr>
              <a:t>In place</a:t>
            </a:r>
            <a:r>
              <a:rPr lang="en-US" sz="1000" b="1" dirty="0">
                <a:solidFill>
                  <a:srgbClr val="1C2330"/>
                </a:solidFill>
                <a:latin typeface="Calibri" pitchFamily="34" charset="0"/>
                <a:ea typeface="Calibri" pitchFamily="34" charset="-122"/>
                <a:cs typeface="Calibri" pitchFamily="34" charset="-120"/>
              </a:rPr>
              <a:t>   Logs: </a:t>
            </a:r>
            <a:r>
              <a:rPr lang="en-US" sz="1000" b="1" dirty="0">
                <a:solidFill>
                  <a:srgbClr val="5A6272"/>
                </a:solidFill>
                <a:latin typeface="Calibri" pitchFamily="34" charset="0"/>
                <a:ea typeface="Calibri" pitchFamily="34" charset="-122"/>
                <a:cs typeface="Calibri" pitchFamily="34" charset="-120"/>
              </a:rPr>
              <a:t>—</a:t>
            </a:r>
            <a:endParaRPr lang="en-US" sz="1000" dirty="0"/>
          </a:p>
        </p:txBody>
      </p:sp>
      <p:sp>
        <p:nvSpPr>
          <p:cNvPr id="64" name="Shape 62"/>
          <p:cNvSpPr/>
          <p:nvPr/>
        </p:nvSpPr>
        <p:spPr>
          <a:xfrm>
            <a:off x="7260153" y="4352544"/>
            <a:ext cx="2054291" cy="384048"/>
          </a:xfrm>
          <a:prstGeom prst="rect">
            <a:avLst/>
          </a:prstGeom>
          <a:solidFill>
            <a:srgbClr val="1F6E4A"/>
          </a:solidFill>
          <a:ln/>
        </p:spPr>
        <p:txBody>
          <a:bodyPr/>
          <a:lstStyle/>
          <a:p>
            <a:endParaRPr lang="en-US"/>
          </a:p>
        </p:txBody>
      </p:sp>
      <p:sp>
        <p:nvSpPr>
          <p:cNvPr id="65" name="Text 63"/>
          <p:cNvSpPr txBox="1"/>
          <p:nvPr/>
        </p:nvSpPr>
        <p:spPr>
          <a:xfrm>
            <a:off x="7388169" y="4352544"/>
            <a:ext cx="1277051"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Kafka</a:t>
            </a:r>
            <a:endParaRPr lang="en-US" sz="1200" dirty="0"/>
          </a:p>
        </p:txBody>
      </p:sp>
      <p:sp>
        <p:nvSpPr>
          <p:cNvPr id="66" name="Text 64"/>
          <p:cNvSpPr txBox="1"/>
          <p:nvPr/>
        </p:nvSpPr>
        <p:spPr>
          <a:xfrm>
            <a:off x="8582924" y="4352544"/>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3</a:t>
            </a:r>
            <a:endParaRPr lang="en-US" sz="1700" dirty="0"/>
          </a:p>
        </p:txBody>
      </p:sp>
      <p:sp>
        <p:nvSpPr>
          <p:cNvPr id="67" name="Shape 65"/>
          <p:cNvSpPr/>
          <p:nvPr/>
        </p:nvSpPr>
        <p:spPr>
          <a:xfrm>
            <a:off x="7260153" y="4736592"/>
            <a:ext cx="2054291" cy="877824"/>
          </a:xfrm>
          <a:prstGeom prst="rect">
            <a:avLst/>
          </a:prstGeom>
          <a:solidFill>
            <a:srgbClr val="FFFFFF"/>
          </a:solidFill>
          <a:ln w="9525">
            <a:solidFill>
              <a:srgbClr val="D3D8DF"/>
            </a:solidFill>
            <a:prstDash val="solid"/>
          </a:ln>
        </p:spPr>
        <p:txBody>
          <a:bodyPr/>
          <a:lstStyle/>
          <a:p>
            <a:endParaRPr lang="en-US"/>
          </a:p>
        </p:txBody>
      </p:sp>
      <p:sp>
        <p:nvSpPr>
          <p:cNvPr id="68" name="Text 66"/>
          <p:cNvSpPr txBox="1"/>
          <p:nvPr/>
        </p:nvSpPr>
        <p:spPr>
          <a:xfrm>
            <a:off x="7388169" y="4828032"/>
            <a:ext cx="1798259" cy="713232"/>
          </a:xfrm>
          <a:prstGeom prst="rect">
            <a:avLst/>
          </a:prstGeom>
          <a:noFill/>
          <a:ln/>
        </p:spPr>
        <p:txBody>
          <a:bodyPr wrap="square" lIns="0" tIns="0" rIns="0" bIns="0" rtlCol="0" anchor="t"/>
          <a:lstStyle/>
          <a:p>
            <a:pPr marL="0" indent="0">
              <a:buNone/>
            </a:pPr>
            <a:endParaRPr lang="en-US" sz="1050" dirty="0"/>
          </a:p>
        </p:txBody>
      </p:sp>
      <p:sp>
        <p:nvSpPr>
          <p:cNvPr id="69" name="Text 67"/>
          <p:cNvSpPr txBox="1"/>
          <p:nvPr/>
        </p:nvSpPr>
        <p:spPr>
          <a:xfrm>
            <a:off x="7388169" y="4809744"/>
            <a:ext cx="1798259" cy="749808"/>
          </a:xfrm>
          <a:prstGeom prst="rect">
            <a:avLst/>
          </a:prstGeom>
          <a:noFill/>
          <a:ln/>
        </p:spPr>
        <p:txBody>
          <a:bodyPr wrap="square" lIns="0" tIns="0" rIns="0" bIns="0" rtlCol="0" anchor="t"/>
          <a:lstStyle/>
          <a:p>
            <a:pPr marL="0" indent="0">
              <a:spcAft>
                <a:spcPts val="400"/>
              </a:spcAft>
              <a:buNone/>
            </a:pPr>
            <a:r>
              <a:rPr lang="en-US" sz="1000" dirty="0">
                <a:solidFill>
                  <a:srgbClr val="1C2330"/>
                </a:solidFill>
                <a:latin typeface="Calibri" pitchFamily="34" charset="0"/>
                <a:ea typeface="Calibri" pitchFamily="34" charset="-122"/>
                <a:cs typeface="Calibri" pitchFamily="34" charset="-120"/>
              </a:rPr>
              <a:t>edclkfkp404–406 :6667</a:t>
            </a:r>
            <a:endParaRPr lang="en-US" sz="1000" dirty="0"/>
          </a:p>
          <a:p>
            <a:pPr marL="0" indent="0">
              <a:spcAft>
                <a:spcPts val="400"/>
              </a:spcAft>
              <a:buNone/>
            </a:pPr>
            <a:r>
              <a:rPr lang="en-US" sz="1000" b="1" dirty="0">
                <a:solidFill>
                  <a:srgbClr val="1C2330"/>
                </a:solidFill>
                <a:latin typeface="Calibri" pitchFamily="34" charset="0"/>
                <a:ea typeface="Calibri" pitchFamily="34" charset="-122"/>
                <a:cs typeface="Calibri" pitchFamily="34" charset="-120"/>
              </a:rPr>
              <a:t>Alerts: </a:t>
            </a:r>
            <a:r>
              <a:rPr lang="en-US" sz="1000" b="1" dirty="0">
                <a:solidFill>
                  <a:srgbClr val="5A6272"/>
                </a:solidFill>
                <a:latin typeface="Calibri" pitchFamily="34" charset="0"/>
                <a:ea typeface="Calibri" pitchFamily="34" charset="-122"/>
                <a:cs typeface="Calibri" pitchFamily="34" charset="-120"/>
              </a:rPr>
              <a:t>—</a:t>
            </a:r>
            <a:r>
              <a:rPr lang="en-US" sz="1000" b="1" dirty="0">
                <a:solidFill>
                  <a:srgbClr val="1C2330"/>
                </a:solidFill>
                <a:latin typeface="Calibri" pitchFamily="34" charset="0"/>
                <a:ea typeface="Calibri" pitchFamily="34" charset="-122"/>
                <a:cs typeface="Calibri" pitchFamily="34" charset="-120"/>
              </a:rPr>
              <a:t>   Logs: </a:t>
            </a:r>
            <a:r>
              <a:rPr lang="en-US" sz="1000" b="1" dirty="0">
                <a:solidFill>
                  <a:srgbClr val="5A6272"/>
                </a:solidFill>
                <a:latin typeface="Calibri" pitchFamily="34" charset="0"/>
                <a:ea typeface="Calibri" pitchFamily="34" charset="-122"/>
                <a:cs typeface="Calibri" pitchFamily="34" charset="-120"/>
              </a:rPr>
              <a:t>—</a:t>
            </a:r>
            <a:endParaRPr lang="en-US" sz="1000" dirty="0"/>
          </a:p>
        </p:txBody>
      </p:sp>
      <p:sp>
        <p:nvSpPr>
          <p:cNvPr id="70" name="Shape 68"/>
          <p:cNvSpPr/>
          <p:nvPr/>
        </p:nvSpPr>
        <p:spPr>
          <a:xfrm>
            <a:off x="9451604" y="4352544"/>
            <a:ext cx="2054291" cy="384048"/>
          </a:xfrm>
          <a:prstGeom prst="rect">
            <a:avLst/>
          </a:prstGeom>
          <a:solidFill>
            <a:srgbClr val="1E4FC0"/>
          </a:solidFill>
          <a:ln/>
        </p:spPr>
        <p:txBody>
          <a:bodyPr/>
          <a:lstStyle/>
          <a:p>
            <a:endParaRPr lang="en-US"/>
          </a:p>
        </p:txBody>
      </p:sp>
      <p:sp>
        <p:nvSpPr>
          <p:cNvPr id="71" name="Text 69"/>
          <p:cNvSpPr txBox="1"/>
          <p:nvPr/>
        </p:nvSpPr>
        <p:spPr>
          <a:xfrm>
            <a:off x="9579620" y="4352544"/>
            <a:ext cx="1277051" cy="384048"/>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Power BI</a:t>
            </a:r>
            <a:endParaRPr lang="en-US" sz="1200" dirty="0"/>
          </a:p>
        </p:txBody>
      </p:sp>
      <p:sp>
        <p:nvSpPr>
          <p:cNvPr id="72" name="Text 70"/>
          <p:cNvSpPr txBox="1"/>
          <p:nvPr/>
        </p:nvSpPr>
        <p:spPr>
          <a:xfrm>
            <a:off x="10774375" y="4352544"/>
            <a:ext cx="603504" cy="384048"/>
          </a:xfrm>
          <a:prstGeom prst="rect">
            <a:avLst/>
          </a:prstGeom>
          <a:noFill/>
          <a:ln/>
        </p:spPr>
        <p:txBody>
          <a:bodyPr wrap="square" lIns="0" tIns="0" rIns="0" bIns="0" rtlCol="0" anchor="ctr"/>
          <a:lstStyle/>
          <a:p>
            <a:pPr marL="0" indent="0" algn="r">
              <a:buNone/>
            </a:pPr>
            <a:r>
              <a:rPr lang="en-US" sz="1700" b="1" dirty="0">
                <a:solidFill>
                  <a:srgbClr val="E8C547"/>
                </a:solidFill>
                <a:latin typeface="Calibri" pitchFamily="34" charset="0"/>
                <a:ea typeface="Calibri" pitchFamily="34" charset="-122"/>
                <a:cs typeface="Calibri" pitchFamily="34" charset="-120"/>
              </a:rPr>
              <a:t>1</a:t>
            </a:r>
            <a:endParaRPr lang="en-US" sz="1700" dirty="0"/>
          </a:p>
        </p:txBody>
      </p:sp>
      <p:sp>
        <p:nvSpPr>
          <p:cNvPr id="73" name="Shape 71"/>
          <p:cNvSpPr/>
          <p:nvPr/>
        </p:nvSpPr>
        <p:spPr>
          <a:xfrm>
            <a:off x="9451604" y="4736592"/>
            <a:ext cx="2054291" cy="877824"/>
          </a:xfrm>
          <a:prstGeom prst="rect">
            <a:avLst/>
          </a:prstGeom>
          <a:solidFill>
            <a:srgbClr val="FFFFFF"/>
          </a:solidFill>
          <a:ln w="9525">
            <a:solidFill>
              <a:srgbClr val="D3D8DF"/>
            </a:solidFill>
            <a:prstDash val="solid"/>
          </a:ln>
        </p:spPr>
        <p:txBody>
          <a:bodyPr/>
          <a:lstStyle/>
          <a:p>
            <a:endParaRPr lang="en-US"/>
          </a:p>
        </p:txBody>
      </p:sp>
      <p:sp>
        <p:nvSpPr>
          <p:cNvPr id="74" name="Text 72"/>
          <p:cNvSpPr txBox="1"/>
          <p:nvPr/>
        </p:nvSpPr>
        <p:spPr>
          <a:xfrm>
            <a:off x="9579620" y="4828032"/>
            <a:ext cx="1798259" cy="713232"/>
          </a:xfrm>
          <a:prstGeom prst="rect">
            <a:avLst/>
          </a:prstGeom>
          <a:noFill/>
          <a:ln/>
        </p:spPr>
        <p:txBody>
          <a:bodyPr wrap="square" lIns="0" tIns="0" rIns="0" bIns="0" rtlCol="0" anchor="t"/>
          <a:lstStyle/>
          <a:p>
            <a:pPr marL="0" indent="0">
              <a:buNone/>
            </a:pPr>
            <a:endParaRPr lang="en-US" sz="1050" dirty="0"/>
          </a:p>
        </p:txBody>
      </p:sp>
      <p:sp>
        <p:nvSpPr>
          <p:cNvPr id="75" name="Text 73"/>
          <p:cNvSpPr txBox="1"/>
          <p:nvPr/>
        </p:nvSpPr>
        <p:spPr>
          <a:xfrm>
            <a:off x="9579620" y="4809744"/>
            <a:ext cx="1798259" cy="749808"/>
          </a:xfrm>
          <a:prstGeom prst="rect">
            <a:avLst/>
          </a:prstGeom>
          <a:noFill/>
          <a:ln/>
        </p:spPr>
        <p:txBody>
          <a:bodyPr wrap="square" lIns="0" tIns="0" rIns="0" bIns="0" rtlCol="0" anchor="t"/>
          <a:lstStyle/>
          <a:p>
            <a:pPr marL="0" indent="0">
              <a:spcAft>
                <a:spcPts val="400"/>
              </a:spcAft>
              <a:buNone/>
            </a:pPr>
            <a:r>
              <a:rPr lang="en-US" sz="1000" dirty="0">
                <a:solidFill>
                  <a:srgbClr val="1C2330"/>
                </a:solidFill>
                <a:latin typeface="Calibri" pitchFamily="34" charset="0"/>
                <a:ea typeface="Calibri" pitchFamily="34" charset="-122"/>
                <a:cs typeface="Calibri" pitchFamily="34" charset="-120"/>
              </a:rPr>
              <a:t>srsps0063 · CCM_Reports_Prod</a:t>
            </a:r>
            <a:endParaRPr lang="en-US" sz="1000" dirty="0"/>
          </a:p>
          <a:p>
            <a:pPr marL="0" indent="0">
              <a:spcAft>
                <a:spcPts val="400"/>
              </a:spcAft>
              <a:buNone/>
            </a:pPr>
            <a:r>
              <a:rPr lang="en-US" sz="1000" b="1" dirty="0">
                <a:solidFill>
                  <a:srgbClr val="1C2330"/>
                </a:solidFill>
                <a:latin typeface="Calibri" pitchFamily="34" charset="0"/>
                <a:ea typeface="Calibri" pitchFamily="34" charset="-122"/>
                <a:cs typeface="Calibri" pitchFamily="34" charset="-120"/>
              </a:rPr>
              <a:t>Alerts: </a:t>
            </a:r>
            <a:r>
              <a:rPr lang="en-US" sz="1000" b="1" dirty="0">
                <a:solidFill>
                  <a:srgbClr val="B03A2E"/>
                </a:solidFill>
                <a:latin typeface="Calibri" pitchFamily="34" charset="0"/>
                <a:ea typeface="Calibri" pitchFamily="34" charset="-122"/>
                <a:cs typeface="Calibri" pitchFamily="34" charset="-120"/>
              </a:rPr>
              <a:t>None</a:t>
            </a:r>
            <a:r>
              <a:rPr lang="en-US" sz="1000" b="1" dirty="0">
                <a:solidFill>
                  <a:srgbClr val="1C2330"/>
                </a:solidFill>
                <a:latin typeface="Calibri" pitchFamily="34" charset="0"/>
                <a:ea typeface="Calibri" pitchFamily="34" charset="-122"/>
                <a:cs typeface="Calibri" pitchFamily="34" charset="-120"/>
              </a:rPr>
              <a:t>   Logs: </a:t>
            </a:r>
            <a:r>
              <a:rPr lang="en-US" sz="1000" b="1" dirty="0">
                <a:solidFill>
                  <a:srgbClr val="5A6272"/>
                </a:solidFill>
                <a:latin typeface="Calibri" pitchFamily="34" charset="0"/>
                <a:ea typeface="Calibri" pitchFamily="34" charset="-122"/>
                <a:cs typeface="Calibri" pitchFamily="34" charset="-120"/>
              </a:rPr>
              <a:t>—</a:t>
            </a:r>
            <a:endParaRPr lang="en-US" sz="1000" dirty="0"/>
          </a:p>
        </p:txBody>
      </p:sp>
      <p:sp>
        <p:nvSpPr>
          <p:cNvPr id="76" name="Shape 74"/>
          <p:cNvSpPr/>
          <p:nvPr/>
        </p:nvSpPr>
        <p:spPr>
          <a:xfrm>
            <a:off x="548640" y="5824728"/>
            <a:ext cx="11094415" cy="576072"/>
          </a:xfrm>
          <a:prstGeom prst="rect">
            <a:avLst/>
          </a:prstGeom>
          <a:solidFill>
            <a:srgbClr val="EEF2FB"/>
          </a:solidFill>
          <a:ln w="15875">
            <a:solidFill>
              <a:srgbClr val="1E4FC0"/>
            </a:solidFill>
            <a:prstDash val="solid"/>
          </a:ln>
        </p:spPr>
        <p:txBody>
          <a:bodyPr/>
          <a:lstStyle/>
          <a:p>
            <a:endParaRPr lang="en-US"/>
          </a:p>
        </p:txBody>
      </p:sp>
      <p:sp>
        <p:nvSpPr>
          <p:cNvPr id="77" name="Text 75"/>
          <p:cNvSpPr txBox="1"/>
          <p:nvPr/>
        </p:nvSpPr>
        <p:spPr>
          <a:xfrm>
            <a:off x="685800" y="5998464"/>
            <a:ext cx="1828800" cy="237744"/>
          </a:xfrm>
          <a:prstGeom prst="rect">
            <a:avLst/>
          </a:prstGeom>
          <a:noFill/>
          <a:ln/>
        </p:spPr>
        <p:txBody>
          <a:bodyPr wrap="square" lIns="0" tIns="0" rIns="0" bIns="0" rtlCol="0" anchor="t"/>
          <a:lstStyle/>
          <a:p>
            <a:pPr marL="0" indent="0">
              <a:buNone/>
            </a:pPr>
            <a:r>
              <a:rPr lang="en-US" sz="850" b="1" kern="0" spc="300" dirty="0">
                <a:solidFill>
                  <a:srgbClr val="1E4FC0"/>
                </a:solidFill>
                <a:latin typeface="Calibri" pitchFamily="34" charset="0"/>
                <a:ea typeface="Calibri" pitchFamily="34" charset="-122"/>
                <a:cs typeface="Calibri" pitchFamily="34" charset="-120"/>
              </a:rPr>
              <a:t>BROKERED EGRESS</a:t>
            </a:r>
            <a:endParaRPr lang="en-US" sz="850" dirty="0"/>
          </a:p>
        </p:txBody>
      </p:sp>
      <p:sp>
        <p:nvSpPr>
          <p:cNvPr id="78" name="Shape 76"/>
          <p:cNvSpPr/>
          <p:nvPr/>
        </p:nvSpPr>
        <p:spPr>
          <a:xfrm>
            <a:off x="2377440" y="5907024"/>
            <a:ext cx="2211248" cy="411480"/>
          </a:xfrm>
          <a:prstGeom prst="rect">
            <a:avLst/>
          </a:prstGeom>
          <a:solidFill>
            <a:srgbClr val="FFFFFF"/>
          </a:solidFill>
          <a:ln w="9525">
            <a:solidFill>
              <a:srgbClr val="D3D8DF"/>
            </a:solidFill>
            <a:prstDash val="solid"/>
          </a:ln>
        </p:spPr>
        <p:txBody>
          <a:bodyPr/>
          <a:lstStyle/>
          <a:p>
            <a:endParaRPr lang="en-US"/>
          </a:p>
        </p:txBody>
      </p:sp>
      <p:sp>
        <p:nvSpPr>
          <p:cNvPr id="79" name="Text 77"/>
          <p:cNvSpPr txBox="1"/>
          <p:nvPr/>
        </p:nvSpPr>
        <p:spPr>
          <a:xfrm>
            <a:off x="2377440" y="5907024"/>
            <a:ext cx="2211248" cy="411480"/>
          </a:xfrm>
          <a:prstGeom prst="rect">
            <a:avLst/>
          </a:prstGeom>
          <a:noFill/>
          <a:ln/>
        </p:spPr>
        <p:txBody>
          <a:bodyPr wrap="square" lIns="0" tIns="0" rIns="0" bIns="0" rtlCol="0" anchor="ctr"/>
          <a:lstStyle/>
          <a:p>
            <a:pPr marL="0" indent="0" algn="ctr">
              <a:buNone/>
            </a:pPr>
            <a:r>
              <a:rPr lang="en-US" sz="1000" b="1" dirty="0">
                <a:solidFill>
                  <a:srgbClr val="1C2330"/>
                </a:solidFill>
                <a:latin typeface="Calibri" pitchFamily="34" charset="0"/>
                <a:ea typeface="Calibri" pitchFamily="34" charset="-122"/>
                <a:cs typeface="Calibri" pitchFamily="34" charset="-120"/>
              </a:rPr>
              <a:t>DataPower REST → Twilio, SFMC</a:t>
            </a:r>
            <a:endParaRPr lang="en-US" sz="1000" dirty="0"/>
          </a:p>
        </p:txBody>
      </p:sp>
      <p:sp>
        <p:nvSpPr>
          <p:cNvPr id="80" name="Shape 78"/>
          <p:cNvSpPr/>
          <p:nvPr/>
        </p:nvSpPr>
        <p:spPr>
          <a:xfrm>
            <a:off x="4698416" y="5907024"/>
            <a:ext cx="2211248" cy="411480"/>
          </a:xfrm>
          <a:prstGeom prst="rect">
            <a:avLst/>
          </a:prstGeom>
          <a:solidFill>
            <a:srgbClr val="FFFFFF"/>
          </a:solidFill>
          <a:ln w="9525">
            <a:solidFill>
              <a:srgbClr val="D3D8DF"/>
            </a:solidFill>
            <a:prstDash val="solid"/>
          </a:ln>
        </p:spPr>
        <p:txBody>
          <a:bodyPr/>
          <a:lstStyle/>
          <a:p>
            <a:endParaRPr lang="en-US"/>
          </a:p>
        </p:txBody>
      </p:sp>
      <p:sp>
        <p:nvSpPr>
          <p:cNvPr id="81" name="Text 79"/>
          <p:cNvSpPr txBox="1"/>
          <p:nvPr/>
        </p:nvSpPr>
        <p:spPr>
          <a:xfrm>
            <a:off x="4698416" y="5907024"/>
            <a:ext cx="2211248" cy="411480"/>
          </a:xfrm>
          <a:prstGeom prst="rect">
            <a:avLst/>
          </a:prstGeom>
          <a:noFill/>
          <a:ln/>
        </p:spPr>
        <p:txBody>
          <a:bodyPr wrap="square" lIns="0" tIns="0" rIns="0" bIns="0" rtlCol="0" anchor="ctr"/>
          <a:lstStyle/>
          <a:p>
            <a:pPr marL="0" indent="0" algn="ctr">
              <a:buNone/>
            </a:pPr>
            <a:r>
              <a:rPr lang="en-US" sz="1000" b="1" dirty="0">
                <a:solidFill>
                  <a:srgbClr val="1C2330"/>
                </a:solidFill>
                <a:latin typeface="Calibri" pitchFamily="34" charset="0"/>
                <a:ea typeface="Calibri" pitchFamily="34" charset="-122"/>
                <a:cs typeface="Calibri" pitchFamily="34" charset="-120"/>
              </a:rPr>
              <a:t>SFTP securefile → print vendors</a:t>
            </a:r>
            <a:endParaRPr lang="en-US" sz="1000" dirty="0"/>
          </a:p>
        </p:txBody>
      </p:sp>
      <p:sp>
        <p:nvSpPr>
          <p:cNvPr id="82" name="Shape 80"/>
          <p:cNvSpPr/>
          <p:nvPr/>
        </p:nvSpPr>
        <p:spPr>
          <a:xfrm>
            <a:off x="7019392" y="5907024"/>
            <a:ext cx="2211248" cy="411480"/>
          </a:xfrm>
          <a:prstGeom prst="rect">
            <a:avLst/>
          </a:prstGeom>
          <a:solidFill>
            <a:srgbClr val="FFFFFF"/>
          </a:solidFill>
          <a:ln w="9525">
            <a:solidFill>
              <a:srgbClr val="D3D8DF"/>
            </a:solidFill>
            <a:prstDash val="solid"/>
          </a:ln>
        </p:spPr>
        <p:txBody>
          <a:bodyPr/>
          <a:lstStyle/>
          <a:p>
            <a:endParaRPr lang="en-US"/>
          </a:p>
        </p:txBody>
      </p:sp>
      <p:sp>
        <p:nvSpPr>
          <p:cNvPr id="83" name="Text 81"/>
          <p:cNvSpPr txBox="1"/>
          <p:nvPr/>
        </p:nvSpPr>
        <p:spPr>
          <a:xfrm>
            <a:off x="7019392" y="5907024"/>
            <a:ext cx="2211248" cy="411480"/>
          </a:xfrm>
          <a:prstGeom prst="rect">
            <a:avLst/>
          </a:prstGeom>
          <a:noFill/>
          <a:ln/>
        </p:spPr>
        <p:txBody>
          <a:bodyPr wrap="square" lIns="0" tIns="0" rIns="0" bIns="0" rtlCol="0" anchor="ctr"/>
          <a:lstStyle/>
          <a:p>
            <a:pPr marL="0" indent="0" algn="ctr">
              <a:buNone/>
            </a:pPr>
            <a:r>
              <a:rPr lang="en-US" sz="1000" b="1" dirty="0">
                <a:solidFill>
                  <a:srgbClr val="1C2330"/>
                </a:solidFill>
                <a:latin typeface="Calibri" pitchFamily="34" charset="0"/>
                <a:ea typeface="Calibri" pitchFamily="34" charset="-122"/>
                <a:cs typeface="Calibri" pitchFamily="34" charset="-120"/>
              </a:rPr>
              <a:t>lookups.twilio.com</a:t>
            </a:r>
            <a:endParaRPr lang="en-US" sz="1000" dirty="0"/>
          </a:p>
        </p:txBody>
      </p:sp>
      <p:sp>
        <p:nvSpPr>
          <p:cNvPr id="84" name="Shape 82"/>
          <p:cNvSpPr/>
          <p:nvPr/>
        </p:nvSpPr>
        <p:spPr>
          <a:xfrm>
            <a:off x="9340367" y="5907024"/>
            <a:ext cx="2211248" cy="411480"/>
          </a:xfrm>
          <a:prstGeom prst="rect">
            <a:avLst/>
          </a:prstGeom>
          <a:solidFill>
            <a:srgbClr val="FFFFFF"/>
          </a:solidFill>
          <a:ln w="9525">
            <a:solidFill>
              <a:srgbClr val="D3D8DF"/>
            </a:solidFill>
            <a:prstDash val="solid"/>
          </a:ln>
        </p:spPr>
        <p:txBody>
          <a:bodyPr/>
          <a:lstStyle/>
          <a:p>
            <a:endParaRPr lang="en-US"/>
          </a:p>
        </p:txBody>
      </p:sp>
      <p:sp>
        <p:nvSpPr>
          <p:cNvPr id="85" name="Text 83"/>
          <p:cNvSpPr txBox="1"/>
          <p:nvPr/>
        </p:nvSpPr>
        <p:spPr>
          <a:xfrm>
            <a:off x="9340367" y="5907024"/>
            <a:ext cx="2211248" cy="411480"/>
          </a:xfrm>
          <a:prstGeom prst="rect">
            <a:avLst/>
          </a:prstGeom>
          <a:noFill/>
          <a:ln/>
        </p:spPr>
        <p:txBody>
          <a:bodyPr wrap="square" lIns="0" tIns="0" rIns="0" bIns="0" rtlCol="0" anchor="ctr"/>
          <a:lstStyle/>
          <a:p>
            <a:pPr marL="0" indent="0" algn="ctr">
              <a:buNone/>
            </a:pPr>
            <a:r>
              <a:rPr lang="en-US" sz="1000" b="1" dirty="0">
                <a:solidFill>
                  <a:srgbClr val="1C2330"/>
                </a:solidFill>
                <a:latin typeface="Calibri" pitchFamily="34" charset="0"/>
                <a:ea typeface="Calibri" pitchFamily="34" charset="-122"/>
                <a:cs typeface="Calibri" pitchFamily="34" charset="-120"/>
              </a:rPr>
              <a:t>Bloomreach CMS (MMS images)</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TotalTime>
  <Words>3387</Words>
  <Application>Microsoft Office PowerPoint</Application>
  <PresentationFormat>Widescreen</PresentationFormat>
  <Paragraphs>730</Paragraphs>
  <Slides>18</Slides>
  <Notes>18</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GuideWell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CCM Architecture Deep Dive</dc:title>
  <dc:subject>PptxGenJS Presentation</dc:subject>
  <dc:creator>PptxGenJS</dc:creator>
  <cp:lastModifiedBy>Prashanth P</cp:lastModifiedBy>
  <cp:revision>36</cp:revision>
  <dcterms:created xsi:type="dcterms:W3CDTF">2026-09-27T21:58:09Z</dcterms:created>
  <dcterms:modified xsi:type="dcterms:W3CDTF">2026-09-28T00:26:30Z</dcterms:modified>
</cp:coreProperties>
</file>