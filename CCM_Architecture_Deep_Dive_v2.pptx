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96273"/>
                </a:solidFill>
                <a:latin typeface="Calibri"/>
              </a:defRPr>
            </a:pPr>
            <a:r>
              <a:rPr sz="1200" b="0" i="0" u="none" strike="noStrike">
                <a:solidFill>
                  <a:srgbClr val="596273"/>
                </a:solidFill>
                <a:latin typeface="Calibri"/>
              </a:rPr>
              <a:t>Top 10 sources by channel, Jan 1 – Sep 2, 2025</a:t>
            </a:r>
          </a:p>
        </c:rich>
      </c:tx>
      <c:layout/>
      <c:overlay val="0"/>
    </c:title>
    <c:autoTitleDeleted val="0"/>
    <c:plotArea>
      <c:layout/>
      <c:barChart>
        <c:barDir val="bar"/>
        <c:grouping val="stacked"/>
        <c:varyColors val="0"/>
        <c:ser>
          <c:idx val="0"/>
          <c:order val="0"/>
          <c:tx>
            <c:strRef>
              <c:f>Sheet1!$B$1</c:f>
              <c:strCache>
                <c:ptCount val="1"/>
                <c:pt idx="0">
                  <c:v>Email</c:v>
                </c:pt>
              </c:strCache>
            </c:strRef>
          </c:tx>
          <c:spPr>
            <a:solidFill>
              <a:srgbClr val="1F4FB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Sheet1!$B$2:$B$11</c:f>
              <c:numCache>
                <c:formatCode>General</c:formatCode>
                <c:ptCount val="10"/>
                <c:pt idx="0">
                  <c:v>0</c:v>
                </c:pt>
                <c:pt idx="1">
                  <c:v>1587</c:v>
                </c:pt>
                <c:pt idx="2">
                  <c:v>0</c:v>
                </c:pt>
                <c:pt idx="3">
                  <c:v>544878</c:v>
                </c:pt>
                <c:pt idx="4">
                  <c:v>71157</c:v>
                </c:pt>
                <c:pt idx="5">
                  <c:v>711096</c:v>
                </c:pt>
                <c:pt idx="6">
                  <c:v>1089967</c:v>
                </c:pt>
                <c:pt idx="7">
                  <c:v>1739803</c:v>
                </c:pt>
                <c:pt idx="8">
                  <c:v>1250101</c:v>
                </c:pt>
                <c:pt idx="9">
                  <c:v>12590612</c:v>
                </c:pt>
              </c:numCache>
            </c:numRef>
          </c:val>
        </c:ser>
        <c:ser>
          <c:idx val="1"/>
          <c:order val="1"/>
          <c:tx>
            <c:strRef>
              <c:f>Sheet1!$C$1</c:f>
              <c:strCache>
                <c:ptCount val="1"/>
                <c:pt idx="0">
                  <c:v>SMS</c:v>
                </c:pt>
              </c:strCache>
            </c:strRef>
          </c:tx>
          <c:spPr>
            <a:solidFill>
              <a:srgbClr val="E861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Sheet1!$C$2:$C$11</c:f>
              <c:numCache>
                <c:formatCode>General</c:formatCode>
                <c:ptCount val="10"/>
                <c:pt idx="0">
                  <c:v>207848</c:v>
                </c:pt>
                <c:pt idx="1">
                  <c:v>327854</c:v>
                </c:pt>
                <c:pt idx="2">
                  <c:v>0</c:v>
                </c:pt>
                <c:pt idx="3">
                  <c:v>0</c:v>
                </c:pt>
                <c:pt idx="4">
                  <c:v>21904</c:v>
                </c:pt>
                <c:pt idx="5">
                  <c:v>11218</c:v>
                </c:pt>
                <c:pt idx="6">
                  <c:v>0</c:v>
                </c:pt>
                <c:pt idx="7">
                  <c:v>0</c:v>
                </c:pt>
                <c:pt idx="8">
                  <c:v>2693983</c:v>
                </c:pt>
                <c:pt idx="9">
                  <c:v>1097257</c:v>
                </c:pt>
              </c:numCache>
            </c:numRef>
          </c:val>
        </c:ser>
        <c:ser>
          <c:idx val="2"/>
          <c:order val="2"/>
          <c:tx>
            <c:strRef>
              <c:f>Sheet1!$D$1</c:f>
              <c:strCache>
                <c:ptCount val="1"/>
                <c:pt idx="0">
                  <c:v>Print</c:v>
                </c:pt>
              </c:strCache>
            </c:strRef>
          </c:tx>
          <c:spPr>
            <a:solidFill>
              <a:srgbClr val="0F1B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Sheet1!$D$2:$D$11</c:f>
              <c:numCache>
                <c:formatCode>General</c:formatCode>
                <c:ptCount val="10"/>
                <c:pt idx="0">
                  <c:v>0</c:v>
                </c:pt>
                <c:pt idx="1">
                  <c:v>16824</c:v>
                </c:pt>
                <c:pt idx="2">
                  <c:v>544145</c:v>
                </c:pt>
                <c:pt idx="3">
                  <c:v>0</c:v>
                </c:pt>
                <c:pt idx="4">
                  <c:v>448316</c:v>
                </c:pt>
                <c:pt idx="5">
                  <c:v>88495</c:v>
                </c:pt>
                <c:pt idx="6">
                  <c:v>0</c:v>
                </c:pt>
                <c:pt idx="7">
                  <c:v>0</c:v>
                </c:pt>
                <c:pt idx="8">
                  <c:v>0</c:v>
                </c:pt>
                <c:pt idx="9">
                  <c:v>0</c:v>
                </c:pt>
              </c:numCache>
            </c:numRef>
          </c:val>
        </c:ser>
        <c:ser>
          <c:idx val="3"/>
          <c:order val="3"/>
          <c:tx>
            <c:strRef>
              <c:f>Sheet1!$E$1</c:f>
              <c:strCache>
                <c:ptCount val="1"/>
                <c:pt idx="0">
                  <c:v>Digital</c:v>
                </c:pt>
              </c:strCache>
            </c:strRef>
          </c:tx>
          <c:spPr>
            <a:solidFill>
              <a:srgbClr val="8FB3E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Sheet1!$E$2:$E$11</c:f>
              <c:numCache>
                <c:formatCode>General</c:formatCode>
                <c:ptCount val="10"/>
                <c:pt idx="0">
                  <c:v>0</c:v>
                </c:pt>
                <c:pt idx="1">
                  <c:v>0</c:v>
                </c:pt>
                <c:pt idx="2">
                  <c:v>0</c:v>
                </c:pt>
                <c:pt idx="3">
                  <c:v>0</c:v>
                </c:pt>
                <c:pt idx="4">
                  <c:v>93064</c:v>
                </c:pt>
                <c:pt idx="5">
                  <c:v>0</c:v>
                </c:pt>
                <c:pt idx="6">
                  <c:v>0</c:v>
                </c:pt>
                <c:pt idx="7">
                  <c:v>0</c:v>
                </c:pt>
                <c:pt idx="8">
                  <c:v>0</c:v>
                </c:pt>
                <c:pt idx="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33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7EE"/>
              </a:solidFill>
              <a:prstDash val="solid"/>
              <a:round/>
            </a:ln>
          </c:spPr>
        </c:majorGridlines>
        <c:numFmt formatCode="0.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62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deck consolidating CCM vision, inventory, architecture and operating data. 2025 volumes are as of September 2,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and 3 are written for leadership; section 2 is the technical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for leadership. Volume figures are as of Sep 2, 2025 from the channel report. 36 = systems and communication programs shown on the Systems Integration view. 442 templates is the full Client Letter migration scope across English and Spanish.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rules: UI apps are anything a person logs into. Services are OpenShift deployments with routes (duplicate rejected routes not counted) plus the SMS/MMS response handler. API endpoints are the logical endpoints named in the design diagrams. Databases are the four Inspire SQL Server databases plus P360 and GWDP SailFish. Inspire servers are P405 to P417.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apps and services are taken from the OpenShift route listings for ccm-dcs-prod and ccm-preprocessor-prod plus the physical architecture. The rejected duplicate ccm-preprocessor-services route in ccm-dcs-prod is not counted as a separate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 and database names are from the physical architecture diagram (2019–2020). Validate before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Recreated from the IT Contact Platform high-level overview. Orange outlines mark where CCM appears: preference-driven communications, shared services, the API gateway, event bus, systems of record, reusable iFrame components, transactional data and the communication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imperatives are Templates, Integration and Maintenance. The common thread is business self-service: onboarding and maintaining communications with minimal IT impact, and delivering them the way the member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 groups. Note the prospect-to-member transition after the binder payment can take up to 24 hours, which matters for timing of welcome communications. Delegate access is deliberately limited and does not apply to ASO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are the ways communications enter CCM. Recon, URL shortener and reporting are the shared services every communication benefits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 Dashboard combines the Recon UI pages and the dashboard functions from the functional overview: jobs, transactions, reprint, URL shortener and Power BI reports, plus suppression, template directory, contracts and Content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section. Slide 9 is the single consolidated view; slides 10 to 19 drill into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CCM view in the same layered pattern as the IT Contact Platform overview. Read top-down: how customers are reached, how access is controlled, what users see, which services do the work, where composition happens and where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digital deployment topology view. OpenShift counts are distinct deployed services per project from the route listings; server counts are from the physical architecture. SMS-HANDLER-PROD is named in the physical architecture; its routes were not in the screenshots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 systems choose one of three integration methods. All traffic passes the DataPower gateway, is validated and enriched with Preferences 360 and GWDP/CIP data, then composed in Inspire. Output goes to vendors per channel and a PDF copy is archived. The bottom lane is the feedback loop: vendor receipts land in Recon, Recon Services create touchpoints, Kafka tells source systems what was sent, and the business sees it all in the Recon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method: if a person composes the letter, use on-demand. If a system event triggers a single message, use the API. If the same message goes to many recipients on a schedule, use batch. The "current users" row reflects the architecture materials and volume report; confirm per program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from the real-time architecture diagram (steps 1 to 11b). Validation failures stop at step 3 and are returned to the calling application. The same delivery and feedback steps 6 to 10 apply to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uses the same Inspire, delivery and Recon path as real-time. The differences are orchestration (Control-M), enrichment in bulk from P360 and GWDP SailFish, and file-based rejection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confirmed Option 2 design. The source app never talks to Inspire directly; it hands data to the reusable UI, which handles template selection, entitlement filtering and the redirect into Inspire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vendor traffic crosses the Florida Blue network boundary through DataPower (REST) or the securefile SFTP host. Delivery status for every channel ends up in Recon, which is what powers suppression checks, reprints and the Power BI audit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users create short URLs in Recon Dashboard; applications such as Smart IVR call the same API through DataPower. Generated links are handed to sourcing applications or embedded in SMS templates. 62 to the 7th power is roughly 3.5 trillion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Flagged as required in the source material. Lane A answers eligibility; the response returns to Sales Connect at step 5. Lane B is the normal SMS path with a handshake response at 7c. The external entry point is ccm preprocessor-ext on DataPower/APIC; the backend is ccmpreprocessorservices on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status is taken from the legend on the physical architecture diagram. The most material gap is the customer-facing API tier on OpenShift: no alerts and insufficient logging. The diagram is several years old, so treat this as a baseline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 are abbreviated; all end in .apps.ose4-prod.bcbsfl.com unless shown as bcbsfl.com vanity names. The rejected routes are most likely host conflicts rather than outages, since the same hosts are accepted on other routes. Validate with the platform team before deleting.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controls are drawn from the on-demand, URL shortener and SMS lookup designs. Gaps to watch are observability on the OpenShift tier (see slide 23), not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leadership-level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reconcile exactly to the channel figures in the source report. 28 source programs contributed volume; the other 18 add up to about 1.3% of the total. Full detail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are the plan of record from program materials. As of this presentation, confirm the decommission status against the end-of-2025 milestone and how many of the 168 potential 2026 templates are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observations come directly from the source materials in this deck. Owners and dates should be assigned in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are defined as used in CCM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Customer Communications Delivered by Channel, year 2025 as of September 2, 2025. Sorted by total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FB8"/>
        </a:solidFill>
      </p:bgPr>
    </p:bg>
    <p:spTree>
      <p:nvGrpSpPr>
        <p:cNvPr id="1" name=""/>
        <p:cNvGrpSpPr/>
        <p:nvPr/>
      </p:nvGrpSpPr>
      <p:grpSpPr>
        <a:xfrm>
          <a:off x="0" y="0"/>
          <a:ext cx="0" cy="0"/>
          <a:chOff x="0" y="0"/>
          <a:chExt cx="0" cy="0"/>
        </a:xfrm>
      </p:grpSpPr>
      <p:sp>
        <p:nvSpPr>
          <p:cNvPr id="2" name="Text 0"/>
          <p:cNvSpPr txBox="1"/>
          <p:nvPr/>
        </p:nvSpPr>
        <p:spPr>
          <a:xfrm>
            <a:off x="1097280" y="2651760"/>
            <a:ext cx="10515600" cy="365760"/>
          </a:xfrm>
          <a:prstGeom prst="rect">
            <a:avLst/>
          </a:prstGeom>
          <a:noFill/>
          <a:ln/>
        </p:spPr>
        <p:txBody>
          <a:bodyPr wrap="square" lIns="0" tIns="0" rIns="0" bIns="0" rtlCol="0" anchor="t"/>
          <a:lstStyle/>
          <a:p>
            <a:pPr indent="0" marL="0">
              <a:buNone/>
            </a:pPr>
            <a:r>
              <a:rPr lang="en-US" sz="1600" b="1" spc="600" kern="0" dirty="0">
                <a:solidFill>
                  <a:srgbClr val="FFD84D"/>
                </a:solidFill>
                <a:latin typeface="Calibri" pitchFamily="34" charset="0"/>
                <a:ea typeface="Calibri" pitchFamily="34" charset="-122"/>
                <a:cs typeface="Calibri" pitchFamily="34" charset="-120"/>
              </a:rPr>
              <a:t>CUSTOMER COMMUNICATION MANAGEMENT (CCM) PLATFORM</a:t>
            </a:r>
            <a:endParaRPr lang="en-US" sz="1600" dirty="0"/>
          </a:p>
        </p:txBody>
      </p:sp>
      <p:sp>
        <p:nvSpPr>
          <p:cNvPr id="3" name="Text 1"/>
          <p:cNvSpPr txBox="1"/>
          <p:nvPr/>
        </p:nvSpPr>
        <p:spPr>
          <a:xfrm>
            <a:off x="1097280" y="3063240"/>
            <a:ext cx="10515600" cy="109728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Architecture Deep Dive</a:t>
            </a:r>
            <a:endParaRPr lang="en-US" sz="6000" dirty="0"/>
          </a:p>
        </p:txBody>
      </p:sp>
      <p:sp>
        <p:nvSpPr>
          <p:cNvPr id="4" name="Text 2"/>
          <p:cNvSpPr txBox="1"/>
          <p:nvPr/>
        </p:nvSpPr>
        <p:spPr>
          <a:xfrm>
            <a:off x="1097280" y="4297680"/>
            <a:ext cx="10515600" cy="365760"/>
          </a:xfrm>
          <a:prstGeom prst="rect">
            <a:avLst/>
          </a:prstGeom>
          <a:noFill/>
          <a:ln/>
        </p:spPr>
        <p:txBody>
          <a:bodyPr wrap="square" lIns="0" tIns="0" rIns="0" bIns="0" rtlCol="0" anchor="t"/>
          <a:lstStyle/>
          <a:p>
            <a:pPr indent="0" marL="0">
              <a:buNone/>
            </a:pPr>
            <a:r>
              <a:rPr lang="en-US" sz="1400" dirty="0">
                <a:solidFill>
                  <a:srgbClr val="DCE6FA"/>
                </a:solidFill>
                <a:latin typeface="Calibri" pitchFamily="34" charset="0"/>
                <a:ea typeface="Calibri" pitchFamily="34" charset="-122"/>
                <a:cs typeface="Calibri" pitchFamily="34" charset="-120"/>
              </a:rPr>
              <a:t>Platform inventory, integration patterns and operations  |  Leadership and team reference  |  GuideWell internal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ORIENTATION</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How this deck is organized</a:t>
            </a:r>
            <a:endParaRPr lang="en-US" sz="2700" dirty="0"/>
          </a:p>
        </p:txBody>
      </p:sp>
      <p:sp>
        <p:nvSpPr>
          <p:cNvPr id="5" name="Text 3"/>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6" name="Text 4"/>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508760"/>
            <a:ext cx="3515258" cy="4663440"/>
          </a:xfrm>
          <a:prstGeom prst="rect">
            <a:avLst/>
          </a:prstGeom>
          <a:solidFill>
            <a:srgbClr val="EEF0F3"/>
          </a:solidFill>
          <a:ln/>
        </p:spPr>
      </p:sp>
      <p:sp>
        <p:nvSpPr>
          <p:cNvPr id="8" name="Shape 6"/>
          <p:cNvSpPr/>
          <p:nvPr/>
        </p:nvSpPr>
        <p:spPr>
          <a:xfrm>
            <a:off x="548640" y="1508760"/>
            <a:ext cx="3515258" cy="54864"/>
          </a:xfrm>
          <a:prstGeom prst="rect">
            <a:avLst/>
          </a:prstGeom>
          <a:solidFill>
            <a:srgbClr val="1F4FB8"/>
          </a:solidFill>
          <a:ln/>
        </p:spPr>
      </p:sp>
      <p:sp>
        <p:nvSpPr>
          <p:cNvPr id="9" name="Shape 7"/>
          <p:cNvSpPr/>
          <p:nvPr/>
        </p:nvSpPr>
        <p:spPr>
          <a:xfrm>
            <a:off x="548640" y="1508760"/>
            <a:ext cx="54864" cy="4663440"/>
          </a:xfrm>
          <a:prstGeom prst="rect">
            <a:avLst/>
          </a:prstGeom>
          <a:solidFill>
            <a:srgbClr val="1F4FB8"/>
          </a:solidFill>
          <a:ln/>
        </p:spPr>
      </p:sp>
      <p:sp>
        <p:nvSpPr>
          <p:cNvPr id="10" name="Text 8"/>
          <p:cNvSpPr txBox="1"/>
          <p:nvPr/>
        </p:nvSpPr>
        <p:spPr>
          <a:xfrm>
            <a:off x="713232" y="1600200"/>
            <a:ext cx="3240938" cy="237744"/>
          </a:xfrm>
          <a:prstGeom prst="rect">
            <a:avLst/>
          </a:prstGeom>
          <a:noFill/>
          <a:ln/>
        </p:spPr>
        <p:txBody>
          <a:bodyPr wrap="square" lIns="0" tIns="0" rIns="0" bIns="0" rtlCol="0" anchor="t"/>
          <a:lstStyle/>
          <a:p>
            <a:pPr indent="0" marL="0">
              <a:buNone/>
            </a:pPr>
            <a:r>
              <a:rPr lang="en-US" sz="900" b="1" spc="300" kern="0" dirty="0">
                <a:solidFill>
                  <a:srgbClr val="1F4FB8"/>
                </a:solidFill>
                <a:latin typeface="Calibri" pitchFamily="34" charset="0"/>
                <a:ea typeface="Calibri" pitchFamily="34" charset="-122"/>
                <a:cs typeface="Calibri" pitchFamily="34" charset="-120"/>
              </a:rPr>
              <a:t>SECTION 01</a:t>
            </a:r>
            <a:endParaRPr lang="en-US" sz="900" dirty="0"/>
          </a:p>
        </p:txBody>
      </p:sp>
      <p:sp>
        <p:nvSpPr>
          <p:cNvPr id="11" name="Text 9"/>
          <p:cNvSpPr txBox="1"/>
          <p:nvPr/>
        </p:nvSpPr>
        <p:spPr>
          <a:xfrm>
            <a:off x="822960" y="1828800"/>
            <a:ext cx="1371600" cy="640080"/>
          </a:xfrm>
          <a:prstGeom prst="rect">
            <a:avLst/>
          </a:prstGeom>
          <a:noFill/>
          <a:ln/>
        </p:spPr>
        <p:txBody>
          <a:bodyPr wrap="square" lIns="0" tIns="0" rIns="0" bIns="0" rtlCol="0" anchor="t"/>
          <a:lstStyle/>
          <a:p>
            <a:pPr indent="0" marL="0">
              <a:buNone/>
            </a:pPr>
            <a:r>
              <a:rPr lang="en-US" sz="3600" b="1" dirty="0">
                <a:solidFill>
                  <a:srgbClr val="1F4FB8"/>
                </a:solidFill>
                <a:latin typeface="Calibri" pitchFamily="34" charset="0"/>
                <a:ea typeface="Calibri" pitchFamily="34" charset="-122"/>
                <a:cs typeface="Calibri" pitchFamily="34" charset="-120"/>
              </a:rPr>
              <a:t>01</a:t>
            </a:r>
            <a:endParaRPr lang="en-US" sz="3600" dirty="0"/>
          </a:p>
        </p:txBody>
      </p:sp>
      <p:sp>
        <p:nvSpPr>
          <p:cNvPr id="12" name="Text 10"/>
          <p:cNvSpPr txBox="1"/>
          <p:nvPr/>
        </p:nvSpPr>
        <p:spPr>
          <a:xfrm>
            <a:off x="822960" y="2487168"/>
            <a:ext cx="2966618" cy="365760"/>
          </a:xfrm>
          <a:prstGeom prst="rect">
            <a:avLst/>
          </a:prstGeom>
          <a:noFill/>
          <a:ln/>
        </p:spPr>
        <p:txBody>
          <a:bodyPr wrap="square" lIns="0" tIns="0" rIns="0" bIns="0" rtlCol="0" anchor="t"/>
          <a:lstStyle/>
          <a:p>
            <a:pPr indent="0" marL="0">
              <a:buNone/>
            </a:pPr>
            <a:r>
              <a:rPr lang="en-US" sz="1900" b="1" dirty="0">
                <a:solidFill>
                  <a:srgbClr val="1C2330"/>
                </a:solidFill>
                <a:latin typeface="Calibri" pitchFamily="34" charset="0"/>
                <a:ea typeface="Calibri" pitchFamily="34" charset="-122"/>
                <a:cs typeface="Calibri" pitchFamily="34" charset="-120"/>
              </a:rPr>
              <a:t>Platform overview</a:t>
            </a:r>
            <a:endParaRPr lang="en-US" sz="1900" dirty="0"/>
          </a:p>
        </p:txBody>
      </p:sp>
      <p:sp>
        <p:nvSpPr>
          <p:cNvPr id="13" name="Text 11"/>
          <p:cNvSpPr txBox="1"/>
          <p:nvPr/>
        </p:nvSpPr>
        <p:spPr>
          <a:xfrm>
            <a:off x="822960" y="2834640"/>
            <a:ext cx="2966618" cy="274320"/>
          </a:xfrm>
          <a:prstGeom prst="rect">
            <a:avLst/>
          </a:prstGeom>
          <a:noFill/>
          <a:ln/>
        </p:spPr>
        <p:txBody>
          <a:bodyPr wrap="square" lIns="0" tIns="0" rIns="0" bIns="0" rtlCol="0" anchor="t"/>
          <a:lstStyle/>
          <a:p>
            <a:pPr indent="0" marL="0">
              <a:buNone/>
            </a:pPr>
            <a:r>
              <a:rPr lang="en-US" sz="1100" i="1" dirty="0">
                <a:solidFill>
                  <a:srgbClr val="596273"/>
                </a:solidFill>
                <a:latin typeface="Calibri" pitchFamily="34" charset="0"/>
                <a:ea typeface="Calibri" pitchFamily="34" charset="-122"/>
                <a:cs typeface="Calibri" pitchFamily="34" charset="-120"/>
              </a:rPr>
              <a:t>Leadership and all audiences</a:t>
            </a:r>
            <a:endParaRPr lang="en-US" sz="1100" dirty="0"/>
          </a:p>
        </p:txBody>
      </p:sp>
      <p:sp>
        <p:nvSpPr>
          <p:cNvPr id="14" name="Shape 12"/>
          <p:cNvSpPr/>
          <p:nvPr/>
        </p:nvSpPr>
        <p:spPr>
          <a:xfrm>
            <a:off x="822960" y="3337560"/>
            <a:ext cx="2966618" cy="420624"/>
          </a:xfrm>
          <a:prstGeom prst="rect">
            <a:avLst/>
          </a:prstGeom>
          <a:solidFill>
            <a:srgbClr val="FFFFFF"/>
          </a:solidFill>
          <a:ln w="9525">
            <a:solidFill>
              <a:srgbClr val="CCD3DD"/>
            </a:solidFill>
            <a:prstDash val="solid"/>
          </a:ln>
        </p:spPr>
      </p:sp>
      <p:sp>
        <p:nvSpPr>
          <p:cNvPr id="15" name="Text 13"/>
          <p:cNvSpPr txBox="1"/>
          <p:nvPr/>
        </p:nvSpPr>
        <p:spPr>
          <a:xfrm>
            <a:off x="932688" y="3337560"/>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What CCM delivers today</a:t>
            </a:r>
            <a:endParaRPr lang="en-US" sz="1150" dirty="0"/>
          </a:p>
        </p:txBody>
      </p:sp>
      <p:sp>
        <p:nvSpPr>
          <p:cNvPr id="16" name="Text 14"/>
          <p:cNvSpPr txBox="1"/>
          <p:nvPr/>
        </p:nvSpPr>
        <p:spPr>
          <a:xfrm>
            <a:off x="3058058" y="3337560"/>
            <a:ext cx="640080" cy="420624"/>
          </a:xfrm>
          <a:prstGeom prst="rect">
            <a:avLst/>
          </a:prstGeom>
          <a:noFill/>
          <a:ln/>
        </p:spPr>
        <p:txBody>
          <a:bodyPr wrap="square" lIns="0" tIns="0" rIns="0" bIns="0" rtlCol="0" anchor="ctr"/>
          <a:lstStyle/>
          <a:p>
            <a:pPr algn="r" indent="0" marL="0">
              <a:buNone/>
            </a:pPr>
            <a:r>
              <a:rPr lang="en-US" sz="1200" b="1" dirty="0">
                <a:solidFill>
                  <a:srgbClr val="1F4FB8"/>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822960" y="3867912"/>
            <a:ext cx="2966618" cy="420624"/>
          </a:xfrm>
          <a:prstGeom prst="rect">
            <a:avLst/>
          </a:prstGeom>
          <a:solidFill>
            <a:srgbClr val="FFFFFF"/>
          </a:solidFill>
          <a:ln w="9525">
            <a:solidFill>
              <a:srgbClr val="CCD3DD"/>
            </a:solidFill>
            <a:prstDash val="solid"/>
          </a:ln>
        </p:spPr>
      </p:sp>
      <p:sp>
        <p:nvSpPr>
          <p:cNvPr id="18" name="Text 16"/>
          <p:cNvSpPr txBox="1"/>
          <p:nvPr/>
        </p:nvSpPr>
        <p:spPr>
          <a:xfrm>
            <a:off x="932688" y="3867912"/>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Platform inventory</a:t>
            </a:r>
            <a:endParaRPr lang="en-US" sz="1150" dirty="0"/>
          </a:p>
        </p:txBody>
      </p:sp>
      <p:sp>
        <p:nvSpPr>
          <p:cNvPr id="19" name="Text 17"/>
          <p:cNvSpPr txBox="1"/>
          <p:nvPr/>
        </p:nvSpPr>
        <p:spPr>
          <a:xfrm>
            <a:off x="3058058" y="3867912"/>
            <a:ext cx="640080" cy="420624"/>
          </a:xfrm>
          <a:prstGeom prst="rect">
            <a:avLst/>
          </a:prstGeom>
          <a:noFill/>
          <a:ln/>
        </p:spPr>
        <p:txBody>
          <a:bodyPr wrap="square" lIns="0" tIns="0" rIns="0" bIns="0" rtlCol="0" anchor="ctr"/>
          <a:lstStyle/>
          <a:p>
            <a:pPr algn="r" indent="0" marL="0">
              <a:buNone/>
            </a:pPr>
            <a:r>
              <a:rPr lang="en-US" sz="1200" b="1" dirty="0">
                <a:solidFill>
                  <a:srgbClr val="1F4FB8"/>
                </a:solidFill>
                <a:latin typeface="Calibri" pitchFamily="34" charset="0"/>
                <a:ea typeface="Calibri" pitchFamily="34" charset="-122"/>
                <a:cs typeface="Calibri" pitchFamily="34" charset="-120"/>
              </a:rPr>
              <a:t>4–6</a:t>
            </a:r>
            <a:endParaRPr lang="en-US" sz="1200" dirty="0"/>
          </a:p>
        </p:txBody>
      </p:sp>
      <p:sp>
        <p:nvSpPr>
          <p:cNvPr id="20" name="Shape 18"/>
          <p:cNvSpPr/>
          <p:nvPr/>
        </p:nvSpPr>
        <p:spPr>
          <a:xfrm>
            <a:off x="822960" y="4398264"/>
            <a:ext cx="2966618" cy="420624"/>
          </a:xfrm>
          <a:prstGeom prst="rect">
            <a:avLst/>
          </a:prstGeom>
          <a:solidFill>
            <a:srgbClr val="FFFFFF"/>
          </a:solidFill>
          <a:ln w="9525">
            <a:solidFill>
              <a:srgbClr val="CCD3DD"/>
            </a:solidFill>
            <a:prstDash val="solid"/>
          </a:ln>
        </p:spPr>
      </p:sp>
      <p:sp>
        <p:nvSpPr>
          <p:cNvPr id="21" name="Text 19"/>
          <p:cNvSpPr txBox="1"/>
          <p:nvPr/>
        </p:nvSpPr>
        <p:spPr>
          <a:xfrm>
            <a:off x="932688" y="4398264"/>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Where CCM fits in IT Contact</a:t>
            </a:r>
            <a:endParaRPr lang="en-US" sz="1150" dirty="0"/>
          </a:p>
        </p:txBody>
      </p:sp>
      <p:sp>
        <p:nvSpPr>
          <p:cNvPr id="22" name="Text 20"/>
          <p:cNvSpPr txBox="1"/>
          <p:nvPr/>
        </p:nvSpPr>
        <p:spPr>
          <a:xfrm>
            <a:off x="3058058" y="4398264"/>
            <a:ext cx="640080" cy="420624"/>
          </a:xfrm>
          <a:prstGeom prst="rect">
            <a:avLst/>
          </a:prstGeom>
          <a:noFill/>
          <a:ln/>
        </p:spPr>
        <p:txBody>
          <a:bodyPr wrap="square" lIns="0" tIns="0" rIns="0" bIns="0" rtlCol="0" anchor="ctr"/>
          <a:lstStyle/>
          <a:p>
            <a:pPr algn="r" indent="0" marL="0">
              <a:buNone/>
            </a:pPr>
            <a:r>
              <a:rPr lang="en-US" sz="1200" b="1" dirty="0">
                <a:solidFill>
                  <a:srgbClr val="1F4FB8"/>
                </a:solidFill>
                <a:latin typeface="Calibri" pitchFamily="34" charset="0"/>
                <a:ea typeface="Calibri" pitchFamily="34" charset="-122"/>
                <a:cs typeface="Calibri" pitchFamily="34" charset="-120"/>
              </a:rPr>
              <a:t>7</a:t>
            </a:r>
            <a:endParaRPr lang="en-US" sz="1200" dirty="0"/>
          </a:p>
        </p:txBody>
      </p:sp>
      <p:sp>
        <p:nvSpPr>
          <p:cNvPr id="23" name="Shape 21"/>
          <p:cNvSpPr/>
          <p:nvPr/>
        </p:nvSpPr>
        <p:spPr>
          <a:xfrm>
            <a:off x="822960" y="4928616"/>
            <a:ext cx="2966618" cy="420624"/>
          </a:xfrm>
          <a:prstGeom prst="rect">
            <a:avLst/>
          </a:prstGeom>
          <a:solidFill>
            <a:srgbClr val="FFFFFF"/>
          </a:solidFill>
          <a:ln w="9525">
            <a:solidFill>
              <a:srgbClr val="CCD3DD"/>
            </a:solidFill>
            <a:prstDash val="solid"/>
          </a:ln>
        </p:spPr>
      </p:sp>
      <p:sp>
        <p:nvSpPr>
          <p:cNvPr id="24" name="Text 22"/>
          <p:cNvSpPr txBox="1"/>
          <p:nvPr/>
        </p:nvSpPr>
        <p:spPr>
          <a:xfrm>
            <a:off x="932688" y="4928616"/>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Vision and audiences</a:t>
            </a:r>
            <a:endParaRPr lang="en-US" sz="1150" dirty="0"/>
          </a:p>
        </p:txBody>
      </p:sp>
      <p:sp>
        <p:nvSpPr>
          <p:cNvPr id="25" name="Text 23"/>
          <p:cNvSpPr txBox="1"/>
          <p:nvPr/>
        </p:nvSpPr>
        <p:spPr>
          <a:xfrm>
            <a:off x="3058058" y="4928616"/>
            <a:ext cx="640080" cy="420624"/>
          </a:xfrm>
          <a:prstGeom prst="rect">
            <a:avLst/>
          </a:prstGeom>
          <a:noFill/>
          <a:ln/>
        </p:spPr>
        <p:txBody>
          <a:bodyPr wrap="square" lIns="0" tIns="0" rIns="0" bIns="0" rtlCol="0" anchor="ctr"/>
          <a:lstStyle/>
          <a:p>
            <a:pPr algn="r" indent="0" marL="0">
              <a:buNone/>
            </a:pPr>
            <a:r>
              <a:rPr lang="en-US" sz="1200" b="1" dirty="0">
                <a:solidFill>
                  <a:srgbClr val="1F4FB8"/>
                </a:solidFill>
                <a:latin typeface="Calibri" pitchFamily="34" charset="0"/>
                <a:ea typeface="Calibri" pitchFamily="34" charset="-122"/>
                <a:cs typeface="Calibri" pitchFamily="34" charset="-120"/>
              </a:rPr>
              <a:t>8–9</a:t>
            </a:r>
            <a:endParaRPr lang="en-US" sz="1200" dirty="0"/>
          </a:p>
        </p:txBody>
      </p:sp>
      <p:sp>
        <p:nvSpPr>
          <p:cNvPr id="26" name="Shape 24"/>
          <p:cNvSpPr/>
          <p:nvPr/>
        </p:nvSpPr>
        <p:spPr>
          <a:xfrm>
            <a:off x="822960" y="5458968"/>
            <a:ext cx="2966618" cy="420624"/>
          </a:xfrm>
          <a:prstGeom prst="rect">
            <a:avLst/>
          </a:prstGeom>
          <a:solidFill>
            <a:srgbClr val="FFFFFF"/>
          </a:solidFill>
          <a:ln w="9525">
            <a:solidFill>
              <a:srgbClr val="CCD3DD"/>
            </a:solidFill>
            <a:prstDash val="solid"/>
          </a:ln>
        </p:spPr>
      </p:sp>
      <p:sp>
        <p:nvSpPr>
          <p:cNvPr id="27" name="Text 25"/>
          <p:cNvSpPr txBox="1"/>
          <p:nvPr/>
        </p:nvSpPr>
        <p:spPr>
          <a:xfrm>
            <a:off x="932688" y="5458968"/>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Capabilities, Recon Dashboard</a:t>
            </a:r>
            <a:endParaRPr lang="en-US" sz="1150" dirty="0"/>
          </a:p>
        </p:txBody>
      </p:sp>
      <p:sp>
        <p:nvSpPr>
          <p:cNvPr id="28" name="Text 26"/>
          <p:cNvSpPr txBox="1"/>
          <p:nvPr/>
        </p:nvSpPr>
        <p:spPr>
          <a:xfrm>
            <a:off x="3058058" y="5458968"/>
            <a:ext cx="640080" cy="420624"/>
          </a:xfrm>
          <a:prstGeom prst="rect">
            <a:avLst/>
          </a:prstGeom>
          <a:noFill/>
          <a:ln/>
        </p:spPr>
        <p:txBody>
          <a:bodyPr wrap="square" lIns="0" tIns="0" rIns="0" bIns="0" rtlCol="0" anchor="ctr"/>
          <a:lstStyle/>
          <a:p>
            <a:pPr algn="r" indent="0" marL="0">
              <a:buNone/>
            </a:pPr>
            <a:r>
              <a:rPr lang="en-US" sz="1200" b="1" dirty="0">
                <a:solidFill>
                  <a:srgbClr val="1F4FB8"/>
                </a:solidFill>
                <a:latin typeface="Calibri" pitchFamily="34" charset="0"/>
                <a:ea typeface="Calibri" pitchFamily="34" charset="-122"/>
                <a:cs typeface="Calibri" pitchFamily="34" charset="-120"/>
              </a:rPr>
              <a:t>10–11</a:t>
            </a:r>
            <a:endParaRPr lang="en-US" sz="1200" dirty="0"/>
          </a:p>
        </p:txBody>
      </p:sp>
      <p:sp>
        <p:nvSpPr>
          <p:cNvPr id="29" name="Shape 27"/>
          <p:cNvSpPr/>
          <p:nvPr/>
        </p:nvSpPr>
        <p:spPr>
          <a:xfrm>
            <a:off x="4338218" y="1508760"/>
            <a:ext cx="3515258" cy="4663440"/>
          </a:xfrm>
          <a:prstGeom prst="rect">
            <a:avLst/>
          </a:prstGeom>
          <a:solidFill>
            <a:srgbClr val="EEF0F3"/>
          </a:solidFill>
          <a:ln/>
        </p:spPr>
      </p:sp>
      <p:sp>
        <p:nvSpPr>
          <p:cNvPr id="30" name="Shape 28"/>
          <p:cNvSpPr/>
          <p:nvPr/>
        </p:nvSpPr>
        <p:spPr>
          <a:xfrm>
            <a:off x="4338218" y="1508760"/>
            <a:ext cx="3515258" cy="54864"/>
          </a:xfrm>
          <a:prstGeom prst="rect">
            <a:avLst/>
          </a:prstGeom>
          <a:solidFill>
            <a:srgbClr val="E8612C"/>
          </a:solidFill>
          <a:ln/>
        </p:spPr>
      </p:sp>
      <p:sp>
        <p:nvSpPr>
          <p:cNvPr id="31" name="Shape 29"/>
          <p:cNvSpPr/>
          <p:nvPr/>
        </p:nvSpPr>
        <p:spPr>
          <a:xfrm>
            <a:off x="4338218" y="1508760"/>
            <a:ext cx="54864" cy="4663440"/>
          </a:xfrm>
          <a:prstGeom prst="rect">
            <a:avLst/>
          </a:prstGeom>
          <a:solidFill>
            <a:srgbClr val="E8612C"/>
          </a:solidFill>
          <a:ln/>
        </p:spPr>
      </p:sp>
      <p:sp>
        <p:nvSpPr>
          <p:cNvPr id="32" name="Text 30"/>
          <p:cNvSpPr txBox="1"/>
          <p:nvPr/>
        </p:nvSpPr>
        <p:spPr>
          <a:xfrm>
            <a:off x="4502810" y="1600200"/>
            <a:ext cx="3240938" cy="237744"/>
          </a:xfrm>
          <a:prstGeom prst="rect">
            <a:avLst/>
          </a:prstGeom>
          <a:noFill/>
          <a:ln/>
        </p:spPr>
        <p:txBody>
          <a:bodyPr wrap="square" lIns="0" tIns="0" rIns="0" bIns="0" rtlCol="0" anchor="t"/>
          <a:lstStyle/>
          <a:p>
            <a:pPr indent="0" marL="0">
              <a:buNone/>
            </a:pPr>
            <a:r>
              <a:rPr lang="en-US" sz="900" b="1" spc="300" kern="0" dirty="0">
                <a:solidFill>
                  <a:srgbClr val="E8612C"/>
                </a:solidFill>
                <a:latin typeface="Calibri" pitchFamily="34" charset="0"/>
                <a:ea typeface="Calibri" pitchFamily="34" charset="-122"/>
                <a:cs typeface="Calibri" pitchFamily="34" charset="-120"/>
              </a:rPr>
              <a:t>SECTION 02</a:t>
            </a:r>
            <a:endParaRPr lang="en-US" sz="900" dirty="0"/>
          </a:p>
        </p:txBody>
      </p:sp>
      <p:sp>
        <p:nvSpPr>
          <p:cNvPr id="33" name="Text 31"/>
          <p:cNvSpPr txBox="1"/>
          <p:nvPr/>
        </p:nvSpPr>
        <p:spPr>
          <a:xfrm>
            <a:off x="4612538" y="1828800"/>
            <a:ext cx="1371600" cy="640080"/>
          </a:xfrm>
          <a:prstGeom prst="rect">
            <a:avLst/>
          </a:prstGeom>
          <a:noFill/>
          <a:ln/>
        </p:spPr>
        <p:txBody>
          <a:bodyPr wrap="square" lIns="0" tIns="0" rIns="0" bIns="0" rtlCol="0" anchor="t"/>
          <a:lstStyle/>
          <a:p>
            <a:pPr indent="0" marL="0">
              <a:buNone/>
            </a:pPr>
            <a:r>
              <a:rPr lang="en-US" sz="3600" b="1" dirty="0">
                <a:solidFill>
                  <a:srgbClr val="E8612C"/>
                </a:solidFill>
                <a:latin typeface="Calibri" pitchFamily="34" charset="0"/>
                <a:ea typeface="Calibri" pitchFamily="34" charset="-122"/>
                <a:cs typeface="Calibri" pitchFamily="34" charset="-120"/>
              </a:rPr>
              <a:t>02</a:t>
            </a:r>
            <a:endParaRPr lang="en-US" sz="3600" dirty="0"/>
          </a:p>
        </p:txBody>
      </p:sp>
      <p:sp>
        <p:nvSpPr>
          <p:cNvPr id="34" name="Text 32"/>
          <p:cNvSpPr txBox="1"/>
          <p:nvPr/>
        </p:nvSpPr>
        <p:spPr>
          <a:xfrm>
            <a:off x="4612538" y="2487168"/>
            <a:ext cx="2966618" cy="365760"/>
          </a:xfrm>
          <a:prstGeom prst="rect">
            <a:avLst/>
          </a:prstGeom>
          <a:noFill/>
          <a:ln/>
        </p:spPr>
        <p:txBody>
          <a:bodyPr wrap="square" lIns="0" tIns="0" rIns="0" bIns="0" rtlCol="0" anchor="t"/>
          <a:lstStyle/>
          <a:p>
            <a:pPr indent="0" marL="0">
              <a:buNone/>
            </a:pPr>
            <a:r>
              <a:rPr lang="en-US" sz="1900" b="1" dirty="0">
                <a:solidFill>
                  <a:srgbClr val="1C2330"/>
                </a:solidFill>
                <a:latin typeface="Calibri" pitchFamily="34" charset="0"/>
                <a:ea typeface="Calibri" pitchFamily="34" charset="-122"/>
                <a:cs typeface="Calibri" pitchFamily="34" charset="-120"/>
              </a:rPr>
              <a:t>Architecture deep dive</a:t>
            </a:r>
            <a:endParaRPr lang="en-US" sz="1900" dirty="0"/>
          </a:p>
        </p:txBody>
      </p:sp>
      <p:sp>
        <p:nvSpPr>
          <p:cNvPr id="35" name="Text 33"/>
          <p:cNvSpPr txBox="1"/>
          <p:nvPr/>
        </p:nvSpPr>
        <p:spPr>
          <a:xfrm>
            <a:off x="4612538" y="2834640"/>
            <a:ext cx="2966618" cy="274320"/>
          </a:xfrm>
          <a:prstGeom prst="rect">
            <a:avLst/>
          </a:prstGeom>
          <a:noFill/>
          <a:ln/>
        </p:spPr>
        <p:txBody>
          <a:bodyPr wrap="square" lIns="0" tIns="0" rIns="0" bIns="0" rtlCol="0" anchor="t"/>
          <a:lstStyle/>
          <a:p>
            <a:pPr indent="0" marL="0">
              <a:buNone/>
            </a:pPr>
            <a:r>
              <a:rPr lang="en-US" sz="1100" i="1" dirty="0">
                <a:solidFill>
                  <a:srgbClr val="596273"/>
                </a:solidFill>
                <a:latin typeface="Calibri" pitchFamily="34" charset="0"/>
                <a:ea typeface="Calibri" pitchFamily="34" charset="-122"/>
                <a:cs typeface="Calibri" pitchFamily="34" charset="-120"/>
              </a:rPr>
              <a:t>Engineering, operations, integration partners</a:t>
            </a:r>
            <a:endParaRPr lang="en-US" sz="1100" dirty="0"/>
          </a:p>
        </p:txBody>
      </p:sp>
      <p:sp>
        <p:nvSpPr>
          <p:cNvPr id="36" name="Shape 34"/>
          <p:cNvSpPr/>
          <p:nvPr/>
        </p:nvSpPr>
        <p:spPr>
          <a:xfrm>
            <a:off x="4612538" y="3337560"/>
            <a:ext cx="2966618" cy="420624"/>
          </a:xfrm>
          <a:prstGeom prst="rect">
            <a:avLst/>
          </a:prstGeom>
          <a:solidFill>
            <a:srgbClr val="FFFFFF"/>
          </a:solidFill>
          <a:ln w="9525">
            <a:solidFill>
              <a:srgbClr val="CCD3DD"/>
            </a:solidFill>
            <a:prstDash val="solid"/>
          </a:ln>
        </p:spPr>
      </p:sp>
      <p:sp>
        <p:nvSpPr>
          <p:cNvPr id="37" name="Text 35"/>
          <p:cNvSpPr txBox="1"/>
          <p:nvPr/>
        </p:nvSpPr>
        <p:spPr>
          <a:xfrm>
            <a:off x="4722266" y="3337560"/>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Layered view and deployment</a:t>
            </a:r>
            <a:endParaRPr lang="en-US" sz="1150" dirty="0"/>
          </a:p>
        </p:txBody>
      </p:sp>
      <p:sp>
        <p:nvSpPr>
          <p:cNvPr id="38" name="Text 36"/>
          <p:cNvSpPr txBox="1"/>
          <p:nvPr/>
        </p:nvSpPr>
        <p:spPr>
          <a:xfrm>
            <a:off x="6847637" y="3337560"/>
            <a:ext cx="640080" cy="420624"/>
          </a:xfrm>
          <a:prstGeom prst="rect">
            <a:avLst/>
          </a:prstGeom>
          <a:noFill/>
          <a:ln/>
        </p:spPr>
        <p:txBody>
          <a:bodyPr wrap="square" lIns="0" tIns="0" rIns="0" bIns="0" rtlCol="0" anchor="ctr"/>
          <a:lstStyle/>
          <a:p>
            <a:pPr algn="r" indent="0" marL="0">
              <a:buNone/>
            </a:pPr>
            <a:r>
              <a:rPr lang="en-US" sz="1200" b="1" dirty="0">
                <a:solidFill>
                  <a:srgbClr val="E8612C"/>
                </a:solidFill>
                <a:latin typeface="Calibri" pitchFamily="34" charset="0"/>
                <a:ea typeface="Calibri" pitchFamily="34" charset="-122"/>
                <a:cs typeface="Calibri" pitchFamily="34" charset="-120"/>
              </a:rPr>
              <a:t>13–14</a:t>
            </a:r>
            <a:endParaRPr lang="en-US" sz="1200" dirty="0"/>
          </a:p>
        </p:txBody>
      </p:sp>
      <p:sp>
        <p:nvSpPr>
          <p:cNvPr id="39" name="Shape 37"/>
          <p:cNvSpPr/>
          <p:nvPr/>
        </p:nvSpPr>
        <p:spPr>
          <a:xfrm>
            <a:off x="4612538" y="3867912"/>
            <a:ext cx="2966618" cy="420624"/>
          </a:xfrm>
          <a:prstGeom prst="rect">
            <a:avLst/>
          </a:prstGeom>
          <a:solidFill>
            <a:srgbClr val="FFFFFF"/>
          </a:solidFill>
          <a:ln w="9525">
            <a:solidFill>
              <a:srgbClr val="CCD3DD"/>
            </a:solidFill>
            <a:prstDash val="solid"/>
          </a:ln>
        </p:spPr>
      </p:sp>
      <p:sp>
        <p:nvSpPr>
          <p:cNvPr id="40" name="Text 38"/>
          <p:cNvSpPr txBox="1"/>
          <p:nvPr/>
        </p:nvSpPr>
        <p:spPr>
          <a:xfrm>
            <a:off x="4722266" y="3867912"/>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End-to-end, integration methods</a:t>
            </a:r>
            <a:endParaRPr lang="en-US" sz="1150" dirty="0"/>
          </a:p>
        </p:txBody>
      </p:sp>
      <p:sp>
        <p:nvSpPr>
          <p:cNvPr id="41" name="Text 39"/>
          <p:cNvSpPr txBox="1"/>
          <p:nvPr/>
        </p:nvSpPr>
        <p:spPr>
          <a:xfrm>
            <a:off x="6847637" y="3867912"/>
            <a:ext cx="640080" cy="420624"/>
          </a:xfrm>
          <a:prstGeom prst="rect">
            <a:avLst/>
          </a:prstGeom>
          <a:noFill/>
          <a:ln/>
        </p:spPr>
        <p:txBody>
          <a:bodyPr wrap="square" lIns="0" tIns="0" rIns="0" bIns="0" rtlCol="0" anchor="ctr"/>
          <a:lstStyle/>
          <a:p>
            <a:pPr algn="r" indent="0" marL="0">
              <a:buNone/>
            </a:pPr>
            <a:r>
              <a:rPr lang="en-US" sz="1200" b="1" dirty="0">
                <a:solidFill>
                  <a:srgbClr val="E8612C"/>
                </a:solidFill>
                <a:latin typeface="Calibri" pitchFamily="34" charset="0"/>
                <a:ea typeface="Calibri" pitchFamily="34" charset="-122"/>
                <a:cs typeface="Calibri" pitchFamily="34" charset="-120"/>
              </a:rPr>
              <a:t>15–16</a:t>
            </a:r>
            <a:endParaRPr lang="en-US" sz="1200" dirty="0"/>
          </a:p>
        </p:txBody>
      </p:sp>
      <p:sp>
        <p:nvSpPr>
          <p:cNvPr id="42" name="Shape 40"/>
          <p:cNvSpPr/>
          <p:nvPr/>
        </p:nvSpPr>
        <p:spPr>
          <a:xfrm>
            <a:off x="4612538" y="4398264"/>
            <a:ext cx="2966618" cy="420624"/>
          </a:xfrm>
          <a:prstGeom prst="rect">
            <a:avLst/>
          </a:prstGeom>
          <a:solidFill>
            <a:srgbClr val="FFFFFF"/>
          </a:solidFill>
          <a:ln w="9525">
            <a:solidFill>
              <a:srgbClr val="CCD3DD"/>
            </a:solidFill>
            <a:prstDash val="solid"/>
          </a:ln>
        </p:spPr>
      </p:sp>
      <p:sp>
        <p:nvSpPr>
          <p:cNvPr id="43" name="Text 41"/>
          <p:cNvSpPr txBox="1"/>
          <p:nvPr/>
        </p:nvSpPr>
        <p:spPr>
          <a:xfrm>
            <a:off x="4722266" y="4398264"/>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Real-time, batch, on-demand</a:t>
            </a:r>
            <a:endParaRPr lang="en-US" sz="1150" dirty="0"/>
          </a:p>
        </p:txBody>
      </p:sp>
      <p:sp>
        <p:nvSpPr>
          <p:cNvPr id="44" name="Text 42"/>
          <p:cNvSpPr txBox="1"/>
          <p:nvPr/>
        </p:nvSpPr>
        <p:spPr>
          <a:xfrm>
            <a:off x="6847637" y="4398264"/>
            <a:ext cx="640080" cy="420624"/>
          </a:xfrm>
          <a:prstGeom prst="rect">
            <a:avLst/>
          </a:prstGeom>
          <a:noFill/>
          <a:ln/>
        </p:spPr>
        <p:txBody>
          <a:bodyPr wrap="square" lIns="0" tIns="0" rIns="0" bIns="0" rtlCol="0" anchor="ctr"/>
          <a:lstStyle/>
          <a:p>
            <a:pPr algn="r" indent="0" marL="0">
              <a:buNone/>
            </a:pPr>
            <a:r>
              <a:rPr lang="en-US" sz="1200" b="1" dirty="0">
                <a:solidFill>
                  <a:srgbClr val="E8612C"/>
                </a:solidFill>
                <a:latin typeface="Calibri" pitchFamily="34" charset="0"/>
                <a:ea typeface="Calibri" pitchFamily="34" charset="-122"/>
                <a:cs typeface="Calibri" pitchFamily="34" charset="-120"/>
              </a:rPr>
              <a:t>17–19</a:t>
            </a:r>
            <a:endParaRPr lang="en-US" sz="1200" dirty="0"/>
          </a:p>
        </p:txBody>
      </p:sp>
      <p:sp>
        <p:nvSpPr>
          <p:cNvPr id="45" name="Shape 43"/>
          <p:cNvSpPr/>
          <p:nvPr/>
        </p:nvSpPr>
        <p:spPr>
          <a:xfrm>
            <a:off x="4612538" y="4928616"/>
            <a:ext cx="2966618" cy="420624"/>
          </a:xfrm>
          <a:prstGeom prst="rect">
            <a:avLst/>
          </a:prstGeom>
          <a:solidFill>
            <a:srgbClr val="FFFFFF"/>
          </a:solidFill>
          <a:ln w="9525">
            <a:solidFill>
              <a:srgbClr val="CCD3DD"/>
            </a:solidFill>
            <a:prstDash val="solid"/>
          </a:ln>
        </p:spPr>
      </p:sp>
      <p:sp>
        <p:nvSpPr>
          <p:cNvPr id="46" name="Text 44"/>
          <p:cNvSpPr txBox="1"/>
          <p:nvPr/>
        </p:nvSpPr>
        <p:spPr>
          <a:xfrm>
            <a:off x="4722266" y="4928616"/>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Delivery, URLs, SMS lookup</a:t>
            </a:r>
            <a:endParaRPr lang="en-US" sz="1150" dirty="0"/>
          </a:p>
        </p:txBody>
      </p:sp>
      <p:sp>
        <p:nvSpPr>
          <p:cNvPr id="47" name="Text 45"/>
          <p:cNvSpPr txBox="1"/>
          <p:nvPr/>
        </p:nvSpPr>
        <p:spPr>
          <a:xfrm>
            <a:off x="6847637" y="4928616"/>
            <a:ext cx="640080" cy="420624"/>
          </a:xfrm>
          <a:prstGeom prst="rect">
            <a:avLst/>
          </a:prstGeom>
          <a:noFill/>
          <a:ln/>
        </p:spPr>
        <p:txBody>
          <a:bodyPr wrap="square" lIns="0" tIns="0" rIns="0" bIns="0" rtlCol="0" anchor="ctr"/>
          <a:lstStyle/>
          <a:p>
            <a:pPr algn="r" indent="0" marL="0">
              <a:buNone/>
            </a:pPr>
            <a:r>
              <a:rPr lang="en-US" sz="1200" b="1" dirty="0">
                <a:solidFill>
                  <a:srgbClr val="E8612C"/>
                </a:solidFill>
                <a:latin typeface="Calibri" pitchFamily="34" charset="0"/>
                <a:ea typeface="Calibri" pitchFamily="34" charset="-122"/>
                <a:cs typeface="Calibri" pitchFamily="34" charset="-120"/>
              </a:rPr>
              <a:t>20–22</a:t>
            </a:r>
            <a:endParaRPr lang="en-US" sz="1200" dirty="0"/>
          </a:p>
        </p:txBody>
      </p:sp>
      <p:sp>
        <p:nvSpPr>
          <p:cNvPr id="48" name="Shape 46"/>
          <p:cNvSpPr/>
          <p:nvPr/>
        </p:nvSpPr>
        <p:spPr>
          <a:xfrm>
            <a:off x="4612538" y="5458968"/>
            <a:ext cx="2966618" cy="420624"/>
          </a:xfrm>
          <a:prstGeom prst="rect">
            <a:avLst/>
          </a:prstGeom>
          <a:solidFill>
            <a:srgbClr val="FFFFFF"/>
          </a:solidFill>
          <a:ln w="9525">
            <a:solidFill>
              <a:srgbClr val="CCD3DD"/>
            </a:solidFill>
            <a:prstDash val="solid"/>
          </a:ln>
        </p:spPr>
      </p:sp>
      <p:sp>
        <p:nvSpPr>
          <p:cNvPr id="49" name="Text 47"/>
          <p:cNvSpPr txBox="1"/>
          <p:nvPr/>
        </p:nvSpPr>
        <p:spPr>
          <a:xfrm>
            <a:off x="4722266" y="5458968"/>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Stack, routes, security</a:t>
            </a:r>
            <a:endParaRPr lang="en-US" sz="1150" dirty="0"/>
          </a:p>
        </p:txBody>
      </p:sp>
      <p:sp>
        <p:nvSpPr>
          <p:cNvPr id="50" name="Text 48"/>
          <p:cNvSpPr txBox="1"/>
          <p:nvPr/>
        </p:nvSpPr>
        <p:spPr>
          <a:xfrm>
            <a:off x="6847637" y="5458968"/>
            <a:ext cx="640080" cy="420624"/>
          </a:xfrm>
          <a:prstGeom prst="rect">
            <a:avLst/>
          </a:prstGeom>
          <a:noFill/>
          <a:ln/>
        </p:spPr>
        <p:txBody>
          <a:bodyPr wrap="square" lIns="0" tIns="0" rIns="0" bIns="0" rtlCol="0" anchor="ctr"/>
          <a:lstStyle/>
          <a:p>
            <a:pPr algn="r" indent="0" marL="0">
              <a:buNone/>
            </a:pPr>
            <a:r>
              <a:rPr lang="en-US" sz="1200" b="1" dirty="0">
                <a:solidFill>
                  <a:srgbClr val="E8612C"/>
                </a:solidFill>
                <a:latin typeface="Calibri" pitchFamily="34" charset="0"/>
                <a:ea typeface="Calibri" pitchFamily="34" charset="-122"/>
                <a:cs typeface="Calibri" pitchFamily="34" charset="-120"/>
              </a:rPr>
              <a:t>23–25</a:t>
            </a:r>
            <a:endParaRPr lang="en-US" sz="1200" dirty="0"/>
          </a:p>
        </p:txBody>
      </p:sp>
      <p:sp>
        <p:nvSpPr>
          <p:cNvPr id="51" name="Shape 49"/>
          <p:cNvSpPr/>
          <p:nvPr/>
        </p:nvSpPr>
        <p:spPr>
          <a:xfrm>
            <a:off x="8127797" y="1508760"/>
            <a:ext cx="3515258" cy="4663440"/>
          </a:xfrm>
          <a:prstGeom prst="rect">
            <a:avLst/>
          </a:prstGeom>
          <a:solidFill>
            <a:srgbClr val="EEF0F3"/>
          </a:solidFill>
          <a:ln/>
        </p:spPr>
      </p:sp>
      <p:sp>
        <p:nvSpPr>
          <p:cNvPr id="52" name="Shape 50"/>
          <p:cNvSpPr/>
          <p:nvPr/>
        </p:nvSpPr>
        <p:spPr>
          <a:xfrm>
            <a:off x="8127797" y="1508760"/>
            <a:ext cx="3515258" cy="54864"/>
          </a:xfrm>
          <a:prstGeom prst="rect">
            <a:avLst/>
          </a:prstGeom>
          <a:solidFill>
            <a:srgbClr val="1F7A6B"/>
          </a:solidFill>
          <a:ln/>
        </p:spPr>
      </p:sp>
      <p:sp>
        <p:nvSpPr>
          <p:cNvPr id="53" name="Shape 51"/>
          <p:cNvSpPr/>
          <p:nvPr/>
        </p:nvSpPr>
        <p:spPr>
          <a:xfrm>
            <a:off x="8127797" y="1508760"/>
            <a:ext cx="54864" cy="4663440"/>
          </a:xfrm>
          <a:prstGeom prst="rect">
            <a:avLst/>
          </a:prstGeom>
          <a:solidFill>
            <a:srgbClr val="1F7A6B"/>
          </a:solidFill>
          <a:ln/>
        </p:spPr>
      </p:sp>
      <p:sp>
        <p:nvSpPr>
          <p:cNvPr id="54" name="Text 52"/>
          <p:cNvSpPr txBox="1"/>
          <p:nvPr/>
        </p:nvSpPr>
        <p:spPr>
          <a:xfrm>
            <a:off x="8292389" y="1600200"/>
            <a:ext cx="3240938" cy="237744"/>
          </a:xfrm>
          <a:prstGeom prst="rect">
            <a:avLst/>
          </a:prstGeom>
          <a:noFill/>
          <a:ln/>
        </p:spPr>
        <p:txBody>
          <a:bodyPr wrap="square" lIns="0" tIns="0" rIns="0" bIns="0" rtlCol="0" anchor="t"/>
          <a:lstStyle/>
          <a:p>
            <a:pPr indent="0" marL="0">
              <a:buNone/>
            </a:pPr>
            <a:r>
              <a:rPr lang="en-US" sz="900" b="1" spc="300" kern="0" dirty="0">
                <a:solidFill>
                  <a:srgbClr val="1F7A6B"/>
                </a:solidFill>
                <a:latin typeface="Calibri" pitchFamily="34" charset="0"/>
                <a:ea typeface="Calibri" pitchFamily="34" charset="-122"/>
                <a:cs typeface="Calibri" pitchFamily="34" charset="-120"/>
              </a:rPr>
              <a:t>SECTION 03</a:t>
            </a:r>
            <a:endParaRPr lang="en-US" sz="900" dirty="0"/>
          </a:p>
        </p:txBody>
      </p:sp>
      <p:sp>
        <p:nvSpPr>
          <p:cNvPr id="55" name="Text 53"/>
          <p:cNvSpPr txBox="1"/>
          <p:nvPr/>
        </p:nvSpPr>
        <p:spPr>
          <a:xfrm>
            <a:off x="8402117" y="1828800"/>
            <a:ext cx="1371600" cy="640080"/>
          </a:xfrm>
          <a:prstGeom prst="rect">
            <a:avLst/>
          </a:prstGeom>
          <a:noFill/>
          <a:ln/>
        </p:spPr>
        <p:txBody>
          <a:bodyPr wrap="square" lIns="0" tIns="0" rIns="0" bIns="0" rtlCol="0" anchor="t"/>
          <a:lstStyle/>
          <a:p>
            <a:pPr indent="0" marL="0">
              <a:buNone/>
            </a:pPr>
            <a:r>
              <a:rPr lang="en-US" sz="3600" b="1" dirty="0">
                <a:solidFill>
                  <a:srgbClr val="1F7A6B"/>
                </a:solidFill>
                <a:latin typeface="Calibri" pitchFamily="34" charset="0"/>
                <a:ea typeface="Calibri" pitchFamily="34" charset="-122"/>
                <a:cs typeface="Calibri" pitchFamily="34" charset="-120"/>
              </a:rPr>
              <a:t>03</a:t>
            </a:r>
            <a:endParaRPr lang="en-US" sz="3600" dirty="0"/>
          </a:p>
        </p:txBody>
      </p:sp>
      <p:sp>
        <p:nvSpPr>
          <p:cNvPr id="56" name="Text 54"/>
          <p:cNvSpPr txBox="1"/>
          <p:nvPr/>
        </p:nvSpPr>
        <p:spPr>
          <a:xfrm>
            <a:off x="8402117" y="2487168"/>
            <a:ext cx="2966618" cy="365760"/>
          </a:xfrm>
          <a:prstGeom prst="rect">
            <a:avLst/>
          </a:prstGeom>
          <a:noFill/>
          <a:ln/>
        </p:spPr>
        <p:txBody>
          <a:bodyPr wrap="square" lIns="0" tIns="0" rIns="0" bIns="0" rtlCol="0" anchor="t"/>
          <a:lstStyle/>
          <a:p>
            <a:pPr indent="0" marL="0">
              <a:buNone/>
            </a:pPr>
            <a:r>
              <a:rPr lang="en-US" sz="1900" b="1" dirty="0">
                <a:solidFill>
                  <a:srgbClr val="1C2330"/>
                </a:solidFill>
                <a:latin typeface="Calibri" pitchFamily="34" charset="0"/>
                <a:ea typeface="Calibri" pitchFamily="34" charset="-122"/>
                <a:cs typeface="Calibri" pitchFamily="34" charset="-120"/>
              </a:rPr>
              <a:t>Volume and roadmap</a:t>
            </a:r>
            <a:endParaRPr lang="en-US" sz="1900" dirty="0"/>
          </a:p>
        </p:txBody>
      </p:sp>
      <p:sp>
        <p:nvSpPr>
          <p:cNvPr id="57" name="Text 55"/>
          <p:cNvSpPr txBox="1"/>
          <p:nvPr/>
        </p:nvSpPr>
        <p:spPr>
          <a:xfrm>
            <a:off x="8402117" y="2834640"/>
            <a:ext cx="2966618" cy="274320"/>
          </a:xfrm>
          <a:prstGeom prst="rect">
            <a:avLst/>
          </a:prstGeom>
          <a:noFill/>
          <a:ln/>
        </p:spPr>
        <p:txBody>
          <a:bodyPr wrap="square" lIns="0" tIns="0" rIns="0" bIns="0" rtlCol="0" anchor="t"/>
          <a:lstStyle/>
          <a:p>
            <a:pPr indent="0" marL="0">
              <a:buNone/>
            </a:pPr>
            <a:r>
              <a:rPr lang="en-US" sz="1100" i="1" dirty="0">
                <a:solidFill>
                  <a:srgbClr val="596273"/>
                </a:solidFill>
                <a:latin typeface="Calibri" pitchFamily="34" charset="0"/>
                <a:ea typeface="Calibri" pitchFamily="34" charset="-122"/>
                <a:cs typeface="Calibri" pitchFamily="34" charset="-120"/>
              </a:rPr>
              <a:t>Leadership and all audiences</a:t>
            </a:r>
            <a:endParaRPr lang="en-US" sz="1100" dirty="0"/>
          </a:p>
        </p:txBody>
      </p:sp>
      <p:sp>
        <p:nvSpPr>
          <p:cNvPr id="58" name="Shape 56"/>
          <p:cNvSpPr/>
          <p:nvPr/>
        </p:nvSpPr>
        <p:spPr>
          <a:xfrm>
            <a:off x="8402117" y="3337560"/>
            <a:ext cx="2966618" cy="420624"/>
          </a:xfrm>
          <a:prstGeom prst="rect">
            <a:avLst/>
          </a:prstGeom>
          <a:solidFill>
            <a:srgbClr val="FFFFFF"/>
          </a:solidFill>
          <a:ln w="9525">
            <a:solidFill>
              <a:srgbClr val="CCD3DD"/>
            </a:solidFill>
            <a:prstDash val="solid"/>
          </a:ln>
        </p:spPr>
      </p:sp>
      <p:sp>
        <p:nvSpPr>
          <p:cNvPr id="59" name="Text 57"/>
          <p:cNvSpPr txBox="1"/>
          <p:nvPr/>
        </p:nvSpPr>
        <p:spPr>
          <a:xfrm>
            <a:off x="8511845" y="3337560"/>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2025 volume by source</a:t>
            </a:r>
            <a:endParaRPr lang="en-US" sz="1150" dirty="0"/>
          </a:p>
        </p:txBody>
      </p:sp>
      <p:sp>
        <p:nvSpPr>
          <p:cNvPr id="60" name="Text 58"/>
          <p:cNvSpPr txBox="1"/>
          <p:nvPr/>
        </p:nvSpPr>
        <p:spPr>
          <a:xfrm>
            <a:off x="10637215" y="3337560"/>
            <a:ext cx="640080" cy="420624"/>
          </a:xfrm>
          <a:prstGeom prst="rect">
            <a:avLst/>
          </a:prstGeom>
          <a:noFill/>
          <a:ln/>
        </p:spPr>
        <p:txBody>
          <a:bodyPr wrap="square" lIns="0" tIns="0" rIns="0" bIns="0" rtlCol="0" anchor="ctr"/>
          <a:lstStyle/>
          <a:p>
            <a:pPr algn="r" indent="0" marL="0">
              <a:buNone/>
            </a:pPr>
            <a:r>
              <a:rPr lang="en-US" sz="1200" b="1" dirty="0">
                <a:solidFill>
                  <a:srgbClr val="1F7A6B"/>
                </a:solidFill>
                <a:latin typeface="Calibri" pitchFamily="34" charset="0"/>
                <a:ea typeface="Calibri" pitchFamily="34" charset="-122"/>
                <a:cs typeface="Calibri" pitchFamily="34" charset="-120"/>
              </a:rPr>
              <a:t>27</a:t>
            </a:r>
            <a:endParaRPr lang="en-US" sz="1200" dirty="0"/>
          </a:p>
        </p:txBody>
      </p:sp>
      <p:sp>
        <p:nvSpPr>
          <p:cNvPr id="61" name="Shape 59"/>
          <p:cNvSpPr/>
          <p:nvPr/>
        </p:nvSpPr>
        <p:spPr>
          <a:xfrm>
            <a:off x="8402117" y="3867912"/>
            <a:ext cx="2966618" cy="420624"/>
          </a:xfrm>
          <a:prstGeom prst="rect">
            <a:avLst/>
          </a:prstGeom>
          <a:solidFill>
            <a:srgbClr val="FFFFFF"/>
          </a:solidFill>
          <a:ln w="9525">
            <a:solidFill>
              <a:srgbClr val="CCD3DD"/>
            </a:solidFill>
            <a:prstDash val="solid"/>
          </a:ln>
        </p:spPr>
      </p:sp>
      <p:sp>
        <p:nvSpPr>
          <p:cNvPr id="62" name="Text 60"/>
          <p:cNvSpPr txBox="1"/>
          <p:nvPr/>
        </p:nvSpPr>
        <p:spPr>
          <a:xfrm>
            <a:off x="8511845" y="3867912"/>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Client Letter retirement</a:t>
            </a:r>
            <a:endParaRPr lang="en-US" sz="1150" dirty="0"/>
          </a:p>
        </p:txBody>
      </p:sp>
      <p:sp>
        <p:nvSpPr>
          <p:cNvPr id="63" name="Text 61"/>
          <p:cNvSpPr txBox="1"/>
          <p:nvPr/>
        </p:nvSpPr>
        <p:spPr>
          <a:xfrm>
            <a:off x="10637215" y="3867912"/>
            <a:ext cx="640080" cy="420624"/>
          </a:xfrm>
          <a:prstGeom prst="rect">
            <a:avLst/>
          </a:prstGeom>
          <a:noFill/>
          <a:ln/>
        </p:spPr>
        <p:txBody>
          <a:bodyPr wrap="square" lIns="0" tIns="0" rIns="0" bIns="0" rtlCol="0" anchor="ctr"/>
          <a:lstStyle/>
          <a:p>
            <a:pPr algn="r" indent="0" marL="0">
              <a:buNone/>
            </a:pPr>
            <a:r>
              <a:rPr lang="en-US" sz="1200" b="1" dirty="0">
                <a:solidFill>
                  <a:srgbClr val="1F7A6B"/>
                </a:solidFill>
                <a:latin typeface="Calibri" pitchFamily="34" charset="0"/>
                <a:ea typeface="Calibri" pitchFamily="34" charset="-122"/>
                <a:cs typeface="Calibri" pitchFamily="34" charset="-120"/>
              </a:rPr>
              <a:t>28</a:t>
            </a:r>
            <a:endParaRPr lang="en-US" sz="1200" dirty="0"/>
          </a:p>
        </p:txBody>
      </p:sp>
      <p:sp>
        <p:nvSpPr>
          <p:cNvPr id="64" name="Shape 62"/>
          <p:cNvSpPr/>
          <p:nvPr/>
        </p:nvSpPr>
        <p:spPr>
          <a:xfrm>
            <a:off x="8402117" y="4398264"/>
            <a:ext cx="2966618" cy="420624"/>
          </a:xfrm>
          <a:prstGeom prst="rect">
            <a:avLst/>
          </a:prstGeom>
          <a:solidFill>
            <a:srgbClr val="FFFFFF"/>
          </a:solidFill>
          <a:ln w="9525">
            <a:solidFill>
              <a:srgbClr val="CCD3DD"/>
            </a:solidFill>
            <a:prstDash val="solid"/>
          </a:ln>
        </p:spPr>
      </p:sp>
      <p:sp>
        <p:nvSpPr>
          <p:cNvPr id="65" name="Text 63"/>
          <p:cNvSpPr txBox="1"/>
          <p:nvPr/>
        </p:nvSpPr>
        <p:spPr>
          <a:xfrm>
            <a:off x="8511845" y="4398264"/>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Observations and next steps</a:t>
            </a:r>
            <a:endParaRPr lang="en-US" sz="1150" dirty="0"/>
          </a:p>
        </p:txBody>
      </p:sp>
      <p:sp>
        <p:nvSpPr>
          <p:cNvPr id="66" name="Text 64"/>
          <p:cNvSpPr txBox="1"/>
          <p:nvPr/>
        </p:nvSpPr>
        <p:spPr>
          <a:xfrm>
            <a:off x="10637215" y="4398264"/>
            <a:ext cx="640080" cy="420624"/>
          </a:xfrm>
          <a:prstGeom prst="rect">
            <a:avLst/>
          </a:prstGeom>
          <a:noFill/>
          <a:ln/>
        </p:spPr>
        <p:txBody>
          <a:bodyPr wrap="square" lIns="0" tIns="0" rIns="0" bIns="0" rtlCol="0" anchor="ctr"/>
          <a:lstStyle/>
          <a:p>
            <a:pPr algn="r" indent="0" marL="0">
              <a:buNone/>
            </a:pPr>
            <a:r>
              <a:rPr lang="en-US" sz="1200" b="1" dirty="0">
                <a:solidFill>
                  <a:srgbClr val="1F7A6B"/>
                </a:solidFill>
                <a:latin typeface="Calibri" pitchFamily="34" charset="0"/>
                <a:ea typeface="Calibri" pitchFamily="34" charset="-122"/>
                <a:cs typeface="Calibri" pitchFamily="34" charset="-120"/>
              </a:rPr>
              <a:t>29</a:t>
            </a:r>
            <a:endParaRPr lang="en-US" sz="1200" dirty="0"/>
          </a:p>
        </p:txBody>
      </p:sp>
      <p:sp>
        <p:nvSpPr>
          <p:cNvPr id="67" name="Shape 65"/>
          <p:cNvSpPr/>
          <p:nvPr/>
        </p:nvSpPr>
        <p:spPr>
          <a:xfrm>
            <a:off x="8402117" y="4928616"/>
            <a:ext cx="2966618" cy="420624"/>
          </a:xfrm>
          <a:prstGeom prst="rect">
            <a:avLst/>
          </a:prstGeom>
          <a:solidFill>
            <a:srgbClr val="FFFFFF"/>
          </a:solidFill>
          <a:ln w="9525">
            <a:solidFill>
              <a:srgbClr val="CCD3DD"/>
            </a:solidFill>
            <a:prstDash val="solid"/>
          </a:ln>
        </p:spPr>
      </p:sp>
      <p:sp>
        <p:nvSpPr>
          <p:cNvPr id="68" name="Text 66"/>
          <p:cNvSpPr txBox="1"/>
          <p:nvPr/>
        </p:nvSpPr>
        <p:spPr>
          <a:xfrm>
            <a:off x="8511845" y="4928616"/>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Glossary</a:t>
            </a:r>
            <a:endParaRPr lang="en-US" sz="1150" dirty="0"/>
          </a:p>
        </p:txBody>
      </p:sp>
      <p:sp>
        <p:nvSpPr>
          <p:cNvPr id="69" name="Text 67"/>
          <p:cNvSpPr txBox="1"/>
          <p:nvPr/>
        </p:nvSpPr>
        <p:spPr>
          <a:xfrm>
            <a:off x="10637215" y="4928616"/>
            <a:ext cx="640080" cy="420624"/>
          </a:xfrm>
          <a:prstGeom prst="rect">
            <a:avLst/>
          </a:prstGeom>
          <a:noFill/>
          <a:ln/>
        </p:spPr>
        <p:txBody>
          <a:bodyPr wrap="square" lIns="0" tIns="0" rIns="0" bIns="0" rtlCol="0" anchor="ctr"/>
          <a:lstStyle/>
          <a:p>
            <a:pPr algn="r" indent="0" marL="0">
              <a:buNone/>
            </a:pPr>
            <a:r>
              <a:rPr lang="en-US" sz="1200" b="1" dirty="0">
                <a:solidFill>
                  <a:srgbClr val="1F7A6B"/>
                </a:solidFill>
                <a:latin typeface="Calibri" pitchFamily="34" charset="0"/>
                <a:ea typeface="Calibri" pitchFamily="34" charset="-122"/>
                <a:cs typeface="Calibri" pitchFamily="34" charset="-120"/>
              </a:rPr>
              <a:t>30</a:t>
            </a:r>
            <a:endParaRPr lang="en-US" sz="1200" dirty="0"/>
          </a:p>
        </p:txBody>
      </p:sp>
      <p:sp>
        <p:nvSpPr>
          <p:cNvPr id="70" name="Shape 68"/>
          <p:cNvSpPr/>
          <p:nvPr/>
        </p:nvSpPr>
        <p:spPr>
          <a:xfrm>
            <a:off x="8402117" y="5458968"/>
            <a:ext cx="2966618" cy="420624"/>
          </a:xfrm>
          <a:prstGeom prst="rect">
            <a:avLst/>
          </a:prstGeom>
          <a:solidFill>
            <a:srgbClr val="FFFFFF"/>
          </a:solidFill>
          <a:ln w="9525">
            <a:solidFill>
              <a:srgbClr val="CCD3DD"/>
            </a:solidFill>
            <a:prstDash val="solid"/>
          </a:ln>
        </p:spPr>
      </p:sp>
      <p:sp>
        <p:nvSpPr>
          <p:cNvPr id="71" name="Text 69"/>
          <p:cNvSpPr txBox="1"/>
          <p:nvPr/>
        </p:nvSpPr>
        <p:spPr>
          <a:xfrm>
            <a:off x="8511845" y="5458968"/>
            <a:ext cx="2097938" cy="420624"/>
          </a:xfrm>
          <a:prstGeom prst="rect">
            <a:avLst/>
          </a:prstGeom>
          <a:noFill/>
          <a:ln/>
        </p:spPr>
        <p:txBody>
          <a:bodyPr wrap="square" lIns="0" tIns="0" rIns="0" bIns="0" rtlCol="0" anchor="ctr"/>
          <a:lstStyle/>
          <a:p>
            <a:pPr indent="0" marL="0">
              <a:buNone/>
            </a:pPr>
            <a:r>
              <a:rPr lang="en-US" sz="1150" dirty="0">
                <a:solidFill>
                  <a:srgbClr val="1C2330"/>
                </a:solidFill>
                <a:latin typeface="Calibri" pitchFamily="34" charset="0"/>
                <a:ea typeface="Calibri" pitchFamily="34" charset="-122"/>
                <a:cs typeface="Calibri" pitchFamily="34" charset="-120"/>
              </a:rPr>
              <a:t>Appendix: volume detail</a:t>
            </a:r>
            <a:endParaRPr lang="en-US" sz="1150" dirty="0"/>
          </a:p>
        </p:txBody>
      </p:sp>
      <p:sp>
        <p:nvSpPr>
          <p:cNvPr id="72" name="Text 70"/>
          <p:cNvSpPr txBox="1"/>
          <p:nvPr/>
        </p:nvSpPr>
        <p:spPr>
          <a:xfrm>
            <a:off x="10637215" y="5458968"/>
            <a:ext cx="640080" cy="420624"/>
          </a:xfrm>
          <a:prstGeom prst="rect">
            <a:avLst/>
          </a:prstGeom>
          <a:noFill/>
          <a:ln/>
        </p:spPr>
        <p:txBody>
          <a:bodyPr wrap="square" lIns="0" tIns="0" rIns="0" bIns="0" rtlCol="0" anchor="ctr"/>
          <a:lstStyle/>
          <a:p>
            <a:pPr algn="r" indent="0" marL="0">
              <a:buNone/>
            </a:pPr>
            <a:r>
              <a:rPr lang="en-US" sz="1200" b="1" dirty="0">
                <a:solidFill>
                  <a:srgbClr val="1F7A6B"/>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EXECUTIVE SUMMARY</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What CCM delivers today</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LEADERSHIP</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3</a:t>
            </a:r>
            <a:endParaRPr lang="en-US" sz="900" dirty="0"/>
          </a:p>
        </p:txBody>
      </p:sp>
      <p:sp>
        <p:nvSpPr>
          <p:cNvPr id="9" name="Shape 7"/>
          <p:cNvSpPr/>
          <p:nvPr/>
        </p:nvSpPr>
        <p:spPr>
          <a:xfrm>
            <a:off x="548640" y="1645920"/>
            <a:ext cx="146304" cy="146304"/>
          </a:xfrm>
          <a:prstGeom prst="ellipse">
            <a:avLst/>
          </a:prstGeom>
          <a:solidFill>
            <a:srgbClr val="1F4FB8"/>
          </a:solidFill>
          <a:ln/>
        </p:spPr>
      </p:sp>
      <p:sp>
        <p:nvSpPr>
          <p:cNvPr id="10" name="Text 8"/>
          <p:cNvSpPr txBox="1"/>
          <p:nvPr/>
        </p:nvSpPr>
        <p:spPr>
          <a:xfrm>
            <a:off x="914400" y="1600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C2330"/>
                </a:solidFill>
                <a:latin typeface="Calibri" pitchFamily="34" charset="0"/>
                <a:ea typeface="Calibri" pitchFamily="34" charset="-122"/>
                <a:cs typeface="Calibri" pitchFamily="34" charset="-120"/>
              </a:rPr>
              <a:t>One platform, every channel. </a:t>
            </a:r>
            <a:pPr indent="0" marL="0">
              <a:lnSpc>
                <a:spcPct val="105000"/>
              </a:lnSpc>
              <a:buNone/>
            </a:pPr>
            <a:r>
              <a:rPr lang="en-US" sz="1400" dirty="0">
                <a:solidFill>
                  <a:srgbClr val="1C2330"/>
                </a:solidFill>
                <a:latin typeface="Calibri" pitchFamily="34" charset="0"/>
                <a:ea typeface="Calibri" pitchFamily="34" charset="-122"/>
                <a:cs typeface="Calibri" pitchFamily="34" charset="-120"/>
              </a:rPr>
              <a:t>CCM composes and delivers communications to members, prospects, agents and providers across email, SMS/MMS, print and digital.</a:t>
            </a:r>
            <a:endParaRPr lang="en-US" sz="1400" dirty="0"/>
          </a:p>
        </p:txBody>
      </p:sp>
      <p:sp>
        <p:nvSpPr>
          <p:cNvPr id="11" name="Shape 9"/>
          <p:cNvSpPr/>
          <p:nvPr/>
        </p:nvSpPr>
        <p:spPr>
          <a:xfrm>
            <a:off x="548640" y="2788920"/>
            <a:ext cx="146304" cy="146304"/>
          </a:xfrm>
          <a:prstGeom prst="ellipse">
            <a:avLst/>
          </a:prstGeom>
          <a:solidFill>
            <a:srgbClr val="1F4FB8"/>
          </a:solidFill>
          <a:ln/>
        </p:spPr>
      </p:sp>
      <p:sp>
        <p:nvSpPr>
          <p:cNvPr id="12" name="Text 10"/>
          <p:cNvSpPr txBox="1"/>
          <p:nvPr/>
        </p:nvSpPr>
        <p:spPr>
          <a:xfrm>
            <a:off x="914400" y="2743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C2330"/>
                </a:solidFill>
                <a:latin typeface="Calibri" pitchFamily="34" charset="0"/>
                <a:ea typeface="Calibri" pitchFamily="34" charset="-122"/>
                <a:cs typeface="Calibri" pitchFamily="34" charset="-120"/>
              </a:rPr>
              <a:t>Built to plug in. </a:t>
            </a:r>
            <a:pPr indent="0" marL="0">
              <a:lnSpc>
                <a:spcPct val="105000"/>
              </a:lnSpc>
              <a:buNone/>
            </a:pPr>
            <a:r>
              <a:rPr lang="en-US" sz="1400" dirty="0">
                <a:solidFill>
                  <a:srgbClr val="1C2330"/>
                </a:solidFill>
                <a:latin typeface="Calibri" pitchFamily="34" charset="0"/>
                <a:ea typeface="Calibri" pitchFamily="34" charset="-122"/>
                <a:cs typeface="Calibri" pitchFamily="34" charset="-120"/>
              </a:rPr>
              <a:t>Quadient Inspire handles composition. CCM APIs on OpenShift give source systems three ways in: real-time API, scheduled batch and an embeddable on-demand letter builder.</a:t>
            </a:r>
            <a:endParaRPr lang="en-US" sz="1400" dirty="0"/>
          </a:p>
        </p:txBody>
      </p:sp>
      <p:sp>
        <p:nvSpPr>
          <p:cNvPr id="13" name="Shape 11"/>
          <p:cNvSpPr/>
          <p:nvPr/>
        </p:nvSpPr>
        <p:spPr>
          <a:xfrm>
            <a:off x="548640" y="3931920"/>
            <a:ext cx="146304" cy="146304"/>
          </a:xfrm>
          <a:prstGeom prst="ellipse">
            <a:avLst/>
          </a:prstGeom>
          <a:solidFill>
            <a:srgbClr val="1F4FB8"/>
          </a:solidFill>
          <a:ln/>
        </p:spPr>
      </p:sp>
      <p:sp>
        <p:nvSpPr>
          <p:cNvPr id="14" name="Text 12"/>
          <p:cNvSpPr txBox="1"/>
          <p:nvPr/>
        </p:nvSpPr>
        <p:spPr>
          <a:xfrm>
            <a:off x="914400" y="3886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C2330"/>
                </a:solidFill>
                <a:latin typeface="Calibri" pitchFamily="34" charset="0"/>
                <a:ea typeface="Calibri" pitchFamily="34" charset="-122"/>
                <a:cs typeface="Calibri" pitchFamily="34" charset="-120"/>
              </a:rPr>
              <a:t>Operating at scale. </a:t>
            </a:r>
            <a:pPr indent="0" marL="0">
              <a:lnSpc>
                <a:spcPct val="105000"/>
              </a:lnSpc>
              <a:buNone/>
            </a:pPr>
            <a:r>
              <a:rPr lang="en-US" sz="1400" dirty="0">
                <a:solidFill>
                  <a:srgbClr val="1C2330"/>
                </a:solidFill>
                <a:latin typeface="Calibri" pitchFamily="34" charset="0"/>
                <a:ea typeface="Calibri" pitchFamily="34" charset="-122"/>
                <a:cs typeface="Calibri" pitchFamily="34" charset="-120"/>
              </a:rPr>
              <a:t>24.3M communications delivered in 2025 through September 2. Payments (PPX) alone accounts for 56% of that volume.</a:t>
            </a:r>
            <a:endParaRPr lang="en-US" sz="1400" dirty="0"/>
          </a:p>
        </p:txBody>
      </p:sp>
      <p:sp>
        <p:nvSpPr>
          <p:cNvPr id="15" name="Shape 13"/>
          <p:cNvSpPr/>
          <p:nvPr/>
        </p:nvSpPr>
        <p:spPr>
          <a:xfrm>
            <a:off x="548640" y="5074920"/>
            <a:ext cx="146304" cy="146304"/>
          </a:xfrm>
          <a:prstGeom prst="ellipse">
            <a:avLst/>
          </a:prstGeom>
          <a:solidFill>
            <a:srgbClr val="1F4FB8"/>
          </a:solidFill>
          <a:ln/>
        </p:spPr>
      </p:sp>
      <p:sp>
        <p:nvSpPr>
          <p:cNvPr id="16" name="Text 14"/>
          <p:cNvSpPr txBox="1"/>
          <p:nvPr/>
        </p:nvSpPr>
        <p:spPr>
          <a:xfrm>
            <a:off x="914400" y="5029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C2330"/>
                </a:solidFill>
                <a:latin typeface="Calibri" pitchFamily="34" charset="0"/>
                <a:ea typeface="Calibri" pitchFamily="34" charset="-122"/>
                <a:cs typeface="Calibri" pitchFamily="34" charset="-120"/>
              </a:rPr>
              <a:t>Tracked end to end. </a:t>
            </a:r>
            <a:pPr indent="0" marL="0">
              <a:lnSpc>
                <a:spcPct val="105000"/>
              </a:lnSpc>
              <a:buNone/>
            </a:pPr>
            <a:r>
              <a:rPr lang="en-US" sz="1400" dirty="0">
                <a:solidFill>
                  <a:srgbClr val="1C2330"/>
                </a:solidFill>
                <a:latin typeface="Calibri" pitchFamily="34" charset="0"/>
                <a:ea typeface="Calibri" pitchFamily="34" charset="-122"/>
                <a:cs typeface="Calibri" pitchFamily="34" charset="-120"/>
              </a:rPr>
              <a:t>Every request, delivery status and archived copy is recorded in Recon, giving the business self-service tracking, suppression, reprint and audit reporting.</a:t>
            </a:r>
            <a:endParaRPr lang="en-US" sz="1400" dirty="0"/>
          </a:p>
        </p:txBody>
      </p:sp>
      <p:sp>
        <p:nvSpPr>
          <p:cNvPr id="17" name="Shape 15"/>
          <p:cNvSpPr/>
          <p:nvPr/>
        </p:nvSpPr>
        <p:spPr>
          <a:xfrm>
            <a:off x="6995160" y="1600200"/>
            <a:ext cx="2240280" cy="2148840"/>
          </a:xfrm>
          <a:prstGeom prst="roundRect">
            <a:avLst>
              <a:gd name="adj" fmla="val 2553"/>
            </a:avLst>
          </a:prstGeom>
          <a:solidFill>
            <a:srgbClr val="0F1B2D"/>
          </a:solidFill>
          <a:ln/>
        </p:spPr>
      </p:sp>
      <p:sp>
        <p:nvSpPr>
          <p:cNvPr id="18" name="Text 16"/>
          <p:cNvSpPr txBox="1"/>
          <p:nvPr/>
        </p:nvSpPr>
        <p:spPr>
          <a:xfrm>
            <a:off x="7269480" y="1920240"/>
            <a:ext cx="169164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24.3M</a:t>
            </a:r>
            <a:endParaRPr lang="en-US" sz="4000" dirty="0"/>
          </a:p>
        </p:txBody>
      </p:sp>
      <p:sp>
        <p:nvSpPr>
          <p:cNvPr id="19" name="Text 17"/>
          <p:cNvSpPr txBox="1"/>
          <p:nvPr/>
        </p:nvSpPr>
        <p:spPr>
          <a:xfrm>
            <a:off x="7269480" y="2788920"/>
            <a:ext cx="1691640" cy="731520"/>
          </a:xfrm>
          <a:prstGeom prst="rect">
            <a:avLst/>
          </a:prstGeom>
          <a:noFill/>
          <a:ln/>
        </p:spPr>
        <p:txBody>
          <a:bodyPr wrap="square" lIns="0" tIns="0" rIns="0" bIns="0" rtlCol="0" anchor="t"/>
          <a:lstStyle/>
          <a:p>
            <a:pPr indent="0" marL="0">
              <a:buNone/>
            </a:pPr>
            <a:r>
              <a:rPr lang="en-US" sz="1300" dirty="0">
                <a:solidFill>
                  <a:srgbClr val="B8D4D9"/>
                </a:solidFill>
                <a:latin typeface="Calibri" pitchFamily="34" charset="0"/>
                <a:ea typeface="Calibri" pitchFamily="34" charset="-122"/>
                <a:cs typeface="Calibri" pitchFamily="34" charset="-120"/>
              </a:rPr>
              <a:t>communications delivered, 2025 YTD</a:t>
            </a:r>
            <a:endParaRPr lang="en-US" sz="1300" dirty="0"/>
          </a:p>
        </p:txBody>
      </p:sp>
      <p:sp>
        <p:nvSpPr>
          <p:cNvPr id="20" name="Shape 18"/>
          <p:cNvSpPr/>
          <p:nvPr/>
        </p:nvSpPr>
        <p:spPr>
          <a:xfrm>
            <a:off x="9418320" y="1600200"/>
            <a:ext cx="2240280" cy="2148840"/>
          </a:xfrm>
          <a:prstGeom prst="roundRect">
            <a:avLst>
              <a:gd name="adj" fmla="val 2553"/>
            </a:avLst>
          </a:prstGeom>
          <a:solidFill>
            <a:srgbClr val="E7EEFB"/>
          </a:solidFill>
          <a:ln/>
        </p:spPr>
      </p:sp>
      <p:sp>
        <p:nvSpPr>
          <p:cNvPr id="21" name="Text 19"/>
          <p:cNvSpPr txBox="1"/>
          <p:nvPr/>
        </p:nvSpPr>
        <p:spPr>
          <a:xfrm>
            <a:off x="9692640" y="1920240"/>
            <a:ext cx="1691640" cy="822960"/>
          </a:xfrm>
          <a:prstGeom prst="rect">
            <a:avLst/>
          </a:prstGeom>
          <a:noFill/>
          <a:ln/>
        </p:spPr>
        <p:txBody>
          <a:bodyPr wrap="square" lIns="0" tIns="0" rIns="0" bIns="0" rtlCol="0" anchor="t"/>
          <a:lstStyle/>
          <a:p>
            <a:pPr indent="0" marL="0">
              <a:buNone/>
            </a:pPr>
            <a:r>
              <a:rPr lang="en-US" sz="4000" b="1" dirty="0">
                <a:solidFill>
                  <a:srgbClr val="16398A"/>
                </a:solidFill>
                <a:latin typeface="Calibri" pitchFamily="34" charset="0"/>
                <a:ea typeface="Calibri" pitchFamily="34" charset="-122"/>
                <a:cs typeface="Calibri" pitchFamily="34" charset="-120"/>
              </a:rPr>
              <a:t>36</a:t>
            </a:r>
            <a:endParaRPr lang="en-US" sz="4000" dirty="0"/>
          </a:p>
        </p:txBody>
      </p:sp>
      <p:sp>
        <p:nvSpPr>
          <p:cNvPr id="22" name="Text 20"/>
          <p:cNvSpPr txBox="1"/>
          <p:nvPr/>
        </p:nvSpPr>
        <p:spPr>
          <a:xfrm>
            <a:off x="9692640" y="2788920"/>
            <a:ext cx="1691640" cy="731520"/>
          </a:xfrm>
          <a:prstGeom prst="rect">
            <a:avLst/>
          </a:prstGeom>
          <a:noFill/>
          <a:ln/>
        </p:spPr>
        <p:txBody>
          <a:bodyPr wrap="square" lIns="0" tIns="0" rIns="0" bIns="0" rtlCol="0" anchor="t"/>
          <a:lstStyle/>
          <a:p>
            <a:pPr indent="0" marL="0">
              <a:buNone/>
            </a:pPr>
            <a:r>
              <a:rPr lang="en-US" sz="1300" dirty="0">
                <a:solidFill>
                  <a:srgbClr val="1C2330"/>
                </a:solidFill>
                <a:latin typeface="Calibri" pitchFamily="34" charset="0"/>
                <a:ea typeface="Calibri" pitchFamily="34" charset="-122"/>
                <a:cs typeface="Calibri" pitchFamily="34" charset="-120"/>
              </a:rPr>
              <a:t>systems and programs integrated</a:t>
            </a:r>
            <a:endParaRPr lang="en-US" sz="1300" dirty="0"/>
          </a:p>
        </p:txBody>
      </p:sp>
      <p:sp>
        <p:nvSpPr>
          <p:cNvPr id="23" name="Shape 21"/>
          <p:cNvSpPr/>
          <p:nvPr/>
        </p:nvSpPr>
        <p:spPr>
          <a:xfrm>
            <a:off x="6995160" y="3931920"/>
            <a:ext cx="2240280" cy="2148840"/>
          </a:xfrm>
          <a:prstGeom prst="roundRect">
            <a:avLst>
              <a:gd name="adj" fmla="val 2553"/>
            </a:avLst>
          </a:prstGeom>
          <a:solidFill>
            <a:srgbClr val="E7EEFB"/>
          </a:solidFill>
          <a:ln/>
        </p:spPr>
      </p:sp>
      <p:sp>
        <p:nvSpPr>
          <p:cNvPr id="24" name="Text 22"/>
          <p:cNvSpPr txBox="1"/>
          <p:nvPr/>
        </p:nvSpPr>
        <p:spPr>
          <a:xfrm>
            <a:off x="7269480" y="4251960"/>
            <a:ext cx="1691640" cy="822960"/>
          </a:xfrm>
          <a:prstGeom prst="rect">
            <a:avLst/>
          </a:prstGeom>
          <a:noFill/>
          <a:ln/>
        </p:spPr>
        <p:txBody>
          <a:bodyPr wrap="square" lIns="0" tIns="0" rIns="0" bIns="0" rtlCol="0" anchor="t"/>
          <a:lstStyle/>
          <a:p>
            <a:pPr indent="0" marL="0">
              <a:buNone/>
            </a:pPr>
            <a:r>
              <a:rPr lang="en-US" sz="4000" b="1" dirty="0">
                <a:solidFill>
                  <a:srgbClr val="16398A"/>
                </a:solidFill>
                <a:latin typeface="Calibri" pitchFamily="34" charset="0"/>
                <a:ea typeface="Calibri" pitchFamily="34" charset="-122"/>
                <a:cs typeface="Calibri" pitchFamily="34" charset="-120"/>
              </a:rPr>
              <a:t>3</a:t>
            </a:r>
            <a:endParaRPr lang="en-US" sz="4000" dirty="0"/>
          </a:p>
        </p:txBody>
      </p:sp>
      <p:sp>
        <p:nvSpPr>
          <p:cNvPr id="25" name="Text 23"/>
          <p:cNvSpPr txBox="1"/>
          <p:nvPr/>
        </p:nvSpPr>
        <p:spPr>
          <a:xfrm>
            <a:off x="7269480" y="5120640"/>
            <a:ext cx="1691640" cy="731520"/>
          </a:xfrm>
          <a:prstGeom prst="rect">
            <a:avLst/>
          </a:prstGeom>
          <a:noFill/>
          <a:ln/>
        </p:spPr>
        <p:txBody>
          <a:bodyPr wrap="square" lIns="0" tIns="0" rIns="0" bIns="0" rtlCol="0" anchor="t"/>
          <a:lstStyle/>
          <a:p>
            <a:pPr indent="0" marL="0">
              <a:buNone/>
            </a:pPr>
            <a:r>
              <a:rPr lang="en-US" sz="1300" dirty="0">
                <a:solidFill>
                  <a:srgbClr val="1C2330"/>
                </a:solidFill>
                <a:latin typeface="Calibri" pitchFamily="34" charset="0"/>
                <a:ea typeface="Calibri" pitchFamily="34" charset="-122"/>
                <a:cs typeface="Calibri" pitchFamily="34" charset="-120"/>
              </a:rPr>
              <a:t>integration methods: API, batch, on-demand</a:t>
            </a:r>
            <a:endParaRPr lang="en-US" sz="1300" dirty="0"/>
          </a:p>
        </p:txBody>
      </p:sp>
      <p:sp>
        <p:nvSpPr>
          <p:cNvPr id="26" name="Shape 24"/>
          <p:cNvSpPr/>
          <p:nvPr/>
        </p:nvSpPr>
        <p:spPr>
          <a:xfrm>
            <a:off x="9418320" y="3931920"/>
            <a:ext cx="2240280" cy="2148840"/>
          </a:xfrm>
          <a:prstGeom prst="roundRect">
            <a:avLst>
              <a:gd name="adj" fmla="val 2553"/>
            </a:avLst>
          </a:prstGeom>
          <a:solidFill>
            <a:srgbClr val="E7EEFB"/>
          </a:solidFill>
          <a:ln/>
        </p:spPr>
      </p:sp>
      <p:sp>
        <p:nvSpPr>
          <p:cNvPr id="27" name="Text 25"/>
          <p:cNvSpPr txBox="1"/>
          <p:nvPr/>
        </p:nvSpPr>
        <p:spPr>
          <a:xfrm>
            <a:off x="9692640" y="4251960"/>
            <a:ext cx="1691640" cy="822960"/>
          </a:xfrm>
          <a:prstGeom prst="rect">
            <a:avLst/>
          </a:prstGeom>
          <a:noFill/>
          <a:ln/>
        </p:spPr>
        <p:txBody>
          <a:bodyPr wrap="square" lIns="0" tIns="0" rIns="0" bIns="0" rtlCol="0" anchor="t"/>
          <a:lstStyle/>
          <a:p>
            <a:pPr indent="0" marL="0">
              <a:buNone/>
            </a:pPr>
            <a:r>
              <a:rPr lang="en-US" sz="4000" b="1" dirty="0">
                <a:solidFill>
                  <a:srgbClr val="16398A"/>
                </a:solidFill>
                <a:latin typeface="Calibri" pitchFamily="34" charset="0"/>
                <a:ea typeface="Calibri" pitchFamily="34" charset="-122"/>
                <a:cs typeface="Calibri" pitchFamily="34" charset="-120"/>
              </a:rPr>
              <a:t>442</a:t>
            </a:r>
            <a:endParaRPr lang="en-US" sz="4000" dirty="0"/>
          </a:p>
        </p:txBody>
      </p:sp>
      <p:sp>
        <p:nvSpPr>
          <p:cNvPr id="28" name="Text 26"/>
          <p:cNvSpPr txBox="1"/>
          <p:nvPr/>
        </p:nvSpPr>
        <p:spPr>
          <a:xfrm>
            <a:off x="9692640" y="5120640"/>
            <a:ext cx="1691640" cy="731520"/>
          </a:xfrm>
          <a:prstGeom prst="rect">
            <a:avLst/>
          </a:prstGeom>
          <a:noFill/>
          <a:ln/>
        </p:spPr>
        <p:txBody>
          <a:bodyPr wrap="square" lIns="0" tIns="0" rIns="0" bIns="0" rtlCol="0" anchor="t"/>
          <a:lstStyle/>
          <a:p>
            <a:pPr indent="0" marL="0">
              <a:buNone/>
            </a:pPr>
            <a:r>
              <a:rPr lang="en-US" sz="1300" dirty="0">
                <a:solidFill>
                  <a:srgbClr val="1C2330"/>
                </a:solidFill>
                <a:latin typeface="Calibri" pitchFamily="34" charset="0"/>
                <a:ea typeface="Calibri" pitchFamily="34" charset="-122"/>
                <a:cs typeface="Calibri" pitchFamily="34" charset="-120"/>
              </a:rPr>
              <a:t>legacy Client Letter templates in migration scope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PLATFORM INVENTORY</a:t>
            </a:r>
            <a:endParaRPr lang="en-US" sz="1100" dirty="0"/>
          </a:p>
        </p:txBody>
      </p:sp>
      <p:sp>
        <p:nvSpPr>
          <p:cNvPr id="4" name="Text 2"/>
          <p:cNvSpPr txBox="1"/>
          <p:nvPr/>
        </p:nvSpPr>
        <p:spPr>
          <a:xfrm>
            <a:off x="548640" y="502920"/>
            <a:ext cx="758952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CCM by the numbers</a:t>
            </a:r>
            <a:endParaRPr lang="en-US" sz="2700" dirty="0"/>
          </a:p>
        </p:txBody>
      </p:sp>
      <p:sp>
        <p:nvSpPr>
          <p:cNvPr id="5" name="Shape 3"/>
          <p:cNvSpPr/>
          <p:nvPr/>
        </p:nvSpPr>
        <p:spPr>
          <a:xfrm>
            <a:off x="8351215" y="146304"/>
            <a:ext cx="1024128" cy="896112"/>
          </a:xfrm>
          <a:prstGeom prst="rect">
            <a:avLst/>
          </a:prstGeom>
          <a:solidFill>
            <a:srgbClr val="1F4FB8"/>
          </a:solidFill>
          <a:ln/>
        </p:spPr>
      </p:sp>
      <p:sp>
        <p:nvSpPr>
          <p:cNvPr id="6" name="Text 4"/>
          <p:cNvSpPr txBox="1"/>
          <p:nvPr/>
        </p:nvSpPr>
        <p:spPr>
          <a:xfrm>
            <a:off x="8351215"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7" name="Text 5"/>
          <p:cNvSpPr txBox="1"/>
          <p:nvPr/>
        </p:nvSpPr>
        <p:spPr>
          <a:xfrm>
            <a:off x="8351215"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UI apps</a:t>
            </a:r>
            <a:endParaRPr lang="en-US" sz="900" dirty="0"/>
          </a:p>
        </p:txBody>
      </p:sp>
      <p:sp>
        <p:nvSpPr>
          <p:cNvPr id="8" name="Shape 6"/>
          <p:cNvSpPr/>
          <p:nvPr/>
        </p:nvSpPr>
        <p:spPr>
          <a:xfrm>
            <a:off x="9485071" y="146304"/>
            <a:ext cx="1024128" cy="896112"/>
          </a:xfrm>
          <a:prstGeom prst="rect">
            <a:avLst/>
          </a:prstGeom>
          <a:solidFill>
            <a:srgbClr val="1F4FB8"/>
          </a:solidFill>
          <a:ln/>
        </p:spPr>
      </p:sp>
      <p:sp>
        <p:nvSpPr>
          <p:cNvPr id="9" name="Text 7"/>
          <p:cNvSpPr txBox="1"/>
          <p:nvPr/>
        </p:nvSpPr>
        <p:spPr>
          <a:xfrm>
            <a:off x="9485071"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9</a:t>
            </a:r>
            <a:endParaRPr lang="en-US" sz="2600" dirty="0"/>
          </a:p>
        </p:txBody>
      </p:sp>
      <p:sp>
        <p:nvSpPr>
          <p:cNvPr id="10" name="Text 8"/>
          <p:cNvSpPr txBox="1"/>
          <p:nvPr/>
        </p:nvSpPr>
        <p:spPr>
          <a:xfrm>
            <a:off x="9485071"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Services</a:t>
            </a:r>
            <a:endParaRPr lang="en-US" sz="900" dirty="0"/>
          </a:p>
        </p:txBody>
      </p:sp>
      <p:sp>
        <p:nvSpPr>
          <p:cNvPr id="11" name="Shape 9"/>
          <p:cNvSpPr/>
          <p:nvPr/>
        </p:nvSpPr>
        <p:spPr>
          <a:xfrm>
            <a:off x="10618927" y="146304"/>
            <a:ext cx="1024128" cy="896112"/>
          </a:xfrm>
          <a:prstGeom prst="rect">
            <a:avLst/>
          </a:prstGeom>
          <a:solidFill>
            <a:srgbClr val="1F4FB8"/>
          </a:solidFill>
          <a:ln/>
        </p:spPr>
      </p:sp>
      <p:sp>
        <p:nvSpPr>
          <p:cNvPr id="12" name="Text 10"/>
          <p:cNvSpPr txBox="1"/>
          <p:nvPr/>
        </p:nvSpPr>
        <p:spPr>
          <a:xfrm>
            <a:off x="10618927"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13" name="Text 11"/>
          <p:cNvSpPr txBox="1"/>
          <p:nvPr/>
        </p:nvSpPr>
        <p:spPr>
          <a:xfrm>
            <a:off x="10618927"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Databases</a:t>
            </a:r>
            <a:endParaRPr lang="en-US" sz="900" dirty="0"/>
          </a:p>
        </p:txBody>
      </p:sp>
      <p:sp>
        <p:nvSpPr>
          <p:cNvPr id="14" name="Text 12"/>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15" name="Text 13"/>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4</a:t>
            </a:r>
            <a:endParaRPr lang="en-US" sz="900" dirty="0"/>
          </a:p>
        </p:txBody>
      </p:sp>
      <p:sp>
        <p:nvSpPr>
          <p:cNvPr id="16" name="Shape 14"/>
          <p:cNvSpPr/>
          <p:nvPr/>
        </p:nvSpPr>
        <p:spPr>
          <a:xfrm>
            <a:off x="548640" y="1371600"/>
            <a:ext cx="2622728" cy="384048"/>
          </a:xfrm>
          <a:prstGeom prst="rect">
            <a:avLst/>
          </a:prstGeom>
          <a:solidFill>
            <a:srgbClr val="0F1B2D"/>
          </a:solidFill>
          <a:ln/>
        </p:spPr>
      </p:sp>
      <p:sp>
        <p:nvSpPr>
          <p:cNvPr id="17" name="Text 15"/>
          <p:cNvSpPr txBox="1"/>
          <p:nvPr/>
        </p:nvSpPr>
        <p:spPr>
          <a:xfrm>
            <a:off x="685800" y="1371600"/>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UI applications</a:t>
            </a:r>
            <a:endParaRPr lang="en-US" sz="1200" dirty="0"/>
          </a:p>
        </p:txBody>
      </p:sp>
      <p:sp>
        <p:nvSpPr>
          <p:cNvPr id="18" name="Text 16"/>
          <p:cNvSpPr txBox="1"/>
          <p:nvPr/>
        </p:nvSpPr>
        <p:spPr>
          <a:xfrm>
            <a:off x="2439848" y="1371600"/>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5</a:t>
            </a:r>
            <a:endParaRPr lang="en-US" sz="1700" dirty="0"/>
          </a:p>
        </p:txBody>
      </p:sp>
      <p:sp>
        <p:nvSpPr>
          <p:cNvPr id="19" name="Shape 17"/>
          <p:cNvSpPr/>
          <p:nvPr/>
        </p:nvSpPr>
        <p:spPr>
          <a:xfrm>
            <a:off x="548640" y="1755648"/>
            <a:ext cx="2622728" cy="1060704"/>
          </a:xfrm>
          <a:prstGeom prst="rect">
            <a:avLst/>
          </a:prstGeom>
          <a:solidFill>
            <a:srgbClr val="FFFFFF"/>
          </a:solidFill>
          <a:ln w="9525">
            <a:solidFill>
              <a:srgbClr val="CCD3DD"/>
            </a:solidFill>
            <a:prstDash val="solid"/>
          </a:ln>
        </p:spPr>
      </p:sp>
      <p:sp>
        <p:nvSpPr>
          <p:cNvPr id="20" name="Text 18"/>
          <p:cNvSpPr txBox="1"/>
          <p:nvPr/>
        </p:nvSpPr>
        <p:spPr>
          <a:xfrm>
            <a:off x="685800" y="1847088"/>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Recon Dashboard · On-Demand Reusable UI · Inspire Interactive · Inspire Designer · Power BI CCM Reports</a:t>
            </a:r>
            <a:endParaRPr lang="en-US" sz="1050" dirty="0"/>
          </a:p>
        </p:txBody>
      </p:sp>
      <p:sp>
        <p:nvSpPr>
          <p:cNvPr id="21" name="Shape 19"/>
          <p:cNvSpPr/>
          <p:nvPr/>
        </p:nvSpPr>
        <p:spPr>
          <a:xfrm>
            <a:off x="3372536" y="1371600"/>
            <a:ext cx="2622728" cy="384048"/>
          </a:xfrm>
          <a:prstGeom prst="rect">
            <a:avLst/>
          </a:prstGeom>
          <a:solidFill>
            <a:srgbClr val="1F4FB8"/>
          </a:solidFill>
          <a:ln/>
        </p:spPr>
      </p:sp>
      <p:sp>
        <p:nvSpPr>
          <p:cNvPr id="22" name="Text 20"/>
          <p:cNvSpPr txBox="1"/>
          <p:nvPr/>
        </p:nvSpPr>
        <p:spPr>
          <a:xfrm>
            <a:off x="3509696" y="1371600"/>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Backend services</a:t>
            </a:r>
            <a:endParaRPr lang="en-US" sz="1200" dirty="0"/>
          </a:p>
        </p:txBody>
      </p:sp>
      <p:sp>
        <p:nvSpPr>
          <p:cNvPr id="23" name="Text 21"/>
          <p:cNvSpPr txBox="1"/>
          <p:nvPr/>
        </p:nvSpPr>
        <p:spPr>
          <a:xfrm>
            <a:off x="5263744" y="1371600"/>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9</a:t>
            </a:r>
            <a:endParaRPr lang="en-US" sz="1700" dirty="0"/>
          </a:p>
        </p:txBody>
      </p:sp>
      <p:sp>
        <p:nvSpPr>
          <p:cNvPr id="24" name="Shape 22"/>
          <p:cNvSpPr/>
          <p:nvPr/>
        </p:nvSpPr>
        <p:spPr>
          <a:xfrm>
            <a:off x="3372536" y="1755648"/>
            <a:ext cx="2622728" cy="1060704"/>
          </a:xfrm>
          <a:prstGeom prst="rect">
            <a:avLst/>
          </a:prstGeom>
          <a:solidFill>
            <a:srgbClr val="FFFFFF"/>
          </a:solidFill>
          <a:ln w="9525">
            <a:solidFill>
              <a:srgbClr val="CCD3DD"/>
            </a:solidFill>
            <a:prstDash val="solid"/>
          </a:ln>
        </p:spPr>
      </p:sp>
      <p:sp>
        <p:nvSpPr>
          <p:cNvPr id="25" name="Text 23"/>
          <p:cNvSpPr txBox="1"/>
          <p:nvPr/>
        </p:nvSpPr>
        <p:spPr>
          <a:xfrm>
            <a:off x="3509696" y="1847088"/>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4 in ccm-dcs-prod · 4 in ccm-preprocessor-prod · SMS/MMS Response Handler in sms-handler-prod</a:t>
            </a:r>
            <a:endParaRPr lang="en-US" sz="1050" dirty="0"/>
          </a:p>
        </p:txBody>
      </p:sp>
      <p:sp>
        <p:nvSpPr>
          <p:cNvPr id="26" name="Shape 24"/>
          <p:cNvSpPr/>
          <p:nvPr/>
        </p:nvSpPr>
        <p:spPr>
          <a:xfrm>
            <a:off x="6196432" y="1371600"/>
            <a:ext cx="2622728" cy="384048"/>
          </a:xfrm>
          <a:prstGeom prst="rect">
            <a:avLst/>
          </a:prstGeom>
          <a:solidFill>
            <a:srgbClr val="1F7A6B"/>
          </a:solidFill>
          <a:ln/>
        </p:spPr>
      </p:sp>
      <p:sp>
        <p:nvSpPr>
          <p:cNvPr id="27" name="Text 25"/>
          <p:cNvSpPr txBox="1"/>
          <p:nvPr/>
        </p:nvSpPr>
        <p:spPr>
          <a:xfrm>
            <a:off x="6333592" y="1371600"/>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API endpoints</a:t>
            </a:r>
            <a:endParaRPr lang="en-US" sz="1200" dirty="0"/>
          </a:p>
        </p:txBody>
      </p:sp>
      <p:sp>
        <p:nvSpPr>
          <p:cNvPr id="28" name="Text 26"/>
          <p:cNvSpPr txBox="1"/>
          <p:nvPr/>
        </p:nvSpPr>
        <p:spPr>
          <a:xfrm>
            <a:off x="8087639" y="1371600"/>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7</a:t>
            </a:r>
            <a:endParaRPr lang="en-US" sz="1700" dirty="0"/>
          </a:p>
        </p:txBody>
      </p:sp>
      <p:sp>
        <p:nvSpPr>
          <p:cNvPr id="29" name="Shape 27"/>
          <p:cNvSpPr/>
          <p:nvPr/>
        </p:nvSpPr>
        <p:spPr>
          <a:xfrm>
            <a:off x="6196432" y="1755648"/>
            <a:ext cx="2622728" cy="1060704"/>
          </a:xfrm>
          <a:prstGeom prst="rect">
            <a:avLst/>
          </a:prstGeom>
          <a:solidFill>
            <a:srgbClr val="FFFFFF"/>
          </a:solidFill>
          <a:ln w="9525">
            <a:solidFill>
              <a:srgbClr val="CCD3DD"/>
            </a:solidFill>
            <a:prstDash val="solid"/>
          </a:ln>
        </p:spPr>
      </p:sp>
      <p:sp>
        <p:nvSpPr>
          <p:cNvPr id="30" name="Text 28"/>
          <p:cNvSpPr txBox="1"/>
          <p:nvPr/>
        </p:nvSpPr>
        <p:spPr>
          <a:xfrm>
            <a:off x="6333592" y="1847088"/>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CCM API · Template Lookup · URL shortener · Comm Request · Line-type lookup · phoneNumbers · Send Messages</a:t>
            </a:r>
            <a:endParaRPr lang="en-US" sz="1050" dirty="0"/>
          </a:p>
        </p:txBody>
      </p:sp>
      <p:sp>
        <p:nvSpPr>
          <p:cNvPr id="31" name="Shape 29"/>
          <p:cNvSpPr/>
          <p:nvPr/>
        </p:nvSpPr>
        <p:spPr>
          <a:xfrm>
            <a:off x="9020327" y="1371600"/>
            <a:ext cx="2622728" cy="384048"/>
          </a:xfrm>
          <a:prstGeom prst="rect">
            <a:avLst/>
          </a:prstGeom>
          <a:solidFill>
            <a:srgbClr val="E8612C"/>
          </a:solidFill>
          <a:ln/>
        </p:spPr>
      </p:sp>
      <p:sp>
        <p:nvSpPr>
          <p:cNvPr id="32" name="Text 30"/>
          <p:cNvSpPr txBox="1"/>
          <p:nvPr/>
        </p:nvSpPr>
        <p:spPr>
          <a:xfrm>
            <a:off x="9157487" y="1371600"/>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Batch &amp; scheduled jobs</a:t>
            </a:r>
            <a:endParaRPr lang="en-US" sz="1200" dirty="0"/>
          </a:p>
        </p:txBody>
      </p:sp>
      <p:sp>
        <p:nvSpPr>
          <p:cNvPr id="33" name="Text 31"/>
          <p:cNvSpPr txBox="1"/>
          <p:nvPr/>
        </p:nvSpPr>
        <p:spPr>
          <a:xfrm>
            <a:off x="10911535" y="1371600"/>
            <a:ext cx="594360" cy="384048"/>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34" name="Shape 32"/>
          <p:cNvSpPr/>
          <p:nvPr/>
        </p:nvSpPr>
        <p:spPr>
          <a:xfrm>
            <a:off x="9020327" y="1755648"/>
            <a:ext cx="2622728" cy="1060704"/>
          </a:xfrm>
          <a:prstGeom prst="rect">
            <a:avLst/>
          </a:prstGeom>
          <a:solidFill>
            <a:srgbClr val="FFFFFF"/>
          </a:solidFill>
          <a:ln w="9525">
            <a:solidFill>
              <a:srgbClr val="CCD3DD"/>
            </a:solidFill>
            <a:prstDash val="solid"/>
          </a:ln>
        </p:spPr>
      </p:sp>
      <p:sp>
        <p:nvSpPr>
          <p:cNvPr id="35" name="Text 33"/>
          <p:cNvSpPr txBox="1"/>
          <p:nvPr/>
        </p:nvSpPr>
        <p:spPr>
          <a:xfrm>
            <a:off x="9157487" y="1847088"/>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CCM Preprocessor · Scaler file consolidation · Recon Batch Load · Recon Services</a:t>
            </a:r>
            <a:endParaRPr lang="en-US" sz="1050" dirty="0"/>
          </a:p>
        </p:txBody>
      </p:sp>
      <p:sp>
        <p:nvSpPr>
          <p:cNvPr id="36" name="Shape 34"/>
          <p:cNvSpPr/>
          <p:nvPr/>
        </p:nvSpPr>
        <p:spPr>
          <a:xfrm>
            <a:off x="548640" y="2999232"/>
            <a:ext cx="2622728" cy="384048"/>
          </a:xfrm>
          <a:prstGeom prst="rect">
            <a:avLst/>
          </a:prstGeom>
          <a:solidFill>
            <a:srgbClr val="3A4556"/>
          </a:solidFill>
          <a:ln/>
        </p:spPr>
      </p:sp>
      <p:sp>
        <p:nvSpPr>
          <p:cNvPr id="37" name="Text 35"/>
          <p:cNvSpPr txBox="1"/>
          <p:nvPr/>
        </p:nvSpPr>
        <p:spPr>
          <a:xfrm>
            <a:off x="685800" y="2999232"/>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Databases</a:t>
            </a:r>
            <a:endParaRPr lang="en-US" sz="1200" dirty="0"/>
          </a:p>
        </p:txBody>
      </p:sp>
      <p:sp>
        <p:nvSpPr>
          <p:cNvPr id="38" name="Text 36"/>
          <p:cNvSpPr txBox="1"/>
          <p:nvPr/>
        </p:nvSpPr>
        <p:spPr>
          <a:xfrm>
            <a:off x="2439848" y="2999232"/>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6</a:t>
            </a:r>
            <a:endParaRPr lang="en-US" sz="1700" dirty="0"/>
          </a:p>
        </p:txBody>
      </p:sp>
      <p:sp>
        <p:nvSpPr>
          <p:cNvPr id="39" name="Shape 37"/>
          <p:cNvSpPr/>
          <p:nvPr/>
        </p:nvSpPr>
        <p:spPr>
          <a:xfrm>
            <a:off x="548640" y="3383280"/>
            <a:ext cx="2622728" cy="1060704"/>
          </a:xfrm>
          <a:prstGeom prst="rect">
            <a:avLst/>
          </a:prstGeom>
          <a:solidFill>
            <a:srgbClr val="FFFFFF"/>
          </a:solidFill>
          <a:ln w="9525">
            <a:solidFill>
              <a:srgbClr val="CCD3DD"/>
            </a:solidFill>
            <a:prstDash val="solid"/>
          </a:ln>
        </p:spPr>
      </p:sp>
      <p:sp>
        <p:nvSpPr>
          <p:cNvPr id="40" name="Text 38"/>
          <p:cNvSpPr txBox="1"/>
          <p:nvPr/>
        </p:nvSpPr>
        <p:spPr>
          <a:xfrm>
            <a:off x="685800" y="3474720"/>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4 SQL Server 2019 databases · P360 on PostgreSQL · GWDP SailFish</a:t>
            </a:r>
            <a:endParaRPr lang="en-US" sz="1050" dirty="0"/>
          </a:p>
        </p:txBody>
      </p:sp>
      <p:sp>
        <p:nvSpPr>
          <p:cNvPr id="41" name="Shape 39"/>
          <p:cNvSpPr/>
          <p:nvPr/>
        </p:nvSpPr>
        <p:spPr>
          <a:xfrm>
            <a:off x="3372536" y="2999232"/>
            <a:ext cx="2622728" cy="384048"/>
          </a:xfrm>
          <a:prstGeom prst="rect">
            <a:avLst/>
          </a:prstGeom>
          <a:solidFill>
            <a:srgbClr val="1F4FB8"/>
          </a:solidFill>
          <a:ln/>
        </p:spPr>
      </p:sp>
      <p:sp>
        <p:nvSpPr>
          <p:cNvPr id="42" name="Text 40"/>
          <p:cNvSpPr txBox="1"/>
          <p:nvPr/>
        </p:nvSpPr>
        <p:spPr>
          <a:xfrm>
            <a:off x="3509696" y="2999232"/>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Other data stores</a:t>
            </a:r>
            <a:endParaRPr lang="en-US" sz="1200" dirty="0"/>
          </a:p>
        </p:txBody>
      </p:sp>
      <p:sp>
        <p:nvSpPr>
          <p:cNvPr id="43" name="Text 41"/>
          <p:cNvSpPr txBox="1"/>
          <p:nvPr/>
        </p:nvSpPr>
        <p:spPr>
          <a:xfrm>
            <a:off x="5263744" y="2999232"/>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3</a:t>
            </a:r>
            <a:endParaRPr lang="en-US" sz="1700" dirty="0"/>
          </a:p>
        </p:txBody>
      </p:sp>
      <p:sp>
        <p:nvSpPr>
          <p:cNvPr id="44" name="Shape 42"/>
          <p:cNvSpPr/>
          <p:nvPr/>
        </p:nvSpPr>
        <p:spPr>
          <a:xfrm>
            <a:off x="3372536" y="3383280"/>
            <a:ext cx="2622728" cy="1060704"/>
          </a:xfrm>
          <a:prstGeom prst="rect">
            <a:avLst/>
          </a:prstGeom>
          <a:solidFill>
            <a:srgbClr val="FFFFFF"/>
          </a:solidFill>
          <a:ln w="9525">
            <a:solidFill>
              <a:srgbClr val="CCD3DD"/>
            </a:solidFill>
            <a:prstDash val="solid"/>
          </a:ln>
        </p:spPr>
      </p:sp>
      <p:sp>
        <p:nvSpPr>
          <p:cNvPr id="45" name="Text 43"/>
          <p:cNvSpPr txBox="1"/>
          <p:nvPr/>
        </p:nvSpPr>
        <p:spPr>
          <a:xfrm>
            <a:off x="3509696" y="3474720"/>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ECMS / Content Central archive · NAS network share · Google Analytics</a:t>
            </a:r>
            <a:endParaRPr lang="en-US" sz="1050" dirty="0"/>
          </a:p>
        </p:txBody>
      </p:sp>
      <p:sp>
        <p:nvSpPr>
          <p:cNvPr id="46" name="Shape 44"/>
          <p:cNvSpPr/>
          <p:nvPr/>
        </p:nvSpPr>
        <p:spPr>
          <a:xfrm>
            <a:off x="6196432" y="2999232"/>
            <a:ext cx="2622728" cy="384048"/>
          </a:xfrm>
          <a:prstGeom prst="rect">
            <a:avLst/>
          </a:prstGeom>
          <a:solidFill>
            <a:srgbClr val="0F1B2D"/>
          </a:solidFill>
          <a:ln/>
        </p:spPr>
      </p:sp>
      <p:sp>
        <p:nvSpPr>
          <p:cNvPr id="47" name="Text 45"/>
          <p:cNvSpPr txBox="1"/>
          <p:nvPr/>
        </p:nvSpPr>
        <p:spPr>
          <a:xfrm>
            <a:off x="6333592" y="2999232"/>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Inspire R15 servers</a:t>
            </a:r>
            <a:endParaRPr lang="en-US" sz="1200" dirty="0"/>
          </a:p>
        </p:txBody>
      </p:sp>
      <p:sp>
        <p:nvSpPr>
          <p:cNvPr id="48" name="Text 46"/>
          <p:cNvSpPr txBox="1"/>
          <p:nvPr/>
        </p:nvSpPr>
        <p:spPr>
          <a:xfrm>
            <a:off x="8087639" y="2999232"/>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13</a:t>
            </a:r>
            <a:endParaRPr lang="en-US" sz="1700" dirty="0"/>
          </a:p>
        </p:txBody>
      </p:sp>
      <p:sp>
        <p:nvSpPr>
          <p:cNvPr id="49" name="Shape 47"/>
          <p:cNvSpPr/>
          <p:nvPr/>
        </p:nvSpPr>
        <p:spPr>
          <a:xfrm>
            <a:off x="6196432" y="3383280"/>
            <a:ext cx="2622728" cy="1060704"/>
          </a:xfrm>
          <a:prstGeom prst="rect">
            <a:avLst/>
          </a:prstGeom>
          <a:solidFill>
            <a:srgbClr val="FFFFFF"/>
          </a:solidFill>
          <a:ln w="9525">
            <a:solidFill>
              <a:srgbClr val="CCD3DD"/>
            </a:solidFill>
            <a:prstDash val="solid"/>
          </a:ln>
        </p:spPr>
      </p:sp>
      <p:sp>
        <p:nvSpPr>
          <p:cNvPr id="50" name="Text 48"/>
          <p:cNvSpPr txBox="1"/>
          <p:nvPr/>
        </p:nvSpPr>
        <p:spPr>
          <a:xfrm>
            <a:off x="6333592" y="3474720"/>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Scaler ×6 · Interactive ×5 · License Manager ×2 · Content Manager on all servers</a:t>
            </a:r>
            <a:endParaRPr lang="en-US" sz="1050" dirty="0"/>
          </a:p>
        </p:txBody>
      </p:sp>
      <p:sp>
        <p:nvSpPr>
          <p:cNvPr id="51" name="Shape 49"/>
          <p:cNvSpPr/>
          <p:nvPr/>
        </p:nvSpPr>
        <p:spPr>
          <a:xfrm>
            <a:off x="9020327" y="2999232"/>
            <a:ext cx="2622728" cy="384048"/>
          </a:xfrm>
          <a:prstGeom prst="rect">
            <a:avLst/>
          </a:prstGeom>
          <a:solidFill>
            <a:srgbClr val="1F7A6B"/>
          </a:solidFill>
          <a:ln/>
        </p:spPr>
      </p:sp>
      <p:sp>
        <p:nvSpPr>
          <p:cNvPr id="52" name="Text 50"/>
          <p:cNvSpPr txBox="1"/>
          <p:nvPr/>
        </p:nvSpPr>
        <p:spPr>
          <a:xfrm>
            <a:off x="9157487" y="2999232"/>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OpenShift projects</a:t>
            </a:r>
            <a:endParaRPr lang="en-US" sz="1200" dirty="0"/>
          </a:p>
        </p:txBody>
      </p:sp>
      <p:sp>
        <p:nvSpPr>
          <p:cNvPr id="53" name="Text 51"/>
          <p:cNvSpPr txBox="1"/>
          <p:nvPr/>
        </p:nvSpPr>
        <p:spPr>
          <a:xfrm>
            <a:off x="10911535" y="2999232"/>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3</a:t>
            </a:r>
            <a:endParaRPr lang="en-US" sz="1700" dirty="0"/>
          </a:p>
        </p:txBody>
      </p:sp>
      <p:sp>
        <p:nvSpPr>
          <p:cNvPr id="54" name="Shape 52"/>
          <p:cNvSpPr/>
          <p:nvPr/>
        </p:nvSpPr>
        <p:spPr>
          <a:xfrm>
            <a:off x="9020327" y="3383280"/>
            <a:ext cx="2622728" cy="1060704"/>
          </a:xfrm>
          <a:prstGeom prst="rect">
            <a:avLst/>
          </a:prstGeom>
          <a:solidFill>
            <a:srgbClr val="FFFFFF"/>
          </a:solidFill>
          <a:ln w="9525">
            <a:solidFill>
              <a:srgbClr val="CCD3DD"/>
            </a:solidFill>
            <a:prstDash val="solid"/>
          </a:ln>
        </p:spPr>
      </p:sp>
      <p:sp>
        <p:nvSpPr>
          <p:cNvPr id="55" name="Text 53"/>
          <p:cNvSpPr txBox="1"/>
          <p:nvPr/>
        </p:nvSpPr>
        <p:spPr>
          <a:xfrm>
            <a:off x="9157487" y="3474720"/>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ccm-dcs-prod · ccm-preprocessor-prod · sms-handler-prod; 13 routes, 2 rejected</a:t>
            </a:r>
            <a:endParaRPr lang="en-US" sz="1050" dirty="0"/>
          </a:p>
        </p:txBody>
      </p:sp>
      <p:sp>
        <p:nvSpPr>
          <p:cNvPr id="56" name="Shape 54"/>
          <p:cNvSpPr/>
          <p:nvPr/>
        </p:nvSpPr>
        <p:spPr>
          <a:xfrm>
            <a:off x="548640" y="4626864"/>
            <a:ext cx="2622728" cy="384048"/>
          </a:xfrm>
          <a:prstGeom prst="rect">
            <a:avLst/>
          </a:prstGeom>
          <a:solidFill>
            <a:srgbClr val="E8612C"/>
          </a:solidFill>
          <a:ln/>
        </p:spPr>
      </p:sp>
      <p:sp>
        <p:nvSpPr>
          <p:cNvPr id="57" name="Text 55"/>
          <p:cNvSpPr txBox="1"/>
          <p:nvPr/>
        </p:nvSpPr>
        <p:spPr>
          <a:xfrm>
            <a:off x="685800" y="4626864"/>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External vendors</a:t>
            </a:r>
            <a:endParaRPr lang="en-US" sz="1200" dirty="0"/>
          </a:p>
        </p:txBody>
      </p:sp>
      <p:sp>
        <p:nvSpPr>
          <p:cNvPr id="58" name="Text 56"/>
          <p:cNvSpPr txBox="1"/>
          <p:nvPr/>
        </p:nvSpPr>
        <p:spPr>
          <a:xfrm>
            <a:off x="2439848" y="4626864"/>
            <a:ext cx="594360" cy="384048"/>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59" name="Shape 57"/>
          <p:cNvSpPr/>
          <p:nvPr/>
        </p:nvSpPr>
        <p:spPr>
          <a:xfrm>
            <a:off x="548640" y="5010912"/>
            <a:ext cx="2622728" cy="1060704"/>
          </a:xfrm>
          <a:prstGeom prst="rect">
            <a:avLst/>
          </a:prstGeom>
          <a:solidFill>
            <a:srgbClr val="FFFFFF"/>
          </a:solidFill>
          <a:ln w="9525">
            <a:solidFill>
              <a:srgbClr val="CCD3DD"/>
            </a:solidFill>
            <a:prstDash val="solid"/>
          </a:ln>
        </p:spPr>
      </p:sp>
      <p:sp>
        <p:nvSpPr>
          <p:cNvPr id="60" name="Text 58"/>
          <p:cNvSpPr txBox="1"/>
          <p:nvPr/>
        </p:nvSpPr>
        <p:spPr>
          <a:xfrm>
            <a:off x="685800" y="5102352"/>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Quadient · Twilio · Salesforce MC · O’Neil · Highmark · Forge · Bloomreach</a:t>
            </a:r>
            <a:endParaRPr lang="en-US" sz="1050" dirty="0"/>
          </a:p>
        </p:txBody>
      </p:sp>
      <p:sp>
        <p:nvSpPr>
          <p:cNvPr id="61" name="Shape 59"/>
          <p:cNvSpPr/>
          <p:nvPr/>
        </p:nvSpPr>
        <p:spPr>
          <a:xfrm>
            <a:off x="3372536" y="4626864"/>
            <a:ext cx="2622728" cy="384048"/>
          </a:xfrm>
          <a:prstGeom prst="rect">
            <a:avLst/>
          </a:prstGeom>
          <a:solidFill>
            <a:srgbClr val="3A4556"/>
          </a:solidFill>
          <a:ln/>
        </p:spPr>
      </p:sp>
      <p:sp>
        <p:nvSpPr>
          <p:cNvPr id="62" name="Text 60"/>
          <p:cNvSpPr txBox="1"/>
          <p:nvPr/>
        </p:nvSpPr>
        <p:spPr>
          <a:xfrm>
            <a:off x="3509696" y="4626864"/>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Platform &amp; infrastructure</a:t>
            </a:r>
            <a:endParaRPr lang="en-US" sz="1200" dirty="0"/>
          </a:p>
        </p:txBody>
      </p:sp>
      <p:sp>
        <p:nvSpPr>
          <p:cNvPr id="63" name="Text 61"/>
          <p:cNvSpPr txBox="1"/>
          <p:nvPr/>
        </p:nvSpPr>
        <p:spPr>
          <a:xfrm>
            <a:off x="5263744" y="4626864"/>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8</a:t>
            </a:r>
            <a:endParaRPr lang="en-US" sz="1700" dirty="0"/>
          </a:p>
        </p:txBody>
      </p:sp>
      <p:sp>
        <p:nvSpPr>
          <p:cNvPr id="64" name="Shape 62"/>
          <p:cNvSpPr/>
          <p:nvPr/>
        </p:nvSpPr>
        <p:spPr>
          <a:xfrm>
            <a:off x="3372536" y="5010912"/>
            <a:ext cx="2622728" cy="1060704"/>
          </a:xfrm>
          <a:prstGeom prst="rect">
            <a:avLst/>
          </a:prstGeom>
          <a:solidFill>
            <a:srgbClr val="FFFFFF"/>
          </a:solidFill>
          <a:ln w="9525">
            <a:solidFill>
              <a:srgbClr val="CCD3DD"/>
            </a:solidFill>
            <a:prstDash val="solid"/>
          </a:ln>
        </p:spPr>
      </p:sp>
      <p:sp>
        <p:nvSpPr>
          <p:cNvPr id="65" name="Text 63"/>
          <p:cNvSpPr txBox="1"/>
          <p:nvPr/>
        </p:nvSpPr>
        <p:spPr>
          <a:xfrm>
            <a:off x="3509696" y="5102352"/>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DataPower/APIC · NetScaler · PMI · Control-M · Hadoop/Spark · Kafka · Splunk · MSMQ</a:t>
            </a:r>
            <a:endParaRPr lang="en-US" sz="1050" dirty="0"/>
          </a:p>
        </p:txBody>
      </p:sp>
      <p:sp>
        <p:nvSpPr>
          <p:cNvPr id="66" name="Shape 64"/>
          <p:cNvSpPr/>
          <p:nvPr/>
        </p:nvSpPr>
        <p:spPr>
          <a:xfrm>
            <a:off x="6196432" y="4626864"/>
            <a:ext cx="2622728" cy="384048"/>
          </a:xfrm>
          <a:prstGeom prst="rect">
            <a:avLst/>
          </a:prstGeom>
          <a:solidFill>
            <a:srgbClr val="1F4FB8"/>
          </a:solidFill>
          <a:ln/>
        </p:spPr>
      </p:sp>
      <p:sp>
        <p:nvSpPr>
          <p:cNvPr id="67" name="Text 65"/>
          <p:cNvSpPr txBox="1"/>
          <p:nvPr/>
        </p:nvSpPr>
        <p:spPr>
          <a:xfrm>
            <a:off x="6333592" y="4626864"/>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Integrated source systems</a:t>
            </a:r>
            <a:endParaRPr lang="en-US" sz="1200" dirty="0"/>
          </a:p>
        </p:txBody>
      </p:sp>
      <p:sp>
        <p:nvSpPr>
          <p:cNvPr id="68" name="Text 66"/>
          <p:cNvSpPr txBox="1"/>
          <p:nvPr/>
        </p:nvSpPr>
        <p:spPr>
          <a:xfrm>
            <a:off x="8087639" y="4626864"/>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36</a:t>
            </a:r>
            <a:endParaRPr lang="en-US" sz="1700" dirty="0"/>
          </a:p>
        </p:txBody>
      </p:sp>
      <p:sp>
        <p:nvSpPr>
          <p:cNvPr id="69" name="Shape 67"/>
          <p:cNvSpPr/>
          <p:nvPr/>
        </p:nvSpPr>
        <p:spPr>
          <a:xfrm>
            <a:off x="6196432" y="5010912"/>
            <a:ext cx="2622728" cy="1060704"/>
          </a:xfrm>
          <a:prstGeom prst="rect">
            <a:avLst/>
          </a:prstGeom>
          <a:solidFill>
            <a:srgbClr val="FFFFFF"/>
          </a:solidFill>
          <a:ln w="9525">
            <a:solidFill>
              <a:srgbClr val="CCD3DD"/>
            </a:solidFill>
            <a:prstDash val="solid"/>
          </a:ln>
        </p:spPr>
      </p:sp>
      <p:sp>
        <p:nvSpPr>
          <p:cNvPr id="70" name="Text 68"/>
          <p:cNvSpPr txBox="1"/>
          <p:nvPr/>
        </p:nvSpPr>
        <p:spPr>
          <a:xfrm>
            <a:off x="6333592" y="5102352"/>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Systems and communication programs, e.g. PPX, CIAM, EWoC, Claims, ECIR, VIVR</a:t>
            </a:r>
            <a:endParaRPr lang="en-US" sz="1050" dirty="0"/>
          </a:p>
        </p:txBody>
      </p:sp>
      <p:sp>
        <p:nvSpPr>
          <p:cNvPr id="71" name="Shape 69"/>
          <p:cNvSpPr/>
          <p:nvPr/>
        </p:nvSpPr>
        <p:spPr>
          <a:xfrm>
            <a:off x="9020327" y="4626864"/>
            <a:ext cx="2622728" cy="384048"/>
          </a:xfrm>
          <a:prstGeom prst="rect">
            <a:avLst/>
          </a:prstGeom>
          <a:solidFill>
            <a:srgbClr val="1F7A6B"/>
          </a:solidFill>
          <a:ln/>
        </p:spPr>
      </p:sp>
      <p:sp>
        <p:nvSpPr>
          <p:cNvPr id="72" name="Text 70"/>
          <p:cNvSpPr txBox="1"/>
          <p:nvPr/>
        </p:nvSpPr>
        <p:spPr>
          <a:xfrm>
            <a:off x="9157487" y="4626864"/>
            <a:ext cx="189120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Delivery channels</a:t>
            </a:r>
            <a:endParaRPr lang="en-US" sz="1200" dirty="0"/>
          </a:p>
        </p:txBody>
      </p:sp>
      <p:sp>
        <p:nvSpPr>
          <p:cNvPr id="73" name="Text 71"/>
          <p:cNvSpPr txBox="1"/>
          <p:nvPr/>
        </p:nvSpPr>
        <p:spPr>
          <a:xfrm>
            <a:off x="10911535" y="4626864"/>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4</a:t>
            </a:r>
            <a:endParaRPr lang="en-US" sz="1700" dirty="0"/>
          </a:p>
        </p:txBody>
      </p:sp>
      <p:sp>
        <p:nvSpPr>
          <p:cNvPr id="74" name="Shape 72"/>
          <p:cNvSpPr/>
          <p:nvPr/>
        </p:nvSpPr>
        <p:spPr>
          <a:xfrm>
            <a:off x="9020327" y="5010912"/>
            <a:ext cx="2622728" cy="1060704"/>
          </a:xfrm>
          <a:prstGeom prst="rect">
            <a:avLst/>
          </a:prstGeom>
          <a:solidFill>
            <a:srgbClr val="FFFFFF"/>
          </a:solidFill>
          <a:ln w="9525">
            <a:solidFill>
              <a:srgbClr val="CCD3DD"/>
            </a:solidFill>
            <a:prstDash val="solid"/>
          </a:ln>
        </p:spPr>
      </p:sp>
      <p:sp>
        <p:nvSpPr>
          <p:cNvPr id="75" name="Text 73"/>
          <p:cNvSpPr txBox="1"/>
          <p:nvPr/>
        </p:nvSpPr>
        <p:spPr>
          <a:xfrm>
            <a:off x="9157487" y="5102352"/>
            <a:ext cx="2348408" cy="896112"/>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Email · SMS/MMS · Print · Digital (Message Center), plus PDF archive</a:t>
            </a:r>
            <a:endParaRPr lang="en-US" sz="1050" dirty="0"/>
          </a:p>
        </p:txBody>
      </p:sp>
      <p:sp>
        <p:nvSpPr>
          <p:cNvPr id="76" name="Text 74"/>
          <p:cNvSpPr txBox="1"/>
          <p:nvPr/>
        </p:nvSpPr>
        <p:spPr>
          <a:xfrm>
            <a:off x="548640" y="6217920"/>
            <a:ext cx="11094415" cy="228600"/>
          </a:xfrm>
          <a:prstGeom prst="rect">
            <a:avLst/>
          </a:prstGeom>
          <a:noFill/>
          <a:ln/>
        </p:spPr>
        <p:txBody>
          <a:bodyPr wrap="square" lIns="0" tIns="0" rIns="0" bIns="0" rtlCol="0" anchor="t"/>
          <a:lstStyle/>
          <a:p>
            <a:pPr indent="0" marL="0">
              <a:buNone/>
            </a:pPr>
            <a:r>
              <a:rPr lang="en-US" sz="950" i="1" dirty="0">
                <a:solidFill>
                  <a:srgbClr val="596273"/>
                </a:solidFill>
                <a:latin typeface="Calibri" pitchFamily="34" charset="0"/>
                <a:ea typeface="Calibri" pitchFamily="34" charset="-122"/>
                <a:cs typeface="Calibri" pitchFamily="34" charset="-120"/>
              </a:rPr>
              <a:t>Counted from CCM architecture diagrams, OpenShift route listings and the physical architecture. Confirm against the CMDB before external use.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PLATFORM INVENTORY</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UI applications and backend services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514600"/>
                <a:gridCol w="1508760"/>
                <a:gridCol w="4343400"/>
                <a:gridCol w="2724912"/>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3A455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3A455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3A455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Runs 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3A4556"/>
                    </a:solidFill>
                  </a:tcPr>
                </a:tc>
              </a:tr>
              <a:tr h="274320">
                <a:tc gridSpan="4">
                  <a:txBody>
                    <a:bodyPr/>
                    <a:lstStyle/>
                    <a:p>
                      <a:pPr indent="0" marL="0">
                        <a:buNone/>
                      </a:pPr>
                      <a:r>
                        <a:rPr lang="en-US" sz="1000" b="1" spc="200" kern="0" dirty="0">
                          <a:solidFill>
                            <a:srgbClr val="FFFFFF"/>
                          </a:solidFill>
                          <a:latin typeface="Calibri" pitchFamily="34" charset="0"/>
                          <a:ea typeface="Calibri" pitchFamily="34" charset="-122"/>
                          <a:cs typeface="Calibri" pitchFamily="34" charset="-120"/>
                        </a:rPr>
                        <a:t>UI APPLICATIONS  ·  5</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0F1B2D"/>
                    </a:solidFill>
                  </a:tcPr>
                </a:tc>
                <a:tc hMerge="1">
                  <a:tcPr/>
                </a:tc>
                <a:tc hMerge="1">
                  <a:tcPr/>
                </a:tc>
                <a:tc hMerge="1">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Recon Dashboard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Web UI</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Business self-service: tracking, suppression, templates, contracts, short URLs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 · recon-dashboard.bcbsfl.com</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CCM On-Demand Reusable UI</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Web UI (React/Node)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Template lookup and hand-off to Inspire Interactive for staff letters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 · ccm-ondemand.bcbsfl.com</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Inspire Interactive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Vendor UI</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Letter authoring, approval and submission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Inspire R15 · P413–P417</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Inspire Designer</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Design tool</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Template design and data transformation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Quadient Inspire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Power BI CCM Reports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Reporting UI</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Email, SMS, print and URL audit reporting with extract</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srsps0063 · CCM_Reports_Prod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gridSpan="4">
                  <a:txBody>
                    <a:bodyPr/>
                    <a:lstStyle/>
                    <a:p>
                      <a:pPr indent="0" marL="0">
                        <a:buNone/>
                      </a:pPr>
                      <a:r>
                        <a:rPr lang="en-US" sz="1000" b="1" spc="200" kern="0" dirty="0">
                          <a:solidFill>
                            <a:srgbClr val="FFFFFF"/>
                          </a:solidFill>
                          <a:latin typeface="Calibri" pitchFamily="34" charset="0"/>
                          <a:ea typeface="Calibri" pitchFamily="34" charset="-122"/>
                          <a:cs typeface="Calibri" pitchFamily="34" charset="-120"/>
                        </a:rPr>
                        <a:t>BACKEND SERVICES  ·  9</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hMerge="1">
                  <a:tcPr/>
                </a:tc>
                <a:tc hMerge="1">
                  <a:tcPr/>
                </a:tc>
                <a:tc hMerge="1">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data-retrieval-services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Data retrieval for CCM consumers *</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document-composition-services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Document composition services (dcs host) *</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recon-load-services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Stores content IDs from Content Central in Recon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recon-services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 scheduled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Touchpoint creation and reprocessing</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ccm-preprocessor-services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Comm Request, phone line-type and preprocessor APIs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ccm-kafka-services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 events</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Publishes content ID and EWoC task ID to Kafka</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ccm-urlshortnener-service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URL shortener at /ccm/api/v1/urlshortener</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recon-realtime-load-service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Real-time load of request details into Recon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274320">
                <a:tc>
                  <a:txBody>
                    <a:bodyPr/>
                    <a:lstStyle/>
                    <a:p>
                      <a:pPr indent="0" marL="0">
                        <a:buNone/>
                      </a:pPr>
                      <a:r>
                        <a:rPr lang="en-US" sz="1000" b="1" dirty="0">
                          <a:solidFill>
                            <a:srgbClr val="1C2330"/>
                          </a:solidFill>
                          <a:latin typeface="Calibri" pitchFamily="34" charset="0"/>
                          <a:ea typeface="Calibri" pitchFamily="34" charset="-122"/>
                          <a:cs typeface="Calibri" pitchFamily="34" charset="-120"/>
                        </a:rPr>
                        <a:t>SMS/MMS Response Handler</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REST service</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1C2330"/>
                          </a:solidFill>
                          <a:latin typeface="Calibri" pitchFamily="34" charset="0"/>
                          <a:ea typeface="Calibri" pitchFamily="34" charset="-122"/>
                          <a:cs typeface="Calibri" pitchFamily="34" charset="-120"/>
                        </a:rPr>
                        <a:t>Loads SMS/MMS delivery status into Recon</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indent="0" marL="0">
                        <a:buNone/>
                      </a:pPr>
                      <a:r>
                        <a:rPr lang="en-US" sz="1000" dirty="0">
                          <a:solidFill>
                            <a:srgbClr val="596273"/>
                          </a:solidFill>
                          <a:latin typeface="Calibri" pitchFamily="34" charset="0"/>
                          <a:ea typeface="Calibri" pitchFamily="34" charset="-122"/>
                          <a:cs typeface="Calibri" pitchFamily="34" charset="-120"/>
                        </a:rPr>
                        <a:t>sms-handler-prod</a:t>
                      </a:r>
                      <a:endParaRPr lang="en-US" sz="1000" dirty="0">
                        <a:latin typeface="Calibri" charset="0"/>
                        <a:ea typeface="Calibri" charset="0"/>
                        <a:cs typeface="Calibri" charset="0"/>
                      </a:endParaRPr>
                    </a:p>
                  </a:txBody>
                  <a:tcPr marL="76200" marR="76200" marT="25400" marB="254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bl>
          </a:graphicData>
        </a:graphic>
      </p:graphicFrame>
      <p:sp>
        <p:nvSpPr>
          <p:cNvPr id="10" name="Text 7"/>
          <p:cNvSpPr txBox="1"/>
          <p:nvPr/>
        </p:nvSpPr>
        <p:spPr>
          <a:xfrm>
            <a:off x="548640" y="6217920"/>
            <a:ext cx="11094415" cy="228600"/>
          </a:xfrm>
          <a:prstGeom prst="rect">
            <a:avLst/>
          </a:prstGeom>
          <a:noFill/>
          <a:ln/>
        </p:spPr>
        <p:txBody>
          <a:bodyPr wrap="square" lIns="0" tIns="0" rIns="0" bIns="0" rtlCol="0" anchor="t"/>
          <a:lstStyle/>
          <a:p>
            <a:pPr indent="0" marL="0">
              <a:buNone/>
            </a:pPr>
            <a:r>
              <a:rPr lang="en-US" sz="950" i="1" dirty="0">
                <a:solidFill>
                  <a:srgbClr val="596273"/>
                </a:solidFill>
                <a:latin typeface="Calibri" pitchFamily="34" charset="0"/>
                <a:ea typeface="Calibri" pitchFamily="34" charset="-122"/>
                <a:cs typeface="Calibri" pitchFamily="34" charset="-120"/>
              </a:rPr>
              <a:t>* Purpose inferred from the route name; confirm with the owning team. Service names are shown exactly as deployed.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PLATFORM INVENTORY</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Batch jobs, data stores, vendors and infrastructure</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6</a:t>
            </a:r>
            <a:endParaRPr lang="en-US" sz="900" dirty="0"/>
          </a:p>
        </p:txBody>
      </p:sp>
      <p:sp>
        <p:nvSpPr>
          <p:cNvPr id="9" name="Shape 7"/>
          <p:cNvSpPr/>
          <p:nvPr/>
        </p:nvSpPr>
        <p:spPr>
          <a:xfrm>
            <a:off x="548640" y="1371600"/>
            <a:ext cx="5410048" cy="2331720"/>
          </a:xfrm>
          <a:prstGeom prst="rect">
            <a:avLst/>
          </a:prstGeom>
          <a:solidFill>
            <a:srgbClr val="EEF0F3"/>
          </a:solidFill>
          <a:ln/>
        </p:spPr>
      </p:sp>
      <p:sp>
        <p:nvSpPr>
          <p:cNvPr id="10" name="Shape 8"/>
          <p:cNvSpPr/>
          <p:nvPr/>
        </p:nvSpPr>
        <p:spPr>
          <a:xfrm>
            <a:off x="548640" y="1371600"/>
            <a:ext cx="5410048" cy="54864"/>
          </a:xfrm>
          <a:prstGeom prst="rect">
            <a:avLst/>
          </a:prstGeom>
          <a:solidFill>
            <a:srgbClr val="E8612C"/>
          </a:solidFill>
          <a:ln/>
        </p:spPr>
      </p:sp>
      <p:sp>
        <p:nvSpPr>
          <p:cNvPr id="11" name="Shape 9"/>
          <p:cNvSpPr/>
          <p:nvPr/>
        </p:nvSpPr>
        <p:spPr>
          <a:xfrm>
            <a:off x="548640" y="1371600"/>
            <a:ext cx="54864" cy="2331720"/>
          </a:xfrm>
          <a:prstGeom prst="rect">
            <a:avLst/>
          </a:prstGeom>
          <a:solidFill>
            <a:srgbClr val="E8612C"/>
          </a:solidFill>
          <a:ln/>
        </p:spPr>
      </p:sp>
      <p:sp>
        <p:nvSpPr>
          <p:cNvPr id="12" name="Text 10"/>
          <p:cNvSpPr txBox="1"/>
          <p:nvPr/>
        </p:nvSpPr>
        <p:spPr>
          <a:xfrm>
            <a:off x="713232" y="1463040"/>
            <a:ext cx="5135728" cy="237744"/>
          </a:xfrm>
          <a:prstGeom prst="rect">
            <a:avLst/>
          </a:prstGeom>
          <a:noFill/>
          <a:ln/>
        </p:spPr>
        <p:txBody>
          <a:bodyPr wrap="square" lIns="0" tIns="0" rIns="0" bIns="0" rtlCol="0" anchor="t"/>
          <a:lstStyle/>
          <a:p>
            <a:pPr indent="0" marL="0">
              <a:buNone/>
            </a:pPr>
            <a:r>
              <a:rPr lang="en-US" sz="900" b="1" spc="300" kern="0" dirty="0">
                <a:solidFill>
                  <a:srgbClr val="E8612C"/>
                </a:solidFill>
                <a:latin typeface="Calibri" pitchFamily="34" charset="0"/>
                <a:ea typeface="Calibri" pitchFamily="34" charset="-122"/>
                <a:cs typeface="Calibri" pitchFamily="34" charset="-120"/>
              </a:rPr>
              <a:t>BATCH &amp; SCHEDULED JOBS · 4</a:t>
            </a:r>
            <a:endParaRPr lang="en-US" sz="900" dirty="0"/>
          </a:p>
        </p:txBody>
      </p:sp>
      <p:sp>
        <p:nvSpPr>
          <p:cNvPr id="13" name="Shape 11"/>
          <p:cNvSpPr/>
          <p:nvPr/>
        </p:nvSpPr>
        <p:spPr>
          <a:xfrm>
            <a:off x="731520" y="1783080"/>
            <a:ext cx="5090008" cy="329184"/>
          </a:xfrm>
          <a:prstGeom prst="rect">
            <a:avLst/>
          </a:prstGeom>
          <a:solidFill>
            <a:srgbClr val="FFFFFF"/>
          </a:solidFill>
          <a:ln w="6350">
            <a:solidFill>
              <a:srgbClr val="CCD3DD"/>
            </a:solidFill>
            <a:prstDash val="solid"/>
          </a:ln>
        </p:spPr>
      </p:sp>
      <p:sp>
        <p:nvSpPr>
          <p:cNvPr id="14" name="Text 12"/>
          <p:cNvSpPr txBox="1"/>
          <p:nvPr/>
        </p:nvSpPr>
        <p:spPr>
          <a:xfrm>
            <a:off x="822960" y="1783080"/>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CCM Preprocessor   </a:t>
            </a:r>
            <a:pPr indent="0" marL="0">
              <a:buNone/>
            </a:pPr>
            <a:r>
              <a:rPr lang="en-US" sz="950" i="1" dirty="0">
                <a:solidFill>
                  <a:srgbClr val="596273"/>
                </a:solidFill>
                <a:latin typeface="Calibri" pitchFamily="34" charset="0"/>
                <a:ea typeface="Calibri" pitchFamily="34" charset="-122"/>
                <a:cs typeface="Calibri" pitchFamily="34" charset="-120"/>
              </a:rPr>
              <a:t>Control-M → Spark on Hadoop (edclhdpp432): parse, enrich, create requests</a:t>
            </a:r>
            <a:endParaRPr lang="en-US" sz="950" dirty="0"/>
          </a:p>
        </p:txBody>
      </p:sp>
      <p:sp>
        <p:nvSpPr>
          <p:cNvPr id="15" name="Shape 13"/>
          <p:cNvSpPr/>
          <p:nvPr/>
        </p:nvSpPr>
        <p:spPr>
          <a:xfrm>
            <a:off x="731520" y="2157984"/>
            <a:ext cx="5090008" cy="329184"/>
          </a:xfrm>
          <a:prstGeom prst="rect">
            <a:avLst/>
          </a:prstGeom>
          <a:solidFill>
            <a:srgbClr val="FFFFFF"/>
          </a:solidFill>
          <a:ln w="6350">
            <a:solidFill>
              <a:srgbClr val="CCD3DD"/>
            </a:solidFill>
            <a:prstDash val="solid"/>
          </a:ln>
        </p:spPr>
      </p:sp>
      <p:sp>
        <p:nvSpPr>
          <p:cNvPr id="16" name="Text 14"/>
          <p:cNvSpPr txBox="1"/>
          <p:nvPr/>
        </p:nvSpPr>
        <p:spPr>
          <a:xfrm>
            <a:off x="822960" y="2157984"/>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Scaler file consolidation   </a:t>
            </a:r>
            <a:pPr indent="0" marL="0">
              <a:buNone/>
            </a:pPr>
            <a:r>
              <a:rPr lang="en-US" sz="950" i="1" dirty="0">
                <a:solidFill>
                  <a:srgbClr val="596273"/>
                </a:solidFill>
                <a:latin typeface="Calibri" pitchFamily="34" charset="0"/>
                <a:ea typeface="Calibri" pitchFamily="34" charset="-122"/>
                <a:cs typeface="Calibri" pitchFamily="34" charset="-120"/>
              </a:rPr>
              <a:t>One print file per vendor per day to the SFTP outbox</a:t>
            </a:r>
            <a:endParaRPr lang="en-US" sz="950" dirty="0"/>
          </a:p>
        </p:txBody>
      </p:sp>
      <p:sp>
        <p:nvSpPr>
          <p:cNvPr id="17" name="Shape 15"/>
          <p:cNvSpPr/>
          <p:nvPr/>
        </p:nvSpPr>
        <p:spPr>
          <a:xfrm>
            <a:off x="731520" y="2532888"/>
            <a:ext cx="5090008" cy="329184"/>
          </a:xfrm>
          <a:prstGeom prst="rect">
            <a:avLst/>
          </a:prstGeom>
          <a:solidFill>
            <a:srgbClr val="FFFFFF"/>
          </a:solidFill>
          <a:ln w="6350">
            <a:solidFill>
              <a:srgbClr val="CCD3DD"/>
            </a:solidFill>
            <a:prstDash val="solid"/>
          </a:ln>
        </p:spPr>
      </p:sp>
      <p:sp>
        <p:nvSpPr>
          <p:cNvPr id="18" name="Text 16"/>
          <p:cNvSpPr txBox="1"/>
          <p:nvPr/>
        </p:nvSpPr>
        <p:spPr>
          <a:xfrm>
            <a:off x="822960" y="2532888"/>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Recon Batch Load   </a:t>
            </a:r>
            <a:pPr indent="0" marL="0">
              <a:buNone/>
            </a:pPr>
            <a:r>
              <a:rPr lang="en-US" sz="950" i="1" dirty="0">
                <a:solidFill>
                  <a:srgbClr val="596273"/>
                </a:solidFill>
                <a:latin typeface="Calibri" pitchFamily="34" charset="0"/>
                <a:ea typeface="Calibri" pitchFamily="34" charset="-122"/>
                <a:cs typeface="Calibri" pitchFamily="34" charset="-120"/>
              </a:rPr>
              <a:t>Loads vendor delivery-status files from the SFTP inbox</a:t>
            </a:r>
            <a:endParaRPr lang="en-US" sz="950" dirty="0"/>
          </a:p>
        </p:txBody>
      </p:sp>
      <p:sp>
        <p:nvSpPr>
          <p:cNvPr id="19" name="Shape 17"/>
          <p:cNvSpPr/>
          <p:nvPr/>
        </p:nvSpPr>
        <p:spPr>
          <a:xfrm>
            <a:off x="731520" y="2907792"/>
            <a:ext cx="5090008" cy="329184"/>
          </a:xfrm>
          <a:prstGeom prst="rect">
            <a:avLst/>
          </a:prstGeom>
          <a:solidFill>
            <a:srgbClr val="FFFFFF"/>
          </a:solidFill>
          <a:ln w="6350">
            <a:solidFill>
              <a:srgbClr val="CCD3DD"/>
            </a:solidFill>
            <a:prstDash val="solid"/>
          </a:ln>
        </p:spPr>
      </p:sp>
      <p:sp>
        <p:nvSpPr>
          <p:cNvPr id="20" name="Text 18"/>
          <p:cNvSpPr txBox="1"/>
          <p:nvPr/>
        </p:nvSpPr>
        <p:spPr>
          <a:xfrm>
            <a:off x="822960" y="2907792"/>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Recon Services   </a:t>
            </a:r>
            <a:pPr indent="0" marL="0">
              <a:buNone/>
            </a:pPr>
            <a:r>
              <a:rPr lang="en-US" sz="950" i="1" dirty="0">
                <a:solidFill>
                  <a:srgbClr val="596273"/>
                </a:solidFill>
                <a:latin typeface="Calibri" pitchFamily="34" charset="0"/>
                <a:ea typeface="Calibri" pitchFamily="34" charset="-122"/>
                <a:cs typeface="Calibri" pitchFamily="34" charset="-120"/>
              </a:rPr>
              <a:t>Scheduled touchpoint creation via MSMQ and reprocessing</a:t>
            </a:r>
            <a:endParaRPr lang="en-US" sz="950" dirty="0"/>
          </a:p>
        </p:txBody>
      </p:sp>
      <p:sp>
        <p:nvSpPr>
          <p:cNvPr id="21" name="Shape 19"/>
          <p:cNvSpPr/>
          <p:nvPr/>
        </p:nvSpPr>
        <p:spPr>
          <a:xfrm>
            <a:off x="6233008" y="1371600"/>
            <a:ext cx="5410048" cy="2331720"/>
          </a:xfrm>
          <a:prstGeom prst="rect">
            <a:avLst/>
          </a:prstGeom>
          <a:solidFill>
            <a:srgbClr val="EEF0F3"/>
          </a:solidFill>
          <a:ln/>
        </p:spPr>
      </p:sp>
      <p:sp>
        <p:nvSpPr>
          <p:cNvPr id="22" name="Shape 20"/>
          <p:cNvSpPr/>
          <p:nvPr/>
        </p:nvSpPr>
        <p:spPr>
          <a:xfrm>
            <a:off x="6233008" y="1371600"/>
            <a:ext cx="5410048" cy="54864"/>
          </a:xfrm>
          <a:prstGeom prst="rect">
            <a:avLst/>
          </a:prstGeom>
          <a:solidFill>
            <a:srgbClr val="1F7A6B"/>
          </a:solidFill>
          <a:ln/>
        </p:spPr>
      </p:sp>
      <p:sp>
        <p:nvSpPr>
          <p:cNvPr id="23" name="Shape 21"/>
          <p:cNvSpPr/>
          <p:nvPr/>
        </p:nvSpPr>
        <p:spPr>
          <a:xfrm>
            <a:off x="6233008" y="1371600"/>
            <a:ext cx="54864" cy="2331720"/>
          </a:xfrm>
          <a:prstGeom prst="rect">
            <a:avLst/>
          </a:prstGeom>
          <a:solidFill>
            <a:srgbClr val="1F7A6B"/>
          </a:solidFill>
          <a:ln/>
        </p:spPr>
      </p:sp>
      <p:sp>
        <p:nvSpPr>
          <p:cNvPr id="24" name="Text 22"/>
          <p:cNvSpPr txBox="1"/>
          <p:nvPr/>
        </p:nvSpPr>
        <p:spPr>
          <a:xfrm>
            <a:off x="6397600" y="1463040"/>
            <a:ext cx="5135728" cy="237744"/>
          </a:xfrm>
          <a:prstGeom prst="rect">
            <a:avLst/>
          </a:prstGeom>
          <a:noFill/>
          <a:ln/>
        </p:spPr>
        <p:txBody>
          <a:bodyPr wrap="square" lIns="0" tIns="0" rIns="0" bIns="0" rtlCol="0" anchor="t"/>
          <a:lstStyle/>
          <a:p>
            <a:pPr indent="0" marL="0">
              <a:buNone/>
            </a:pPr>
            <a:r>
              <a:rPr lang="en-US" sz="900" b="1" spc="300" kern="0" dirty="0">
                <a:solidFill>
                  <a:srgbClr val="1F7A6B"/>
                </a:solidFill>
                <a:latin typeface="Calibri" pitchFamily="34" charset="0"/>
                <a:ea typeface="Calibri" pitchFamily="34" charset="-122"/>
                <a:cs typeface="Calibri" pitchFamily="34" charset="-120"/>
              </a:rPr>
              <a:t>DATABASES · 6   ·   OTHER DATA STORES · 3</a:t>
            </a:r>
            <a:endParaRPr lang="en-US" sz="900" dirty="0"/>
          </a:p>
        </p:txBody>
      </p:sp>
      <p:sp>
        <p:nvSpPr>
          <p:cNvPr id="25" name="Shape 23"/>
          <p:cNvSpPr/>
          <p:nvPr/>
        </p:nvSpPr>
        <p:spPr>
          <a:xfrm>
            <a:off x="6415888" y="1783080"/>
            <a:ext cx="5090008" cy="329184"/>
          </a:xfrm>
          <a:prstGeom prst="rect">
            <a:avLst/>
          </a:prstGeom>
          <a:solidFill>
            <a:srgbClr val="FFFFFF"/>
          </a:solidFill>
          <a:ln w="6350">
            <a:solidFill>
              <a:srgbClr val="CCD3DD"/>
            </a:solidFill>
            <a:prstDash val="solid"/>
          </a:ln>
        </p:spPr>
      </p:sp>
      <p:sp>
        <p:nvSpPr>
          <p:cNvPr id="26" name="Text 24"/>
          <p:cNvSpPr txBox="1"/>
          <p:nvPr/>
        </p:nvSpPr>
        <p:spPr>
          <a:xfrm>
            <a:off x="6507328" y="1783080"/>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INSPIRE_RECON_PROD   </a:t>
            </a:r>
            <a:pPr indent="0" marL="0">
              <a:buNone/>
            </a:pPr>
            <a:r>
              <a:rPr lang="en-US" sz="950" i="1" dirty="0">
                <a:solidFill>
                  <a:srgbClr val="596273"/>
                </a:solidFill>
                <a:latin typeface="Calibri" pitchFamily="34" charset="0"/>
                <a:ea typeface="Calibri" pitchFamily="34" charset="-122"/>
                <a:cs typeface="Calibri" pitchFamily="34" charset="-120"/>
              </a:rPr>
              <a:t>SQL Server 2019 · SQLPX0105</a:t>
            </a:r>
            <a:endParaRPr lang="en-US" sz="950" dirty="0"/>
          </a:p>
        </p:txBody>
      </p:sp>
      <p:sp>
        <p:nvSpPr>
          <p:cNvPr id="27" name="Shape 25"/>
          <p:cNvSpPr/>
          <p:nvPr/>
        </p:nvSpPr>
        <p:spPr>
          <a:xfrm>
            <a:off x="6415888" y="2157984"/>
            <a:ext cx="5090008" cy="329184"/>
          </a:xfrm>
          <a:prstGeom prst="rect">
            <a:avLst/>
          </a:prstGeom>
          <a:solidFill>
            <a:srgbClr val="FFFFFF"/>
          </a:solidFill>
          <a:ln w="6350">
            <a:solidFill>
              <a:srgbClr val="CCD3DD"/>
            </a:solidFill>
            <a:prstDash val="solid"/>
          </a:ln>
        </p:spPr>
      </p:sp>
      <p:sp>
        <p:nvSpPr>
          <p:cNvPr id="28" name="Text 26"/>
          <p:cNvSpPr txBox="1"/>
          <p:nvPr/>
        </p:nvSpPr>
        <p:spPr>
          <a:xfrm>
            <a:off x="6507328" y="2157984"/>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INSPIREINTERACTIVE_PROD · INSPIRESCALER_PROD   </a:t>
            </a:r>
            <a:pPr indent="0" marL="0">
              <a:buNone/>
            </a:pPr>
            <a:r>
              <a:rPr lang="en-US" sz="950" i="1" dirty="0">
                <a:solidFill>
                  <a:srgbClr val="596273"/>
                </a:solidFill>
                <a:latin typeface="Calibri" pitchFamily="34" charset="0"/>
                <a:ea typeface="Calibri" pitchFamily="34" charset="-122"/>
                <a:cs typeface="Calibri" pitchFamily="34" charset="-120"/>
              </a:rPr>
              <a:t>SQL Server 2019 · SQLPD9747</a:t>
            </a:r>
            <a:endParaRPr lang="en-US" sz="950" dirty="0"/>
          </a:p>
        </p:txBody>
      </p:sp>
      <p:sp>
        <p:nvSpPr>
          <p:cNvPr id="29" name="Shape 27"/>
          <p:cNvSpPr/>
          <p:nvPr/>
        </p:nvSpPr>
        <p:spPr>
          <a:xfrm>
            <a:off x="6415888" y="2532888"/>
            <a:ext cx="5090008" cy="329184"/>
          </a:xfrm>
          <a:prstGeom prst="rect">
            <a:avLst/>
          </a:prstGeom>
          <a:solidFill>
            <a:srgbClr val="FFFFFF"/>
          </a:solidFill>
          <a:ln w="6350">
            <a:solidFill>
              <a:srgbClr val="CCD3DD"/>
            </a:solidFill>
            <a:prstDash val="solid"/>
          </a:ln>
        </p:spPr>
      </p:sp>
      <p:sp>
        <p:nvSpPr>
          <p:cNvPr id="30" name="Text 28"/>
          <p:cNvSpPr txBox="1"/>
          <p:nvPr/>
        </p:nvSpPr>
        <p:spPr>
          <a:xfrm>
            <a:off x="6507328" y="2532888"/>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INSPIRECONTENTMANAGER_PROD   </a:t>
            </a:r>
            <a:pPr indent="0" marL="0">
              <a:buNone/>
            </a:pPr>
            <a:r>
              <a:rPr lang="en-US" sz="950" i="1" dirty="0">
                <a:solidFill>
                  <a:srgbClr val="596273"/>
                </a:solidFill>
                <a:latin typeface="Calibri" pitchFamily="34" charset="0"/>
                <a:ea typeface="Calibri" pitchFamily="34" charset="-122"/>
                <a:cs typeface="Calibri" pitchFamily="34" charset="-120"/>
              </a:rPr>
              <a:t>SQL Server 2019 · SQLPD9747</a:t>
            </a:r>
            <a:endParaRPr lang="en-US" sz="950" dirty="0"/>
          </a:p>
        </p:txBody>
      </p:sp>
      <p:sp>
        <p:nvSpPr>
          <p:cNvPr id="31" name="Shape 29"/>
          <p:cNvSpPr/>
          <p:nvPr/>
        </p:nvSpPr>
        <p:spPr>
          <a:xfrm>
            <a:off x="6415888" y="2907792"/>
            <a:ext cx="5090008" cy="329184"/>
          </a:xfrm>
          <a:prstGeom prst="rect">
            <a:avLst/>
          </a:prstGeom>
          <a:solidFill>
            <a:srgbClr val="FFFFFF"/>
          </a:solidFill>
          <a:ln w="6350">
            <a:solidFill>
              <a:srgbClr val="CCD3DD"/>
            </a:solidFill>
            <a:prstDash val="solid"/>
          </a:ln>
        </p:spPr>
      </p:sp>
      <p:sp>
        <p:nvSpPr>
          <p:cNvPr id="32" name="Text 30"/>
          <p:cNvSpPr txBox="1"/>
          <p:nvPr/>
        </p:nvSpPr>
        <p:spPr>
          <a:xfrm>
            <a:off x="6507328" y="2907792"/>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P360 · GWDP SailFish   </a:t>
            </a:r>
            <a:pPr indent="0" marL="0">
              <a:buNone/>
            </a:pPr>
            <a:r>
              <a:rPr lang="en-US" sz="950" i="1" dirty="0">
                <a:solidFill>
                  <a:srgbClr val="596273"/>
                </a:solidFill>
                <a:latin typeface="Calibri" pitchFamily="34" charset="0"/>
                <a:ea typeface="Calibri" pitchFamily="34" charset="-122"/>
                <a:cs typeface="Calibri" pitchFamily="34" charset="-120"/>
              </a:rPr>
              <a:t>Preferences 360 (PostgreSQL) · profile data</a:t>
            </a:r>
            <a:endParaRPr lang="en-US" sz="950" dirty="0"/>
          </a:p>
        </p:txBody>
      </p:sp>
      <p:sp>
        <p:nvSpPr>
          <p:cNvPr id="33" name="Shape 31"/>
          <p:cNvSpPr/>
          <p:nvPr/>
        </p:nvSpPr>
        <p:spPr>
          <a:xfrm>
            <a:off x="6415888" y="3282696"/>
            <a:ext cx="5090008" cy="329184"/>
          </a:xfrm>
          <a:prstGeom prst="rect">
            <a:avLst/>
          </a:prstGeom>
          <a:solidFill>
            <a:srgbClr val="FFFFFF"/>
          </a:solidFill>
          <a:ln w="6350">
            <a:solidFill>
              <a:srgbClr val="CCD3DD"/>
            </a:solidFill>
            <a:prstDash val="solid"/>
          </a:ln>
        </p:spPr>
      </p:sp>
      <p:sp>
        <p:nvSpPr>
          <p:cNvPr id="34" name="Text 32"/>
          <p:cNvSpPr txBox="1"/>
          <p:nvPr/>
        </p:nvSpPr>
        <p:spPr>
          <a:xfrm>
            <a:off x="6507328" y="3282696"/>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ECMS / Content Central · NAS · Google Analytics   </a:t>
            </a:r>
            <a:pPr indent="0" marL="0">
              <a:buNone/>
            </a:pPr>
            <a:r>
              <a:rPr lang="en-US" sz="950" i="1" dirty="0">
                <a:solidFill>
                  <a:srgbClr val="596273"/>
                </a:solidFill>
                <a:latin typeface="Calibri" pitchFamily="34" charset="0"/>
                <a:ea typeface="Calibri" pitchFamily="34" charset="-122"/>
                <a:cs typeface="Calibri" pitchFamily="34" charset="-120"/>
              </a:rPr>
              <a:t>Archive, file share, digital analytics</a:t>
            </a:r>
            <a:endParaRPr lang="en-US" sz="950" dirty="0"/>
          </a:p>
        </p:txBody>
      </p:sp>
      <p:sp>
        <p:nvSpPr>
          <p:cNvPr id="35" name="Shape 33"/>
          <p:cNvSpPr/>
          <p:nvPr/>
        </p:nvSpPr>
        <p:spPr>
          <a:xfrm>
            <a:off x="548640" y="3904488"/>
            <a:ext cx="5410048" cy="2331720"/>
          </a:xfrm>
          <a:prstGeom prst="rect">
            <a:avLst/>
          </a:prstGeom>
          <a:solidFill>
            <a:srgbClr val="EEF0F3"/>
          </a:solidFill>
          <a:ln/>
        </p:spPr>
      </p:sp>
      <p:sp>
        <p:nvSpPr>
          <p:cNvPr id="36" name="Shape 34"/>
          <p:cNvSpPr/>
          <p:nvPr/>
        </p:nvSpPr>
        <p:spPr>
          <a:xfrm>
            <a:off x="548640" y="3904488"/>
            <a:ext cx="5410048" cy="54864"/>
          </a:xfrm>
          <a:prstGeom prst="rect">
            <a:avLst/>
          </a:prstGeom>
          <a:solidFill>
            <a:srgbClr val="5B2BC8"/>
          </a:solidFill>
          <a:ln/>
        </p:spPr>
      </p:sp>
      <p:sp>
        <p:nvSpPr>
          <p:cNvPr id="37" name="Shape 35"/>
          <p:cNvSpPr/>
          <p:nvPr/>
        </p:nvSpPr>
        <p:spPr>
          <a:xfrm>
            <a:off x="548640" y="3904488"/>
            <a:ext cx="54864" cy="2331720"/>
          </a:xfrm>
          <a:prstGeom prst="rect">
            <a:avLst/>
          </a:prstGeom>
          <a:solidFill>
            <a:srgbClr val="5B2BC8"/>
          </a:solidFill>
          <a:ln/>
        </p:spPr>
      </p:sp>
      <p:sp>
        <p:nvSpPr>
          <p:cNvPr id="38" name="Text 36"/>
          <p:cNvSpPr txBox="1"/>
          <p:nvPr/>
        </p:nvSpPr>
        <p:spPr>
          <a:xfrm>
            <a:off x="713232" y="3995928"/>
            <a:ext cx="5135728" cy="237744"/>
          </a:xfrm>
          <a:prstGeom prst="rect">
            <a:avLst/>
          </a:prstGeom>
          <a:noFill/>
          <a:ln/>
        </p:spPr>
        <p:txBody>
          <a:bodyPr wrap="square" lIns="0" tIns="0" rIns="0" bIns="0" rtlCol="0" anchor="t"/>
          <a:lstStyle/>
          <a:p>
            <a:pPr indent="0" marL="0">
              <a:buNone/>
            </a:pPr>
            <a:r>
              <a:rPr lang="en-US" sz="900" b="1" spc="300" kern="0" dirty="0">
                <a:solidFill>
                  <a:srgbClr val="5B2BC8"/>
                </a:solidFill>
                <a:latin typeface="Calibri" pitchFamily="34" charset="0"/>
                <a:ea typeface="Calibri" pitchFamily="34" charset="-122"/>
                <a:cs typeface="Calibri" pitchFamily="34" charset="-120"/>
              </a:rPr>
              <a:t>EXTERNAL VENDORS · 7</a:t>
            </a:r>
            <a:endParaRPr lang="en-US" sz="900" dirty="0"/>
          </a:p>
        </p:txBody>
      </p:sp>
      <p:sp>
        <p:nvSpPr>
          <p:cNvPr id="39" name="Shape 37"/>
          <p:cNvSpPr/>
          <p:nvPr/>
        </p:nvSpPr>
        <p:spPr>
          <a:xfrm>
            <a:off x="731520" y="4315968"/>
            <a:ext cx="5090008" cy="329184"/>
          </a:xfrm>
          <a:prstGeom prst="rect">
            <a:avLst/>
          </a:prstGeom>
          <a:solidFill>
            <a:srgbClr val="FFFFFF"/>
          </a:solidFill>
          <a:ln w="6350">
            <a:solidFill>
              <a:srgbClr val="CCD3DD"/>
            </a:solidFill>
            <a:prstDash val="solid"/>
          </a:ln>
        </p:spPr>
      </p:sp>
      <p:sp>
        <p:nvSpPr>
          <p:cNvPr id="40" name="Text 38"/>
          <p:cNvSpPr txBox="1"/>
          <p:nvPr/>
        </p:nvSpPr>
        <p:spPr>
          <a:xfrm>
            <a:off x="822960" y="4315968"/>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Quadient   </a:t>
            </a:r>
            <a:pPr indent="0" marL="0">
              <a:buNone/>
            </a:pPr>
            <a:r>
              <a:rPr lang="en-US" sz="950" i="1" dirty="0">
                <a:solidFill>
                  <a:srgbClr val="596273"/>
                </a:solidFill>
                <a:latin typeface="Calibri" pitchFamily="34" charset="0"/>
                <a:ea typeface="Calibri" pitchFamily="34" charset="-122"/>
                <a:cs typeface="Calibri" pitchFamily="34" charset="-120"/>
              </a:rPr>
              <a:t>Inspire composition platform</a:t>
            </a:r>
            <a:endParaRPr lang="en-US" sz="950" dirty="0"/>
          </a:p>
        </p:txBody>
      </p:sp>
      <p:sp>
        <p:nvSpPr>
          <p:cNvPr id="41" name="Shape 39"/>
          <p:cNvSpPr/>
          <p:nvPr/>
        </p:nvSpPr>
        <p:spPr>
          <a:xfrm>
            <a:off x="731520" y="4690872"/>
            <a:ext cx="5090008" cy="329184"/>
          </a:xfrm>
          <a:prstGeom prst="rect">
            <a:avLst/>
          </a:prstGeom>
          <a:solidFill>
            <a:srgbClr val="FFFFFF"/>
          </a:solidFill>
          <a:ln w="6350">
            <a:solidFill>
              <a:srgbClr val="CCD3DD"/>
            </a:solidFill>
            <a:prstDash val="solid"/>
          </a:ln>
        </p:spPr>
      </p:sp>
      <p:sp>
        <p:nvSpPr>
          <p:cNvPr id="42" name="Text 40"/>
          <p:cNvSpPr txBox="1"/>
          <p:nvPr/>
        </p:nvSpPr>
        <p:spPr>
          <a:xfrm>
            <a:off x="822960" y="4690872"/>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Twilio   </a:t>
            </a:r>
            <a:pPr indent="0" marL="0">
              <a:buNone/>
            </a:pPr>
            <a:r>
              <a:rPr lang="en-US" sz="950" i="1" dirty="0">
                <a:solidFill>
                  <a:srgbClr val="596273"/>
                </a:solidFill>
                <a:latin typeface="Calibri" pitchFamily="34" charset="0"/>
                <a:ea typeface="Calibri" pitchFamily="34" charset="-122"/>
                <a:cs typeface="Calibri" pitchFamily="34" charset="-120"/>
              </a:rPr>
              <a:t>SMS/MMS delivery and phone Lookup API</a:t>
            </a:r>
            <a:endParaRPr lang="en-US" sz="950" dirty="0"/>
          </a:p>
        </p:txBody>
      </p:sp>
      <p:sp>
        <p:nvSpPr>
          <p:cNvPr id="43" name="Shape 41"/>
          <p:cNvSpPr/>
          <p:nvPr/>
        </p:nvSpPr>
        <p:spPr>
          <a:xfrm>
            <a:off x="731520" y="5065776"/>
            <a:ext cx="5090008" cy="329184"/>
          </a:xfrm>
          <a:prstGeom prst="rect">
            <a:avLst/>
          </a:prstGeom>
          <a:solidFill>
            <a:srgbClr val="FFFFFF"/>
          </a:solidFill>
          <a:ln w="6350">
            <a:solidFill>
              <a:srgbClr val="CCD3DD"/>
            </a:solidFill>
            <a:prstDash val="solid"/>
          </a:ln>
        </p:spPr>
      </p:sp>
      <p:sp>
        <p:nvSpPr>
          <p:cNvPr id="44" name="Text 42"/>
          <p:cNvSpPr txBox="1"/>
          <p:nvPr/>
        </p:nvSpPr>
        <p:spPr>
          <a:xfrm>
            <a:off x="822960" y="5065776"/>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Salesforce Marketing Cloud   </a:t>
            </a:r>
            <a:pPr indent="0" marL="0">
              <a:buNone/>
            </a:pPr>
            <a:r>
              <a:rPr lang="en-US" sz="950" i="1" dirty="0">
                <a:solidFill>
                  <a:srgbClr val="596273"/>
                </a:solidFill>
                <a:latin typeface="Calibri" pitchFamily="34" charset="0"/>
                <a:ea typeface="Calibri" pitchFamily="34" charset="-122"/>
                <a:cs typeface="Calibri" pitchFamily="34" charset="-120"/>
              </a:rPr>
              <a:t>Email delivery</a:t>
            </a:r>
            <a:endParaRPr lang="en-US" sz="950" dirty="0"/>
          </a:p>
        </p:txBody>
      </p:sp>
      <p:sp>
        <p:nvSpPr>
          <p:cNvPr id="45" name="Shape 43"/>
          <p:cNvSpPr/>
          <p:nvPr/>
        </p:nvSpPr>
        <p:spPr>
          <a:xfrm>
            <a:off x="731520" y="5440680"/>
            <a:ext cx="5090008" cy="329184"/>
          </a:xfrm>
          <a:prstGeom prst="rect">
            <a:avLst/>
          </a:prstGeom>
          <a:solidFill>
            <a:srgbClr val="FFFFFF"/>
          </a:solidFill>
          <a:ln w="6350">
            <a:solidFill>
              <a:srgbClr val="CCD3DD"/>
            </a:solidFill>
            <a:prstDash val="solid"/>
          </a:ln>
        </p:spPr>
      </p:sp>
      <p:sp>
        <p:nvSpPr>
          <p:cNvPr id="46" name="Text 44"/>
          <p:cNvSpPr txBox="1"/>
          <p:nvPr/>
        </p:nvSpPr>
        <p:spPr>
          <a:xfrm>
            <a:off x="822960" y="5440680"/>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O’Neil · Highmark · Forge   </a:t>
            </a:r>
            <a:pPr indent="0" marL="0">
              <a:buNone/>
            </a:pPr>
            <a:r>
              <a:rPr lang="en-US" sz="950" i="1" dirty="0">
                <a:solidFill>
                  <a:srgbClr val="596273"/>
                </a:solidFill>
                <a:latin typeface="Calibri" pitchFamily="34" charset="0"/>
                <a:ea typeface="Calibri" pitchFamily="34" charset="-122"/>
                <a:cs typeface="Calibri" pitchFamily="34" charset="-120"/>
              </a:rPr>
              <a:t>Print (Forge listed in IT Contact vendor ecosystem)</a:t>
            </a:r>
            <a:endParaRPr lang="en-US" sz="950" dirty="0"/>
          </a:p>
        </p:txBody>
      </p:sp>
      <p:sp>
        <p:nvSpPr>
          <p:cNvPr id="47" name="Shape 45"/>
          <p:cNvSpPr/>
          <p:nvPr/>
        </p:nvSpPr>
        <p:spPr>
          <a:xfrm>
            <a:off x="731520" y="5815584"/>
            <a:ext cx="5090008" cy="329184"/>
          </a:xfrm>
          <a:prstGeom prst="rect">
            <a:avLst/>
          </a:prstGeom>
          <a:solidFill>
            <a:srgbClr val="FFFFFF"/>
          </a:solidFill>
          <a:ln w="6350">
            <a:solidFill>
              <a:srgbClr val="CCD3DD"/>
            </a:solidFill>
            <a:prstDash val="solid"/>
          </a:ln>
        </p:spPr>
      </p:sp>
      <p:sp>
        <p:nvSpPr>
          <p:cNvPr id="48" name="Text 46"/>
          <p:cNvSpPr txBox="1"/>
          <p:nvPr/>
        </p:nvSpPr>
        <p:spPr>
          <a:xfrm>
            <a:off x="822960" y="5815584"/>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Bloomreach   </a:t>
            </a:r>
            <a:pPr indent="0" marL="0">
              <a:buNone/>
            </a:pPr>
            <a:r>
              <a:rPr lang="en-US" sz="950" i="1" dirty="0">
                <a:solidFill>
                  <a:srgbClr val="596273"/>
                </a:solidFill>
                <a:latin typeface="Calibri" pitchFamily="34" charset="0"/>
                <a:ea typeface="Calibri" pitchFamily="34" charset="-122"/>
                <a:cs typeface="Calibri" pitchFamily="34" charset="-120"/>
              </a:rPr>
              <a:t>Internet-facing CMS hosting MMS images</a:t>
            </a:r>
            <a:endParaRPr lang="en-US" sz="950" dirty="0"/>
          </a:p>
        </p:txBody>
      </p:sp>
      <p:sp>
        <p:nvSpPr>
          <p:cNvPr id="49" name="Shape 47"/>
          <p:cNvSpPr/>
          <p:nvPr/>
        </p:nvSpPr>
        <p:spPr>
          <a:xfrm>
            <a:off x="6233008" y="3904488"/>
            <a:ext cx="5410048" cy="2331720"/>
          </a:xfrm>
          <a:prstGeom prst="rect">
            <a:avLst/>
          </a:prstGeom>
          <a:solidFill>
            <a:srgbClr val="EEF0F3"/>
          </a:solidFill>
          <a:ln/>
        </p:spPr>
      </p:sp>
      <p:sp>
        <p:nvSpPr>
          <p:cNvPr id="50" name="Shape 48"/>
          <p:cNvSpPr/>
          <p:nvPr/>
        </p:nvSpPr>
        <p:spPr>
          <a:xfrm>
            <a:off x="6233008" y="3904488"/>
            <a:ext cx="5410048" cy="54864"/>
          </a:xfrm>
          <a:prstGeom prst="rect">
            <a:avLst/>
          </a:prstGeom>
          <a:solidFill>
            <a:srgbClr val="0F1B2D"/>
          </a:solidFill>
          <a:ln/>
        </p:spPr>
      </p:sp>
      <p:sp>
        <p:nvSpPr>
          <p:cNvPr id="51" name="Shape 49"/>
          <p:cNvSpPr/>
          <p:nvPr/>
        </p:nvSpPr>
        <p:spPr>
          <a:xfrm>
            <a:off x="6233008" y="3904488"/>
            <a:ext cx="54864" cy="2331720"/>
          </a:xfrm>
          <a:prstGeom prst="rect">
            <a:avLst/>
          </a:prstGeom>
          <a:solidFill>
            <a:srgbClr val="0F1B2D"/>
          </a:solidFill>
          <a:ln/>
        </p:spPr>
      </p:sp>
      <p:sp>
        <p:nvSpPr>
          <p:cNvPr id="52" name="Text 50"/>
          <p:cNvSpPr txBox="1"/>
          <p:nvPr/>
        </p:nvSpPr>
        <p:spPr>
          <a:xfrm>
            <a:off x="6397600" y="3995928"/>
            <a:ext cx="5135728" cy="237744"/>
          </a:xfrm>
          <a:prstGeom prst="rect">
            <a:avLst/>
          </a:prstGeom>
          <a:noFill/>
          <a:ln/>
        </p:spPr>
        <p:txBody>
          <a:bodyPr wrap="square" lIns="0" tIns="0" rIns="0" bIns="0" rtlCol="0" anchor="t"/>
          <a:lstStyle/>
          <a:p>
            <a:pPr indent="0" marL="0">
              <a:buNone/>
            </a:pPr>
            <a:r>
              <a:rPr lang="en-US" sz="900" b="1" spc="300" kern="0" dirty="0">
                <a:solidFill>
                  <a:srgbClr val="0F1B2D"/>
                </a:solidFill>
                <a:latin typeface="Calibri" pitchFamily="34" charset="0"/>
                <a:ea typeface="Calibri" pitchFamily="34" charset="-122"/>
                <a:cs typeface="Calibri" pitchFamily="34" charset="-120"/>
              </a:rPr>
              <a:t>PLATFORM &amp; INFRASTRUCTURE · 8</a:t>
            </a:r>
            <a:endParaRPr lang="en-US" sz="900" dirty="0"/>
          </a:p>
        </p:txBody>
      </p:sp>
      <p:sp>
        <p:nvSpPr>
          <p:cNvPr id="53" name="Shape 51"/>
          <p:cNvSpPr/>
          <p:nvPr/>
        </p:nvSpPr>
        <p:spPr>
          <a:xfrm>
            <a:off x="6415888" y="4315968"/>
            <a:ext cx="5090008" cy="329184"/>
          </a:xfrm>
          <a:prstGeom prst="rect">
            <a:avLst/>
          </a:prstGeom>
          <a:solidFill>
            <a:srgbClr val="FFFFFF"/>
          </a:solidFill>
          <a:ln w="6350">
            <a:solidFill>
              <a:srgbClr val="CCD3DD"/>
            </a:solidFill>
            <a:prstDash val="solid"/>
          </a:ln>
        </p:spPr>
      </p:sp>
      <p:sp>
        <p:nvSpPr>
          <p:cNvPr id="54" name="Text 52"/>
          <p:cNvSpPr txBox="1"/>
          <p:nvPr/>
        </p:nvSpPr>
        <p:spPr>
          <a:xfrm>
            <a:off x="6507328" y="4315968"/>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DataPower / APIC · NetScaler   </a:t>
            </a:r>
            <a:pPr indent="0" marL="0">
              <a:buNone/>
            </a:pPr>
            <a:r>
              <a:rPr lang="en-US" sz="950" i="1" dirty="0">
                <a:solidFill>
                  <a:srgbClr val="596273"/>
                </a:solidFill>
                <a:latin typeface="Calibri" pitchFamily="34" charset="0"/>
                <a:ea typeface="Calibri" pitchFamily="34" charset="-122"/>
                <a:cs typeface="Calibri" pitchFamily="34" charset="-120"/>
              </a:rPr>
              <a:t>API gateway and load balancing</a:t>
            </a:r>
            <a:endParaRPr lang="en-US" sz="950" dirty="0"/>
          </a:p>
        </p:txBody>
      </p:sp>
      <p:sp>
        <p:nvSpPr>
          <p:cNvPr id="55" name="Shape 53"/>
          <p:cNvSpPr/>
          <p:nvPr/>
        </p:nvSpPr>
        <p:spPr>
          <a:xfrm>
            <a:off x="6415888" y="4690872"/>
            <a:ext cx="5090008" cy="329184"/>
          </a:xfrm>
          <a:prstGeom prst="rect">
            <a:avLst/>
          </a:prstGeom>
          <a:solidFill>
            <a:srgbClr val="FFFFFF"/>
          </a:solidFill>
          <a:ln w="6350">
            <a:solidFill>
              <a:srgbClr val="CCD3DD"/>
            </a:solidFill>
            <a:prstDash val="solid"/>
          </a:ln>
        </p:spPr>
      </p:sp>
      <p:sp>
        <p:nvSpPr>
          <p:cNvPr id="56" name="Text 54"/>
          <p:cNvSpPr txBox="1"/>
          <p:nvPr/>
        </p:nvSpPr>
        <p:spPr>
          <a:xfrm>
            <a:off x="6507328" y="4690872"/>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PMI   </a:t>
            </a:r>
            <a:pPr indent="0" marL="0">
              <a:buNone/>
            </a:pPr>
            <a:r>
              <a:rPr lang="en-US" sz="950" i="1" dirty="0">
                <a:solidFill>
                  <a:srgbClr val="596273"/>
                </a:solidFill>
                <a:latin typeface="Calibri" pitchFamily="34" charset="0"/>
                <a:ea typeface="Calibri" pitchFamily="34" charset="-122"/>
                <a:cs typeface="Calibri" pitchFamily="34" charset="-120"/>
              </a:rPr>
              <a:t>Access policies and roles</a:t>
            </a:r>
            <a:endParaRPr lang="en-US" sz="950" dirty="0"/>
          </a:p>
        </p:txBody>
      </p:sp>
      <p:sp>
        <p:nvSpPr>
          <p:cNvPr id="57" name="Shape 55"/>
          <p:cNvSpPr/>
          <p:nvPr/>
        </p:nvSpPr>
        <p:spPr>
          <a:xfrm>
            <a:off x="6415888" y="5065776"/>
            <a:ext cx="5090008" cy="329184"/>
          </a:xfrm>
          <a:prstGeom prst="rect">
            <a:avLst/>
          </a:prstGeom>
          <a:solidFill>
            <a:srgbClr val="FFFFFF"/>
          </a:solidFill>
          <a:ln w="6350">
            <a:solidFill>
              <a:srgbClr val="CCD3DD"/>
            </a:solidFill>
            <a:prstDash val="solid"/>
          </a:ln>
        </p:spPr>
      </p:sp>
      <p:sp>
        <p:nvSpPr>
          <p:cNvPr id="58" name="Text 56"/>
          <p:cNvSpPr txBox="1"/>
          <p:nvPr/>
        </p:nvSpPr>
        <p:spPr>
          <a:xfrm>
            <a:off x="6507328" y="5065776"/>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Control-M · Hadoop / Spark   </a:t>
            </a:r>
            <a:pPr indent="0" marL="0">
              <a:buNone/>
            </a:pPr>
            <a:r>
              <a:rPr lang="en-US" sz="950" i="1" dirty="0">
                <a:solidFill>
                  <a:srgbClr val="596273"/>
                </a:solidFill>
                <a:latin typeface="Calibri" pitchFamily="34" charset="0"/>
                <a:ea typeface="Calibri" pitchFamily="34" charset="-122"/>
                <a:cs typeface="Calibri" pitchFamily="34" charset="-120"/>
              </a:rPr>
              <a:t>Batch scheduling and compute</a:t>
            </a:r>
            <a:endParaRPr lang="en-US" sz="950" dirty="0"/>
          </a:p>
        </p:txBody>
      </p:sp>
      <p:sp>
        <p:nvSpPr>
          <p:cNvPr id="59" name="Shape 57"/>
          <p:cNvSpPr/>
          <p:nvPr/>
        </p:nvSpPr>
        <p:spPr>
          <a:xfrm>
            <a:off x="6415888" y="5440680"/>
            <a:ext cx="5090008" cy="329184"/>
          </a:xfrm>
          <a:prstGeom prst="rect">
            <a:avLst/>
          </a:prstGeom>
          <a:solidFill>
            <a:srgbClr val="FFFFFF"/>
          </a:solidFill>
          <a:ln w="6350">
            <a:solidFill>
              <a:srgbClr val="CCD3DD"/>
            </a:solidFill>
            <a:prstDash val="solid"/>
          </a:ln>
        </p:spPr>
      </p:sp>
      <p:sp>
        <p:nvSpPr>
          <p:cNvPr id="60" name="Text 58"/>
          <p:cNvSpPr txBox="1"/>
          <p:nvPr/>
        </p:nvSpPr>
        <p:spPr>
          <a:xfrm>
            <a:off x="6507328" y="5440680"/>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Kafka   </a:t>
            </a:r>
            <a:pPr indent="0" marL="0">
              <a:buNone/>
            </a:pPr>
            <a:r>
              <a:rPr lang="en-US" sz="950" i="1" dirty="0">
                <a:solidFill>
                  <a:srgbClr val="596273"/>
                </a:solidFill>
                <a:latin typeface="Calibri" pitchFamily="34" charset="0"/>
                <a:ea typeface="Calibri" pitchFamily="34" charset="-122"/>
                <a:cs typeface="Calibri" pitchFamily="34" charset="-120"/>
              </a:rPr>
              <a:t>3 brokers: edclkfkp404–406</a:t>
            </a:r>
            <a:endParaRPr lang="en-US" sz="950" dirty="0"/>
          </a:p>
        </p:txBody>
      </p:sp>
      <p:sp>
        <p:nvSpPr>
          <p:cNvPr id="61" name="Shape 59"/>
          <p:cNvSpPr/>
          <p:nvPr/>
        </p:nvSpPr>
        <p:spPr>
          <a:xfrm>
            <a:off x="6415888" y="5815584"/>
            <a:ext cx="5090008" cy="329184"/>
          </a:xfrm>
          <a:prstGeom prst="rect">
            <a:avLst/>
          </a:prstGeom>
          <a:solidFill>
            <a:srgbClr val="FFFFFF"/>
          </a:solidFill>
          <a:ln w="6350">
            <a:solidFill>
              <a:srgbClr val="CCD3DD"/>
            </a:solidFill>
            <a:prstDash val="solid"/>
          </a:ln>
        </p:spPr>
      </p:sp>
      <p:sp>
        <p:nvSpPr>
          <p:cNvPr id="62" name="Text 60"/>
          <p:cNvSpPr txBox="1"/>
          <p:nvPr/>
        </p:nvSpPr>
        <p:spPr>
          <a:xfrm>
            <a:off x="6507328" y="5815584"/>
            <a:ext cx="4907128" cy="329184"/>
          </a:xfrm>
          <a:prstGeom prst="rect">
            <a:avLst/>
          </a:prstGeom>
          <a:noFill/>
          <a:ln/>
        </p:spPr>
        <p:txBody>
          <a:bodyPr wrap="square" lIns="0" tIns="0" rIns="0" bIns="0" rtlCol="0" anchor="ctr"/>
          <a:lstStyle/>
          <a:p>
            <a:pPr indent="0" marL="0">
              <a:buNone/>
            </a:pPr>
            <a:r>
              <a:rPr lang="en-US" sz="950" b="1" dirty="0">
                <a:solidFill>
                  <a:srgbClr val="1C2330"/>
                </a:solidFill>
                <a:latin typeface="Calibri" pitchFamily="34" charset="0"/>
                <a:ea typeface="Calibri" pitchFamily="34" charset="-122"/>
                <a:cs typeface="Calibri" pitchFamily="34" charset="-120"/>
              </a:rPr>
              <a:t>Splunk · MSMQ   </a:t>
            </a:r>
            <a:pPr indent="0" marL="0">
              <a:buNone/>
            </a:pPr>
            <a:r>
              <a:rPr lang="en-US" sz="950" i="1" dirty="0">
                <a:solidFill>
                  <a:srgbClr val="596273"/>
                </a:solidFill>
                <a:latin typeface="Calibri" pitchFamily="34" charset="0"/>
                <a:ea typeface="Calibri" pitchFamily="34" charset="-122"/>
                <a:cs typeface="Calibri" pitchFamily="34" charset="-120"/>
              </a:rPr>
              <a:t>Logs (index blue-app-ccm) · touchpoint queue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IT CONTACT PLATFORM</a:t>
            </a:r>
            <a:endParaRPr lang="en-US" sz="1100" dirty="0"/>
          </a:p>
        </p:txBody>
      </p:sp>
      <p:sp>
        <p:nvSpPr>
          <p:cNvPr id="4" name="Text 2"/>
          <p:cNvSpPr txBox="1"/>
          <p:nvPr/>
        </p:nvSpPr>
        <p:spPr>
          <a:xfrm>
            <a:off x="548640" y="502920"/>
            <a:ext cx="758952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Where CCM fits in the IT Contact Platform</a:t>
            </a:r>
            <a:endParaRPr lang="en-US" sz="2700" dirty="0"/>
          </a:p>
        </p:txBody>
      </p:sp>
      <p:sp>
        <p:nvSpPr>
          <p:cNvPr id="5" name="Shape 3"/>
          <p:cNvSpPr/>
          <p:nvPr/>
        </p:nvSpPr>
        <p:spPr>
          <a:xfrm>
            <a:off x="8351215" y="146304"/>
            <a:ext cx="1024128" cy="896112"/>
          </a:xfrm>
          <a:prstGeom prst="rect">
            <a:avLst/>
          </a:prstGeom>
          <a:solidFill>
            <a:srgbClr val="1F4FB8"/>
          </a:solidFill>
          <a:ln/>
        </p:spPr>
      </p:sp>
      <p:sp>
        <p:nvSpPr>
          <p:cNvPr id="6" name="Text 4"/>
          <p:cNvSpPr txBox="1"/>
          <p:nvPr/>
        </p:nvSpPr>
        <p:spPr>
          <a:xfrm>
            <a:off x="8351215"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7" name="Text 5"/>
          <p:cNvSpPr txBox="1"/>
          <p:nvPr/>
        </p:nvSpPr>
        <p:spPr>
          <a:xfrm>
            <a:off x="8351215"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Vendors</a:t>
            </a:r>
            <a:endParaRPr lang="en-US" sz="900" dirty="0"/>
          </a:p>
        </p:txBody>
      </p:sp>
      <p:sp>
        <p:nvSpPr>
          <p:cNvPr id="8" name="Shape 6"/>
          <p:cNvSpPr/>
          <p:nvPr/>
        </p:nvSpPr>
        <p:spPr>
          <a:xfrm>
            <a:off x="9485071" y="146304"/>
            <a:ext cx="1024128" cy="896112"/>
          </a:xfrm>
          <a:prstGeom prst="rect">
            <a:avLst/>
          </a:prstGeom>
          <a:solidFill>
            <a:srgbClr val="1F4FB8"/>
          </a:solidFill>
          <a:ln/>
        </p:spPr>
      </p:sp>
      <p:sp>
        <p:nvSpPr>
          <p:cNvPr id="9" name="Text 7"/>
          <p:cNvSpPr txBox="1"/>
          <p:nvPr/>
        </p:nvSpPr>
        <p:spPr>
          <a:xfrm>
            <a:off x="9485071"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10" name="Text 8"/>
          <p:cNvSpPr txBox="1"/>
          <p:nvPr/>
        </p:nvSpPr>
        <p:spPr>
          <a:xfrm>
            <a:off x="9485071"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Brands</a:t>
            </a:r>
            <a:endParaRPr lang="en-US" sz="900" dirty="0"/>
          </a:p>
        </p:txBody>
      </p:sp>
      <p:sp>
        <p:nvSpPr>
          <p:cNvPr id="11" name="Shape 9"/>
          <p:cNvSpPr/>
          <p:nvPr/>
        </p:nvSpPr>
        <p:spPr>
          <a:xfrm>
            <a:off x="10618927" y="146304"/>
            <a:ext cx="1024128" cy="896112"/>
          </a:xfrm>
          <a:prstGeom prst="rect">
            <a:avLst/>
          </a:prstGeom>
          <a:solidFill>
            <a:srgbClr val="1F4FB8"/>
          </a:solidFill>
          <a:ln/>
        </p:spPr>
      </p:sp>
      <p:sp>
        <p:nvSpPr>
          <p:cNvPr id="12" name="Text 10"/>
          <p:cNvSpPr txBox="1"/>
          <p:nvPr/>
        </p:nvSpPr>
        <p:spPr>
          <a:xfrm>
            <a:off x="10618927"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13" name="Text 11"/>
          <p:cNvSpPr txBox="1"/>
          <p:nvPr/>
        </p:nvSpPr>
        <p:spPr>
          <a:xfrm>
            <a:off x="10618927"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Role types</a:t>
            </a:r>
            <a:endParaRPr lang="en-US" sz="900" dirty="0"/>
          </a:p>
        </p:txBody>
      </p:sp>
      <p:sp>
        <p:nvSpPr>
          <p:cNvPr id="14" name="Text 12"/>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15" name="Text 13"/>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7</a:t>
            </a:r>
            <a:endParaRPr lang="en-US" sz="900" dirty="0"/>
          </a:p>
        </p:txBody>
      </p:sp>
      <p:sp>
        <p:nvSpPr>
          <p:cNvPr id="16" name="Text 14"/>
          <p:cNvSpPr txBox="1"/>
          <p:nvPr/>
        </p:nvSpPr>
        <p:spPr>
          <a:xfrm>
            <a:off x="548640" y="1353312"/>
            <a:ext cx="1371600" cy="237744"/>
          </a:xfrm>
          <a:prstGeom prst="rect">
            <a:avLst/>
          </a:prstGeom>
          <a:noFill/>
          <a:ln/>
        </p:spPr>
        <p:txBody>
          <a:bodyPr wrap="square" lIns="0" tIns="0" rIns="0" bIns="0" rtlCol="0" anchor="t"/>
          <a:lstStyle/>
          <a:p>
            <a:pPr indent="0" marL="0">
              <a:buNone/>
            </a:pPr>
            <a:r>
              <a:rPr lang="en-US" sz="850" b="1" spc="300" kern="0" dirty="0">
                <a:solidFill>
                  <a:srgbClr val="3A4556"/>
                </a:solidFill>
                <a:latin typeface="Calibri" pitchFamily="34" charset="0"/>
                <a:ea typeface="Calibri" pitchFamily="34" charset="-122"/>
                <a:cs typeface="Calibri" pitchFamily="34" charset="-120"/>
              </a:rPr>
              <a:t>ROLES &amp; ACTORS</a:t>
            </a:r>
            <a:endParaRPr lang="en-US" sz="850" dirty="0"/>
          </a:p>
        </p:txBody>
      </p:sp>
      <p:sp>
        <p:nvSpPr>
          <p:cNvPr id="17" name="Shape 15"/>
          <p:cNvSpPr/>
          <p:nvPr/>
        </p:nvSpPr>
        <p:spPr>
          <a:xfrm>
            <a:off x="548640" y="1627632"/>
            <a:ext cx="1325880" cy="384048"/>
          </a:xfrm>
          <a:prstGeom prst="rect">
            <a:avLst/>
          </a:prstGeom>
          <a:solidFill>
            <a:srgbClr val="FFFFFF"/>
          </a:solidFill>
          <a:ln w="9525">
            <a:solidFill>
              <a:srgbClr val="CCD3DD"/>
            </a:solidFill>
            <a:prstDash val="solid"/>
          </a:ln>
        </p:spPr>
      </p:sp>
      <p:pic>
        <p:nvPicPr>
          <p:cNvPr id="18" name="Image 0" descr="preencoded.png">    </p:cNvPr>
          <p:cNvPicPr>
            <a:picLocks noChangeAspect="1"/>
          </p:cNvPicPr>
          <p:nvPr/>
        </p:nvPicPr>
        <p:blipFill>
          <a:blip r:embed="rId1"/>
          <a:stretch>
            <a:fillRect/>
          </a:stretch>
        </p:blipFill>
        <p:spPr>
          <a:xfrm>
            <a:off x="640080" y="1719072"/>
            <a:ext cx="201168" cy="201168"/>
          </a:xfrm>
          <a:prstGeom prst="rect">
            <a:avLst/>
          </a:prstGeom>
        </p:spPr>
      </p:pic>
      <p:sp>
        <p:nvSpPr>
          <p:cNvPr id="19" name="Text 16"/>
          <p:cNvSpPr txBox="1"/>
          <p:nvPr/>
        </p:nvSpPr>
        <p:spPr>
          <a:xfrm>
            <a:off x="914400" y="1627632"/>
            <a:ext cx="932688" cy="384048"/>
          </a:xfrm>
          <a:prstGeom prst="rect">
            <a:avLst/>
          </a:prstGeom>
          <a:noFill/>
          <a:ln/>
        </p:spPr>
        <p:txBody>
          <a:bodyPr wrap="square" lIns="0" tIns="0" rIns="0" bIns="0" rtlCol="0" anchor="ctr"/>
          <a:lstStyle/>
          <a:p>
            <a:pPr indent="0" marL="0">
              <a:buNone/>
            </a:pPr>
            <a:r>
              <a:rPr lang="en-US" sz="950" b="1" dirty="0">
                <a:solidFill>
                  <a:srgbClr val="1F4FB8"/>
                </a:solidFill>
                <a:latin typeface="Calibri" pitchFamily="34" charset="0"/>
                <a:ea typeface="Calibri" pitchFamily="34" charset="-122"/>
                <a:cs typeface="Calibri" pitchFamily="34" charset="-120"/>
              </a:rPr>
              <a:t>Member</a:t>
            </a:r>
            <a:endParaRPr lang="en-US" sz="950" dirty="0"/>
          </a:p>
        </p:txBody>
      </p:sp>
      <p:sp>
        <p:nvSpPr>
          <p:cNvPr id="20" name="Shape 17"/>
          <p:cNvSpPr/>
          <p:nvPr/>
        </p:nvSpPr>
        <p:spPr>
          <a:xfrm>
            <a:off x="548640" y="2084832"/>
            <a:ext cx="1325880" cy="384048"/>
          </a:xfrm>
          <a:prstGeom prst="rect">
            <a:avLst/>
          </a:prstGeom>
          <a:solidFill>
            <a:srgbClr val="FFFFFF"/>
          </a:solidFill>
          <a:ln w="9525">
            <a:solidFill>
              <a:srgbClr val="CCD3DD"/>
            </a:solidFill>
            <a:prstDash val="solid"/>
          </a:ln>
        </p:spPr>
      </p:sp>
      <p:pic>
        <p:nvPicPr>
          <p:cNvPr id="21" name="Image 1" descr="preencoded.png">    </p:cNvPr>
          <p:cNvPicPr>
            <a:picLocks noChangeAspect="1"/>
          </p:cNvPicPr>
          <p:nvPr/>
        </p:nvPicPr>
        <p:blipFill>
          <a:blip r:embed="rId2"/>
          <a:stretch>
            <a:fillRect/>
          </a:stretch>
        </p:blipFill>
        <p:spPr>
          <a:xfrm>
            <a:off x="640080" y="2176272"/>
            <a:ext cx="201168" cy="201168"/>
          </a:xfrm>
          <a:prstGeom prst="rect">
            <a:avLst/>
          </a:prstGeom>
        </p:spPr>
      </p:pic>
      <p:sp>
        <p:nvSpPr>
          <p:cNvPr id="22" name="Text 18"/>
          <p:cNvSpPr txBox="1"/>
          <p:nvPr/>
        </p:nvSpPr>
        <p:spPr>
          <a:xfrm>
            <a:off x="914400" y="2084832"/>
            <a:ext cx="932688" cy="384048"/>
          </a:xfrm>
          <a:prstGeom prst="rect">
            <a:avLst/>
          </a:prstGeom>
          <a:noFill/>
          <a:ln/>
        </p:spPr>
        <p:txBody>
          <a:bodyPr wrap="square" lIns="0" tIns="0" rIns="0" bIns="0" rtlCol="0" anchor="ctr"/>
          <a:lstStyle/>
          <a:p>
            <a:pPr indent="0" marL="0">
              <a:buNone/>
            </a:pPr>
            <a:r>
              <a:rPr lang="en-US" sz="950" b="1" dirty="0">
                <a:solidFill>
                  <a:srgbClr val="5B2BC8"/>
                </a:solidFill>
                <a:latin typeface="Calibri" pitchFamily="34" charset="0"/>
                <a:ea typeface="Calibri" pitchFamily="34" charset="-122"/>
                <a:cs typeface="Calibri" pitchFamily="34" charset="-120"/>
              </a:rPr>
              <a:t>Advocate</a:t>
            </a:r>
            <a:endParaRPr lang="en-US" sz="950" dirty="0"/>
          </a:p>
        </p:txBody>
      </p:sp>
      <p:sp>
        <p:nvSpPr>
          <p:cNvPr id="23" name="Shape 19"/>
          <p:cNvSpPr/>
          <p:nvPr/>
        </p:nvSpPr>
        <p:spPr>
          <a:xfrm>
            <a:off x="548640" y="2542032"/>
            <a:ext cx="1325880" cy="384048"/>
          </a:xfrm>
          <a:prstGeom prst="rect">
            <a:avLst/>
          </a:prstGeom>
          <a:solidFill>
            <a:srgbClr val="FFFFFF"/>
          </a:solidFill>
          <a:ln w="9525">
            <a:solidFill>
              <a:srgbClr val="CCD3DD"/>
            </a:solidFill>
            <a:prstDash val="solid"/>
          </a:ln>
        </p:spPr>
      </p:sp>
      <p:pic>
        <p:nvPicPr>
          <p:cNvPr id="24" name="Image 2" descr="preencoded.png">    </p:cNvPr>
          <p:cNvPicPr>
            <a:picLocks noChangeAspect="1"/>
          </p:cNvPicPr>
          <p:nvPr/>
        </p:nvPicPr>
        <p:blipFill>
          <a:blip r:embed="rId3"/>
          <a:stretch>
            <a:fillRect/>
          </a:stretch>
        </p:blipFill>
        <p:spPr>
          <a:xfrm>
            <a:off x="640080" y="2633472"/>
            <a:ext cx="201168" cy="201168"/>
          </a:xfrm>
          <a:prstGeom prst="rect">
            <a:avLst/>
          </a:prstGeom>
        </p:spPr>
      </p:pic>
      <p:sp>
        <p:nvSpPr>
          <p:cNvPr id="25" name="Text 20"/>
          <p:cNvSpPr txBox="1"/>
          <p:nvPr/>
        </p:nvSpPr>
        <p:spPr>
          <a:xfrm>
            <a:off x="914400" y="2542032"/>
            <a:ext cx="932688" cy="384048"/>
          </a:xfrm>
          <a:prstGeom prst="rect">
            <a:avLst/>
          </a:prstGeom>
          <a:noFill/>
          <a:ln/>
        </p:spPr>
        <p:txBody>
          <a:bodyPr wrap="square" lIns="0" tIns="0" rIns="0" bIns="0" rtlCol="0" anchor="ctr"/>
          <a:lstStyle/>
          <a:p>
            <a:pPr indent="0" marL="0">
              <a:buNone/>
            </a:pPr>
            <a:r>
              <a:rPr lang="en-US" sz="950" b="1" dirty="0">
                <a:solidFill>
                  <a:srgbClr val="1F7A6B"/>
                </a:solidFill>
                <a:latin typeface="Calibri" pitchFamily="34" charset="0"/>
                <a:ea typeface="Calibri" pitchFamily="34" charset="-122"/>
                <a:cs typeface="Calibri" pitchFamily="34" charset="-120"/>
              </a:rPr>
              <a:t>Agent</a:t>
            </a:r>
            <a:endParaRPr lang="en-US" sz="950" dirty="0"/>
          </a:p>
        </p:txBody>
      </p:sp>
      <p:sp>
        <p:nvSpPr>
          <p:cNvPr id="26" name="Shape 21"/>
          <p:cNvSpPr/>
          <p:nvPr/>
        </p:nvSpPr>
        <p:spPr>
          <a:xfrm>
            <a:off x="548640" y="2999232"/>
            <a:ext cx="1325880" cy="384048"/>
          </a:xfrm>
          <a:prstGeom prst="rect">
            <a:avLst/>
          </a:prstGeom>
          <a:solidFill>
            <a:srgbClr val="FFFFFF"/>
          </a:solidFill>
          <a:ln w="9525">
            <a:solidFill>
              <a:srgbClr val="CCD3DD"/>
            </a:solidFill>
            <a:prstDash val="solid"/>
          </a:ln>
        </p:spPr>
      </p:sp>
      <p:pic>
        <p:nvPicPr>
          <p:cNvPr id="27" name="Image 3" descr="preencoded.png">    </p:cNvPr>
          <p:cNvPicPr>
            <a:picLocks noChangeAspect="1"/>
          </p:cNvPicPr>
          <p:nvPr/>
        </p:nvPicPr>
        <p:blipFill>
          <a:blip r:embed="rId4"/>
          <a:stretch>
            <a:fillRect/>
          </a:stretch>
        </p:blipFill>
        <p:spPr>
          <a:xfrm>
            <a:off x="640080" y="3090672"/>
            <a:ext cx="201168" cy="201168"/>
          </a:xfrm>
          <a:prstGeom prst="rect">
            <a:avLst/>
          </a:prstGeom>
        </p:spPr>
      </p:pic>
      <p:sp>
        <p:nvSpPr>
          <p:cNvPr id="28" name="Text 22"/>
          <p:cNvSpPr txBox="1"/>
          <p:nvPr/>
        </p:nvSpPr>
        <p:spPr>
          <a:xfrm>
            <a:off x="914400" y="2999232"/>
            <a:ext cx="932688" cy="384048"/>
          </a:xfrm>
          <a:prstGeom prst="rect">
            <a:avLst/>
          </a:prstGeom>
          <a:noFill/>
          <a:ln/>
        </p:spPr>
        <p:txBody>
          <a:bodyPr wrap="square" lIns="0" tIns="0" rIns="0" bIns="0" rtlCol="0" anchor="ctr"/>
          <a:lstStyle/>
          <a:p>
            <a:pPr indent="0" marL="0">
              <a:buNone/>
            </a:pPr>
            <a:r>
              <a:rPr lang="en-US" sz="950" b="1" dirty="0">
                <a:solidFill>
                  <a:srgbClr val="2F86C8"/>
                </a:solidFill>
                <a:latin typeface="Calibri" pitchFamily="34" charset="0"/>
                <a:ea typeface="Calibri" pitchFamily="34" charset="-122"/>
                <a:cs typeface="Calibri" pitchFamily="34" charset="-120"/>
              </a:rPr>
              <a:t>Provider</a:t>
            </a:r>
            <a:endParaRPr lang="en-US" sz="950" dirty="0"/>
          </a:p>
        </p:txBody>
      </p:sp>
      <p:sp>
        <p:nvSpPr>
          <p:cNvPr id="29" name="Shape 23"/>
          <p:cNvSpPr/>
          <p:nvPr/>
        </p:nvSpPr>
        <p:spPr>
          <a:xfrm>
            <a:off x="548640" y="3456432"/>
            <a:ext cx="1325880" cy="384048"/>
          </a:xfrm>
          <a:prstGeom prst="rect">
            <a:avLst/>
          </a:prstGeom>
          <a:solidFill>
            <a:srgbClr val="FFFFFF"/>
          </a:solidFill>
          <a:ln w="9525">
            <a:solidFill>
              <a:srgbClr val="CCD3DD"/>
            </a:solidFill>
            <a:prstDash val="solid"/>
          </a:ln>
        </p:spPr>
      </p:sp>
      <p:pic>
        <p:nvPicPr>
          <p:cNvPr id="30" name="Image 4" descr="preencoded.png">    </p:cNvPr>
          <p:cNvPicPr>
            <a:picLocks noChangeAspect="1"/>
          </p:cNvPicPr>
          <p:nvPr/>
        </p:nvPicPr>
        <p:blipFill>
          <a:blip r:embed="rId5"/>
          <a:stretch>
            <a:fillRect/>
          </a:stretch>
        </p:blipFill>
        <p:spPr>
          <a:xfrm>
            <a:off x="640080" y="3547872"/>
            <a:ext cx="201168" cy="201168"/>
          </a:xfrm>
          <a:prstGeom prst="rect">
            <a:avLst/>
          </a:prstGeom>
        </p:spPr>
      </p:pic>
      <p:sp>
        <p:nvSpPr>
          <p:cNvPr id="31" name="Text 24"/>
          <p:cNvSpPr txBox="1"/>
          <p:nvPr/>
        </p:nvSpPr>
        <p:spPr>
          <a:xfrm>
            <a:off x="914400" y="3456432"/>
            <a:ext cx="932688" cy="384048"/>
          </a:xfrm>
          <a:prstGeom prst="rect">
            <a:avLst/>
          </a:prstGeom>
          <a:noFill/>
          <a:ln/>
        </p:spPr>
        <p:txBody>
          <a:bodyPr wrap="square" lIns="0" tIns="0" rIns="0" bIns="0" rtlCol="0" anchor="ctr"/>
          <a:lstStyle/>
          <a:p>
            <a:pPr indent="0" marL="0">
              <a:buNone/>
            </a:pPr>
            <a:r>
              <a:rPr lang="en-US" sz="950" b="1" dirty="0">
                <a:solidFill>
                  <a:srgbClr val="E8612C"/>
                </a:solidFill>
                <a:latin typeface="Calibri" pitchFamily="34" charset="0"/>
                <a:ea typeface="Calibri" pitchFamily="34" charset="-122"/>
                <a:cs typeface="Calibri" pitchFamily="34" charset="-120"/>
              </a:rPr>
              <a:t>Employee</a:t>
            </a:r>
            <a:endParaRPr lang="en-US" sz="950" dirty="0"/>
          </a:p>
        </p:txBody>
      </p:sp>
      <p:sp>
        <p:nvSpPr>
          <p:cNvPr id="32" name="Text 25"/>
          <p:cNvSpPr txBox="1"/>
          <p:nvPr/>
        </p:nvSpPr>
        <p:spPr>
          <a:xfrm>
            <a:off x="548640" y="3959352"/>
            <a:ext cx="1371600" cy="237744"/>
          </a:xfrm>
          <a:prstGeom prst="rect">
            <a:avLst/>
          </a:prstGeom>
          <a:noFill/>
          <a:ln/>
        </p:spPr>
        <p:txBody>
          <a:bodyPr wrap="square" lIns="0" tIns="0" rIns="0" bIns="0" rtlCol="0" anchor="t"/>
          <a:lstStyle/>
          <a:p>
            <a:pPr indent="0" marL="0">
              <a:buNone/>
            </a:pPr>
            <a:r>
              <a:rPr lang="en-US" sz="850" b="1" spc="300" kern="0" dirty="0">
                <a:solidFill>
                  <a:srgbClr val="3A4556"/>
                </a:solidFill>
                <a:latin typeface="Calibri" pitchFamily="34" charset="0"/>
                <a:ea typeface="Calibri" pitchFamily="34" charset="-122"/>
                <a:cs typeface="Calibri" pitchFamily="34" charset="-120"/>
              </a:rPr>
              <a:t>GOVERNANCE</a:t>
            </a:r>
            <a:endParaRPr lang="en-US" sz="850" dirty="0"/>
          </a:p>
        </p:txBody>
      </p:sp>
      <p:sp>
        <p:nvSpPr>
          <p:cNvPr id="33" name="Shape 26"/>
          <p:cNvSpPr/>
          <p:nvPr/>
        </p:nvSpPr>
        <p:spPr>
          <a:xfrm>
            <a:off x="548640" y="4251960"/>
            <a:ext cx="36576" cy="685800"/>
          </a:xfrm>
          <a:prstGeom prst="rect">
            <a:avLst/>
          </a:prstGeom>
          <a:solidFill>
            <a:srgbClr val="5B2BC8"/>
          </a:solidFill>
          <a:ln/>
        </p:spPr>
      </p:sp>
      <p:sp>
        <p:nvSpPr>
          <p:cNvPr id="34" name="Text 27"/>
          <p:cNvSpPr txBox="1"/>
          <p:nvPr/>
        </p:nvSpPr>
        <p:spPr>
          <a:xfrm>
            <a:off x="640080" y="4233672"/>
            <a:ext cx="1325880" cy="960120"/>
          </a:xfrm>
          <a:prstGeom prst="rect">
            <a:avLst/>
          </a:prstGeom>
          <a:noFill/>
          <a:ln/>
        </p:spPr>
        <p:txBody>
          <a:bodyPr wrap="square" lIns="0" tIns="0" rIns="0" bIns="0" rtlCol="0" anchor="t"/>
          <a:lstStyle/>
          <a:p>
            <a:pPr indent="0" marL="0">
              <a:buNone/>
            </a:pPr>
            <a:r>
              <a:rPr lang="en-US" sz="800" dirty="0">
                <a:solidFill>
                  <a:srgbClr val="1C2330"/>
                </a:solidFill>
                <a:latin typeface="Calibri" pitchFamily="34" charset="0"/>
                <a:ea typeface="Calibri" pitchFamily="34" charset="-122"/>
                <a:cs typeface="Calibri" pitchFamily="34" charset="-120"/>
              </a:rPr>
              <a:t>Workforce authentication</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Role-based entitlements</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Data access policies</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Access audit &amp; logging</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Preference &amp; consent use</a:t>
            </a:r>
            <a:endParaRPr lang="en-US" sz="800" dirty="0"/>
          </a:p>
        </p:txBody>
      </p:sp>
      <p:sp>
        <p:nvSpPr>
          <p:cNvPr id="35" name="Shape 28"/>
          <p:cNvSpPr/>
          <p:nvPr/>
        </p:nvSpPr>
        <p:spPr>
          <a:xfrm>
            <a:off x="2011680" y="1353312"/>
            <a:ext cx="7955280" cy="665988"/>
          </a:xfrm>
          <a:prstGeom prst="rect">
            <a:avLst/>
          </a:prstGeom>
          <a:solidFill>
            <a:srgbClr val="EEF0F3"/>
          </a:solidFill>
          <a:ln/>
        </p:spPr>
      </p:sp>
      <p:sp>
        <p:nvSpPr>
          <p:cNvPr id="36" name="Shape 29"/>
          <p:cNvSpPr/>
          <p:nvPr/>
        </p:nvSpPr>
        <p:spPr>
          <a:xfrm>
            <a:off x="2011680" y="1353312"/>
            <a:ext cx="7955280" cy="54864"/>
          </a:xfrm>
          <a:prstGeom prst="rect">
            <a:avLst/>
          </a:prstGeom>
          <a:solidFill>
            <a:srgbClr val="1F7A6B"/>
          </a:solidFill>
          <a:ln/>
        </p:spPr>
      </p:sp>
      <p:sp>
        <p:nvSpPr>
          <p:cNvPr id="37" name="Shape 30"/>
          <p:cNvSpPr/>
          <p:nvPr/>
        </p:nvSpPr>
        <p:spPr>
          <a:xfrm>
            <a:off x="2011680" y="1353312"/>
            <a:ext cx="54864" cy="665988"/>
          </a:xfrm>
          <a:prstGeom prst="rect">
            <a:avLst/>
          </a:prstGeom>
          <a:solidFill>
            <a:srgbClr val="1F7A6B"/>
          </a:solidFill>
          <a:ln/>
        </p:spPr>
      </p:sp>
      <p:sp>
        <p:nvSpPr>
          <p:cNvPr id="38" name="Text 31"/>
          <p:cNvSpPr txBox="1"/>
          <p:nvPr/>
        </p:nvSpPr>
        <p:spPr>
          <a:xfrm>
            <a:off x="2176272" y="1417320"/>
            <a:ext cx="7680960" cy="237744"/>
          </a:xfrm>
          <a:prstGeom prst="rect">
            <a:avLst/>
          </a:prstGeom>
          <a:noFill/>
          <a:ln/>
        </p:spPr>
        <p:txBody>
          <a:bodyPr wrap="square" lIns="0" tIns="0" rIns="0" bIns="0" rtlCol="0" anchor="t"/>
          <a:lstStyle/>
          <a:p>
            <a:pPr indent="0" marL="0">
              <a:buNone/>
            </a:pPr>
            <a:r>
              <a:rPr lang="en-US" sz="800" b="1" spc="300" kern="0" dirty="0">
                <a:solidFill>
                  <a:srgbClr val="1F7A6B"/>
                </a:solidFill>
                <a:latin typeface="Calibri" pitchFamily="34" charset="0"/>
                <a:ea typeface="Calibri" pitchFamily="34" charset="-122"/>
                <a:cs typeface="Calibri" pitchFamily="34" charset="-120"/>
              </a:rPr>
              <a:t>CHANNELS &amp; TOUCHPOINTS</a:t>
            </a:r>
            <a:endParaRPr lang="en-US" sz="800" dirty="0"/>
          </a:p>
        </p:txBody>
      </p:sp>
      <p:sp>
        <p:nvSpPr>
          <p:cNvPr id="39" name="Shape 32"/>
          <p:cNvSpPr/>
          <p:nvPr/>
        </p:nvSpPr>
        <p:spPr>
          <a:xfrm>
            <a:off x="2176272" y="1627632"/>
            <a:ext cx="2511552" cy="336804"/>
          </a:xfrm>
          <a:prstGeom prst="rect">
            <a:avLst/>
          </a:prstGeom>
          <a:solidFill>
            <a:srgbClr val="FFFFFF"/>
          </a:solidFill>
          <a:ln w="9525">
            <a:solidFill>
              <a:srgbClr val="CCD3DD"/>
            </a:solidFill>
            <a:prstDash val="solid"/>
          </a:ln>
        </p:spPr>
      </p:sp>
      <p:sp>
        <p:nvSpPr>
          <p:cNvPr id="40" name="Text 33"/>
          <p:cNvSpPr txBox="1"/>
          <p:nvPr/>
        </p:nvSpPr>
        <p:spPr>
          <a:xfrm>
            <a:off x="2249424" y="1655064"/>
            <a:ext cx="2365248"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WEB</a:t>
            </a:r>
            <a:endParaRPr lang="en-US" sz="700" dirty="0"/>
          </a:p>
        </p:txBody>
      </p:sp>
      <p:sp>
        <p:nvSpPr>
          <p:cNvPr id="41" name="Text 34"/>
          <p:cNvSpPr txBox="1"/>
          <p:nvPr/>
        </p:nvSpPr>
        <p:spPr>
          <a:xfrm>
            <a:off x="2249424" y="1792224"/>
            <a:ext cx="2365248"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React, responsive</a:t>
            </a:r>
            <a:endParaRPr lang="en-US" sz="750" dirty="0"/>
          </a:p>
        </p:txBody>
      </p:sp>
      <p:sp>
        <p:nvSpPr>
          <p:cNvPr id="42" name="Shape 35"/>
          <p:cNvSpPr/>
          <p:nvPr/>
        </p:nvSpPr>
        <p:spPr>
          <a:xfrm>
            <a:off x="4760976" y="1627632"/>
            <a:ext cx="2511552" cy="336804"/>
          </a:xfrm>
          <a:prstGeom prst="rect">
            <a:avLst/>
          </a:prstGeom>
          <a:solidFill>
            <a:srgbClr val="FFFFFF"/>
          </a:solidFill>
          <a:ln w="9525">
            <a:solidFill>
              <a:srgbClr val="CCD3DD"/>
            </a:solidFill>
            <a:prstDash val="solid"/>
          </a:ln>
        </p:spPr>
      </p:sp>
      <p:sp>
        <p:nvSpPr>
          <p:cNvPr id="43" name="Text 36"/>
          <p:cNvSpPr txBox="1"/>
          <p:nvPr/>
        </p:nvSpPr>
        <p:spPr>
          <a:xfrm>
            <a:off x="4834128" y="1655064"/>
            <a:ext cx="2365248"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IVR CALL</a:t>
            </a:r>
            <a:endParaRPr lang="en-US" sz="700" dirty="0"/>
          </a:p>
        </p:txBody>
      </p:sp>
      <p:sp>
        <p:nvSpPr>
          <p:cNvPr id="44" name="Shape 37"/>
          <p:cNvSpPr/>
          <p:nvPr/>
        </p:nvSpPr>
        <p:spPr>
          <a:xfrm>
            <a:off x="7345680" y="1627632"/>
            <a:ext cx="2511552" cy="336804"/>
          </a:xfrm>
          <a:prstGeom prst="rect">
            <a:avLst/>
          </a:prstGeom>
          <a:solidFill>
            <a:srgbClr val="FFFFFF"/>
          </a:solidFill>
          <a:ln w="9525">
            <a:solidFill>
              <a:srgbClr val="CCD3DD"/>
            </a:solidFill>
            <a:prstDash val="solid"/>
          </a:ln>
        </p:spPr>
      </p:sp>
      <p:sp>
        <p:nvSpPr>
          <p:cNvPr id="45" name="Text 38"/>
          <p:cNvSpPr txBox="1"/>
          <p:nvPr/>
        </p:nvSpPr>
        <p:spPr>
          <a:xfrm>
            <a:off x="7418832" y="1655064"/>
            <a:ext cx="2365248"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INTERNAL APPS</a:t>
            </a:r>
            <a:endParaRPr lang="en-US" sz="700" dirty="0"/>
          </a:p>
        </p:txBody>
      </p:sp>
      <p:sp>
        <p:nvSpPr>
          <p:cNvPr id="46" name="Text 39"/>
          <p:cNvSpPr txBox="1"/>
          <p:nvPr/>
        </p:nvSpPr>
        <p:spPr>
          <a:xfrm>
            <a:off x="7418832" y="1792224"/>
            <a:ext cx="2365248"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Referrals, redirects</a:t>
            </a:r>
            <a:endParaRPr lang="en-US" sz="750" dirty="0"/>
          </a:p>
        </p:txBody>
      </p:sp>
      <p:sp>
        <p:nvSpPr>
          <p:cNvPr id="47" name="Shape 40"/>
          <p:cNvSpPr/>
          <p:nvPr/>
        </p:nvSpPr>
        <p:spPr>
          <a:xfrm>
            <a:off x="2011680" y="2083308"/>
            <a:ext cx="7955280" cy="665988"/>
          </a:xfrm>
          <a:prstGeom prst="rect">
            <a:avLst/>
          </a:prstGeom>
          <a:solidFill>
            <a:srgbClr val="EEF0F3"/>
          </a:solidFill>
          <a:ln/>
        </p:spPr>
      </p:sp>
      <p:sp>
        <p:nvSpPr>
          <p:cNvPr id="48" name="Shape 41"/>
          <p:cNvSpPr/>
          <p:nvPr/>
        </p:nvSpPr>
        <p:spPr>
          <a:xfrm>
            <a:off x="2011680" y="2083308"/>
            <a:ext cx="7955280" cy="54864"/>
          </a:xfrm>
          <a:prstGeom prst="rect">
            <a:avLst/>
          </a:prstGeom>
          <a:solidFill>
            <a:srgbClr val="0F1B2D"/>
          </a:solidFill>
          <a:ln/>
        </p:spPr>
      </p:sp>
      <p:sp>
        <p:nvSpPr>
          <p:cNvPr id="49" name="Shape 42"/>
          <p:cNvSpPr/>
          <p:nvPr/>
        </p:nvSpPr>
        <p:spPr>
          <a:xfrm>
            <a:off x="2011680" y="2083308"/>
            <a:ext cx="54864" cy="665988"/>
          </a:xfrm>
          <a:prstGeom prst="rect">
            <a:avLst/>
          </a:prstGeom>
          <a:solidFill>
            <a:srgbClr val="0F1B2D"/>
          </a:solidFill>
          <a:ln/>
        </p:spPr>
      </p:sp>
      <p:sp>
        <p:nvSpPr>
          <p:cNvPr id="50" name="Text 43"/>
          <p:cNvSpPr txBox="1"/>
          <p:nvPr/>
        </p:nvSpPr>
        <p:spPr>
          <a:xfrm>
            <a:off x="2176272" y="2147316"/>
            <a:ext cx="7680960" cy="237744"/>
          </a:xfrm>
          <a:prstGeom prst="rect">
            <a:avLst/>
          </a:prstGeom>
          <a:noFill/>
          <a:ln/>
        </p:spPr>
        <p:txBody>
          <a:bodyPr wrap="square" lIns="0" tIns="0" rIns="0" bIns="0" rtlCol="0" anchor="t"/>
          <a:lstStyle/>
          <a:p>
            <a:pPr indent="0" marL="0">
              <a:buNone/>
            </a:pPr>
            <a:r>
              <a:rPr lang="en-US" sz="800" b="1" spc="300" kern="0" dirty="0">
                <a:solidFill>
                  <a:srgbClr val="0F1B2D"/>
                </a:solidFill>
                <a:latin typeface="Calibri" pitchFamily="34" charset="0"/>
                <a:ea typeface="Calibri" pitchFamily="34" charset="-122"/>
                <a:cs typeface="Calibri" pitchFamily="34" charset="-120"/>
              </a:rPr>
              <a:t>IDENTITY LAYER</a:t>
            </a:r>
            <a:endParaRPr lang="en-US" sz="800" dirty="0"/>
          </a:p>
        </p:txBody>
      </p:sp>
      <p:sp>
        <p:nvSpPr>
          <p:cNvPr id="51" name="Shape 44"/>
          <p:cNvSpPr/>
          <p:nvPr/>
        </p:nvSpPr>
        <p:spPr>
          <a:xfrm>
            <a:off x="2176272" y="2357628"/>
            <a:ext cx="1865376" cy="336804"/>
          </a:xfrm>
          <a:prstGeom prst="rect">
            <a:avLst/>
          </a:prstGeom>
          <a:solidFill>
            <a:srgbClr val="FFFFFF"/>
          </a:solidFill>
          <a:ln w="9525">
            <a:solidFill>
              <a:srgbClr val="CCD3DD"/>
            </a:solidFill>
            <a:prstDash val="solid"/>
          </a:ln>
        </p:spPr>
      </p:sp>
      <p:sp>
        <p:nvSpPr>
          <p:cNvPr id="52" name="Text 45"/>
          <p:cNvSpPr txBox="1"/>
          <p:nvPr/>
        </p:nvSpPr>
        <p:spPr>
          <a:xfrm>
            <a:off x="2249424"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MEMBER IDENTIFICATION</a:t>
            </a:r>
            <a:endParaRPr lang="en-US" sz="700" dirty="0"/>
          </a:p>
        </p:txBody>
      </p:sp>
      <p:sp>
        <p:nvSpPr>
          <p:cNvPr id="53" name="Text 46"/>
          <p:cNvSpPr txBox="1"/>
          <p:nvPr/>
        </p:nvSpPr>
        <p:spPr>
          <a:xfrm>
            <a:off x="2249424"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IVR, VIVR, Customer Connect</a:t>
            </a:r>
            <a:endParaRPr lang="en-US" sz="750" dirty="0"/>
          </a:p>
        </p:txBody>
      </p:sp>
      <p:sp>
        <p:nvSpPr>
          <p:cNvPr id="54" name="Shape 47"/>
          <p:cNvSpPr/>
          <p:nvPr/>
        </p:nvSpPr>
        <p:spPr>
          <a:xfrm>
            <a:off x="4114800" y="2357628"/>
            <a:ext cx="1865376" cy="336804"/>
          </a:xfrm>
          <a:prstGeom prst="rect">
            <a:avLst/>
          </a:prstGeom>
          <a:solidFill>
            <a:srgbClr val="FFFFFF"/>
          </a:solidFill>
          <a:ln w="9525">
            <a:solidFill>
              <a:srgbClr val="CCD3DD"/>
            </a:solidFill>
            <a:prstDash val="solid"/>
          </a:ln>
        </p:spPr>
      </p:sp>
      <p:sp>
        <p:nvSpPr>
          <p:cNvPr id="55" name="Text 48"/>
          <p:cNvSpPr txBox="1"/>
          <p:nvPr/>
        </p:nvSpPr>
        <p:spPr>
          <a:xfrm>
            <a:off x="4187952"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APPLICATION PERMISSION</a:t>
            </a:r>
            <a:endParaRPr lang="en-US" sz="700" dirty="0"/>
          </a:p>
        </p:txBody>
      </p:sp>
      <p:sp>
        <p:nvSpPr>
          <p:cNvPr id="56" name="Text 49"/>
          <p:cNvSpPr txBox="1"/>
          <p:nvPr/>
        </p:nvSpPr>
        <p:spPr>
          <a:xfrm>
            <a:off x="4187952"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Advocates and internal users</a:t>
            </a:r>
            <a:endParaRPr lang="en-US" sz="750" dirty="0"/>
          </a:p>
        </p:txBody>
      </p:sp>
      <p:sp>
        <p:nvSpPr>
          <p:cNvPr id="57" name="Shape 50"/>
          <p:cNvSpPr/>
          <p:nvPr/>
        </p:nvSpPr>
        <p:spPr>
          <a:xfrm>
            <a:off x="6053328" y="2357628"/>
            <a:ext cx="1865376" cy="336804"/>
          </a:xfrm>
          <a:prstGeom prst="rect">
            <a:avLst/>
          </a:prstGeom>
          <a:solidFill>
            <a:srgbClr val="FFFFFF"/>
          </a:solidFill>
          <a:ln w="9525">
            <a:solidFill>
              <a:srgbClr val="CCD3DD"/>
            </a:solidFill>
            <a:prstDash val="solid"/>
          </a:ln>
        </p:spPr>
      </p:sp>
      <p:sp>
        <p:nvSpPr>
          <p:cNvPr id="58" name="Text 51"/>
          <p:cNvSpPr txBox="1"/>
          <p:nvPr/>
        </p:nvSpPr>
        <p:spPr>
          <a:xfrm>
            <a:off x="6126480"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DATA ACCESS POLICIES</a:t>
            </a:r>
            <a:endParaRPr lang="en-US" sz="700" dirty="0"/>
          </a:p>
        </p:txBody>
      </p:sp>
      <p:sp>
        <p:nvSpPr>
          <p:cNvPr id="59" name="Text 52"/>
          <p:cNvSpPr txBox="1"/>
          <p:nvPr/>
        </p:nvSpPr>
        <p:spPr>
          <a:xfrm>
            <a:off x="6126480"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Role/AD based, JWTs</a:t>
            </a:r>
            <a:endParaRPr lang="en-US" sz="750" dirty="0"/>
          </a:p>
        </p:txBody>
      </p:sp>
      <p:sp>
        <p:nvSpPr>
          <p:cNvPr id="60" name="Shape 53"/>
          <p:cNvSpPr/>
          <p:nvPr/>
        </p:nvSpPr>
        <p:spPr>
          <a:xfrm>
            <a:off x="7991856" y="2357628"/>
            <a:ext cx="1865376" cy="336804"/>
          </a:xfrm>
          <a:prstGeom prst="rect">
            <a:avLst/>
          </a:prstGeom>
          <a:solidFill>
            <a:srgbClr val="FFFFFF"/>
          </a:solidFill>
          <a:ln w="9525">
            <a:solidFill>
              <a:srgbClr val="CCD3DD"/>
            </a:solidFill>
            <a:prstDash val="solid"/>
          </a:ln>
        </p:spPr>
      </p:sp>
      <p:sp>
        <p:nvSpPr>
          <p:cNvPr id="61" name="Text 54"/>
          <p:cNvSpPr txBox="1"/>
          <p:nvPr/>
        </p:nvSpPr>
        <p:spPr>
          <a:xfrm>
            <a:off x="8065008"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AUDITING &amp; REPORTING</a:t>
            </a:r>
            <a:endParaRPr lang="en-US" sz="700" dirty="0"/>
          </a:p>
        </p:txBody>
      </p:sp>
      <p:sp>
        <p:nvSpPr>
          <p:cNvPr id="62" name="Text 55"/>
          <p:cNvSpPr txBox="1"/>
          <p:nvPr/>
        </p:nvSpPr>
        <p:spPr>
          <a:xfrm>
            <a:off x="8065008"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Sensitive-data compliance</a:t>
            </a:r>
            <a:endParaRPr lang="en-US" sz="750" dirty="0"/>
          </a:p>
        </p:txBody>
      </p:sp>
      <p:sp>
        <p:nvSpPr>
          <p:cNvPr id="63" name="Shape 56"/>
          <p:cNvSpPr/>
          <p:nvPr/>
        </p:nvSpPr>
        <p:spPr>
          <a:xfrm>
            <a:off x="2011680" y="2813304"/>
            <a:ext cx="7955280" cy="665988"/>
          </a:xfrm>
          <a:prstGeom prst="rect">
            <a:avLst/>
          </a:prstGeom>
          <a:solidFill>
            <a:srgbClr val="EEF0F3"/>
          </a:solidFill>
          <a:ln/>
        </p:spPr>
      </p:sp>
      <p:sp>
        <p:nvSpPr>
          <p:cNvPr id="64" name="Shape 57"/>
          <p:cNvSpPr/>
          <p:nvPr/>
        </p:nvSpPr>
        <p:spPr>
          <a:xfrm>
            <a:off x="2011680" y="2813304"/>
            <a:ext cx="7955280" cy="54864"/>
          </a:xfrm>
          <a:prstGeom prst="rect">
            <a:avLst/>
          </a:prstGeom>
          <a:solidFill>
            <a:srgbClr val="2F86C8"/>
          </a:solidFill>
          <a:ln/>
        </p:spPr>
      </p:sp>
      <p:sp>
        <p:nvSpPr>
          <p:cNvPr id="65" name="Shape 58"/>
          <p:cNvSpPr/>
          <p:nvPr/>
        </p:nvSpPr>
        <p:spPr>
          <a:xfrm>
            <a:off x="2011680" y="2813304"/>
            <a:ext cx="54864" cy="665988"/>
          </a:xfrm>
          <a:prstGeom prst="rect">
            <a:avLst/>
          </a:prstGeom>
          <a:solidFill>
            <a:srgbClr val="2F86C8"/>
          </a:solidFill>
          <a:ln/>
        </p:spPr>
      </p:sp>
      <p:sp>
        <p:nvSpPr>
          <p:cNvPr id="66" name="Text 59"/>
          <p:cNvSpPr txBox="1"/>
          <p:nvPr/>
        </p:nvSpPr>
        <p:spPr>
          <a:xfrm>
            <a:off x="2176272" y="2877312"/>
            <a:ext cx="7680960" cy="237744"/>
          </a:xfrm>
          <a:prstGeom prst="rect">
            <a:avLst/>
          </a:prstGeom>
          <a:noFill/>
          <a:ln/>
        </p:spPr>
        <p:txBody>
          <a:bodyPr wrap="square" lIns="0" tIns="0" rIns="0" bIns="0" rtlCol="0" anchor="t"/>
          <a:lstStyle/>
          <a:p>
            <a:pPr indent="0" marL="0">
              <a:buNone/>
            </a:pPr>
            <a:r>
              <a:rPr lang="en-US" sz="800" b="1" spc="300" kern="0" dirty="0">
                <a:solidFill>
                  <a:srgbClr val="2F86C8"/>
                </a:solidFill>
                <a:latin typeface="Calibri" pitchFamily="34" charset="0"/>
                <a:ea typeface="Calibri" pitchFamily="34" charset="-122"/>
                <a:cs typeface="Calibri" pitchFamily="34" charset="-120"/>
              </a:rPr>
              <a:t>EXPERIENCE &amp; PERSONALIZATION</a:t>
            </a:r>
            <a:endParaRPr lang="en-US" sz="800" dirty="0"/>
          </a:p>
        </p:txBody>
      </p:sp>
      <p:sp>
        <p:nvSpPr>
          <p:cNvPr id="67" name="Shape 60"/>
          <p:cNvSpPr/>
          <p:nvPr/>
        </p:nvSpPr>
        <p:spPr>
          <a:xfrm>
            <a:off x="2176272" y="3087624"/>
            <a:ext cx="1477670" cy="336804"/>
          </a:xfrm>
          <a:prstGeom prst="rect">
            <a:avLst/>
          </a:prstGeom>
          <a:solidFill>
            <a:srgbClr val="FFFFFF"/>
          </a:solidFill>
          <a:ln w="9525">
            <a:solidFill>
              <a:srgbClr val="CCD3DD"/>
            </a:solidFill>
            <a:prstDash val="solid"/>
          </a:ln>
        </p:spPr>
      </p:sp>
      <p:sp>
        <p:nvSpPr>
          <p:cNvPr id="68" name="Text 61"/>
          <p:cNvSpPr txBox="1"/>
          <p:nvPr/>
        </p:nvSpPr>
        <p:spPr>
          <a:xfrm>
            <a:off x="2249424" y="3115056"/>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MEMBER CONTEXT</a:t>
            </a:r>
            <a:endParaRPr lang="en-US" sz="700" dirty="0"/>
          </a:p>
        </p:txBody>
      </p:sp>
      <p:sp>
        <p:nvSpPr>
          <p:cNvPr id="69" name="Text 62"/>
          <p:cNvSpPr txBox="1"/>
          <p:nvPr/>
        </p:nvSpPr>
        <p:spPr>
          <a:xfrm>
            <a:off x="2249424" y="3252216"/>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Member 360 view</a:t>
            </a:r>
            <a:endParaRPr lang="en-US" sz="750" dirty="0"/>
          </a:p>
        </p:txBody>
      </p:sp>
      <p:sp>
        <p:nvSpPr>
          <p:cNvPr id="70" name="Shape 63"/>
          <p:cNvSpPr/>
          <p:nvPr/>
        </p:nvSpPr>
        <p:spPr>
          <a:xfrm>
            <a:off x="3727094" y="3087624"/>
            <a:ext cx="1477670" cy="336804"/>
          </a:xfrm>
          <a:prstGeom prst="rect">
            <a:avLst/>
          </a:prstGeom>
          <a:solidFill>
            <a:srgbClr val="FFFFFF"/>
          </a:solidFill>
          <a:ln w="22225">
            <a:solidFill>
              <a:srgbClr val="E8612C"/>
            </a:solidFill>
            <a:prstDash val="solid"/>
          </a:ln>
        </p:spPr>
      </p:sp>
      <p:sp>
        <p:nvSpPr>
          <p:cNvPr id="71" name="Text 64"/>
          <p:cNvSpPr txBox="1"/>
          <p:nvPr/>
        </p:nvSpPr>
        <p:spPr>
          <a:xfrm>
            <a:off x="3800246" y="3115056"/>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PREFERENCE-DRIVEN COMMS</a:t>
            </a:r>
            <a:endParaRPr lang="en-US" sz="700" dirty="0"/>
          </a:p>
        </p:txBody>
      </p:sp>
      <p:sp>
        <p:nvSpPr>
          <p:cNvPr id="72" name="Text 65"/>
          <p:cNvSpPr txBox="1"/>
          <p:nvPr/>
        </p:nvSpPr>
        <p:spPr>
          <a:xfrm>
            <a:off x="3800246" y="3252216"/>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Personalized outreach</a:t>
            </a:r>
            <a:endParaRPr lang="en-US" sz="750" dirty="0"/>
          </a:p>
        </p:txBody>
      </p:sp>
      <p:sp>
        <p:nvSpPr>
          <p:cNvPr id="73" name="Shape 66"/>
          <p:cNvSpPr/>
          <p:nvPr/>
        </p:nvSpPr>
        <p:spPr>
          <a:xfrm>
            <a:off x="5277917" y="3087624"/>
            <a:ext cx="1477670" cy="336804"/>
          </a:xfrm>
          <a:prstGeom prst="rect">
            <a:avLst/>
          </a:prstGeom>
          <a:solidFill>
            <a:srgbClr val="FFFFFF"/>
          </a:solidFill>
          <a:ln w="9525">
            <a:solidFill>
              <a:srgbClr val="CCD3DD"/>
            </a:solidFill>
            <a:prstDash val="solid"/>
          </a:ln>
        </p:spPr>
      </p:sp>
      <p:sp>
        <p:nvSpPr>
          <p:cNvPr id="74" name="Text 67"/>
          <p:cNvSpPr txBox="1"/>
          <p:nvPr/>
        </p:nvSpPr>
        <p:spPr>
          <a:xfrm>
            <a:off x="5351069" y="3115056"/>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KNOWLEDGE &amp; GUIDANCE</a:t>
            </a:r>
            <a:endParaRPr lang="en-US" sz="700" dirty="0"/>
          </a:p>
        </p:txBody>
      </p:sp>
      <p:sp>
        <p:nvSpPr>
          <p:cNvPr id="75" name="Text 68"/>
          <p:cNvSpPr txBox="1"/>
          <p:nvPr/>
        </p:nvSpPr>
        <p:spPr>
          <a:xfrm>
            <a:off x="5351069" y="3252216"/>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Guided interactions</a:t>
            </a:r>
            <a:endParaRPr lang="en-US" sz="750" dirty="0"/>
          </a:p>
        </p:txBody>
      </p:sp>
      <p:sp>
        <p:nvSpPr>
          <p:cNvPr id="76" name="Shape 69"/>
          <p:cNvSpPr/>
          <p:nvPr/>
        </p:nvSpPr>
        <p:spPr>
          <a:xfrm>
            <a:off x="6828739" y="3087624"/>
            <a:ext cx="1477670" cy="336804"/>
          </a:xfrm>
          <a:prstGeom prst="rect">
            <a:avLst/>
          </a:prstGeom>
          <a:solidFill>
            <a:srgbClr val="FFFFFF"/>
          </a:solidFill>
          <a:ln w="9525">
            <a:solidFill>
              <a:srgbClr val="CCD3DD"/>
            </a:solidFill>
            <a:prstDash val="solid"/>
          </a:ln>
        </p:spPr>
      </p:sp>
      <p:sp>
        <p:nvSpPr>
          <p:cNvPr id="77" name="Text 70"/>
          <p:cNvSpPr txBox="1"/>
          <p:nvPr/>
        </p:nvSpPr>
        <p:spPr>
          <a:xfrm>
            <a:off x="6901891" y="3115056"/>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OBSERVABILITY</a:t>
            </a:r>
            <a:endParaRPr lang="en-US" sz="700" dirty="0"/>
          </a:p>
        </p:txBody>
      </p:sp>
      <p:sp>
        <p:nvSpPr>
          <p:cNvPr id="78" name="Text 71"/>
          <p:cNvSpPr txBox="1"/>
          <p:nvPr/>
        </p:nvSpPr>
        <p:spPr>
          <a:xfrm>
            <a:off x="6901891" y="3252216"/>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Datadog, Splunk</a:t>
            </a:r>
            <a:endParaRPr lang="en-US" sz="750" dirty="0"/>
          </a:p>
        </p:txBody>
      </p:sp>
      <p:sp>
        <p:nvSpPr>
          <p:cNvPr id="79" name="Shape 72"/>
          <p:cNvSpPr/>
          <p:nvPr/>
        </p:nvSpPr>
        <p:spPr>
          <a:xfrm>
            <a:off x="8379562" y="3087624"/>
            <a:ext cx="1477670" cy="336804"/>
          </a:xfrm>
          <a:prstGeom prst="rect">
            <a:avLst/>
          </a:prstGeom>
          <a:solidFill>
            <a:srgbClr val="FFFFFF"/>
          </a:solidFill>
          <a:ln w="9525">
            <a:solidFill>
              <a:srgbClr val="CCD3DD"/>
            </a:solidFill>
            <a:prstDash val="solid"/>
          </a:ln>
        </p:spPr>
      </p:sp>
      <p:sp>
        <p:nvSpPr>
          <p:cNvPr id="80" name="Text 73"/>
          <p:cNvSpPr txBox="1"/>
          <p:nvPr/>
        </p:nvSpPr>
        <p:spPr>
          <a:xfrm>
            <a:off x="8452714" y="3115056"/>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EMPLOYEE ENABLEMENT</a:t>
            </a:r>
            <a:endParaRPr lang="en-US" sz="700" dirty="0"/>
          </a:p>
        </p:txBody>
      </p:sp>
      <p:sp>
        <p:nvSpPr>
          <p:cNvPr id="81" name="Text 74"/>
          <p:cNvSpPr txBox="1"/>
          <p:nvPr/>
        </p:nvSpPr>
        <p:spPr>
          <a:xfrm>
            <a:off x="8452714" y="3252216"/>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Onboarding, CX, MAAGC</a:t>
            </a:r>
            <a:endParaRPr lang="en-US" sz="750" dirty="0"/>
          </a:p>
        </p:txBody>
      </p:sp>
      <p:sp>
        <p:nvSpPr>
          <p:cNvPr id="82" name="Shape 75"/>
          <p:cNvSpPr/>
          <p:nvPr/>
        </p:nvSpPr>
        <p:spPr>
          <a:xfrm>
            <a:off x="2011680" y="3543300"/>
            <a:ext cx="7955280" cy="665988"/>
          </a:xfrm>
          <a:prstGeom prst="rect">
            <a:avLst/>
          </a:prstGeom>
          <a:solidFill>
            <a:srgbClr val="EEF0F3"/>
          </a:solidFill>
          <a:ln/>
        </p:spPr>
      </p:sp>
      <p:sp>
        <p:nvSpPr>
          <p:cNvPr id="83" name="Shape 76"/>
          <p:cNvSpPr/>
          <p:nvPr/>
        </p:nvSpPr>
        <p:spPr>
          <a:xfrm>
            <a:off x="2011680" y="3543300"/>
            <a:ext cx="7955280" cy="54864"/>
          </a:xfrm>
          <a:prstGeom prst="rect">
            <a:avLst/>
          </a:prstGeom>
          <a:solidFill>
            <a:srgbClr val="E8612C"/>
          </a:solidFill>
          <a:ln/>
        </p:spPr>
      </p:sp>
      <p:sp>
        <p:nvSpPr>
          <p:cNvPr id="84" name="Shape 77"/>
          <p:cNvSpPr/>
          <p:nvPr/>
        </p:nvSpPr>
        <p:spPr>
          <a:xfrm>
            <a:off x="2011680" y="3543300"/>
            <a:ext cx="54864" cy="665988"/>
          </a:xfrm>
          <a:prstGeom prst="rect">
            <a:avLst/>
          </a:prstGeom>
          <a:solidFill>
            <a:srgbClr val="E8612C"/>
          </a:solidFill>
          <a:ln/>
        </p:spPr>
      </p:sp>
      <p:sp>
        <p:nvSpPr>
          <p:cNvPr id="85" name="Text 78"/>
          <p:cNvSpPr txBox="1"/>
          <p:nvPr/>
        </p:nvSpPr>
        <p:spPr>
          <a:xfrm>
            <a:off x="2176272" y="3607308"/>
            <a:ext cx="7680960" cy="237744"/>
          </a:xfrm>
          <a:prstGeom prst="rect">
            <a:avLst/>
          </a:prstGeom>
          <a:noFill/>
          <a:ln/>
        </p:spPr>
        <p:txBody>
          <a:bodyPr wrap="square" lIns="0" tIns="0" rIns="0" bIns="0" rtlCol="0" anchor="t"/>
          <a:lstStyle/>
          <a:p>
            <a:pPr indent="0" marL="0">
              <a:buNone/>
            </a:pPr>
            <a:r>
              <a:rPr lang="en-US" sz="800" b="1" spc="300" kern="0" dirty="0">
                <a:solidFill>
                  <a:srgbClr val="E8612C"/>
                </a:solidFill>
                <a:latin typeface="Calibri" pitchFamily="34" charset="0"/>
                <a:ea typeface="Calibri" pitchFamily="34" charset="-122"/>
                <a:cs typeface="Calibri" pitchFamily="34" charset="-120"/>
              </a:rPr>
              <a:t>APPLICATION SERVICES</a:t>
            </a:r>
            <a:endParaRPr lang="en-US" sz="800" dirty="0"/>
          </a:p>
        </p:txBody>
      </p:sp>
      <p:sp>
        <p:nvSpPr>
          <p:cNvPr id="86" name="Shape 79"/>
          <p:cNvSpPr/>
          <p:nvPr/>
        </p:nvSpPr>
        <p:spPr>
          <a:xfrm>
            <a:off x="2176272" y="3817620"/>
            <a:ext cx="1865376" cy="336804"/>
          </a:xfrm>
          <a:prstGeom prst="rect">
            <a:avLst/>
          </a:prstGeom>
          <a:solidFill>
            <a:srgbClr val="FFFFFF"/>
          </a:solidFill>
          <a:ln w="9525">
            <a:solidFill>
              <a:srgbClr val="CCD3DD"/>
            </a:solidFill>
            <a:prstDash val="solid"/>
          </a:ln>
        </p:spPr>
      </p:sp>
      <p:sp>
        <p:nvSpPr>
          <p:cNvPr id="87" name="Text 80"/>
          <p:cNvSpPr txBox="1"/>
          <p:nvPr/>
        </p:nvSpPr>
        <p:spPr>
          <a:xfrm>
            <a:off x="2249424" y="3845052"/>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FUNCTIONAL SERVICES</a:t>
            </a:r>
            <a:endParaRPr lang="en-US" sz="700" dirty="0"/>
          </a:p>
        </p:txBody>
      </p:sp>
      <p:sp>
        <p:nvSpPr>
          <p:cNvPr id="88" name="Text 81"/>
          <p:cNvSpPr txBox="1"/>
          <p:nvPr/>
        </p:nvSpPr>
        <p:spPr>
          <a:xfrm>
            <a:off x="2249424" y="3982212"/>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Customer info, A&amp;G</a:t>
            </a:r>
            <a:endParaRPr lang="en-US" sz="750" dirty="0"/>
          </a:p>
        </p:txBody>
      </p:sp>
      <p:sp>
        <p:nvSpPr>
          <p:cNvPr id="89" name="Shape 82"/>
          <p:cNvSpPr/>
          <p:nvPr/>
        </p:nvSpPr>
        <p:spPr>
          <a:xfrm>
            <a:off x="4114800" y="3817620"/>
            <a:ext cx="1865376" cy="336804"/>
          </a:xfrm>
          <a:prstGeom prst="rect">
            <a:avLst/>
          </a:prstGeom>
          <a:solidFill>
            <a:srgbClr val="FFFFFF"/>
          </a:solidFill>
          <a:ln w="22225">
            <a:solidFill>
              <a:srgbClr val="E8612C"/>
            </a:solidFill>
            <a:prstDash val="solid"/>
          </a:ln>
        </p:spPr>
      </p:sp>
      <p:sp>
        <p:nvSpPr>
          <p:cNvPr id="90" name="Text 83"/>
          <p:cNvSpPr txBox="1"/>
          <p:nvPr/>
        </p:nvSpPr>
        <p:spPr>
          <a:xfrm>
            <a:off x="4187952" y="3845052"/>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SHARED SERVICES</a:t>
            </a:r>
            <a:endParaRPr lang="en-US" sz="700" dirty="0"/>
          </a:p>
        </p:txBody>
      </p:sp>
      <p:sp>
        <p:nvSpPr>
          <p:cNvPr id="91" name="Text 84"/>
          <p:cNvSpPr txBox="1"/>
          <p:nvPr/>
        </p:nvSpPr>
        <p:spPr>
          <a:xfrm>
            <a:off x="4187952" y="3982212"/>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CCM/Inspire, P360, Content Central</a:t>
            </a:r>
            <a:endParaRPr lang="en-US" sz="750" dirty="0"/>
          </a:p>
        </p:txBody>
      </p:sp>
      <p:sp>
        <p:nvSpPr>
          <p:cNvPr id="92" name="Shape 85"/>
          <p:cNvSpPr/>
          <p:nvPr/>
        </p:nvSpPr>
        <p:spPr>
          <a:xfrm>
            <a:off x="6053328" y="3817620"/>
            <a:ext cx="1865376" cy="336804"/>
          </a:xfrm>
          <a:prstGeom prst="rect">
            <a:avLst/>
          </a:prstGeom>
          <a:solidFill>
            <a:srgbClr val="FFFFFF"/>
          </a:solidFill>
          <a:ln w="9525">
            <a:solidFill>
              <a:srgbClr val="CCD3DD"/>
            </a:solidFill>
            <a:prstDash val="solid"/>
          </a:ln>
        </p:spPr>
      </p:sp>
      <p:sp>
        <p:nvSpPr>
          <p:cNvPr id="93" name="Text 86"/>
          <p:cNvSpPr txBox="1"/>
          <p:nvPr/>
        </p:nvSpPr>
        <p:spPr>
          <a:xfrm>
            <a:off x="6126480" y="3845052"/>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ENABLEMENT SERVICES</a:t>
            </a:r>
            <a:endParaRPr lang="en-US" sz="700" dirty="0"/>
          </a:p>
        </p:txBody>
      </p:sp>
      <p:sp>
        <p:nvSpPr>
          <p:cNvPr id="94" name="Text 87"/>
          <p:cNvSpPr txBox="1"/>
          <p:nvPr/>
        </p:nvSpPr>
        <p:spPr>
          <a:xfrm>
            <a:off x="6126480" y="3982212"/>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Dashboards, Qualtrics</a:t>
            </a:r>
            <a:endParaRPr lang="en-US" sz="750" dirty="0"/>
          </a:p>
        </p:txBody>
      </p:sp>
      <p:sp>
        <p:nvSpPr>
          <p:cNvPr id="95" name="Shape 88"/>
          <p:cNvSpPr/>
          <p:nvPr/>
        </p:nvSpPr>
        <p:spPr>
          <a:xfrm>
            <a:off x="7991856" y="3817620"/>
            <a:ext cx="1865376" cy="336804"/>
          </a:xfrm>
          <a:prstGeom prst="rect">
            <a:avLst/>
          </a:prstGeom>
          <a:solidFill>
            <a:srgbClr val="FFFFFF"/>
          </a:solidFill>
          <a:ln w="9525">
            <a:solidFill>
              <a:srgbClr val="CCD3DD"/>
            </a:solidFill>
            <a:prstDash val="solid"/>
          </a:ln>
        </p:spPr>
      </p:sp>
      <p:sp>
        <p:nvSpPr>
          <p:cNvPr id="96" name="Text 89"/>
          <p:cNvSpPr txBox="1"/>
          <p:nvPr/>
        </p:nvSpPr>
        <p:spPr>
          <a:xfrm>
            <a:off x="8065008" y="3845052"/>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MEMBER VERIFICATION</a:t>
            </a:r>
            <a:endParaRPr lang="en-US" sz="700" dirty="0"/>
          </a:p>
        </p:txBody>
      </p:sp>
      <p:sp>
        <p:nvSpPr>
          <p:cNvPr id="97" name="Text 90"/>
          <p:cNvSpPr txBox="1"/>
          <p:nvPr/>
        </p:nvSpPr>
        <p:spPr>
          <a:xfrm>
            <a:off x="8065008" y="3982212"/>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IVR auth, advocate verify</a:t>
            </a:r>
            <a:endParaRPr lang="en-US" sz="750" dirty="0"/>
          </a:p>
        </p:txBody>
      </p:sp>
      <p:sp>
        <p:nvSpPr>
          <p:cNvPr id="98" name="Shape 91"/>
          <p:cNvSpPr/>
          <p:nvPr/>
        </p:nvSpPr>
        <p:spPr>
          <a:xfrm>
            <a:off x="2011680" y="4273296"/>
            <a:ext cx="7955280" cy="665988"/>
          </a:xfrm>
          <a:prstGeom prst="rect">
            <a:avLst/>
          </a:prstGeom>
          <a:solidFill>
            <a:srgbClr val="EEF0F3"/>
          </a:solidFill>
          <a:ln/>
        </p:spPr>
      </p:sp>
      <p:sp>
        <p:nvSpPr>
          <p:cNvPr id="99" name="Shape 92"/>
          <p:cNvSpPr/>
          <p:nvPr/>
        </p:nvSpPr>
        <p:spPr>
          <a:xfrm>
            <a:off x="2011680" y="4273296"/>
            <a:ext cx="7955280" cy="54864"/>
          </a:xfrm>
          <a:prstGeom prst="rect">
            <a:avLst/>
          </a:prstGeom>
          <a:solidFill>
            <a:srgbClr val="5B2BC8"/>
          </a:solidFill>
          <a:ln/>
        </p:spPr>
      </p:sp>
      <p:sp>
        <p:nvSpPr>
          <p:cNvPr id="100" name="Shape 93"/>
          <p:cNvSpPr/>
          <p:nvPr/>
        </p:nvSpPr>
        <p:spPr>
          <a:xfrm>
            <a:off x="2011680" y="4273296"/>
            <a:ext cx="54864" cy="665988"/>
          </a:xfrm>
          <a:prstGeom prst="rect">
            <a:avLst/>
          </a:prstGeom>
          <a:solidFill>
            <a:srgbClr val="5B2BC8"/>
          </a:solidFill>
          <a:ln/>
        </p:spPr>
      </p:sp>
      <p:sp>
        <p:nvSpPr>
          <p:cNvPr id="101" name="Text 94"/>
          <p:cNvSpPr txBox="1"/>
          <p:nvPr/>
        </p:nvSpPr>
        <p:spPr>
          <a:xfrm>
            <a:off x="2176272" y="4337304"/>
            <a:ext cx="7680960" cy="237744"/>
          </a:xfrm>
          <a:prstGeom prst="rect">
            <a:avLst/>
          </a:prstGeom>
          <a:noFill/>
          <a:ln/>
        </p:spPr>
        <p:txBody>
          <a:bodyPr wrap="square" lIns="0" tIns="0" rIns="0" bIns="0" rtlCol="0" anchor="t"/>
          <a:lstStyle/>
          <a:p>
            <a:pPr indent="0" marL="0">
              <a:buNone/>
            </a:pPr>
            <a:r>
              <a:rPr lang="en-US" sz="800" b="1" spc="300" kern="0" dirty="0">
                <a:solidFill>
                  <a:srgbClr val="5B2BC8"/>
                </a:solidFill>
                <a:latin typeface="Calibri" pitchFamily="34" charset="0"/>
                <a:ea typeface="Calibri" pitchFamily="34" charset="-122"/>
                <a:cs typeface="Calibri" pitchFamily="34" charset="-120"/>
              </a:rPr>
              <a:t>INTEGRATION LAYER</a:t>
            </a:r>
            <a:endParaRPr lang="en-US" sz="800" dirty="0"/>
          </a:p>
        </p:txBody>
      </p:sp>
      <p:sp>
        <p:nvSpPr>
          <p:cNvPr id="102" name="Shape 95"/>
          <p:cNvSpPr/>
          <p:nvPr/>
        </p:nvSpPr>
        <p:spPr>
          <a:xfrm>
            <a:off x="2176272" y="4547616"/>
            <a:ext cx="1865376" cy="336804"/>
          </a:xfrm>
          <a:prstGeom prst="rect">
            <a:avLst/>
          </a:prstGeom>
          <a:solidFill>
            <a:srgbClr val="FFFFFF"/>
          </a:solidFill>
          <a:ln w="22225">
            <a:solidFill>
              <a:srgbClr val="E8612C"/>
            </a:solidFill>
            <a:prstDash val="solid"/>
          </a:ln>
        </p:spPr>
      </p:sp>
      <p:sp>
        <p:nvSpPr>
          <p:cNvPr id="103" name="Text 96"/>
          <p:cNvSpPr txBox="1"/>
          <p:nvPr/>
        </p:nvSpPr>
        <p:spPr>
          <a:xfrm>
            <a:off x="2249424" y="4575048"/>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API GATEWAY</a:t>
            </a:r>
            <a:endParaRPr lang="en-US" sz="700" dirty="0"/>
          </a:p>
        </p:txBody>
      </p:sp>
      <p:sp>
        <p:nvSpPr>
          <p:cNvPr id="104" name="Text 97"/>
          <p:cNvSpPr txBox="1"/>
          <p:nvPr/>
        </p:nvSpPr>
        <p:spPr>
          <a:xfrm>
            <a:off x="2249424" y="4712208"/>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Manages CCM, P360, IVR APIs</a:t>
            </a:r>
            <a:endParaRPr lang="en-US" sz="750" dirty="0"/>
          </a:p>
        </p:txBody>
      </p:sp>
      <p:sp>
        <p:nvSpPr>
          <p:cNvPr id="105" name="Shape 98"/>
          <p:cNvSpPr/>
          <p:nvPr/>
        </p:nvSpPr>
        <p:spPr>
          <a:xfrm>
            <a:off x="4114800" y="4547616"/>
            <a:ext cx="1865376" cy="336804"/>
          </a:xfrm>
          <a:prstGeom prst="rect">
            <a:avLst/>
          </a:prstGeom>
          <a:solidFill>
            <a:srgbClr val="FFFFFF"/>
          </a:solidFill>
          <a:ln w="22225">
            <a:solidFill>
              <a:srgbClr val="E8612C"/>
            </a:solidFill>
            <a:prstDash val="solid"/>
          </a:ln>
        </p:spPr>
      </p:sp>
      <p:sp>
        <p:nvSpPr>
          <p:cNvPr id="106" name="Text 99"/>
          <p:cNvSpPr txBox="1"/>
          <p:nvPr/>
        </p:nvSpPr>
        <p:spPr>
          <a:xfrm>
            <a:off x="4187952" y="4575048"/>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EVENT BUS</a:t>
            </a:r>
            <a:endParaRPr lang="en-US" sz="700" dirty="0"/>
          </a:p>
        </p:txBody>
      </p:sp>
      <p:sp>
        <p:nvSpPr>
          <p:cNvPr id="107" name="Text 100"/>
          <p:cNvSpPr txBox="1"/>
          <p:nvPr/>
        </p:nvSpPr>
        <p:spPr>
          <a:xfrm>
            <a:off x="4187952" y="4712208"/>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Preferences, communications</a:t>
            </a:r>
            <a:endParaRPr lang="en-US" sz="750" dirty="0"/>
          </a:p>
        </p:txBody>
      </p:sp>
      <p:sp>
        <p:nvSpPr>
          <p:cNvPr id="108" name="Shape 101"/>
          <p:cNvSpPr/>
          <p:nvPr/>
        </p:nvSpPr>
        <p:spPr>
          <a:xfrm>
            <a:off x="6053328" y="4547616"/>
            <a:ext cx="1865376" cy="336804"/>
          </a:xfrm>
          <a:prstGeom prst="rect">
            <a:avLst/>
          </a:prstGeom>
          <a:solidFill>
            <a:srgbClr val="FFFFFF"/>
          </a:solidFill>
          <a:ln w="22225">
            <a:solidFill>
              <a:srgbClr val="E8612C"/>
            </a:solidFill>
            <a:prstDash val="solid"/>
          </a:ln>
        </p:spPr>
      </p:sp>
      <p:sp>
        <p:nvSpPr>
          <p:cNvPr id="109" name="Text 102"/>
          <p:cNvSpPr txBox="1"/>
          <p:nvPr/>
        </p:nvSpPr>
        <p:spPr>
          <a:xfrm>
            <a:off x="6126480" y="4575048"/>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CORE SYSTEMS OF RECORD</a:t>
            </a:r>
            <a:endParaRPr lang="en-US" sz="700" dirty="0"/>
          </a:p>
        </p:txBody>
      </p:sp>
      <p:sp>
        <p:nvSpPr>
          <p:cNvPr id="110" name="Text 103"/>
          <p:cNvSpPr txBox="1"/>
          <p:nvPr/>
        </p:nvSpPr>
        <p:spPr>
          <a:xfrm>
            <a:off x="6126480" y="4712208"/>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Touchpoints, ECMS</a:t>
            </a:r>
            <a:endParaRPr lang="en-US" sz="750" dirty="0"/>
          </a:p>
        </p:txBody>
      </p:sp>
      <p:sp>
        <p:nvSpPr>
          <p:cNvPr id="111" name="Shape 104"/>
          <p:cNvSpPr/>
          <p:nvPr/>
        </p:nvSpPr>
        <p:spPr>
          <a:xfrm>
            <a:off x="7991856" y="4547616"/>
            <a:ext cx="1865376" cy="336804"/>
          </a:xfrm>
          <a:prstGeom prst="rect">
            <a:avLst/>
          </a:prstGeom>
          <a:solidFill>
            <a:srgbClr val="FFFFFF"/>
          </a:solidFill>
          <a:ln w="22225">
            <a:solidFill>
              <a:srgbClr val="E8612C"/>
            </a:solidFill>
            <a:prstDash val="solid"/>
          </a:ln>
        </p:spPr>
      </p:sp>
      <p:sp>
        <p:nvSpPr>
          <p:cNvPr id="112" name="Text 105"/>
          <p:cNvSpPr txBox="1"/>
          <p:nvPr/>
        </p:nvSpPr>
        <p:spPr>
          <a:xfrm>
            <a:off x="8065008" y="4575048"/>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REUSABLE COMPONENTS</a:t>
            </a:r>
            <a:endParaRPr lang="en-US" sz="700" dirty="0"/>
          </a:p>
        </p:txBody>
      </p:sp>
      <p:sp>
        <p:nvSpPr>
          <p:cNvPr id="113" name="Text 106"/>
          <p:cNvSpPr txBox="1"/>
          <p:nvPr/>
        </p:nvSpPr>
        <p:spPr>
          <a:xfrm>
            <a:off x="8065008" y="4712208"/>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iFrame embedded apps</a:t>
            </a:r>
            <a:endParaRPr lang="en-US" sz="750" dirty="0"/>
          </a:p>
        </p:txBody>
      </p:sp>
      <p:sp>
        <p:nvSpPr>
          <p:cNvPr id="114" name="Shape 107"/>
          <p:cNvSpPr/>
          <p:nvPr/>
        </p:nvSpPr>
        <p:spPr>
          <a:xfrm>
            <a:off x="2011680" y="5003292"/>
            <a:ext cx="7955280" cy="665988"/>
          </a:xfrm>
          <a:prstGeom prst="rect">
            <a:avLst/>
          </a:prstGeom>
          <a:solidFill>
            <a:srgbClr val="EEF0F3"/>
          </a:solidFill>
          <a:ln/>
        </p:spPr>
      </p:sp>
      <p:sp>
        <p:nvSpPr>
          <p:cNvPr id="115" name="Shape 108"/>
          <p:cNvSpPr/>
          <p:nvPr/>
        </p:nvSpPr>
        <p:spPr>
          <a:xfrm>
            <a:off x="2011680" y="5003292"/>
            <a:ext cx="7955280" cy="54864"/>
          </a:xfrm>
          <a:prstGeom prst="rect">
            <a:avLst/>
          </a:prstGeom>
          <a:solidFill>
            <a:srgbClr val="1F7A6B"/>
          </a:solidFill>
          <a:ln/>
        </p:spPr>
      </p:sp>
      <p:sp>
        <p:nvSpPr>
          <p:cNvPr id="116" name="Shape 109"/>
          <p:cNvSpPr/>
          <p:nvPr/>
        </p:nvSpPr>
        <p:spPr>
          <a:xfrm>
            <a:off x="2011680" y="5003292"/>
            <a:ext cx="54864" cy="665988"/>
          </a:xfrm>
          <a:prstGeom prst="rect">
            <a:avLst/>
          </a:prstGeom>
          <a:solidFill>
            <a:srgbClr val="1F7A6B"/>
          </a:solidFill>
          <a:ln/>
        </p:spPr>
      </p:sp>
      <p:sp>
        <p:nvSpPr>
          <p:cNvPr id="117" name="Text 110"/>
          <p:cNvSpPr txBox="1"/>
          <p:nvPr/>
        </p:nvSpPr>
        <p:spPr>
          <a:xfrm>
            <a:off x="2176272" y="5067300"/>
            <a:ext cx="7680960" cy="237744"/>
          </a:xfrm>
          <a:prstGeom prst="rect">
            <a:avLst/>
          </a:prstGeom>
          <a:noFill/>
          <a:ln/>
        </p:spPr>
        <p:txBody>
          <a:bodyPr wrap="square" lIns="0" tIns="0" rIns="0" bIns="0" rtlCol="0" anchor="t"/>
          <a:lstStyle/>
          <a:p>
            <a:pPr indent="0" marL="0">
              <a:buNone/>
            </a:pPr>
            <a:r>
              <a:rPr lang="en-US" sz="800" b="1" spc="300" kern="0" dirty="0">
                <a:solidFill>
                  <a:srgbClr val="1F7A6B"/>
                </a:solidFill>
                <a:latin typeface="Calibri" pitchFamily="34" charset="0"/>
                <a:ea typeface="Calibri" pitchFamily="34" charset="-122"/>
                <a:cs typeface="Calibri" pitchFamily="34" charset="-120"/>
              </a:rPr>
              <a:t>DATA LAYER</a:t>
            </a:r>
            <a:endParaRPr lang="en-US" sz="800" dirty="0"/>
          </a:p>
        </p:txBody>
      </p:sp>
      <p:sp>
        <p:nvSpPr>
          <p:cNvPr id="118" name="Shape 111"/>
          <p:cNvSpPr/>
          <p:nvPr/>
        </p:nvSpPr>
        <p:spPr>
          <a:xfrm>
            <a:off x="2176272" y="5277612"/>
            <a:ext cx="1865376" cy="336804"/>
          </a:xfrm>
          <a:prstGeom prst="rect">
            <a:avLst/>
          </a:prstGeom>
          <a:solidFill>
            <a:srgbClr val="FFFFFF"/>
          </a:solidFill>
          <a:ln w="9525">
            <a:solidFill>
              <a:srgbClr val="CCD3DD"/>
            </a:solidFill>
            <a:prstDash val="solid"/>
          </a:ln>
        </p:spPr>
      </p:sp>
      <p:sp>
        <p:nvSpPr>
          <p:cNvPr id="119" name="Text 112"/>
          <p:cNvSpPr txBox="1"/>
          <p:nvPr/>
        </p:nvSpPr>
        <p:spPr>
          <a:xfrm>
            <a:off x="2249424"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GUIDEWELL DATA PLATFORM</a:t>
            </a:r>
            <a:endParaRPr lang="en-US" sz="700" dirty="0"/>
          </a:p>
        </p:txBody>
      </p:sp>
      <p:sp>
        <p:nvSpPr>
          <p:cNvPr id="120" name="Text 113"/>
          <p:cNvSpPr txBox="1"/>
          <p:nvPr/>
        </p:nvSpPr>
        <p:spPr>
          <a:xfrm>
            <a:off x="2249424"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Customers, P360, Mongo</a:t>
            </a:r>
            <a:endParaRPr lang="en-US" sz="750" dirty="0"/>
          </a:p>
        </p:txBody>
      </p:sp>
      <p:sp>
        <p:nvSpPr>
          <p:cNvPr id="121" name="Shape 114"/>
          <p:cNvSpPr/>
          <p:nvPr/>
        </p:nvSpPr>
        <p:spPr>
          <a:xfrm>
            <a:off x="4114800" y="5277612"/>
            <a:ext cx="1865376" cy="336804"/>
          </a:xfrm>
          <a:prstGeom prst="rect">
            <a:avLst/>
          </a:prstGeom>
          <a:solidFill>
            <a:srgbClr val="FFFFFF"/>
          </a:solidFill>
          <a:ln w="9525">
            <a:solidFill>
              <a:srgbClr val="CCD3DD"/>
            </a:solidFill>
            <a:prstDash val="solid"/>
          </a:ln>
        </p:spPr>
      </p:sp>
      <p:sp>
        <p:nvSpPr>
          <p:cNvPr id="122" name="Text 115"/>
          <p:cNvSpPr txBox="1"/>
          <p:nvPr/>
        </p:nvSpPr>
        <p:spPr>
          <a:xfrm>
            <a:off x="4187952"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CACHING</a:t>
            </a:r>
            <a:endParaRPr lang="en-US" sz="700" dirty="0"/>
          </a:p>
        </p:txBody>
      </p:sp>
      <p:sp>
        <p:nvSpPr>
          <p:cNvPr id="123" name="Text 116"/>
          <p:cNvSpPr txBox="1"/>
          <p:nvPr/>
        </p:nvSpPr>
        <p:spPr>
          <a:xfrm>
            <a:off x="4187952"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Redis, app cache</a:t>
            </a:r>
            <a:endParaRPr lang="en-US" sz="750" dirty="0"/>
          </a:p>
        </p:txBody>
      </p:sp>
      <p:sp>
        <p:nvSpPr>
          <p:cNvPr id="124" name="Shape 117"/>
          <p:cNvSpPr/>
          <p:nvPr/>
        </p:nvSpPr>
        <p:spPr>
          <a:xfrm>
            <a:off x="6053328" y="5277612"/>
            <a:ext cx="1865376" cy="336804"/>
          </a:xfrm>
          <a:prstGeom prst="rect">
            <a:avLst/>
          </a:prstGeom>
          <a:solidFill>
            <a:srgbClr val="FFFFFF"/>
          </a:solidFill>
          <a:ln w="22225">
            <a:solidFill>
              <a:srgbClr val="E8612C"/>
            </a:solidFill>
            <a:prstDash val="solid"/>
          </a:ln>
        </p:spPr>
      </p:sp>
      <p:sp>
        <p:nvSpPr>
          <p:cNvPr id="125" name="Text 118"/>
          <p:cNvSpPr txBox="1"/>
          <p:nvPr/>
        </p:nvSpPr>
        <p:spPr>
          <a:xfrm>
            <a:off x="6126480"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TRANSACTIONAL DATABASES</a:t>
            </a:r>
            <a:endParaRPr lang="en-US" sz="700" dirty="0"/>
          </a:p>
        </p:txBody>
      </p:sp>
      <p:sp>
        <p:nvSpPr>
          <p:cNvPr id="126" name="Text 119"/>
          <p:cNvSpPr txBox="1"/>
          <p:nvPr/>
        </p:nvSpPr>
        <p:spPr>
          <a:xfrm>
            <a:off x="6126480"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Customer Connect, CCM, P360</a:t>
            </a:r>
            <a:endParaRPr lang="en-US" sz="750" dirty="0"/>
          </a:p>
        </p:txBody>
      </p:sp>
      <p:sp>
        <p:nvSpPr>
          <p:cNvPr id="127" name="Shape 120"/>
          <p:cNvSpPr/>
          <p:nvPr/>
        </p:nvSpPr>
        <p:spPr>
          <a:xfrm>
            <a:off x="7991856" y="5277612"/>
            <a:ext cx="1865376" cy="336804"/>
          </a:xfrm>
          <a:prstGeom prst="rect">
            <a:avLst/>
          </a:prstGeom>
          <a:solidFill>
            <a:srgbClr val="FFFFFF"/>
          </a:solidFill>
          <a:ln w="22225">
            <a:solidFill>
              <a:srgbClr val="E8612C"/>
            </a:solidFill>
            <a:prstDash val="solid"/>
          </a:ln>
        </p:spPr>
      </p:sp>
      <p:sp>
        <p:nvSpPr>
          <p:cNvPr id="128" name="Text 121"/>
          <p:cNvSpPr txBox="1"/>
          <p:nvPr/>
        </p:nvSpPr>
        <p:spPr>
          <a:xfrm>
            <a:off x="8065008"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PARTNERS / VENDORS</a:t>
            </a:r>
            <a:endParaRPr lang="en-US" sz="700" dirty="0"/>
          </a:p>
        </p:txBody>
      </p:sp>
      <p:sp>
        <p:nvSpPr>
          <p:cNvPr id="129" name="Text 122"/>
          <p:cNvSpPr txBox="1"/>
          <p:nvPr/>
        </p:nvSpPr>
        <p:spPr>
          <a:xfrm>
            <a:off x="8065008"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Twilio, SFMC, Forge, Inspire</a:t>
            </a:r>
            <a:endParaRPr lang="en-US" sz="750" dirty="0"/>
          </a:p>
        </p:txBody>
      </p:sp>
      <p:sp>
        <p:nvSpPr>
          <p:cNvPr id="130" name="Shape 123"/>
          <p:cNvSpPr/>
          <p:nvPr/>
        </p:nvSpPr>
        <p:spPr>
          <a:xfrm>
            <a:off x="10104120" y="1353312"/>
            <a:ext cx="1538935" cy="45720"/>
          </a:xfrm>
          <a:prstGeom prst="rect">
            <a:avLst/>
          </a:prstGeom>
          <a:solidFill>
            <a:srgbClr val="1F4FB8"/>
          </a:solidFill>
          <a:ln/>
        </p:spPr>
      </p:sp>
      <p:sp>
        <p:nvSpPr>
          <p:cNvPr id="131" name="Text 124"/>
          <p:cNvSpPr txBox="1"/>
          <p:nvPr/>
        </p:nvSpPr>
        <p:spPr>
          <a:xfrm>
            <a:off x="10104120" y="1444752"/>
            <a:ext cx="1538935" cy="237744"/>
          </a:xfrm>
          <a:prstGeom prst="rect">
            <a:avLst/>
          </a:prstGeom>
          <a:noFill/>
          <a:ln/>
        </p:spPr>
        <p:txBody>
          <a:bodyPr wrap="square" lIns="0" tIns="0" rIns="0" bIns="0" rtlCol="0" anchor="t"/>
          <a:lstStyle/>
          <a:p>
            <a:pPr indent="0" marL="0">
              <a:buNone/>
            </a:pPr>
            <a:r>
              <a:rPr lang="en-US" sz="800" b="1" spc="300" kern="0" dirty="0">
                <a:solidFill>
                  <a:srgbClr val="3A4556"/>
                </a:solidFill>
                <a:latin typeface="Calibri" pitchFamily="34" charset="0"/>
                <a:ea typeface="Calibri" pitchFamily="34" charset="-122"/>
                <a:cs typeface="Calibri" pitchFamily="34" charset="-120"/>
              </a:rPr>
              <a:t>VENDOR ECOSYSTEM</a:t>
            </a:r>
            <a:endParaRPr lang="en-US" sz="800" dirty="0"/>
          </a:p>
        </p:txBody>
      </p:sp>
      <p:sp>
        <p:nvSpPr>
          <p:cNvPr id="132" name="Shape 125"/>
          <p:cNvSpPr/>
          <p:nvPr/>
        </p:nvSpPr>
        <p:spPr>
          <a:xfrm>
            <a:off x="10104120" y="1737360"/>
            <a:ext cx="1538935" cy="256032"/>
          </a:xfrm>
          <a:prstGeom prst="rect">
            <a:avLst/>
          </a:prstGeom>
          <a:solidFill>
            <a:srgbClr val="FFFFFF"/>
          </a:solidFill>
          <a:ln w="19050">
            <a:solidFill>
              <a:srgbClr val="E8612C"/>
            </a:solidFill>
            <a:prstDash val="solid"/>
          </a:ln>
        </p:spPr>
      </p:sp>
      <p:sp>
        <p:nvSpPr>
          <p:cNvPr id="133" name="Text 126"/>
          <p:cNvSpPr txBox="1"/>
          <p:nvPr/>
        </p:nvSpPr>
        <p:spPr>
          <a:xfrm>
            <a:off x="10104120" y="1737360"/>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Salesforce MC</a:t>
            </a:r>
            <a:endParaRPr lang="en-US" sz="850" dirty="0"/>
          </a:p>
        </p:txBody>
      </p:sp>
      <p:sp>
        <p:nvSpPr>
          <p:cNvPr id="134" name="Shape 127"/>
          <p:cNvSpPr/>
          <p:nvPr/>
        </p:nvSpPr>
        <p:spPr>
          <a:xfrm>
            <a:off x="10104120" y="2048256"/>
            <a:ext cx="1538935" cy="256032"/>
          </a:xfrm>
          <a:prstGeom prst="rect">
            <a:avLst/>
          </a:prstGeom>
          <a:solidFill>
            <a:srgbClr val="FFFFFF"/>
          </a:solidFill>
          <a:ln w="19050">
            <a:solidFill>
              <a:srgbClr val="E8612C"/>
            </a:solidFill>
            <a:prstDash val="solid"/>
          </a:ln>
        </p:spPr>
      </p:sp>
      <p:sp>
        <p:nvSpPr>
          <p:cNvPr id="135" name="Text 128"/>
          <p:cNvSpPr txBox="1"/>
          <p:nvPr/>
        </p:nvSpPr>
        <p:spPr>
          <a:xfrm>
            <a:off x="10104120" y="2048256"/>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Quadient Inspire</a:t>
            </a:r>
            <a:endParaRPr lang="en-US" sz="850" dirty="0"/>
          </a:p>
        </p:txBody>
      </p:sp>
      <p:sp>
        <p:nvSpPr>
          <p:cNvPr id="136" name="Shape 129"/>
          <p:cNvSpPr/>
          <p:nvPr/>
        </p:nvSpPr>
        <p:spPr>
          <a:xfrm>
            <a:off x="10104120" y="2359152"/>
            <a:ext cx="1538935" cy="256032"/>
          </a:xfrm>
          <a:prstGeom prst="rect">
            <a:avLst/>
          </a:prstGeom>
          <a:solidFill>
            <a:srgbClr val="FFFFFF"/>
          </a:solidFill>
          <a:ln w="19050">
            <a:solidFill>
              <a:srgbClr val="E8612C"/>
            </a:solidFill>
            <a:prstDash val="solid"/>
          </a:ln>
        </p:spPr>
      </p:sp>
      <p:sp>
        <p:nvSpPr>
          <p:cNvPr id="137" name="Text 130"/>
          <p:cNvSpPr txBox="1"/>
          <p:nvPr/>
        </p:nvSpPr>
        <p:spPr>
          <a:xfrm>
            <a:off x="10104120" y="2359152"/>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Twilio</a:t>
            </a:r>
            <a:endParaRPr lang="en-US" sz="850" dirty="0"/>
          </a:p>
        </p:txBody>
      </p:sp>
      <p:sp>
        <p:nvSpPr>
          <p:cNvPr id="138" name="Shape 131"/>
          <p:cNvSpPr/>
          <p:nvPr/>
        </p:nvSpPr>
        <p:spPr>
          <a:xfrm>
            <a:off x="10104120" y="2670048"/>
            <a:ext cx="1538935" cy="256032"/>
          </a:xfrm>
          <a:prstGeom prst="rect">
            <a:avLst/>
          </a:prstGeom>
          <a:solidFill>
            <a:srgbClr val="FFFFFF"/>
          </a:solidFill>
          <a:ln w="19050">
            <a:solidFill>
              <a:srgbClr val="E8612C"/>
            </a:solidFill>
            <a:prstDash val="solid"/>
          </a:ln>
        </p:spPr>
      </p:sp>
      <p:sp>
        <p:nvSpPr>
          <p:cNvPr id="139" name="Text 132"/>
          <p:cNvSpPr txBox="1"/>
          <p:nvPr/>
        </p:nvSpPr>
        <p:spPr>
          <a:xfrm>
            <a:off x="10104120" y="2670048"/>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Forge</a:t>
            </a:r>
            <a:endParaRPr lang="en-US" sz="850" dirty="0"/>
          </a:p>
        </p:txBody>
      </p:sp>
      <p:sp>
        <p:nvSpPr>
          <p:cNvPr id="140" name="Shape 133"/>
          <p:cNvSpPr/>
          <p:nvPr/>
        </p:nvSpPr>
        <p:spPr>
          <a:xfrm>
            <a:off x="10104120" y="2980944"/>
            <a:ext cx="1538935" cy="256032"/>
          </a:xfrm>
          <a:prstGeom prst="rect">
            <a:avLst/>
          </a:prstGeom>
          <a:solidFill>
            <a:srgbClr val="FFFFFF"/>
          </a:solidFill>
          <a:ln w="19050">
            <a:solidFill>
              <a:srgbClr val="E8612C"/>
            </a:solidFill>
            <a:prstDash val="solid"/>
          </a:ln>
        </p:spPr>
      </p:sp>
      <p:sp>
        <p:nvSpPr>
          <p:cNvPr id="141" name="Text 134"/>
          <p:cNvSpPr txBox="1"/>
          <p:nvPr/>
        </p:nvSpPr>
        <p:spPr>
          <a:xfrm>
            <a:off x="10104120" y="2980944"/>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O’Neil</a:t>
            </a:r>
            <a:endParaRPr lang="en-US" sz="850" dirty="0"/>
          </a:p>
        </p:txBody>
      </p:sp>
      <p:sp>
        <p:nvSpPr>
          <p:cNvPr id="142" name="Shape 135"/>
          <p:cNvSpPr/>
          <p:nvPr/>
        </p:nvSpPr>
        <p:spPr>
          <a:xfrm>
            <a:off x="10104120" y="3410712"/>
            <a:ext cx="1538935" cy="45720"/>
          </a:xfrm>
          <a:prstGeom prst="rect">
            <a:avLst/>
          </a:prstGeom>
          <a:solidFill>
            <a:srgbClr val="1F4FB8"/>
          </a:solidFill>
          <a:ln/>
        </p:spPr>
      </p:sp>
      <p:sp>
        <p:nvSpPr>
          <p:cNvPr id="143" name="Text 136"/>
          <p:cNvSpPr txBox="1"/>
          <p:nvPr/>
        </p:nvSpPr>
        <p:spPr>
          <a:xfrm>
            <a:off x="10104120" y="3502152"/>
            <a:ext cx="1538935" cy="237744"/>
          </a:xfrm>
          <a:prstGeom prst="rect">
            <a:avLst/>
          </a:prstGeom>
          <a:noFill/>
          <a:ln/>
        </p:spPr>
        <p:txBody>
          <a:bodyPr wrap="square" lIns="0" tIns="0" rIns="0" bIns="0" rtlCol="0" anchor="t"/>
          <a:lstStyle/>
          <a:p>
            <a:pPr indent="0" marL="0">
              <a:buNone/>
            </a:pPr>
            <a:r>
              <a:rPr lang="en-US" sz="800" b="1" spc="300" kern="0" dirty="0">
                <a:solidFill>
                  <a:srgbClr val="3A4556"/>
                </a:solidFill>
                <a:latin typeface="Calibri" pitchFamily="34" charset="0"/>
                <a:ea typeface="Calibri" pitchFamily="34" charset="-122"/>
                <a:cs typeface="Calibri" pitchFamily="34" charset="-120"/>
              </a:rPr>
              <a:t>ENABLEMENT</a:t>
            </a:r>
            <a:endParaRPr lang="en-US" sz="800" dirty="0"/>
          </a:p>
        </p:txBody>
      </p:sp>
      <p:sp>
        <p:nvSpPr>
          <p:cNvPr id="144" name="Shape 137"/>
          <p:cNvSpPr/>
          <p:nvPr/>
        </p:nvSpPr>
        <p:spPr>
          <a:xfrm>
            <a:off x="10104120" y="3794760"/>
            <a:ext cx="1538935" cy="329184"/>
          </a:xfrm>
          <a:prstGeom prst="rect">
            <a:avLst/>
          </a:prstGeom>
          <a:solidFill>
            <a:srgbClr val="FFFFFF"/>
          </a:solidFill>
          <a:ln w="9525">
            <a:solidFill>
              <a:srgbClr val="CCD3DD"/>
            </a:solidFill>
            <a:prstDash val="solid"/>
          </a:ln>
        </p:spPr>
      </p:sp>
      <p:sp>
        <p:nvSpPr>
          <p:cNvPr id="145" name="Text 138"/>
          <p:cNvSpPr txBox="1"/>
          <p:nvPr/>
        </p:nvSpPr>
        <p:spPr>
          <a:xfrm>
            <a:off x="10140696" y="3794760"/>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Intelligent self-service</a:t>
            </a:r>
            <a:endParaRPr lang="en-US" sz="800" dirty="0"/>
          </a:p>
        </p:txBody>
      </p:sp>
      <p:sp>
        <p:nvSpPr>
          <p:cNvPr id="146" name="Shape 139"/>
          <p:cNvSpPr/>
          <p:nvPr/>
        </p:nvSpPr>
        <p:spPr>
          <a:xfrm>
            <a:off x="10104120" y="4178808"/>
            <a:ext cx="1538935" cy="329184"/>
          </a:xfrm>
          <a:prstGeom prst="rect">
            <a:avLst/>
          </a:prstGeom>
          <a:solidFill>
            <a:srgbClr val="FFFFFF"/>
          </a:solidFill>
          <a:ln w="9525">
            <a:solidFill>
              <a:srgbClr val="CCD3DD"/>
            </a:solidFill>
            <a:prstDash val="solid"/>
          </a:ln>
        </p:spPr>
      </p:sp>
      <p:sp>
        <p:nvSpPr>
          <p:cNvPr id="147" name="Text 140"/>
          <p:cNvSpPr txBox="1"/>
          <p:nvPr/>
        </p:nvSpPr>
        <p:spPr>
          <a:xfrm>
            <a:off x="10140696" y="4178808"/>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Personalized, compliant comms</a:t>
            </a:r>
            <a:endParaRPr lang="en-US" sz="800" dirty="0"/>
          </a:p>
        </p:txBody>
      </p:sp>
      <p:sp>
        <p:nvSpPr>
          <p:cNvPr id="148" name="Shape 141"/>
          <p:cNvSpPr/>
          <p:nvPr/>
        </p:nvSpPr>
        <p:spPr>
          <a:xfrm>
            <a:off x="10104120" y="4562856"/>
            <a:ext cx="1538935" cy="329184"/>
          </a:xfrm>
          <a:prstGeom prst="rect">
            <a:avLst/>
          </a:prstGeom>
          <a:solidFill>
            <a:srgbClr val="FFFFFF"/>
          </a:solidFill>
          <a:ln w="9525">
            <a:solidFill>
              <a:srgbClr val="CCD3DD"/>
            </a:solidFill>
            <a:prstDash val="solid"/>
          </a:ln>
        </p:spPr>
      </p:sp>
      <p:sp>
        <p:nvSpPr>
          <p:cNvPr id="149" name="Text 142"/>
          <p:cNvSpPr txBox="1"/>
          <p:nvPr/>
        </p:nvSpPr>
        <p:spPr>
          <a:xfrm>
            <a:off x="10140696" y="4562856"/>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Proactive experience</a:t>
            </a:r>
            <a:endParaRPr lang="en-US" sz="800" dirty="0"/>
          </a:p>
        </p:txBody>
      </p:sp>
      <p:sp>
        <p:nvSpPr>
          <p:cNvPr id="150" name="Shape 143"/>
          <p:cNvSpPr/>
          <p:nvPr/>
        </p:nvSpPr>
        <p:spPr>
          <a:xfrm>
            <a:off x="10104120" y="4946904"/>
            <a:ext cx="1538935" cy="329184"/>
          </a:xfrm>
          <a:prstGeom prst="rect">
            <a:avLst/>
          </a:prstGeom>
          <a:solidFill>
            <a:srgbClr val="FFFFFF"/>
          </a:solidFill>
          <a:ln w="9525">
            <a:solidFill>
              <a:srgbClr val="CCD3DD"/>
            </a:solidFill>
            <a:prstDash val="solid"/>
          </a:ln>
        </p:spPr>
      </p:sp>
      <p:sp>
        <p:nvSpPr>
          <p:cNvPr id="151" name="Text 144"/>
          <p:cNvSpPr txBox="1"/>
          <p:nvPr/>
        </p:nvSpPr>
        <p:spPr>
          <a:xfrm>
            <a:off x="10140696" y="4946904"/>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A&amp;G resolution</a:t>
            </a:r>
            <a:endParaRPr lang="en-US" sz="800" dirty="0"/>
          </a:p>
        </p:txBody>
      </p:sp>
      <p:sp>
        <p:nvSpPr>
          <p:cNvPr id="152" name="Shape 145"/>
          <p:cNvSpPr/>
          <p:nvPr/>
        </p:nvSpPr>
        <p:spPr>
          <a:xfrm>
            <a:off x="10104120" y="5330952"/>
            <a:ext cx="1538935" cy="329184"/>
          </a:xfrm>
          <a:prstGeom prst="rect">
            <a:avLst/>
          </a:prstGeom>
          <a:solidFill>
            <a:srgbClr val="FFFFFF"/>
          </a:solidFill>
          <a:ln w="9525">
            <a:solidFill>
              <a:srgbClr val="CCD3DD"/>
            </a:solidFill>
            <a:prstDash val="solid"/>
          </a:ln>
        </p:spPr>
      </p:sp>
      <p:sp>
        <p:nvSpPr>
          <p:cNvPr id="153" name="Text 146"/>
          <p:cNvSpPr txBox="1"/>
          <p:nvPr/>
        </p:nvSpPr>
        <p:spPr>
          <a:xfrm>
            <a:off x="10140696" y="5330952"/>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Secure member ID</a:t>
            </a:r>
            <a:endParaRPr lang="en-US" sz="800" dirty="0"/>
          </a:p>
        </p:txBody>
      </p:sp>
      <p:sp>
        <p:nvSpPr>
          <p:cNvPr id="154" name="Shape 147"/>
          <p:cNvSpPr/>
          <p:nvPr/>
        </p:nvSpPr>
        <p:spPr>
          <a:xfrm>
            <a:off x="0" y="5760720"/>
            <a:ext cx="12191695" cy="658368"/>
          </a:xfrm>
          <a:prstGeom prst="rect">
            <a:avLst/>
          </a:prstGeom>
          <a:solidFill>
            <a:srgbClr val="0F1B2D"/>
          </a:solidFill>
          <a:ln/>
        </p:spPr>
      </p:sp>
      <p:sp>
        <p:nvSpPr>
          <p:cNvPr id="155" name="Shape 148"/>
          <p:cNvSpPr/>
          <p:nvPr/>
        </p:nvSpPr>
        <p:spPr>
          <a:xfrm>
            <a:off x="548640" y="5870448"/>
            <a:ext cx="1290790" cy="438912"/>
          </a:xfrm>
          <a:prstGeom prst="rect">
            <a:avLst/>
          </a:prstGeom>
          <a:solidFill>
            <a:srgbClr val="CFE6F5"/>
          </a:solidFill>
          <a:ln/>
        </p:spPr>
      </p:sp>
      <p:sp>
        <p:nvSpPr>
          <p:cNvPr id="156" name="Text 149"/>
          <p:cNvSpPr txBox="1"/>
          <p:nvPr/>
        </p:nvSpPr>
        <p:spPr>
          <a:xfrm>
            <a:off x="585216"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"Buy &amp; Build" ecosystem</a:t>
            </a:r>
            <a:endParaRPr lang="en-US" sz="950" dirty="0"/>
          </a:p>
        </p:txBody>
      </p:sp>
      <p:sp>
        <p:nvSpPr>
          <p:cNvPr id="157" name="Shape 150"/>
          <p:cNvSpPr/>
          <p:nvPr/>
        </p:nvSpPr>
        <p:spPr>
          <a:xfrm>
            <a:off x="1949158" y="5870448"/>
            <a:ext cx="1290790" cy="438912"/>
          </a:xfrm>
          <a:prstGeom prst="rect">
            <a:avLst/>
          </a:prstGeom>
          <a:solidFill>
            <a:srgbClr val="CFE6F5"/>
          </a:solidFill>
          <a:ln/>
        </p:spPr>
      </p:sp>
      <p:sp>
        <p:nvSpPr>
          <p:cNvPr id="158" name="Text 151"/>
          <p:cNvSpPr txBox="1"/>
          <p:nvPr/>
        </p:nvSpPr>
        <p:spPr>
          <a:xfrm>
            <a:off x="1985734"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Event-driven, real-time</a:t>
            </a:r>
            <a:endParaRPr lang="en-US" sz="950" dirty="0"/>
          </a:p>
        </p:txBody>
      </p:sp>
      <p:sp>
        <p:nvSpPr>
          <p:cNvPr id="159" name="Shape 152"/>
          <p:cNvSpPr/>
          <p:nvPr/>
        </p:nvSpPr>
        <p:spPr>
          <a:xfrm>
            <a:off x="3349676" y="5870448"/>
            <a:ext cx="1290790" cy="438912"/>
          </a:xfrm>
          <a:prstGeom prst="rect">
            <a:avLst/>
          </a:prstGeom>
          <a:solidFill>
            <a:srgbClr val="CFE6F5"/>
          </a:solidFill>
          <a:ln/>
        </p:spPr>
      </p:sp>
      <p:sp>
        <p:nvSpPr>
          <p:cNvPr id="160" name="Text 153"/>
          <p:cNvSpPr txBox="1"/>
          <p:nvPr/>
        </p:nvSpPr>
        <p:spPr>
          <a:xfrm>
            <a:off x="3386252"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Centralized data hubs</a:t>
            </a:r>
            <a:endParaRPr lang="en-US" sz="950" dirty="0"/>
          </a:p>
        </p:txBody>
      </p:sp>
      <p:sp>
        <p:nvSpPr>
          <p:cNvPr id="161" name="Shape 154"/>
          <p:cNvSpPr/>
          <p:nvPr/>
        </p:nvSpPr>
        <p:spPr>
          <a:xfrm>
            <a:off x="4750194" y="5870448"/>
            <a:ext cx="1290790" cy="438912"/>
          </a:xfrm>
          <a:prstGeom prst="rect">
            <a:avLst/>
          </a:prstGeom>
          <a:solidFill>
            <a:srgbClr val="CFE6F5"/>
          </a:solidFill>
          <a:ln/>
        </p:spPr>
      </p:sp>
      <p:sp>
        <p:nvSpPr>
          <p:cNvPr id="162" name="Text 155"/>
          <p:cNvSpPr txBox="1"/>
          <p:nvPr/>
        </p:nvSpPr>
        <p:spPr>
          <a:xfrm>
            <a:off x="4786770"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Omni-channel experience</a:t>
            </a:r>
            <a:endParaRPr lang="en-US" sz="950" dirty="0"/>
          </a:p>
        </p:txBody>
      </p:sp>
      <p:sp>
        <p:nvSpPr>
          <p:cNvPr id="163" name="Shape 156"/>
          <p:cNvSpPr/>
          <p:nvPr/>
        </p:nvSpPr>
        <p:spPr>
          <a:xfrm>
            <a:off x="6150712" y="5870448"/>
            <a:ext cx="1290790" cy="438912"/>
          </a:xfrm>
          <a:prstGeom prst="rect">
            <a:avLst/>
          </a:prstGeom>
          <a:solidFill>
            <a:srgbClr val="CFE6F5"/>
          </a:solidFill>
          <a:ln/>
        </p:spPr>
      </p:sp>
      <p:sp>
        <p:nvSpPr>
          <p:cNvPr id="164" name="Text 157"/>
          <p:cNvSpPr txBox="1"/>
          <p:nvPr/>
        </p:nvSpPr>
        <p:spPr>
          <a:xfrm>
            <a:off x="6187288"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Advocate-centric hub</a:t>
            </a:r>
            <a:endParaRPr lang="en-US" sz="950" dirty="0"/>
          </a:p>
        </p:txBody>
      </p:sp>
      <p:sp>
        <p:nvSpPr>
          <p:cNvPr id="165" name="Shape 158"/>
          <p:cNvSpPr/>
          <p:nvPr/>
        </p:nvSpPr>
        <p:spPr>
          <a:xfrm>
            <a:off x="7551230" y="5870448"/>
            <a:ext cx="1290790" cy="438912"/>
          </a:xfrm>
          <a:prstGeom prst="rect">
            <a:avLst/>
          </a:prstGeom>
          <a:solidFill>
            <a:srgbClr val="CFE6F5"/>
          </a:solidFill>
          <a:ln/>
        </p:spPr>
      </p:sp>
      <p:sp>
        <p:nvSpPr>
          <p:cNvPr id="166" name="Text 159"/>
          <p:cNvSpPr txBox="1"/>
          <p:nvPr/>
        </p:nvSpPr>
        <p:spPr>
          <a:xfrm>
            <a:off x="7587805"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Multi-tenant</a:t>
            </a:r>
            <a:endParaRPr lang="en-US" sz="950" dirty="0"/>
          </a:p>
        </p:txBody>
      </p:sp>
      <p:sp>
        <p:nvSpPr>
          <p:cNvPr id="167" name="Shape 160"/>
          <p:cNvSpPr/>
          <p:nvPr/>
        </p:nvSpPr>
        <p:spPr>
          <a:xfrm>
            <a:off x="8951747" y="5870448"/>
            <a:ext cx="1290790" cy="438912"/>
          </a:xfrm>
          <a:prstGeom prst="rect">
            <a:avLst/>
          </a:prstGeom>
          <a:solidFill>
            <a:srgbClr val="CFE6F5"/>
          </a:solidFill>
          <a:ln/>
        </p:spPr>
      </p:sp>
      <p:sp>
        <p:nvSpPr>
          <p:cNvPr id="168" name="Text 161"/>
          <p:cNvSpPr txBox="1"/>
          <p:nvPr/>
        </p:nvSpPr>
        <p:spPr>
          <a:xfrm>
            <a:off x="8988323"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Automation</a:t>
            </a:r>
            <a:endParaRPr lang="en-US" sz="950" dirty="0"/>
          </a:p>
        </p:txBody>
      </p:sp>
      <p:sp>
        <p:nvSpPr>
          <p:cNvPr id="169" name="Shape 162"/>
          <p:cNvSpPr/>
          <p:nvPr/>
        </p:nvSpPr>
        <p:spPr>
          <a:xfrm>
            <a:off x="10352265" y="5870448"/>
            <a:ext cx="1290790" cy="438912"/>
          </a:xfrm>
          <a:prstGeom prst="rect">
            <a:avLst/>
          </a:prstGeom>
          <a:solidFill>
            <a:srgbClr val="CFE6F5"/>
          </a:solidFill>
          <a:ln/>
        </p:spPr>
      </p:sp>
      <p:sp>
        <p:nvSpPr>
          <p:cNvPr id="170" name="Text 163"/>
          <p:cNvSpPr txBox="1"/>
          <p:nvPr/>
        </p:nvSpPr>
        <p:spPr>
          <a:xfrm>
            <a:off x="10388841" y="5870448"/>
            <a:ext cx="1217638"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AI enablement</a:t>
            </a:r>
            <a:endParaRPr lang="en-US" sz="950" dirty="0"/>
          </a:p>
        </p:txBody>
      </p:sp>
      <p:sp>
        <p:nvSpPr>
          <p:cNvPr id="171" name="Shape 164"/>
          <p:cNvSpPr/>
          <p:nvPr/>
        </p:nvSpPr>
        <p:spPr>
          <a:xfrm>
            <a:off x="548640" y="5440680"/>
            <a:ext cx="274320" cy="164592"/>
          </a:xfrm>
          <a:prstGeom prst="rect">
            <a:avLst/>
          </a:prstGeom>
          <a:solidFill>
            <a:srgbClr val="FFFFFF"/>
          </a:solidFill>
          <a:ln w="19050">
            <a:solidFill>
              <a:srgbClr val="E8612C"/>
            </a:solidFill>
            <a:prstDash val="solid"/>
          </a:ln>
        </p:spPr>
      </p:sp>
      <p:sp>
        <p:nvSpPr>
          <p:cNvPr id="172" name="Text 165"/>
          <p:cNvSpPr txBox="1"/>
          <p:nvPr/>
        </p:nvSpPr>
        <p:spPr>
          <a:xfrm>
            <a:off x="896112" y="5422392"/>
            <a:ext cx="1097280" cy="201168"/>
          </a:xfrm>
          <a:prstGeom prst="rect">
            <a:avLst/>
          </a:prstGeom>
          <a:noFill/>
          <a:ln/>
        </p:spPr>
        <p:txBody>
          <a:bodyPr wrap="square" lIns="0" tIns="0" rIns="0" bIns="0" rtlCol="0" anchor="t"/>
          <a:lstStyle/>
          <a:p>
            <a:pPr indent="0" marL="0">
              <a:buNone/>
            </a:pPr>
            <a:r>
              <a:rPr lang="en-US" sz="850" dirty="0">
                <a:solidFill>
                  <a:srgbClr val="1C2330"/>
                </a:solidFill>
                <a:latin typeface="Calibri" pitchFamily="34" charset="0"/>
                <a:ea typeface="Calibri" pitchFamily="34" charset="-122"/>
                <a:cs typeface="Calibri" pitchFamily="34" charset="-120"/>
              </a:rPr>
              <a:t>CCM touchpoint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VISION</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A unified, configured platform for all communication needs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LEADERSHIP</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8</a:t>
            </a:r>
            <a:endParaRPr lang="en-US" sz="900" dirty="0"/>
          </a:p>
        </p:txBody>
      </p:sp>
      <p:sp>
        <p:nvSpPr>
          <p:cNvPr id="9" name="Text 7"/>
          <p:cNvSpPr txBox="1"/>
          <p:nvPr/>
        </p:nvSpPr>
        <p:spPr>
          <a:xfrm>
            <a:off x="548640" y="1417320"/>
            <a:ext cx="10058400" cy="548640"/>
          </a:xfrm>
          <a:prstGeom prst="rect">
            <a:avLst/>
          </a:prstGeom>
          <a:noFill/>
          <a:ln/>
        </p:spPr>
        <p:txBody>
          <a:bodyPr wrap="square" lIns="0" tIns="0" rIns="0" bIns="0" rtlCol="0" anchor="t"/>
          <a:lstStyle/>
          <a:p>
            <a:pPr indent="0" marL="0">
              <a:buNone/>
            </a:pPr>
            <a:r>
              <a:rPr lang="en-US" sz="1500" dirty="0">
                <a:solidFill>
                  <a:srgbClr val="596273"/>
                </a:solidFill>
                <a:latin typeface="Calibri" pitchFamily="34" charset="0"/>
                <a:ea typeface="Calibri" pitchFamily="34" charset="-122"/>
                <a:cs typeface="Calibri" pitchFamily="34" charset="-120"/>
              </a:rPr>
              <a:t>Three strategic imperatives define what "good" looks like: the business can launch, connect and maintain communications without heavy IT involvement.</a:t>
            </a:r>
            <a:endParaRPr lang="en-US" sz="1500" dirty="0"/>
          </a:p>
        </p:txBody>
      </p:sp>
      <p:sp>
        <p:nvSpPr>
          <p:cNvPr id="10" name="Shape 8"/>
          <p:cNvSpPr/>
          <p:nvPr/>
        </p:nvSpPr>
        <p:spPr>
          <a:xfrm>
            <a:off x="548640" y="2240280"/>
            <a:ext cx="3515258" cy="3931920"/>
          </a:xfrm>
          <a:prstGeom prst="roundRect">
            <a:avLst>
              <a:gd name="adj" fmla="val 1561"/>
            </a:avLst>
          </a:prstGeom>
          <a:solidFill>
            <a:srgbClr val="F1F3F6"/>
          </a:solidFill>
          <a:ln/>
        </p:spPr>
      </p:sp>
      <p:sp>
        <p:nvSpPr>
          <p:cNvPr id="11" name="Shape 9"/>
          <p:cNvSpPr/>
          <p:nvPr/>
        </p:nvSpPr>
        <p:spPr>
          <a:xfrm>
            <a:off x="868680" y="2560320"/>
            <a:ext cx="868680" cy="868680"/>
          </a:xfrm>
          <a:prstGeom prst="ellipse">
            <a:avLst/>
          </a:prstGeom>
          <a:solidFill>
            <a:srgbClr val="2E8B57"/>
          </a:solidFill>
          <a:ln/>
        </p:spPr>
      </p:sp>
      <p:sp>
        <p:nvSpPr>
          <p:cNvPr id="12" name="Text 10"/>
          <p:cNvSpPr txBox="1"/>
          <p:nvPr/>
        </p:nvSpPr>
        <p:spPr>
          <a:xfrm>
            <a:off x="868680"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a:t>
            </a:r>
            <a:endParaRPr lang="en-US" sz="3400" dirty="0"/>
          </a:p>
        </p:txBody>
      </p:sp>
      <p:sp>
        <p:nvSpPr>
          <p:cNvPr id="13" name="Text 11"/>
          <p:cNvSpPr txBox="1"/>
          <p:nvPr/>
        </p:nvSpPr>
        <p:spPr>
          <a:xfrm>
            <a:off x="1920240" y="2624328"/>
            <a:ext cx="1960778" cy="365760"/>
          </a:xfrm>
          <a:prstGeom prst="rect">
            <a:avLst/>
          </a:prstGeom>
          <a:noFill/>
          <a:ln/>
        </p:spPr>
        <p:txBody>
          <a:bodyPr wrap="square" lIns="0" tIns="0" rIns="0" bIns="0" rtlCol="0" anchor="t"/>
          <a:lstStyle/>
          <a:p>
            <a:pPr indent="0" marL="0">
              <a:buNone/>
            </a:pPr>
            <a:r>
              <a:rPr lang="en-US" sz="2000" b="1" dirty="0">
                <a:solidFill>
                  <a:srgbClr val="1C2330"/>
                </a:solidFill>
                <a:latin typeface="Calibri" pitchFamily="34" charset="0"/>
                <a:ea typeface="Calibri" pitchFamily="34" charset="-122"/>
                <a:cs typeface="Calibri" pitchFamily="34" charset="-120"/>
              </a:rPr>
              <a:t>Templates</a:t>
            </a:r>
            <a:endParaRPr lang="en-US" sz="2000" dirty="0"/>
          </a:p>
        </p:txBody>
      </p:sp>
      <p:sp>
        <p:nvSpPr>
          <p:cNvPr id="14" name="Text 12"/>
          <p:cNvSpPr txBox="1"/>
          <p:nvPr/>
        </p:nvSpPr>
        <p:spPr>
          <a:xfrm>
            <a:off x="1920240" y="3017520"/>
            <a:ext cx="1960778" cy="320040"/>
          </a:xfrm>
          <a:prstGeom prst="rect">
            <a:avLst/>
          </a:prstGeom>
          <a:noFill/>
          <a:ln/>
        </p:spPr>
        <p:txBody>
          <a:bodyPr wrap="square" lIns="0" tIns="0" rIns="0" bIns="0" rtlCol="0" anchor="t"/>
          <a:lstStyle/>
          <a:p>
            <a:pPr indent="0" marL="0">
              <a:buNone/>
            </a:pPr>
            <a:r>
              <a:rPr lang="en-US" sz="1300" dirty="0">
                <a:solidFill>
                  <a:srgbClr val="596273"/>
                </a:solidFill>
                <a:latin typeface="Calibri" pitchFamily="34" charset="0"/>
                <a:ea typeface="Calibri" pitchFamily="34" charset="-122"/>
                <a:cs typeface="Calibri" pitchFamily="34" charset="-120"/>
              </a:rPr>
              <a:t>Create new communications</a:t>
            </a:r>
            <a:endParaRPr lang="en-US" sz="1300" dirty="0"/>
          </a:p>
        </p:txBody>
      </p:sp>
      <p:sp>
        <p:nvSpPr>
          <p:cNvPr id="15" name="Shape 13"/>
          <p:cNvSpPr/>
          <p:nvPr/>
        </p:nvSpPr>
        <p:spPr>
          <a:xfrm>
            <a:off x="868680" y="3657600"/>
            <a:ext cx="2875178" cy="0"/>
          </a:xfrm>
          <a:prstGeom prst="line">
            <a:avLst/>
          </a:prstGeom>
          <a:noFill/>
          <a:ln w="9525">
            <a:solidFill>
              <a:srgbClr val="CCD3DD"/>
            </a:solidFill>
            <a:prstDash val="solid"/>
          </a:ln>
        </p:spPr>
      </p:sp>
      <p:sp>
        <p:nvSpPr>
          <p:cNvPr id="16" name="Text 14"/>
          <p:cNvSpPr txBox="1"/>
          <p:nvPr/>
        </p:nvSpPr>
        <p:spPr>
          <a:xfrm>
            <a:off x="868680" y="3794760"/>
            <a:ext cx="1828800" cy="228600"/>
          </a:xfrm>
          <a:prstGeom prst="rect">
            <a:avLst/>
          </a:prstGeom>
          <a:noFill/>
          <a:ln/>
        </p:spPr>
        <p:txBody>
          <a:bodyPr wrap="square" lIns="0" tIns="0" rIns="0" bIns="0" rtlCol="0" anchor="t"/>
          <a:lstStyle/>
          <a:p>
            <a:pPr indent="0" marL="0">
              <a:buNone/>
            </a:pPr>
            <a:r>
              <a:rPr lang="en-US" sz="1000" b="1" spc="200" kern="0" dirty="0">
                <a:solidFill>
                  <a:srgbClr val="1F4FB8"/>
                </a:solidFill>
                <a:latin typeface="Calibri" pitchFamily="34" charset="0"/>
                <a:ea typeface="Calibri" pitchFamily="34" charset="-122"/>
                <a:cs typeface="Calibri" pitchFamily="34" charset="-120"/>
              </a:rPr>
              <a:t>VALUE</a:t>
            </a:r>
            <a:endParaRPr lang="en-US" sz="1000" dirty="0"/>
          </a:p>
        </p:txBody>
      </p:sp>
      <p:sp>
        <p:nvSpPr>
          <p:cNvPr id="17" name="Text 15"/>
          <p:cNvSpPr txBox="1"/>
          <p:nvPr/>
        </p:nvSpPr>
        <p:spPr>
          <a:xfrm>
            <a:off x="868680" y="4114800"/>
            <a:ext cx="2875178" cy="621792"/>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Onboard. </a:t>
            </a:r>
            <a:pPr indent="0" marL="0">
              <a:buNone/>
            </a:pPr>
            <a:r>
              <a:rPr lang="en-US" sz="1300" dirty="0">
                <a:solidFill>
                  <a:srgbClr val="1C2330"/>
                </a:solidFill>
                <a:latin typeface="Calibri" pitchFamily="34" charset="0"/>
                <a:ea typeface="Calibri" pitchFamily="34" charset="-122"/>
                <a:cs typeface="Calibri" pitchFamily="34" charset="-120"/>
              </a:rPr>
              <a:t>Business can quickly onboard new communications.</a:t>
            </a:r>
            <a:endParaRPr lang="en-US" sz="1300" dirty="0"/>
          </a:p>
        </p:txBody>
      </p:sp>
      <p:sp>
        <p:nvSpPr>
          <p:cNvPr id="18" name="Shape 16"/>
          <p:cNvSpPr/>
          <p:nvPr/>
        </p:nvSpPr>
        <p:spPr>
          <a:xfrm>
            <a:off x="4338218" y="2240280"/>
            <a:ext cx="3515258" cy="3931920"/>
          </a:xfrm>
          <a:prstGeom prst="roundRect">
            <a:avLst>
              <a:gd name="adj" fmla="val 1561"/>
            </a:avLst>
          </a:prstGeom>
          <a:solidFill>
            <a:srgbClr val="F1F3F6"/>
          </a:solidFill>
          <a:ln/>
        </p:spPr>
      </p:sp>
      <p:sp>
        <p:nvSpPr>
          <p:cNvPr id="19" name="Shape 17"/>
          <p:cNvSpPr/>
          <p:nvPr/>
        </p:nvSpPr>
        <p:spPr>
          <a:xfrm>
            <a:off x="4658258" y="2560320"/>
            <a:ext cx="868680" cy="868680"/>
          </a:xfrm>
          <a:prstGeom prst="ellipse">
            <a:avLst/>
          </a:prstGeom>
          <a:solidFill>
            <a:srgbClr val="E8612C"/>
          </a:solidFill>
          <a:ln/>
        </p:spPr>
      </p:sp>
      <p:sp>
        <p:nvSpPr>
          <p:cNvPr id="20" name="Text 18"/>
          <p:cNvSpPr txBox="1"/>
          <p:nvPr/>
        </p:nvSpPr>
        <p:spPr>
          <a:xfrm>
            <a:off x="4658258"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I</a:t>
            </a:r>
            <a:endParaRPr lang="en-US" sz="3400" dirty="0"/>
          </a:p>
        </p:txBody>
      </p:sp>
      <p:sp>
        <p:nvSpPr>
          <p:cNvPr id="21" name="Text 19"/>
          <p:cNvSpPr txBox="1"/>
          <p:nvPr/>
        </p:nvSpPr>
        <p:spPr>
          <a:xfrm>
            <a:off x="5709818" y="2624328"/>
            <a:ext cx="1960778" cy="365760"/>
          </a:xfrm>
          <a:prstGeom prst="rect">
            <a:avLst/>
          </a:prstGeom>
          <a:noFill/>
          <a:ln/>
        </p:spPr>
        <p:txBody>
          <a:bodyPr wrap="square" lIns="0" tIns="0" rIns="0" bIns="0" rtlCol="0" anchor="t"/>
          <a:lstStyle/>
          <a:p>
            <a:pPr indent="0" marL="0">
              <a:buNone/>
            </a:pPr>
            <a:r>
              <a:rPr lang="en-US" sz="2000" b="1" dirty="0">
                <a:solidFill>
                  <a:srgbClr val="1C2330"/>
                </a:solidFill>
                <a:latin typeface="Calibri" pitchFamily="34" charset="0"/>
                <a:ea typeface="Calibri" pitchFamily="34" charset="-122"/>
                <a:cs typeface="Calibri" pitchFamily="34" charset="-120"/>
              </a:rPr>
              <a:t>Integration</a:t>
            </a:r>
            <a:endParaRPr lang="en-US" sz="2000" dirty="0"/>
          </a:p>
        </p:txBody>
      </p:sp>
      <p:sp>
        <p:nvSpPr>
          <p:cNvPr id="22" name="Text 20"/>
          <p:cNvSpPr txBox="1"/>
          <p:nvPr/>
        </p:nvSpPr>
        <p:spPr>
          <a:xfrm>
            <a:off x="5709818" y="3017520"/>
            <a:ext cx="1960778" cy="320040"/>
          </a:xfrm>
          <a:prstGeom prst="rect">
            <a:avLst/>
          </a:prstGeom>
          <a:noFill/>
          <a:ln/>
        </p:spPr>
        <p:txBody>
          <a:bodyPr wrap="square" lIns="0" tIns="0" rIns="0" bIns="0" rtlCol="0" anchor="t"/>
          <a:lstStyle/>
          <a:p>
            <a:pPr indent="0" marL="0">
              <a:buNone/>
            </a:pPr>
            <a:r>
              <a:rPr lang="en-US" sz="1300" dirty="0">
                <a:solidFill>
                  <a:srgbClr val="596273"/>
                </a:solidFill>
                <a:latin typeface="Calibri" pitchFamily="34" charset="0"/>
                <a:ea typeface="Calibri" pitchFamily="34" charset="-122"/>
                <a:cs typeface="Calibri" pitchFamily="34" charset="-120"/>
              </a:rPr>
              <a:t>Multiple integrations</a:t>
            </a:r>
            <a:endParaRPr lang="en-US" sz="1300" dirty="0"/>
          </a:p>
        </p:txBody>
      </p:sp>
      <p:sp>
        <p:nvSpPr>
          <p:cNvPr id="23" name="Shape 21"/>
          <p:cNvSpPr/>
          <p:nvPr/>
        </p:nvSpPr>
        <p:spPr>
          <a:xfrm>
            <a:off x="4658258" y="3657600"/>
            <a:ext cx="2875178" cy="0"/>
          </a:xfrm>
          <a:prstGeom prst="line">
            <a:avLst/>
          </a:prstGeom>
          <a:noFill/>
          <a:ln w="9525">
            <a:solidFill>
              <a:srgbClr val="CCD3DD"/>
            </a:solidFill>
            <a:prstDash val="solid"/>
          </a:ln>
        </p:spPr>
      </p:sp>
      <p:sp>
        <p:nvSpPr>
          <p:cNvPr id="24" name="Text 22"/>
          <p:cNvSpPr txBox="1"/>
          <p:nvPr/>
        </p:nvSpPr>
        <p:spPr>
          <a:xfrm>
            <a:off x="4658258" y="3794760"/>
            <a:ext cx="1828800" cy="228600"/>
          </a:xfrm>
          <a:prstGeom prst="rect">
            <a:avLst/>
          </a:prstGeom>
          <a:noFill/>
          <a:ln/>
        </p:spPr>
        <p:txBody>
          <a:bodyPr wrap="square" lIns="0" tIns="0" rIns="0" bIns="0" rtlCol="0" anchor="t"/>
          <a:lstStyle/>
          <a:p>
            <a:pPr indent="0" marL="0">
              <a:buNone/>
            </a:pPr>
            <a:r>
              <a:rPr lang="en-US" sz="1000" b="1" spc="200" kern="0" dirty="0">
                <a:solidFill>
                  <a:srgbClr val="1F4FB8"/>
                </a:solidFill>
                <a:latin typeface="Calibri" pitchFamily="34" charset="0"/>
                <a:ea typeface="Calibri" pitchFamily="34" charset="-122"/>
                <a:cs typeface="Calibri" pitchFamily="34" charset="-120"/>
              </a:rPr>
              <a:t>VALUE</a:t>
            </a:r>
            <a:endParaRPr lang="en-US" sz="1000" dirty="0"/>
          </a:p>
        </p:txBody>
      </p:sp>
      <p:sp>
        <p:nvSpPr>
          <p:cNvPr id="25" name="Text 23"/>
          <p:cNvSpPr txBox="1"/>
          <p:nvPr/>
        </p:nvSpPr>
        <p:spPr>
          <a:xfrm>
            <a:off x="4658258" y="4114800"/>
            <a:ext cx="2875178" cy="621792"/>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P360. </a:t>
            </a:r>
            <a:pPr indent="0" marL="0">
              <a:buNone/>
            </a:pPr>
            <a:r>
              <a:rPr lang="en-US" sz="1300" dirty="0">
                <a:solidFill>
                  <a:srgbClr val="1C2330"/>
                </a:solidFill>
                <a:latin typeface="Calibri" pitchFamily="34" charset="0"/>
                <a:ea typeface="Calibri" pitchFamily="34" charset="-122"/>
                <a:cs typeface="Calibri" pitchFamily="34" charset="-120"/>
              </a:rPr>
              <a:t>Deliver communications in the manner the member requested, using Preferences 360.</a:t>
            </a:r>
            <a:endParaRPr lang="en-US" sz="1300" dirty="0"/>
          </a:p>
        </p:txBody>
      </p:sp>
      <p:sp>
        <p:nvSpPr>
          <p:cNvPr id="26" name="Text 24"/>
          <p:cNvSpPr txBox="1"/>
          <p:nvPr/>
        </p:nvSpPr>
        <p:spPr>
          <a:xfrm>
            <a:off x="4658258" y="4773168"/>
            <a:ext cx="2875178" cy="621792"/>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Current. </a:t>
            </a:r>
            <a:pPr indent="0" marL="0">
              <a:buNone/>
            </a:pPr>
            <a:r>
              <a:rPr lang="en-US" sz="1300" dirty="0">
                <a:solidFill>
                  <a:srgbClr val="1C2330"/>
                </a:solidFill>
                <a:latin typeface="Calibri" pitchFamily="34" charset="0"/>
                <a:ea typeface="Calibri" pitchFamily="34" charset="-122"/>
                <a:cs typeface="Calibri" pitchFamily="34" charset="-120"/>
              </a:rPr>
              <a:t>Integrated with applications such as EWoC, MWS and PPX.</a:t>
            </a:r>
            <a:endParaRPr lang="en-US" sz="1300" dirty="0"/>
          </a:p>
        </p:txBody>
      </p:sp>
      <p:sp>
        <p:nvSpPr>
          <p:cNvPr id="27" name="Text 25"/>
          <p:cNvSpPr txBox="1"/>
          <p:nvPr/>
        </p:nvSpPr>
        <p:spPr>
          <a:xfrm>
            <a:off x="4658258" y="5431536"/>
            <a:ext cx="2875178" cy="621792"/>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Future. </a:t>
            </a:r>
            <a:pPr indent="0" marL="0">
              <a:buNone/>
            </a:pPr>
            <a:r>
              <a:rPr lang="en-US" sz="1300" dirty="0">
                <a:solidFill>
                  <a:srgbClr val="1C2330"/>
                </a:solidFill>
                <a:latin typeface="Calibri" pitchFamily="34" charset="0"/>
                <a:ea typeface="Calibri" pitchFamily="34" charset="-122"/>
                <a:cs typeface="Calibri" pitchFamily="34" charset="-120"/>
              </a:rPr>
              <a:t>Integrating OPL, Quest and others.</a:t>
            </a:r>
            <a:endParaRPr lang="en-US" sz="1300" dirty="0"/>
          </a:p>
        </p:txBody>
      </p:sp>
      <p:sp>
        <p:nvSpPr>
          <p:cNvPr id="28" name="Shape 26"/>
          <p:cNvSpPr/>
          <p:nvPr/>
        </p:nvSpPr>
        <p:spPr>
          <a:xfrm>
            <a:off x="8127797" y="2240280"/>
            <a:ext cx="3515258" cy="3931920"/>
          </a:xfrm>
          <a:prstGeom prst="roundRect">
            <a:avLst>
              <a:gd name="adj" fmla="val 1561"/>
            </a:avLst>
          </a:prstGeom>
          <a:solidFill>
            <a:srgbClr val="F1F3F6"/>
          </a:solidFill>
          <a:ln/>
        </p:spPr>
      </p:sp>
      <p:sp>
        <p:nvSpPr>
          <p:cNvPr id="29" name="Shape 27"/>
          <p:cNvSpPr/>
          <p:nvPr/>
        </p:nvSpPr>
        <p:spPr>
          <a:xfrm>
            <a:off x="8447837" y="2560320"/>
            <a:ext cx="868680" cy="868680"/>
          </a:xfrm>
          <a:prstGeom prst="ellipse">
            <a:avLst/>
          </a:prstGeom>
          <a:solidFill>
            <a:srgbClr val="2F86C8"/>
          </a:solidFill>
          <a:ln/>
        </p:spPr>
      </p:sp>
      <p:sp>
        <p:nvSpPr>
          <p:cNvPr id="30" name="Text 28"/>
          <p:cNvSpPr txBox="1"/>
          <p:nvPr/>
        </p:nvSpPr>
        <p:spPr>
          <a:xfrm>
            <a:off x="8447837"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M</a:t>
            </a:r>
            <a:endParaRPr lang="en-US" sz="3400" dirty="0"/>
          </a:p>
        </p:txBody>
      </p:sp>
      <p:sp>
        <p:nvSpPr>
          <p:cNvPr id="31" name="Text 29"/>
          <p:cNvSpPr txBox="1"/>
          <p:nvPr/>
        </p:nvSpPr>
        <p:spPr>
          <a:xfrm>
            <a:off x="9499397" y="2624328"/>
            <a:ext cx="1960778" cy="365760"/>
          </a:xfrm>
          <a:prstGeom prst="rect">
            <a:avLst/>
          </a:prstGeom>
          <a:noFill/>
          <a:ln/>
        </p:spPr>
        <p:txBody>
          <a:bodyPr wrap="square" lIns="0" tIns="0" rIns="0" bIns="0" rtlCol="0" anchor="t"/>
          <a:lstStyle/>
          <a:p>
            <a:pPr indent="0" marL="0">
              <a:buNone/>
            </a:pPr>
            <a:r>
              <a:rPr lang="en-US" sz="2000" b="1" dirty="0">
                <a:solidFill>
                  <a:srgbClr val="1C2330"/>
                </a:solidFill>
                <a:latin typeface="Calibri" pitchFamily="34" charset="0"/>
                <a:ea typeface="Calibri" pitchFamily="34" charset="-122"/>
                <a:cs typeface="Calibri" pitchFamily="34" charset="-120"/>
              </a:rPr>
              <a:t>Maintenance</a:t>
            </a:r>
            <a:endParaRPr lang="en-US" sz="2000" dirty="0"/>
          </a:p>
        </p:txBody>
      </p:sp>
      <p:sp>
        <p:nvSpPr>
          <p:cNvPr id="32" name="Text 30"/>
          <p:cNvSpPr txBox="1"/>
          <p:nvPr/>
        </p:nvSpPr>
        <p:spPr>
          <a:xfrm>
            <a:off x="9499397" y="3017520"/>
            <a:ext cx="1960778" cy="320040"/>
          </a:xfrm>
          <a:prstGeom prst="rect">
            <a:avLst/>
          </a:prstGeom>
          <a:noFill/>
          <a:ln/>
        </p:spPr>
        <p:txBody>
          <a:bodyPr wrap="square" lIns="0" tIns="0" rIns="0" bIns="0" rtlCol="0" anchor="t"/>
          <a:lstStyle/>
          <a:p>
            <a:pPr indent="0" marL="0">
              <a:buNone/>
            </a:pPr>
            <a:r>
              <a:rPr lang="en-US" sz="1300" dirty="0">
                <a:solidFill>
                  <a:srgbClr val="596273"/>
                </a:solidFill>
                <a:latin typeface="Calibri" pitchFamily="34" charset="0"/>
                <a:ea typeface="Calibri" pitchFamily="34" charset="-122"/>
                <a:cs typeface="Calibri" pitchFamily="34" charset="-120"/>
              </a:rPr>
              <a:t>Template upkeep</a:t>
            </a:r>
            <a:endParaRPr lang="en-US" sz="1300" dirty="0"/>
          </a:p>
        </p:txBody>
      </p:sp>
      <p:sp>
        <p:nvSpPr>
          <p:cNvPr id="33" name="Shape 31"/>
          <p:cNvSpPr/>
          <p:nvPr/>
        </p:nvSpPr>
        <p:spPr>
          <a:xfrm>
            <a:off x="8447837" y="3657600"/>
            <a:ext cx="2875178" cy="0"/>
          </a:xfrm>
          <a:prstGeom prst="line">
            <a:avLst/>
          </a:prstGeom>
          <a:noFill/>
          <a:ln w="9525">
            <a:solidFill>
              <a:srgbClr val="CCD3DD"/>
            </a:solidFill>
            <a:prstDash val="solid"/>
          </a:ln>
        </p:spPr>
      </p:sp>
      <p:sp>
        <p:nvSpPr>
          <p:cNvPr id="34" name="Text 32"/>
          <p:cNvSpPr txBox="1"/>
          <p:nvPr/>
        </p:nvSpPr>
        <p:spPr>
          <a:xfrm>
            <a:off x="8447837" y="3794760"/>
            <a:ext cx="1828800" cy="228600"/>
          </a:xfrm>
          <a:prstGeom prst="rect">
            <a:avLst/>
          </a:prstGeom>
          <a:noFill/>
          <a:ln/>
        </p:spPr>
        <p:txBody>
          <a:bodyPr wrap="square" lIns="0" tIns="0" rIns="0" bIns="0" rtlCol="0" anchor="t"/>
          <a:lstStyle/>
          <a:p>
            <a:pPr indent="0" marL="0">
              <a:buNone/>
            </a:pPr>
            <a:r>
              <a:rPr lang="en-US" sz="1000" b="1" spc="200" kern="0" dirty="0">
                <a:solidFill>
                  <a:srgbClr val="1F4FB8"/>
                </a:solidFill>
                <a:latin typeface="Calibri" pitchFamily="34" charset="0"/>
                <a:ea typeface="Calibri" pitchFamily="34" charset="-122"/>
                <a:cs typeface="Calibri" pitchFamily="34" charset="-120"/>
              </a:rPr>
              <a:t>VALUE</a:t>
            </a:r>
            <a:endParaRPr lang="en-US" sz="1000" dirty="0"/>
          </a:p>
        </p:txBody>
      </p:sp>
      <p:sp>
        <p:nvSpPr>
          <p:cNvPr id="35" name="Text 33"/>
          <p:cNvSpPr txBox="1"/>
          <p:nvPr/>
        </p:nvSpPr>
        <p:spPr>
          <a:xfrm>
            <a:off x="8447837" y="4114800"/>
            <a:ext cx="2875178" cy="621792"/>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Maintain. </a:t>
            </a:r>
            <a:pPr indent="0" marL="0">
              <a:buNone/>
            </a:pPr>
            <a:r>
              <a:rPr lang="en-US" sz="1300" dirty="0">
                <a:solidFill>
                  <a:srgbClr val="1C2330"/>
                </a:solidFill>
                <a:latin typeface="Calibri" pitchFamily="34" charset="0"/>
                <a:ea typeface="Calibri" pitchFamily="34" charset="-122"/>
                <a:cs typeface="Calibri" pitchFamily="34" charset="-120"/>
              </a:rPr>
              <a:t>Business can maintain communications with minimal IT impact.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AUDIENCES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Who CCM communicates with</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9</a:t>
            </a:r>
            <a:endParaRPr lang="en-US" sz="900" dirty="0"/>
          </a:p>
        </p:txBody>
      </p:sp>
      <p:sp>
        <p:nvSpPr>
          <p:cNvPr id="9" name="Shape 7"/>
          <p:cNvSpPr/>
          <p:nvPr/>
        </p:nvSpPr>
        <p:spPr>
          <a:xfrm>
            <a:off x="548640" y="1554480"/>
            <a:ext cx="2036003" cy="4572000"/>
          </a:xfrm>
          <a:prstGeom prst="roundRect">
            <a:avLst>
              <a:gd name="adj" fmla="val 2695"/>
            </a:avLst>
          </a:prstGeom>
          <a:solidFill>
            <a:srgbClr val="F1F3F6"/>
          </a:solidFill>
          <a:ln/>
        </p:spPr>
      </p:sp>
      <p:sp>
        <p:nvSpPr>
          <p:cNvPr id="10" name="Shape 8"/>
          <p:cNvSpPr/>
          <p:nvPr/>
        </p:nvSpPr>
        <p:spPr>
          <a:xfrm>
            <a:off x="822960" y="1874520"/>
            <a:ext cx="731520" cy="731520"/>
          </a:xfrm>
          <a:prstGeom prst="ellipse">
            <a:avLst/>
          </a:prstGeom>
          <a:solidFill>
            <a:srgbClr val="1F4FB8"/>
          </a:solidFill>
          <a:ln/>
        </p:spPr>
      </p:sp>
      <p:pic>
        <p:nvPicPr>
          <p:cNvPr id="11" name="Image 0" descr="preencoded.png">    </p:cNvPr>
          <p:cNvPicPr>
            <a:picLocks noChangeAspect="1"/>
          </p:cNvPicPr>
          <p:nvPr/>
        </p:nvPicPr>
        <p:blipFill>
          <a:blip r:embed="rId1"/>
          <a:stretch>
            <a:fillRect/>
          </a:stretch>
        </p:blipFill>
        <p:spPr>
          <a:xfrm>
            <a:off x="1013155" y="2064715"/>
            <a:ext cx="351130" cy="351130"/>
          </a:xfrm>
          <a:prstGeom prst="rect">
            <a:avLst/>
          </a:prstGeom>
        </p:spPr>
      </p:pic>
      <p:sp>
        <p:nvSpPr>
          <p:cNvPr id="12" name="Text 9"/>
          <p:cNvSpPr txBox="1"/>
          <p:nvPr/>
        </p:nvSpPr>
        <p:spPr>
          <a:xfrm>
            <a:off x="822960" y="2788920"/>
            <a:ext cx="1487363" cy="365760"/>
          </a:xfrm>
          <a:prstGeom prst="rect">
            <a:avLst/>
          </a:prstGeom>
          <a:noFill/>
          <a:ln/>
        </p:spPr>
        <p:txBody>
          <a:bodyPr wrap="square" lIns="0" tIns="0" rIns="0" bIns="0" rtlCol="0" anchor="t"/>
          <a:lstStyle/>
          <a:p>
            <a:pPr indent="0" marL="0">
              <a:buNone/>
            </a:pPr>
            <a:r>
              <a:rPr lang="en-US" sz="1800" b="1" dirty="0">
                <a:solidFill>
                  <a:srgbClr val="1C2330"/>
                </a:solidFill>
                <a:latin typeface="Calibri" pitchFamily="34" charset="0"/>
                <a:ea typeface="Calibri" pitchFamily="34" charset="-122"/>
                <a:cs typeface="Calibri" pitchFamily="34" charset="-120"/>
              </a:rPr>
              <a:t>Members</a:t>
            </a:r>
            <a:endParaRPr lang="en-US" sz="1800" dirty="0"/>
          </a:p>
        </p:txBody>
      </p:sp>
      <p:sp>
        <p:nvSpPr>
          <p:cNvPr id="13" name="Text 10"/>
          <p:cNvSpPr txBox="1"/>
          <p:nvPr/>
        </p:nvSpPr>
        <p:spPr>
          <a:xfrm>
            <a:off x="822960" y="3246120"/>
            <a:ext cx="1487363" cy="2651760"/>
          </a:xfrm>
          <a:prstGeom prst="rect">
            <a:avLst/>
          </a:prstGeom>
          <a:noFill/>
          <a:ln/>
        </p:spPr>
        <p:txBody>
          <a:bodyPr wrap="square" lIns="0" tIns="0" rIns="0" bIns="0" rtlCol="0" anchor="t"/>
          <a:lstStyle/>
          <a:p>
            <a:pPr indent="0" marL="0">
              <a:buNone/>
            </a:pPr>
            <a:r>
              <a:rPr lang="en-US" sz="1350" dirty="0">
                <a:solidFill>
                  <a:srgbClr val="1C2330"/>
                </a:solidFill>
                <a:latin typeface="Calibri" pitchFamily="34" charset="0"/>
                <a:ea typeface="Calibri" pitchFamily="34" charset="-122"/>
                <a:cs typeface="Calibri" pitchFamily="34" charset="-120"/>
              </a:rPr>
              <a:t>Subscribers and dependents over 18.</a:t>
            </a:r>
            <a:endParaRPr lang="en-US" sz="1350" dirty="0"/>
          </a:p>
        </p:txBody>
      </p:sp>
      <p:sp>
        <p:nvSpPr>
          <p:cNvPr id="14" name="Shape 11"/>
          <p:cNvSpPr/>
          <p:nvPr/>
        </p:nvSpPr>
        <p:spPr>
          <a:xfrm>
            <a:off x="822960" y="3886200"/>
            <a:ext cx="822960" cy="347472"/>
          </a:xfrm>
          <a:prstGeom prst="roundRect">
            <a:avLst>
              <a:gd name="adj" fmla="val 50000"/>
            </a:avLst>
          </a:prstGeom>
          <a:solidFill>
            <a:srgbClr val="FFFFFF"/>
          </a:solidFill>
          <a:ln w="12700">
            <a:solidFill>
              <a:srgbClr val="CCD3DD"/>
            </a:solidFill>
            <a:prstDash val="solid"/>
          </a:ln>
        </p:spPr>
      </p:sp>
      <p:sp>
        <p:nvSpPr>
          <p:cNvPr id="15" name="Text 12"/>
          <p:cNvSpPr txBox="1"/>
          <p:nvPr/>
        </p:nvSpPr>
        <p:spPr>
          <a:xfrm>
            <a:off x="822960" y="3886200"/>
            <a:ext cx="822960" cy="347472"/>
          </a:xfrm>
          <a:prstGeom prst="rect">
            <a:avLst/>
          </a:prstGeom>
          <a:noFill/>
          <a:ln/>
        </p:spPr>
        <p:txBody>
          <a:bodyPr wrap="square" lIns="0" tIns="0" rIns="0" bIns="0" rtlCol="0" anchor="ctr"/>
          <a:lstStyle/>
          <a:p>
            <a:pPr algn="ctr" indent="0" marL="0">
              <a:buNone/>
            </a:pPr>
            <a:r>
              <a:rPr lang="en-US" sz="1100" b="1" dirty="0">
                <a:solidFill>
                  <a:srgbClr val="16398A"/>
                </a:solidFill>
                <a:latin typeface="Calibri" pitchFamily="34" charset="0"/>
                <a:ea typeface="Calibri" pitchFamily="34" charset="-122"/>
                <a:cs typeface="Calibri" pitchFamily="34" charset="-120"/>
              </a:rPr>
              <a:t>U65</a:t>
            </a:r>
            <a:endParaRPr lang="en-US" sz="1100" dirty="0"/>
          </a:p>
        </p:txBody>
      </p:sp>
      <p:sp>
        <p:nvSpPr>
          <p:cNvPr id="16" name="Shape 13"/>
          <p:cNvSpPr/>
          <p:nvPr/>
        </p:nvSpPr>
        <p:spPr>
          <a:xfrm>
            <a:off x="1737360" y="3886200"/>
            <a:ext cx="822960" cy="347472"/>
          </a:xfrm>
          <a:prstGeom prst="roundRect">
            <a:avLst>
              <a:gd name="adj" fmla="val 50000"/>
            </a:avLst>
          </a:prstGeom>
          <a:solidFill>
            <a:srgbClr val="FFFFFF"/>
          </a:solidFill>
          <a:ln w="12700">
            <a:solidFill>
              <a:srgbClr val="CCD3DD"/>
            </a:solidFill>
            <a:prstDash val="solid"/>
          </a:ln>
        </p:spPr>
      </p:sp>
      <p:sp>
        <p:nvSpPr>
          <p:cNvPr id="17" name="Text 14"/>
          <p:cNvSpPr txBox="1"/>
          <p:nvPr/>
        </p:nvSpPr>
        <p:spPr>
          <a:xfrm>
            <a:off x="1737360" y="3886200"/>
            <a:ext cx="822960" cy="347472"/>
          </a:xfrm>
          <a:prstGeom prst="rect">
            <a:avLst/>
          </a:prstGeom>
          <a:noFill/>
          <a:ln/>
        </p:spPr>
        <p:txBody>
          <a:bodyPr wrap="square" lIns="0" tIns="0" rIns="0" bIns="0" rtlCol="0" anchor="ctr"/>
          <a:lstStyle/>
          <a:p>
            <a:pPr algn="ctr" indent="0" marL="0">
              <a:buNone/>
            </a:pPr>
            <a:r>
              <a:rPr lang="en-US" sz="1100" b="1" dirty="0">
                <a:solidFill>
                  <a:srgbClr val="16398A"/>
                </a:solidFill>
                <a:latin typeface="Calibri" pitchFamily="34" charset="0"/>
                <a:ea typeface="Calibri" pitchFamily="34" charset="-122"/>
                <a:cs typeface="Calibri" pitchFamily="34" charset="-120"/>
              </a:rPr>
              <a:t>O65</a:t>
            </a:r>
            <a:endParaRPr lang="en-US" sz="1100" dirty="0"/>
          </a:p>
        </p:txBody>
      </p:sp>
      <p:sp>
        <p:nvSpPr>
          <p:cNvPr id="18" name="Shape 15"/>
          <p:cNvSpPr/>
          <p:nvPr/>
        </p:nvSpPr>
        <p:spPr>
          <a:xfrm>
            <a:off x="822960" y="4343400"/>
            <a:ext cx="822960" cy="347472"/>
          </a:xfrm>
          <a:prstGeom prst="roundRect">
            <a:avLst>
              <a:gd name="adj" fmla="val 50000"/>
            </a:avLst>
          </a:prstGeom>
          <a:solidFill>
            <a:srgbClr val="FFFFFF"/>
          </a:solidFill>
          <a:ln w="12700">
            <a:solidFill>
              <a:srgbClr val="CCD3DD"/>
            </a:solidFill>
            <a:prstDash val="solid"/>
          </a:ln>
        </p:spPr>
      </p:sp>
      <p:sp>
        <p:nvSpPr>
          <p:cNvPr id="19" name="Text 16"/>
          <p:cNvSpPr txBox="1"/>
          <p:nvPr/>
        </p:nvSpPr>
        <p:spPr>
          <a:xfrm>
            <a:off x="822960" y="4343400"/>
            <a:ext cx="822960" cy="347472"/>
          </a:xfrm>
          <a:prstGeom prst="rect">
            <a:avLst/>
          </a:prstGeom>
          <a:noFill/>
          <a:ln/>
        </p:spPr>
        <p:txBody>
          <a:bodyPr wrap="square" lIns="0" tIns="0" rIns="0" bIns="0" rtlCol="0" anchor="ctr"/>
          <a:lstStyle/>
          <a:p>
            <a:pPr algn="ctr" indent="0" marL="0">
              <a:buNone/>
            </a:pPr>
            <a:r>
              <a:rPr lang="en-US" sz="1100" b="1" dirty="0">
                <a:solidFill>
                  <a:srgbClr val="16398A"/>
                </a:solidFill>
                <a:latin typeface="Calibri" pitchFamily="34" charset="0"/>
                <a:ea typeface="Calibri" pitchFamily="34" charset="-122"/>
                <a:cs typeface="Calibri" pitchFamily="34" charset="-120"/>
              </a:rPr>
              <a:t>Groups</a:t>
            </a:r>
            <a:endParaRPr lang="en-US" sz="1100" dirty="0"/>
          </a:p>
        </p:txBody>
      </p:sp>
      <p:sp>
        <p:nvSpPr>
          <p:cNvPr id="20" name="Shape 17"/>
          <p:cNvSpPr/>
          <p:nvPr/>
        </p:nvSpPr>
        <p:spPr>
          <a:xfrm>
            <a:off x="1737360" y="4343400"/>
            <a:ext cx="822960" cy="347472"/>
          </a:xfrm>
          <a:prstGeom prst="roundRect">
            <a:avLst>
              <a:gd name="adj" fmla="val 50000"/>
            </a:avLst>
          </a:prstGeom>
          <a:solidFill>
            <a:srgbClr val="FFFFFF"/>
          </a:solidFill>
          <a:ln w="12700">
            <a:solidFill>
              <a:srgbClr val="CCD3DD"/>
            </a:solidFill>
            <a:prstDash val="solid"/>
          </a:ln>
        </p:spPr>
      </p:sp>
      <p:sp>
        <p:nvSpPr>
          <p:cNvPr id="21" name="Text 18"/>
          <p:cNvSpPr txBox="1"/>
          <p:nvPr/>
        </p:nvSpPr>
        <p:spPr>
          <a:xfrm>
            <a:off x="1737360" y="4343400"/>
            <a:ext cx="822960" cy="347472"/>
          </a:xfrm>
          <a:prstGeom prst="rect">
            <a:avLst/>
          </a:prstGeom>
          <a:noFill/>
          <a:ln/>
        </p:spPr>
        <p:txBody>
          <a:bodyPr wrap="square" lIns="0" tIns="0" rIns="0" bIns="0" rtlCol="0" anchor="ctr"/>
          <a:lstStyle/>
          <a:p>
            <a:pPr algn="ctr" indent="0" marL="0">
              <a:buNone/>
            </a:pPr>
            <a:r>
              <a:rPr lang="en-US" sz="1100" b="1" dirty="0">
                <a:solidFill>
                  <a:srgbClr val="16398A"/>
                </a:solidFill>
                <a:latin typeface="Calibri" pitchFamily="34" charset="0"/>
                <a:ea typeface="Calibri" pitchFamily="34" charset="-122"/>
                <a:cs typeface="Calibri" pitchFamily="34" charset="-120"/>
              </a:rPr>
              <a:t>Truli</a:t>
            </a:r>
            <a:endParaRPr lang="en-US" sz="1100" dirty="0"/>
          </a:p>
        </p:txBody>
      </p:sp>
      <p:sp>
        <p:nvSpPr>
          <p:cNvPr id="22" name="Shape 19"/>
          <p:cNvSpPr/>
          <p:nvPr/>
        </p:nvSpPr>
        <p:spPr>
          <a:xfrm>
            <a:off x="2813243" y="1554480"/>
            <a:ext cx="2036003" cy="4572000"/>
          </a:xfrm>
          <a:prstGeom prst="roundRect">
            <a:avLst>
              <a:gd name="adj" fmla="val 2695"/>
            </a:avLst>
          </a:prstGeom>
          <a:solidFill>
            <a:srgbClr val="F1F3F6"/>
          </a:solidFill>
          <a:ln/>
        </p:spPr>
      </p:sp>
      <p:sp>
        <p:nvSpPr>
          <p:cNvPr id="23" name="Shape 20"/>
          <p:cNvSpPr/>
          <p:nvPr/>
        </p:nvSpPr>
        <p:spPr>
          <a:xfrm>
            <a:off x="3087563" y="1874520"/>
            <a:ext cx="731520" cy="731520"/>
          </a:xfrm>
          <a:prstGeom prst="ellipse">
            <a:avLst/>
          </a:prstGeom>
          <a:solidFill>
            <a:srgbClr val="1F4FB8"/>
          </a:solidFill>
          <a:ln/>
        </p:spPr>
      </p:sp>
      <p:pic>
        <p:nvPicPr>
          <p:cNvPr id="24" name="Image 1" descr="preencoded.png">    </p:cNvPr>
          <p:cNvPicPr>
            <a:picLocks noChangeAspect="1"/>
          </p:cNvPicPr>
          <p:nvPr/>
        </p:nvPicPr>
        <p:blipFill>
          <a:blip r:embed="rId2"/>
          <a:stretch>
            <a:fillRect/>
          </a:stretch>
        </p:blipFill>
        <p:spPr>
          <a:xfrm>
            <a:off x="3277758" y="2064715"/>
            <a:ext cx="351130" cy="351130"/>
          </a:xfrm>
          <a:prstGeom prst="rect">
            <a:avLst/>
          </a:prstGeom>
        </p:spPr>
      </p:pic>
      <p:sp>
        <p:nvSpPr>
          <p:cNvPr id="25" name="Text 21"/>
          <p:cNvSpPr txBox="1"/>
          <p:nvPr/>
        </p:nvSpPr>
        <p:spPr>
          <a:xfrm>
            <a:off x="3087563" y="2788920"/>
            <a:ext cx="1487363" cy="365760"/>
          </a:xfrm>
          <a:prstGeom prst="rect">
            <a:avLst/>
          </a:prstGeom>
          <a:noFill/>
          <a:ln/>
        </p:spPr>
        <p:txBody>
          <a:bodyPr wrap="square" lIns="0" tIns="0" rIns="0" bIns="0" rtlCol="0" anchor="t"/>
          <a:lstStyle/>
          <a:p>
            <a:pPr indent="0" marL="0">
              <a:buNone/>
            </a:pPr>
            <a:r>
              <a:rPr lang="en-US" sz="1800" b="1" dirty="0">
                <a:solidFill>
                  <a:srgbClr val="1C2330"/>
                </a:solidFill>
                <a:latin typeface="Calibri" pitchFamily="34" charset="0"/>
                <a:ea typeface="Calibri" pitchFamily="34" charset="-122"/>
                <a:cs typeface="Calibri" pitchFamily="34" charset="-120"/>
              </a:rPr>
              <a:t>Prospects</a:t>
            </a:r>
            <a:endParaRPr lang="en-US" sz="1800" dirty="0"/>
          </a:p>
        </p:txBody>
      </p:sp>
      <p:sp>
        <p:nvSpPr>
          <p:cNvPr id="26" name="Text 22"/>
          <p:cNvSpPr txBox="1"/>
          <p:nvPr/>
        </p:nvSpPr>
        <p:spPr>
          <a:xfrm>
            <a:off x="3087563" y="3246120"/>
            <a:ext cx="1487363" cy="2651760"/>
          </a:xfrm>
          <a:prstGeom prst="rect">
            <a:avLst/>
          </a:prstGeom>
          <a:noFill/>
          <a:ln/>
        </p:spPr>
        <p:txBody>
          <a:bodyPr wrap="square" lIns="0" tIns="0" rIns="0" bIns="0" rtlCol="0" anchor="t"/>
          <a:lstStyle/>
          <a:p>
            <a:pPr indent="0" marL="0">
              <a:buNone/>
            </a:pPr>
            <a:r>
              <a:rPr lang="en-US" sz="1350" dirty="0">
                <a:solidFill>
                  <a:srgbClr val="1C2330"/>
                </a:solidFill>
                <a:latin typeface="Calibri" pitchFamily="34" charset="0"/>
                <a:ea typeface="Calibri" pitchFamily="34" charset="-122"/>
                <a:cs typeface="Calibri" pitchFamily="34" charset="-120"/>
              </a:rPr>
              <a:t>Potential customers early in the sales process who have not yet made a binder payment. Once paid, they become members, with a delay of up to 24 hours.</a:t>
            </a:r>
            <a:endParaRPr lang="en-US" sz="1350" dirty="0"/>
          </a:p>
        </p:txBody>
      </p:sp>
      <p:sp>
        <p:nvSpPr>
          <p:cNvPr id="27" name="Shape 23"/>
          <p:cNvSpPr/>
          <p:nvPr/>
        </p:nvSpPr>
        <p:spPr>
          <a:xfrm>
            <a:off x="5077846" y="1554480"/>
            <a:ext cx="2036003" cy="4572000"/>
          </a:xfrm>
          <a:prstGeom prst="roundRect">
            <a:avLst>
              <a:gd name="adj" fmla="val 2695"/>
            </a:avLst>
          </a:prstGeom>
          <a:solidFill>
            <a:srgbClr val="F1F3F6"/>
          </a:solidFill>
          <a:ln/>
        </p:spPr>
      </p:sp>
      <p:sp>
        <p:nvSpPr>
          <p:cNvPr id="28" name="Shape 24"/>
          <p:cNvSpPr/>
          <p:nvPr/>
        </p:nvSpPr>
        <p:spPr>
          <a:xfrm>
            <a:off x="5352166" y="1874520"/>
            <a:ext cx="731520" cy="731520"/>
          </a:xfrm>
          <a:prstGeom prst="ellipse">
            <a:avLst/>
          </a:prstGeom>
          <a:solidFill>
            <a:srgbClr val="1F4FB8"/>
          </a:solidFill>
          <a:ln/>
        </p:spPr>
      </p:sp>
      <p:pic>
        <p:nvPicPr>
          <p:cNvPr id="29" name="Image 2" descr="preencoded.png">    </p:cNvPr>
          <p:cNvPicPr>
            <a:picLocks noChangeAspect="1"/>
          </p:cNvPicPr>
          <p:nvPr/>
        </p:nvPicPr>
        <p:blipFill>
          <a:blip r:embed="rId3"/>
          <a:stretch>
            <a:fillRect/>
          </a:stretch>
        </p:blipFill>
        <p:spPr>
          <a:xfrm>
            <a:off x="5542361" y="2064715"/>
            <a:ext cx="351130" cy="351130"/>
          </a:xfrm>
          <a:prstGeom prst="rect">
            <a:avLst/>
          </a:prstGeom>
        </p:spPr>
      </p:pic>
      <p:sp>
        <p:nvSpPr>
          <p:cNvPr id="30" name="Text 25"/>
          <p:cNvSpPr txBox="1"/>
          <p:nvPr/>
        </p:nvSpPr>
        <p:spPr>
          <a:xfrm>
            <a:off x="5352166" y="2788920"/>
            <a:ext cx="1487363" cy="365760"/>
          </a:xfrm>
          <a:prstGeom prst="rect">
            <a:avLst/>
          </a:prstGeom>
          <a:noFill/>
          <a:ln/>
        </p:spPr>
        <p:txBody>
          <a:bodyPr wrap="square" lIns="0" tIns="0" rIns="0" bIns="0" rtlCol="0" anchor="t"/>
          <a:lstStyle/>
          <a:p>
            <a:pPr indent="0" marL="0">
              <a:buNone/>
            </a:pPr>
            <a:r>
              <a:rPr lang="en-US" sz="1800" b="1" dirty="0">
                <a:solidFill>
                  <a:srgbClr val="1C2330"/>
                </a:solidFill>
                <a:latin typeface="Calibri" pitchFamily="34" charset="0"/>
                <a:ea typeface="Calibri" pitchFamily="34" charset="-122"/>
                <a:cs typeface="Calibri" pitchFamily="34" charset="-120"/>
              </a:rPr>
              <a:t>Delegates</a:t>
            </a:r>
            <a:endParaRPr lang="en-US" sz="1800" dirty="0"/>
          </a:p>
        </p:txBody>
      </p:sp>
      <p:sp>
        <p:nvSpPr>
          <p:cNvPr id="31" name="Text 26"/>
          <p:cNvSpPr txBox="1"/>
          <p:nvPr/>
        </p:nvSpPr>
        <p:spPr>
          <a:xfrm>
            <a:off x="5352166" y="3246120"/>
            <a:ext cx="1487363" cy="2651760"/>
          </a:xfrm>
          <a:prstGeom prst="rect">
            <a:avLst/>
          </a:prstGeom>
          <a:noFill/>
          <a:ln/>
        </p:spPr>
        <p:txBody>
          <a:bodyPr wrap="square" lIns="0" tIns="0" rIns="0" bIns="0" rtlCol="0" anchor="t"/>
          <a:lstStyle/>
          <a:p>
            <a:pPr indent="0" marL="0">
              <a:buNone/>
            </a:pPr>
            <a:r>
              <a:rPr lang="en-US" sz="1350" dirty="0">
                <a:solidFill>
                  <a:srgbClr val="1C2330"/>
                </a:solidFill>
                <a:latin typeface="Calibri" pitchFamily="34" charset="0"/>
                <a:ea typeface="Calibri" pitchFamily="34" charset="-122"/>
                <a:cs typeface="Calibri" pitchFamily="34" charset="-120"/>
              </a:rPr>
              <a:t>Member-designated users, including caregivers, with read and write access to the member experience. Limited capabilities, no digital interoperability, not applicable to ASO.</a:t>
            </a:r>
            <a:endParaRPr lang="en-US" sz="1350" dirty="0"/>
          </a:p>
        </p:txBody>
      </p:sp>
      <p:sp>
        <p:nvSpPr>
          <p:cNvPr id="32" name="Shape 27"/>
          <p:cNvSpPr/>
          <p:nvPr/>
        </p:nvSpPr>
        <p:spPr>
          <a:xfrm>
            <a:off x="7342449" y="1554480"/>
            <a:ext cx="2036003" cy="4572000"/>
          </a:xfrm>
          <a:prstGeom prst="roundRect">
            <a:avLst>
              <a:gd name="adj" fmla="val 2695"/>
            </a:avLst>
          </a:prstGeom>
          <a:solidFill>
            <a:srgbClr val="F1F3F6"/>
          </a:solidFill>
          <a:ln/>
        </p:spPr>
      </p:sp>
      <p:sp>
        <p:nvSpPr>
          <p:cNvPr id="33" name="Shape 28"/>
          <p:cNvSpPr/>
          <p:nvPr/>
        </p:nvSpPr>
        <p:spPr>
          <a:xfrm>
            <a:off x="7616769" y="1874520"/>
            <a:ext cx="731520" cy="731520"/>
          </a:xfrm>
          <a:prstGeom prst="ellipse">
            <a:avLst/>
          </a:prstGeom>
          <a:solidFill>
            <a:srgbClr val="1F4FB8"/>
          </a:solidFill>
          <a:ln/>
        </p:spPr>
      </p:sp>
      <p:pic>
        <p:nvPicPr>
          <p:cNvPr id="34" name="Image 3" descr="preencoded.png">    </p:cNvPr>
          <p:cNvPicPr>
            <a:picLocks noChangeAspect="1"/>
          </p:cNvPicPr>
          <p:nvPr/>
        </p:nvPicPr>
        <p:blipFill>
          <a:blip r:embed="rId4"/>
          <a:stretch>
            <a:fillRect/>
          </a:stretch>
        </p:blipFill>
        <p:spPr>
          <a:xfrm>
            <a:off x="7806964" y="2064715"/>
            <a:ext cx="351130" cy="351130"/>
          </a:xfrm>
          <a:prstGeom prst="rect">
            <a:avLst/>
          </a:prstGeom>
        </p:spPr>
      </p:pic>
      <p:sp>
        <p:nvSpPr>
          <p:cNvPr id="35" name="Text 29"/>
          <p:cNvSpPr txBox="1"/>
          <p:nvPr/>
        </p:nvSpPr>
        <p:spPr>
          <a:xfrm>
            <a:off x="7616769" y="2788920"/>
            <a:ext cx="1487363" cy="365760"/>
          </a:xfrm>
          <a:prstGeom prst="rect">
            <a:avLst/>
          </a:prstGeom>
          <a:noFill/>
          <a:ln/>
        </p:spPr>
        <p:txBody>
          <a:bodyPr wrap="square" lIns="0" tIns="0" rIns="0" bIns="0" rtlCol="0" anchor="t"/>
          <a:lstStyle/>
          <a:p>
            <a:pPr indent="0" marL="0">
              <a:buNone/>
            </a:pPr>
            <a:r>
              <a:rPr lang="en-US" sz="1800" b="1" dirty="0">
                <a:solidFill>
                  <a:srgbClr val="1C2330"/>
                </a:solidFill>
                <a:latin typeface="Calibri" pitchFamily="34" charset="0"/>
                <a:ea typeface="Calibri" pitchFamily="34" charset="-122"/>
                <a:cs typeface="Calibri" pitchFamily="34" charset="-120"/>
              </a:rPr>
              <a:t>Agents</a:t>
            </a:r>
            <a:endParaRPr lang="en-US" sz="1800" dirty="0"/>
          </a:p>
        </p:txBody>
      </p:sp>
      <p:sp>
        <p:nvSpPr>
          <p:cNvPr id="36" name="Text 30"/>
          <p:cNvSpPr txBox="1"/>
          <p:nvPr/>
        </p:nvSpPr>
        <p:spPr>
          <a:xfrm>
            <a:off x="7616769" y="3246120"/>
            <a:ext cx="1487363" cy="2651760"/>
          </a:xfrm>
          <a:prstGeom prst="rect">
            <a:avLst/>
          </a:prstGeom>
          <a:noFill/>
          <a:ln/>
        </p:spPr>
        <p:txBody>
          <a:bodyPr wrap="square" lIns="0" tIns="0" rIns="0" bIns="0" rtlCol="0" anchor="t"/>
          <a:lstStyle/>
          <a:p>
            <a:pPr indent="0" marL="0">
              <a:buNone/>
            </a:pPr>
            <a:r>
              <a:rPr lang="en-US" sz="1350" dirty="0">
                <a:solidFill>
                  <a:srgbClr val="1C2330"/>
                </a:solidFill>
                <a:latin typeface="Calibri" pitchFamily="34" charset="0"/>
                <a:ea typeface="Calibri" pitchFamily="34" charset="-122"/>
                <a:cs typeface="Calibri" pitchFamily="34" charset="-120"/>
              </a:rPr>
              <a:t>Licensed professionals who help individuals, families and employers select and enroll in coverage.</a:t>
            </a:r>
            <a:endParaRPr lang="en-US" sz="1350" dirty="0"/>
          </a:p>
        </p:txBody>
      </p:sp>
      <p:sp>
        <p:nvSpPr>
          <p:cNvPr id="37" name="Shape 31"/>
          <p:cNvSpPr/>
          <p:nvPr/>
        </p:nvSpPr>
        <p:spPr>
          <a:xfrm>
            <a:off x="9607052" y="1554480"/>
            <a:ext cx="2036003" cy="4572000"/>
          </a:xfrm>
          <a:prstGeom prst="roundRect">
            <a:avLst>
              <a:gd name="adj" fmla="val 2695"/>
            </a:avLst>
          </a:prstGeom>
          <a:solidFill>
            <a:srgbClr val="F1F3F6"/>
          </a:solidFill>
          <a:ln/>
        </p:spPr>
      </p:sp>
      <p:sp>
        <p:nvSpPr>
          <p:cNvPr id="38" name="Shape 32"/>
          <p:cNvSpPr/>
          <p:nvPr/>
        </p:nvSpPr>
        <p:spPr>
          <a:xfrm>
            <a:off x="9881372" y="1874520"/>
            <a:ext cx="731520" cy="731520"/>
          </a:xfrm>
          <a:prstGeom prst="ellipse">
            <a:avLst/>
          </a:prstGeom>
          <a:solidFill>
            <a:srgbClr val="1F4FB8"/>
          </a:solidFill>
          <a:ln/>
        </p:spPr>
      </p:sp>
      <p:pic>
        <p:nvPicPr>
          <p:cNvPr id="39" name="Image 4" descr="preencoded.png">    </p:cNvPr>
          <p:cNvPicPr>
            <a:picLocks noChangeAspect="1"/>
          </p:cNvPicPr>
          <p:nvPr/>
        </p:nvPicPr>
        <p:blipFill>
          <a:blip r:embed="rId5"/>
          <a:stretch>
            <a:fillRect/>
          </a:stretch>
        </p:blipFill>
        <p:spPr>
          <a:xfrm>
            <a:off x="10071567" y="2064715"/>
            <a:ext cx="351130" cy="351130"/>
          </a:xfrm>
          <a:prstGeom prst="rect">
            <a:avLst/>
          </a:prstGeom>
        </p:spPr>
      </p:pic>
      <p:sp>
        <p:nvSpPr>
          <p:cNvPr id="40" name="Text 33"/>
          <p:cNvSpPr txBox="1"/>
          <p:nvPr/>
        </p:nvSpPr>
        <p:spPr>
          <a:xfrm>
            <a:off x="9881372" y="2788920"/>
            <a:ext cx="1487363" cy="365760"/>
          </a:xfrm>
          <a:prstGeom prst="rect">
            <a:avLst/>
          </a:prstGeom>
          <a:noFill/>
          <a:ln/>
        </p:spPr>
        <p:txBody>
          <a:bodyPr wrap="square" lIns="0" tIns="0" rIns="0" bIns="0" rtlCol="0" anchor="t"/>
          <a:lstStyle/>
          <a:p>
            <a:pPr indent="0" marL="0">
              <a:buNone/>
            </a:pPr>
            <a:r>
              <a:rPr lang="en-US" sz="1800" b="1" dirty="0">
                <a:solidFill>
                  <a:srgbClr val="1C2330"/>
                </a:solidFill>
                <a:latin typeface="Calibri" pitchFamily="34" charset="0"/>
                <a:ea typeface="Calibri" pitchFamily="34" charset="-122"/>
                <a:cs typeface="Calibri" pitchFamily="34" charset="-120"/>
              </a:rPr>
              <a:t>Providers</a:t>
            </a:r>
            <a:endParaRPr lang="en-US" sz="1800" dirty="0"/>
          </a:p>
        </p:txBody>
      </p:sp>
      <p:sp>
        <p:nvSpPr>
          <p:cNvPr id="41" name="Text 34"/>
          <p:cNvSpPr txBox="1"/>
          <p:nvPr/>
        </p:nvSpPr>
        <p:spPr>
          <a:xfrm>
            <a:off x="9881372" y="3246120"/>
            <a:ext cx="1487363" cy="2651760"/>
          </a:xfrm>
          <a:prstGeom prst="rect">
            <a:avLst/>
          </a:prstGeom>
          <a:noFill/>
          <a:ln/>
        </p:spPr>
        <p:txBody>
          <a:bodyPr wrap="square" lIns="0" tIns="0" rIns="0" bIns="0" rtlCol="0" anchor="t"/>
          <a:lstStyle/>
          <a:p>
            <a:pPr indent="0" marL="0">
              <a:buNone/>
            </a:pPr>
            <a:r>
              <a:rPr lang="en-US" sz="1350" dirty="0">
                <a:solidFill>
                  <a:srgbClr val="1C2330"/>
                </a:solidFill>
                <a:latin typeface="Calibri" pitchFamily="34" charset="0"/>
                <a:ea typeface="Calibri" pitchFamily="34" charset="-122"/>
                <a:cs typeface="Calibri" pitchFamily="34" charset="-120"/>
              </a:rPr>
              <a:t>Healthcare professionals and facilities that deliver medical services to insured members.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CAPABILITIES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Six platform capabilities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548640" y="1508760"/>
            <a:ext cx="3515258" cy="2240280"/>
          </a:xfrm>
          <a:prstGeom prst="roundRect">
            <a:avLst>
              <a:gd name="adj" fmla="val 2449"/>
            </a:avLst>
          </a:prstGeom>
          <a:solidFill>
            <a:srgbClr val="F1F3F6"/>
          </a:solidFill>
          <a:ln/>
        </p:spPr>
      </p:sp>
      <p:sp>
        <p:nvSpPr>
          <p:cNvPr id="10" name="Shape 8"/>
          <p:cNvSpPr/>
          <p:nvPr/>
        </p:nvSpPr>
        <p:spPr>
          <a:xfrm>
            <a:off x="822960" y="1783080"/>
            <a:ext cx="566928" cy="566928"/>
          </a:xfrm>
          <a:prstGeom prst="ellipse">
            <a:avLst/>
          </a:prstGeom>
          <a:solidFill>
            <a:srgbClr val="1F4FB8"/>
          </a:solidFill>
          <a:ln/>
        </p:spPr>
      </p:sp>
      <p:pic>
        <p:nvPicPr>
          <p:cNvPr id="11" name="Image 0" descr="preencoded.png">    </p:cNvPr>
          <p:cNvPicPr>
            <a:picLocks noChangeAspect="1"/>
          </p:cNvPicPr>
          <p:nvPr/>
        </p:nvPicPr>
        <p:blipFill>
          <a:blip r:embed="rId1"/>
          <a:stretch>
            <a:fillRect/>
          </a:stretch>
        </p:blipFill>
        <p:spPr>
          <a:xfrm>
            <a:off x="970361" y="1930481"/>
            <a:ext cx="272125" cy="272125"/>
          </a:xfrm>
          <a:prstGeom prst="rect">
            <a:avLst/>
          </a:prstGeom>
        </p:spPr>
      </p:pic>
      <p:sp>
        <p:nvSpPr>
          <p:cNvPr id="12" name="Text 9"/>
          <p:cNvSpPr txBox="1"/>
          <p:nvPr/>
        </p:nvSpPr>
        <p:spPr>
          <a:xfrm>
            <a:off x="1554480" y="17830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Preprocessor (batch)</a:t>
            </a:r>
            <a:endParaRPr lang="en-US" sz="1700" dirty="0"/>
          </a:p>
        </p:txBody>
      </p:sp>
      <p:sp>
        <p:nvSpPr>
          <p:cNvPr id="13" name="Text 10"/>
          <p:cNvSpPr txBox="1"/>
          <p:nvPr/>
        </p:nvSpPr>
        <p:spPr>
          <a:xfrm>
            <a:off x="822960" y="25146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High-volume, scheduled communications. IT and business users create and maintain print, email and SMS/MMS communications from input files.</a:t>
            </a:r>
            <a:endParaRPr lang="en-US" sz="1400" dirty="0"/>
          </a:p>
        </p:txBody>
      </p:sp>
      <p:sp>
        <p:nvSpPr>
          <p:cNvPr id="14" name="Shape 11"/>
          <p:cNvSpPr/>
          <p:nvPr/>
        </p:nvSpPr>
        <p:spPr>
          <a:xfrm>
            <a:off x="4338218" y="1508760"/>
            <a:ext cx="3515258" cy="2240280"/>
          </a:xfrm>
          <a:prstGeom prst="roundRect">
            <a:avLst>
              <a:gd name="adj" fmla="val 2449"/>
            </a:avLst>
          </a:prstGeom>
          <a:solidFill>
            <a:srgbClr val="F1F3F6"/>
          </a:solidFill>
          <a:ln/>
        </p:spPr>
      </p:sp>
      <p:sp>
        <p:nvSpPr>
          <p:cNvPr id="15" name="Shape 12"/>
          <p:cNvSpPr/>
          <p:nvPr/>
        </p:nvSpPr>
        <p:spPr>
          <a:xfrm>
            <a:off x="4612538" y="1783080"/>
            <a:ext cx="566928" cy="566928"/>
          </a:xfrm>
          <a:prstGeom prst="ellipse">
            <a:avLst/>
          </a:prstGeom>
          <a:solidFill>
            <a:srgbClr val="1F4FB8"/>
          </a:solidFill>
          <a:ln/>
        </p:spPr>
      </p:sp>
      <p:pic>
        <p:nvPicPr>
          <p:cNvPr id="16" name="Image 1" descr="preencoded.png">    </p:cNvPr>
          <p:cNvPicPr>
            <a:picLocks noChangeAspect="1"/>
          </p:cNvPicPr>
          <p:nvPr/>
        </p:nvPicPr>
        <p:blipFill>
          <a:blip r:embed="rId2"/>
          <a:stretch>
            <a:fillRect/>
          </a:stretch>
        </p:blipFill>
        <p:spPr>
          <a:xfrm>
            <a:off x="4759940" y="1930481"/>
            <a:ext cx="272125" cy="272125"/>
          </a:xfrm>
          <a:prstGeom prst="rect">
            <a:avLst/>
          </a:prstGeom>
        </p:spPr>
      </p:pic>
      <p:sp>
        <p:nvSpPr>
          <p:cNvPr id="17" name="Text 13"/>
          <p:cNvSpPr txBox="1"/>
          <p:nvPr/>
        </p:nvSpPr>
        <p:spPr>
          <a:xfrm>
            <a:off x="5344058" y="17830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CCM API (real-time)</a:t>
            </a:r>
            <a:endParaRPr lang="en-US" sz="1700" dirty="0"/>
          </a:p>
        </p:txBody>
      </p:sp>
      <p:sp>
        <p:nvSpPr>
          <p:cNvPr id="18" name="Text 14"/>
          <p:cNvSpPr txBox="1"/>
          <p:nvPr/>
        </p:nvSpPr>
        <p:spPr>
          <a:xfrm>
            <a:off x="4612538" y="25146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REST service that validates, ingests and enriches data from source systems for Inspire, one request at a time.</a:t>
            </a:r>
            <a:endParaRPr lang="en-US" sz="1400" dirty="0"/>
          </a:p>
        </p:txBody>
      </p:sp>
      <p:sp>
        <p:nvSpPr>
          <p:cNvPr id="19" name="Shape 15"/>
          <p:cNvSpPr/>
          <p:nvPr/>
        </p:nvSpPr>
        <p:spPr>
          <a:xfrm>
            <a:off x="8127797" y="1508760"/>
            <a:ext cx="3515258" cy="2240280"/>
          </a:xfrm>
          <a:prstGeom prst="roundRect">
            <a:avLst>
              <a:gd name="adj" fmla="val 2449"/>
            </a:avLst>
          </a:prstGeom>
          <a:solidFill>
            <a:srgbClr val="F1F3F6"/>
          </a:solidFill>
          <a:ln/>
        </p:spPr>
      </p:sp>
      <p:sp>
        <p:nvSpPr>
          <p:cNvPr id="20" name="Shape 16"/>
          <p:cNvSpPr/>
          <p:nvPr/>
        </p:nvSpPr>
        <p:spPr>
          <a:xfrm>
            <a:off x="8402117" y="1783080"/>
            <a:ext cx="566928" cy="566928"/>
          </a:xfrm>
          <a:prstGeom prst="ellipse">
            <a:avLst/>
          </a:prstGeom>
          <a:solidFill>
            <a:srgbClr val="1F4FB8"/>
          </a:solidFill>
          <a:ln/>
        </p:spPr>
      </p:sp>
      <p:pic>
        <p:nvPicPr>
          <p:cNvPr id="21" name="Image 2" descr="preencoded.png">    </p:cNvPr>
          <p:cNvPicPr>
            <a:picLocks noChangeAspect="1"/>
          </p:cNvPicPr>
          <p:nvPr/>
        </p:nvPicPr>
        <p:blipFill>
          <a:blip r:embed="rId3"/>
          <a:stretch>
            <a:fillRect/>
          </a:stretch>
        </p:blipFill>
        <p:spPr>
          <a:xfrm>
            <a:off x="8549518" y="1930481"/>
            <a:ext cx="272125" cy="272125"/>
          </a:xfrm>
          <a:prstGeom prst="rect">
            <a:avLst/>
          </a:prstGeom>
        </p:spPr>
      </p:pic>
      <p:sp>
        <p:nvSpPr>
          <p:cNvPr id="22" name="Text 17"/>
          <p:cNvSpPr txBox="1"/>
          <p:nvPr/>
        </p:nvSpPr>
        <p:spPr>
          <a:xfrm>
            <a:off x="9133637" y="17830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On-demand reusable UI</a:t>
            </a:r>
            <a:endParaRPr lang="en-US" sz="1700" dirty="0"/>
          </a:p>
        </p:txBody>
      </p:sp>
      <p:sp>
        <p:nvSpPr>
          <p:cNvPr id="23" name="Text 18"/>
          <p:cNvSpPr txBox="1"/>
          <p:nvPr/>
        </p:nvSpPr>
        <p:spPr>
          <a:xfrm>
            <a:off x="8402117" y="25146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Embedded letter builder. Staff in EWoC, Claims Workflow and OPL/Quest choose an entitled template and compose the letter in Inspire Interactive.</a:t>
            </a:r>
            <a:endParaRPr lang="en-US" sz="1400" dirty="0"/>
          </a:p>
        </p:txBody>
      </p:sp>
      <p:sp>
        <p:nvSpPr>
          <p:cNvPr id="24" name="Shape 19"/>
          <p:cNvSpPr/>
          <p:nvPr/>
        </p:nvSpPr>
        <p:spPr>
          <a:xfrm>
            <a:off x="548640" y="4023360"/>
            <a:ext cx="3515258" cy="2240280"/>
          </a:xfrm>
          <a:prstGeom prst="roundRect">
            <a:avLst>
              <a:gd name="adj" fmla="val 2449"/>
            </a:avLst>
          </a:prstGeom>
          <a:solidFill>
            <a:srgbClr val="F1F3F6"/>
          </a:solidFill>
          <a:ln/>
        </p:spPr>
      </p:sp>
      <p:sp>
        <p:nvSpPr>
          <p:cNvPr id="25" name="Shape 20"/>
          <p:cNvSpPr/>
          <p:nvPr/>
        </p:nvSpPr>
        <p:spPr>
          <a:xfrm>
            <a:off x="822960" y="4297680"/>
            <a:ext cx="566928" cy="566928"/>
          </a:xfrm>
          <a:prstGeom prst="ellipse">
            <a:avLst/>
          </a:prstGeom>
          <a:solidFill>
            <a:srgbClr val="1F4FB8"/>
          </a:solidFill>
          <a:ln/>
        </p:spPr>
      </p:sp>
      <p:pic>
        <p:nvPicPr>
          <p:cNvPr id="26" name="Image 3" descr="preencoded.png">    </p:cNvPr>
          <p:cNvPicPr>
            <a:picLocks noChangeAspect="1"/>
          </p:cNvPicPr>
          <p:nvPr/>
        </p:nvPicPr>
        <p:blipFill>
          <a:blip r:embed="rId4"/>
          <a:stretch>
            <a:fillRect/>
          </a:stretch>
        </p:blipFill>
        <p:spPr>
          <a:xfrm>
            <a:off x="970361" y="4445081"/>
            <a:ext cx="272125" cy="272125"/>
          </a:xfrm>
          <a:prstGeom prst="rect">
            <a:avLst/>
          </a:prstGeom>
        </p:spPr>
      </p:pic>
      <p:sp>
        <p:nvSpPr>
          <p:cNvPr id="27" name="Text 21"/>
          <p:cNvSpPr txBox="1"/>
          <p:nvPr/>
        </p:nvSpPr>
        <p:spPr>
          <a:xfrm>
            <a:off x="1554480" y="42976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Reconciliation (Recon)</a:t>
            </a:r>
            <a:endParaRPr lang="en-US" sz="1700" dirty="0"/>
          </a:p>
        </p:txBody>
      </p:sp>
      <p:sp>
        <p:nvSpPr>
          <p:cNvPr id="28" name="Text 22"/>
          <p:cNvSpPr txBox="1"/>
          <p:nvPr/>
        </p:nvSpPr>
        <p:spPr>
          <a:xfrm>
            <a:off x="822960" y="50292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System of record for every request, delivery status and archived content ID. Supports holds, cancels, suppression and reprints.</a:t>
            </a:r>
            <a:endParaRPr lang="en-US" sz="1400" dirty="0"/>
          </a:p>
        </p:txBody>
      </p:sp>
      <p:sp>
        <p:nvSpPr>
          <p:cNvPr id="29" name="Shape 23"/>
          <p:cNvSpPr/>
          <p:nvPr/>
        </p:nvSpPr>
        <p:spPr>
          <a:xfrm>
            <a:off x="4338218" y="4023360"/>
            <a:ext cx="3515258" cy="2240280"/>
          </a:xfrm>
          <a:prstGeom prst="roundRect">
            <a:avLst>
              <a:gd name="adj" fmla="val 2449"/>
            </a:avLst>
          </a:prstGeom>
          <a:solidFill>
            <a:srgbClr val="F1F3F6"/>
          </a:solidFill>
          <a:ln/>
        </p:spPr>
      </p:sp>
      <p:sp>
        <p:nvSpPr>
          <p:cNvPr id="30" name="Shape 24"/>
          <p:cNvSpPr/>
          <p:nvPr/>
        </p:nvSpPr>
        <p:spPr>
          <a:xfrm>
            <a:off x="4612538" y="4297680"/>
            <a:ext cx="566928" cy="566928"/>
          </a:xfrm>
          <a:prstGeom prst="ellipse">
            <a:avLst/>
          </a:prstGeom>
          <a:solidFill>
            <a:srgbClr val="1F4FB8"/>
          </a:solidFill>
          <a:ln/>
        </p:spPr>
      </p:sp>
      <p:pic>
        <p:nvPicPr>
          <p:cNvPr id="31" name="Image 4" descr="preencoded.png">    </p:cNvPr>
          <p:cNvPicPr>
            <a:picLocks noChangeAspect="1"/>
          </p:cNvPicPr>
          <p:nvPr/>
        </p:nvPicPr>
        <p:blipFill>
          <a:blip r:embed="rId5"/>
          <a:stretch>
            <a:fillRect/>
          </a:stretch>
        </p:blipFill>
        <p:spPr>
          <a:xfrm>
            <a:off x="4759940" y="4445081"/>
            <a:ext cx="272125" cy="272125"/>
          </a:xfrm>
          <a:prstGeom prst="rect">
            <a:avLst/>
          </a:prstGeom>
        </p:spPr>
      </p:pic>
      <p:sp>
        <p:nvSpPr>
          <p:cNvPr id="32" name="Text 25"/>
          <p:cNvSpPr txBox="1"/>
          <p:nvPr/>
        </p:nvSpPr>
        <p:spPr>
          <a:xfrm>
            <a:off x="5344058" y="42976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URL shortener</a:t>
            </a:r>
            <a:endParaRPr lang="en-US" sz="1700" dirty="0"/>
          </a:p>
        </p:txBody>
      </p:sp>
      <p:sp>
        <p:nvSpPr>
          <p:cNvPr id="33" name="Text 26"/>
          <p:cNvSpPr txBox="1"/>
          <p:nvPr/>
        </p:nvSpPr>
        <p:spPr>
          <a:xfrm>
            <a:off x="4612538" y="50292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Creates short links for SMS and digital content through the Recon Dashboard or a REST API.</a:t>
            </a:r>
            <a:endParaRPr lang="en-US" sz="1400" dirty="0"/>
          </a:p>
        </p:txBody>
      </p:sp>
      <p:sp>
        <p:nvSpPr>
          <p:cNvPr id="34" name="Shape 27"/>
          <p:cNvSpPr/>
          <p:nvPr/>
        </p:nvSpPr>
        <p:spPr>
          <a:xfrm>
            <a:off x="8127797" y="4023360"/>
            <a:ext cx="3515258" cy="2240280"/>
          </a:xfrm>
          <a:prstGeom prst="roundRect">
            <a:avLst>
              <a:gd name="adj" fmla="val 2449"/>
            </a:avLst>
          </a:prstGeom>
          <a:solidFill>
            <a:srgbClr val="F1F3F6"/>
          </a:solidFill>
          <a:ln/>
        </p:spPr>
      </p:sp>
      <p:sp>
        <p:nvSpPr>
          <p:cNvPr id="35" name="Shape 28"/>
          <p:cNvSpPr/>
          <p:nvPr/>
        </p:nvSpPr>
        <p:spPr>
          <a:xfrm>
            <a:off x="8402117" y="4297680"/>
            <a:ext cx="566928" cy="566928"/>
          </a:xfrm>
          <a:prstGeom prst="ellipse">
            <a:avLst/>
          </a:prstGeom>
          <a:solidFill>
            <a:srgbClr val="1F4FB8"/>
          </a:solidFill>
          <a:ln/>
        </p:spPr>
      </p:sp>
      <p:pic>
        <p:nvPicPr>
          <p:cNvPr id="36" name="Image 5" descr="preencoded.png">    </p:cNvPr>
          <p:cNvPicPr>
            <a:picLocks noChangeAspect="1"/>
          </p:cNvPicPr>
          <p:nvPr/>
        </p:nvPicPr>
        <p:blipFill>
          <a:blip r:embed="rId6"/>
          <a:stretch>
            <a:fillRect/>
          </a:stretch>
        </p:blipFill>
        <p:spPr>
          <a:xfrm>
            <a:off x="8549518" y="4445081"/>
            <a:ext cx="272125" cy="272125"/>
          </a:xfrm>
          <a:prstGeom prst="rect">
            <a:avLst/>
          </a:prstGeom>
        </p:spPr>
      </p:pic>
      <p:sp>
        <p:nvSpPr>
          <p:cNvPr id="37" name="Text 29"/>
          <p:cNvSpPr txBox="1"/>
          <p:nvPr/>
        </p:nvSpPr>
        <p:spPr>
          <a:xfrm>
            <a:off x="9133637" y="4297680"/>
            <a:ext cx="2326538" cy="566928"/>
          </a:xfrm>
          <a:prstGeom prst="rect">
            <a:avLst/>
          </a:prstGeom>
          <a:noFill/>
          <a:ln/>
        </p:spPr>
        <p:txBody>
          <a:bodyPr wrap="square" lIns="0" tIns="0" rIns="0" bIns="0" rtlCol="0" anchor="ctr"/>
          <a:lstStyle/>
          <a:p>
            <a:pPr indent="0" marL="0">
              <a:buNone/>
            </a:pPr>
            <a:r>
              <a:rPr lang="en-US" sz="1700" b="1" dirty="0">
                <a:solidFill>
                  <a:srgbClr val="1C2330"/>
                </a:solidFill>
                <a:latin typeface="Calibri" pitchFamily="34" charset="0"/>
                <a:ea typeface="Calibri" pitchFamily="34" charset="-122"/>
                <a:cs typeface="Calibri" pitchFamily="34" charset="-120"/>
              </a:rPr>
              <a:t>Reporting</a:t>
            </a:r>
            <a:endParaRPr lang="en-US" sz="1700" dirty="0"/>
          </a:p>
        </p:txBody>
      </p:sp>
      <p:sp>
        <p:nvSpPr>
          <p:cNvPr id="38" name="Text 30"/>
          <p:cNvSpPr txBox="1"/>
          <p:nvPr/>
        </p:nvSpPr>
        <p:spPr>
          <a:xfrm>
            <a:off x="8402117" y="5029200"/>
            <a:ext cx="2966618" cy="1143000"/>
          </a:xfrm>
          <a:prstGeom prst="rect">
            <a:avLst/>
          </a:prstGeom>
          <a:noFill/>
          <a:ln/>
        </p:spPr>
        <p:txBody>
          <a:bodyPr wrap="square" lIns="0" tIns="0" rIns="0" bIns="0" rtlCol="0" anchor="t"/>
          <a:lstStyle/>
          <a:p>
            <a:pPr indent="0" marL="0">
              <a:buNone/>
            </a:pPr>
            <a:r>
              <a:rPr lang="en-US" sz="1400" dirty="0">
                <a:solidFill>
                  <a:srgbClr val="1C2330"/>
                </a:solidFill>
                <a:latin typeface="Calibri" pitchFamily="34" charset="0"/>
                <a:ea typeface="Calibri" pitchFamily="34" charset="-122"/>
                <a:cs typeface="Calibri" pitchFamily="34" charset="-120"/>
              </a:rPr>
              <a:t>Power BI reports on email, SMS/MMS, print and URL activity for auditing, with data extract.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BUSINESS SELF-SERVICE</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Recon Dashboard: the business window into CCM</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11</a:t>
            </a:r>
            <a:endParaRPr lang="en-US" sz="900" dirty="0"/>
          </a:p>
        </p:txBody>
      </p:sp>
      <p:sp>
        <p:nvSpPr>
          <p:cNvPr id="9" name="Shape 7"/>
          <p:cNvSpPr/>
          <p:nvPr/>
        </p:nvSpPr>
        <p:spPr>
          <a:xfrm>
            <a:off x="548640" y="1508760"/>
            <a:ext cx="3566160" cy="4663440"/>
          </a:xfrm>
          <a:prstGeom prst="roundRect">
            <a:avLst>
              <a:gd name="adj" fmla="val 1538"/>
            </a:avLst>
          </a:prstGeom>
          <a:solidFill>
            <a:srgbClr val="0F1B2D"/>
          </a:solidFill>
          <a:ln/>
        </p:spPr>
      </p:sp>
      <p:sp>
        <p:nvSpPr>
          <p:cNvPr id="10" name="Text 8"/>
          <p:cNvSpPr txBox="1"/>
          <p:nvPr/>
        </p:nvSpPr>
        <p:spPr>
          <a:xfrm>
            <a:off x="868680" y="1783080"/>
            <a:ext cx="2926080" cy="41148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Recon Dashboard</a:t>
            </a:r>
            <a:endParaRPr lang="en-US" sz="2200" dirty="0"/>
          </a:p>
        </p:txBody>
      </p:sp>
      <p:sp>
        <p:nvSpPr>
          <p:cNvPr id="11" name="Text 9"/>
          <p:cNvSpPr txBox="1"/>
          <p:nvPr/>
        </p:nvSpPr>
        <p:spPr>
          <a:xfrm>
            <a:off x="868680" y="2286000"/>
            <a:ext cx="2926080" cy="1188720"/>
          </a:xfrm>
          <a:prstGeom prst="rect">
            <a:avLst/>
          </a:prstGeom>
          <a:noFill/>
          <a:ln/>
        </p:spPr>
        <p:txBody>
          <a:bodyPr wrap="square" lIns="0" tIns="0" rIns="0" bIns="0" rtlCol="0" anchor="t"/>
          <a:lstStyle/>
          <a:p>
            <a:pPr indent="0" marL="0">
              <a:buNone/>
            </a:pPr>
            <a:r>
              <a:rPr lang="en-US" sz="1400" dirty="0">
                <a:solidFill>
                  <a:srgbClr val="D5DEEE"/>
                </a:solidFill>
                <a:latin typeface="Calibri" pitchFamily="34" charset="0"/>
                <a:ea typeface="Calibri" pitchFamily="34" charset="-122"/>
                <a:cs typeface="Calibri" pitchFamily="34" charset="-120"/>
              </a:rPr>
              <a:t>Authorized business and IT users track, control and audit communications directly, without raising a ticket.</a:t>
            </a:r>
            <a:endParaRPr lang="en-US" sz="1400" dirty="0"/>
          </a:p>
        </p:txBody>
      </p:sp>
      <p:sp>
        <p:nvSpPr>
          <p:cNvPr id="12" name="Text 10"/>
          <p:cNvSpPr txBox="1"/>
          <p:nvPr/>
        </p:nvSpPr>
        <p:spPr>
          <a:xfrm>
            <a:off x="868680" y="3657600"/>
            <a:ext cx="2926080" cy="2286000"/>
          </a:xfrm>
          <a:prstGeom prst="rect">
            <a:avLst/>
          </a:prstGeom>
          <a:noFill/>
          <a:ln/>
        </p:spPr>
        <p:txBody>
          <a:bodyPr wrap="square" lIns="0" tIns="0" rIns="0" bIns="0" rtlCol="0" anchor="t"/>
          <a:lstStyle/>
          <a:p>
            <a:pPr indent="0" marL="0">
              <a:buNone/>
            </a:pPr>
            <a:r>
              <a:rPr lang="en-US" sz="1250" b="1" dirty="0">
                <a:solidFill>
                  <a:srgbClr val="FFD84D"/>
                </a:solidFill>
                <a:latin typeface="Calibri" pitchFamily="34" charset="0"/>
                <a:ea typeface="Calibri" pitchFamily="34" charset="-122"/>
                <a:cs typeface="Calibri" pitchFamily="34" charset="-120"/>
              </a:rPr>
              <a:t>Access</a:t>
            </a:r>
            <a:endParaRPr lang="en-US" sz="1250" dirty="0"/>
          </a:p>
          <a:p>
            <a:pPr indent="0" marL="0">
              <a:buNone/>
            </a:pPr>
            <a:r>
              <a:rPr lang="en-US" sz="1250" dirty="0">
                <a:solidFill>
                  <a:srgbClr val="D5DEEE"/>
                </a:solidFill>
                <a:latin typeface="Calibri" pitchFamily="34" charset="0"/>
                <a:ea typeface="Calibri" pitchFamily="34" charset="-122"/>
                <a:cs typeface="Calibri" pitchFamily="34" charset="-120"/>
              </a:rPr>
              <a:t>PMI-enabled application; capabilities are granted by role.</a:t>
            </a:r>
            <a:endParaRPr lang="en-US" sz="1250" dirty="0"/>
          </a:p>
          <a:p>
            <a:pPr indent="0" marL="0">
              <a:buNone/>
            </a:pPr>
            <a:r>
              <a:rPr lang="en-US" sz="1250" dirty="0">
                <a:solidFill>
                  <a:srgbClr val="D5DEEE"/>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FFD84D"/>
                </a:solidFill>
                <a:latin typeface="Calibri" pitchFamily="34" charset="0"/>
                <a:ea typeface="Calibri" pitchFamily="34" charset="-122"/>
                <a:cs typeface="Calibri" pitchFamily="34" charset="-120"/>
              </a:rPr>
              <a:t>Data</a:t>
            </a:r>
            <a:endParaRPr lang="en-US" sz="1250" dirty="0"/>
          </a:p>
          <a:p>
            <a:pPr indent="0" marL="0">
              <a:buNone/>
            </a:pPr>
            <a:r>
              <a:rPr lang="en-US" sz="1250" dirty="0">
                <a:solidFill>
                  <a:srgbClr val="D5DEEE"/>
                </a:solidFill>
                <a:latin typeface="Calibri" pitchFamily="34" charset="0"/>
                <a:ea typeface="Calibri" pitchFamily="34" charset="-122"/>
                <a:cs typeface="Calibri" pitchFamily="34" charset="-120"/>
              </a:rPr>
              <a:t>Reads the Recon SQL Server store, which receives every request and delivery receipt.</a:t>
            </a:r>
            <a:endParaRPr lang="en-US" sz="1250" dirty="0"/>
          </a:p>
        </p:txBody>
      </p:sp>
      <p:sp>
        <p:nvSpPr>
          <p:cNvPr id="13" name="Shape 11"/>
          <p:cNvSpPr/>
          <p:nvPr/>
        </p:nvSpPr>
        <p:spPr>
          <a:xfrm>
            <a:off x="4434840" y="1508760"/>
            <a:ext cx="3489808" cy="1005840"/>
          </a:xfrm>
          <a:prstGeom prst="roundRect">
            <a:avLst>
              <a:gd name="adj" fmla="val 5455"/>
            </a:avLst>
          </a:prstGeom>
          <a:solidFill>
            <a:srgbClr val="F1F3F6"/>
          </a:solidFill>
          <a:ln/>
        </p:spPr>
      </p:sp>
      <p:sp>
        <p:nvSpPr>
          <p:cNvPr id="14" name="Shape 12"/>
          <p:cNvSpPr/>
          <p:nvPr/>
        </p:nvSpPr>
        <p:spPr>
          <a:xfrm>
            <a:off x="4663440" y="1737360"/>
            <a:ext cx="457200" cy="457200"/>
          </a:xfrm>
          <a:prstGeom prst="ellipse">
            <a:avLst/>
          </a:prstGeom>
          <a:solidFill>
            <a:srgbClr val="E7EEFB"/>
          </a:solidFill>
          <a:ln/>
        </p:spPr>
      </p:sp>
      <p:pic>
        <p:nvPicPr>
          <p:cNvPr id="15" name="Image 0" descr="preencoded.png">    </p:cNvPr>
          <p:cNvPicPr>
            <a:picLocks noChangeAspect="1"/>
          </p:cNvPicPr>
          <p:nvPr/>
        </p:nvPicPr>
        <p:blipFill>
          <a:blip r:embed="rId1"/>
          <a:stretch>
            <a:fillRect/>
          </a:stretch>
        </p:blipFill>
        <p:spPr>
          <a:xfrm>
            <a:off x="4782312" y="1856232"/>
            <a:ext cx="219456" cy="219456"/>
          </a:xfrm>
          <a:prstGeom prst="rect">
            <a:avLst/>
          </a:prstGeom>
        </p:spPr>
      </p:pic>
      <p:sp>
        <p:nvSpPr>
          <p:cNvPr id="16" name="Text 13"/>
          <p:cNvSpPr txBox="1"/>
          <p:nvPr/>
        </p:nvSpPr>
        <p:spPr>
          <a:xfrm>
            <a:off x="5303520" y="1664208"/>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Transactions and files</a:t>
            </a:r>
            <a:endParaRPr lang="en-US" sz="1400" dirty="0"/>
          </a:p>
        </p:txBody>
      </p:sp>
      <p:sp>
        <p:nvSpPr>
          <p:cNvPr id="17" name="Text 14"/>
          <p:cNvSpPr txBox="1"/>
          <p:nvPr/>
        </p:nvSpPr>
        <p:spPr>
          <a:xfrm>
            <a:off x="5303520" y="1965960"/>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Track each communication and its delivery status.</a:t>
            </a:r>
            <a:endParaRPr lang="en-US" sz="1150" dirty="0"/>
          </a:p>
        </p:txBody>
      </p:sp>
      <p:sp>
        <p:nvSpPr>
          <p:cNvPr id="18" name="Shape 15"/>
          <p:cNvSpPr/>
          <p:nvPr/>
        </p:nvSpPr>
        <p:spPr>
          <a:xfrm>
            <a:off x="8153248" y="1508760"/>
            <a:ext cx="3489808" cy="1005840"/>
          </a:xfrm>
          <a:prstGeom prst="roundRect">
            <a:avLst>
              <a:gd name="adj" fmla="val 5455"/>
            </a:avLst>
          </a:prstGeom>
          <a:solidFill>
            <a:srgbClr val="F1F3F6"/>
          </a:solidFill>
          <a:ln/>
        </p:spPr>
      </p:sp>
      <p:sp>
        <p:nvSpPr>
          <p:cNvPr id="19" name="Shape 16"/>
          <p:cNvSpPr/>
          <p:nvPr/>
        </p:nvSpPr>
        <p:spPr>
          <a:xfrm>
            <a:off x="8381848" y="1737360"/>
            <a:ext cx="457200" cy="457200"/>
          </a:xfrm>
          <a:prstGeom prst="ellipse">
            <a:avLst/>
          </a:prstGeom>
          <a:solidFill>
            <a:srgbClr val="E7EEFB"/>
          </a:solidFill>
          <a:ln/>
        </p:spPr>
      </p:sp>
      <p:pic>
        <p:nvPicPr>
          <p:cNvPr id="20" name="Image 1" descr="preencoded.png">    </p:cNvPr>
          <p:cNvPicPr>
            <a:picLocks noChangeAspect="1"/>
          </p:cNvPicPr>
          <p:nvPr/>
        </p:nvPicPr>
        <p:blipFill>
          <a:blip r:embed="rId2"/>
          <a:stretch>
            <a:fillRect/>
          </a:stretch>
        </p:blipFill>
        <p:spPr>
          <a:xfrm>
            <a:off x="8500720" y="1856232"/>
            <a:ext cx="219456" cy="219456"/>
          </a:xfrm>
          <a:prstGeom prst="rect">
            <a:avLst/>
          </a:prstGeom>
        </p:spPr>
      </p:pic>
      <p:sp>
        <p:nvSpPr>
          <p:cNvPr id="21" name="Text 17"/>
          <p:cNvSpPr txBox="1"/>
          <p:nvPr/>
        </p:nvSpPr>
        <p:spPr>
          <a:xfrm>
            <a:off x="9021928" y="1664208"/>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Jobs and reprint</a:t>
            </a:r>
            <a:endParaRPr lang="en-US" sz="1400" dirty="0"/>
          </a:p>
        </p:txBody>
      </p:sp>
      <p:sp>
        <p:nvSpPr>
          <p:cNvPr id="22" name="Text 18"/>
          <p:cNvSpPr txBox="1"/>
          <p:nvPr/>
        </p:nvSpPr>
        <p:spPr>
          <a:xfrm>
            <a:off x="9021928" y="1965960"/>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Monitor batch jobs and reprint a communication.</a:t>
            </a:r>
            <a:endParaRPr lang="en-US" sz="1150" dirty="0"/>
          </a:p>
        </p:txBody>
      </p:sp>
      <p:sp>
        <p:nvSpPr>
          <p:cNvPr id="23" name="Shape 19"/>
          <p:cNvSpPr/>
          <p:nvPr/>
        </p:nvSpPr>
        <p:spPr>
          <a:xfrm>
            <a:off x="4434840" y="2727655"/>
            <a:ext cx="3489808" cy="1005840"/>
          </a:xfrm>
          <a:prstGeom prst="roundRect">
            <a:avLst>
              <a:gd name="adj" fmla="val 5455"/>
            </a:avLst>
          </a:prstGeom>
          <a:solidFill>
            <a:srgbClr val="F1F3F6"/>
          </a:solidFill>
          <a:ln/>
        </p:spPr>
      </p:sp>
      <p:sp>
        <p:nvSpPr>
          <p:cNvPr id="24" name="Shape 20"/>
          <p:cNvSpPr/>
          <p:nvPr/>
        </p:nvSpPr>
        <p:spPr>
          <a:xfrm>
            <a:off x="4663440" y="2956255"/>
            <a:ext cx="457200" cy="457200"/>
          </a:xfrm>
          <a:prstGeom prst="ellipse">
            <a:avLst/>
          </a:prstGeom>
          <a:solidFill>
            <a:srgbClr val="E7EEFB"/>
          </a:solidFill>
          <a:ln/>
        </p:spPr>
      </p:sp>
      <p:pic>
        <p:nvPicPr>
          <p:cNvPr id="25" name="Image 2" descr="preencoded.png">    </p:cNvPr>
          <p:cNvPicPr>
            <a:picLocks noChangeAspect="1"/>
          </p:cNvPicPr>
          <p:nvPr/>
        </p:nvPicPr>
        <p:blipFill>
          <a:blip r:embed="rId3"/>
          <a:stretch>
            <a:fillRect/>
          </a:stretch>
        </p:blipFill>
        <p:spPr>
          <a:xfrm>
            <a:off x="4782312" y="3075127"/>
            <a:ext cx="219456" cy="219456"/>
          </a:xfrm>
          <a:prstGeom prst="rect">
            <a:avLst/>
          </a:prstGeom>
        </p:spPr>
      </p:pic>
      <p:sp>
        <p:nvSpPr>
          <p:cNvPr id="26" name="Text 21"/>
          <p:cNvSpPr txBox="1"/>
          <p:nvPr/>
        </p:nvSpPr>
        <p:spPr>
          <a:xfrm>
            <a:off x="5303520" y="2883103"/>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Suppress</a:t>
            </a:r>
            <a:endParaRPr lang="en-US" sz="1400" dirty="0"/>
          </a:p>
        </p:txBody>
      </p:sp>
      <p:sp>
        <p:nvSpPr>
          <p:cNvPr id="27" name="Text 22"/>
          <p:cNvSpPr txBox="1"/>
          <p:nvPr/>
        </p:nvSpPr>
        <p:spPr>
          <a:xfrm>
            <a:off x="5303520" y="3184855"/>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Stop delivery by name, contract number, source, group and more.</a:t>
            </a:r>
            <a:endParaRPr lang="en-US" sz="1150" dirty="0"/>
          </a:p>
        </p:txBody>
      </p:sp>
      <p:sp>
        <p:nvSpPr>
          <p:cNvPr id="28" name="Shape 23"/>
          <p:cNvSpPr/>
          <p:nvPr/>
        </p:nvSpPr>
        <p:spPr>
          <a:xfrm>
            <a:off x="8153248" y="2727655"/>
            <a:ext cx="3489808" cy="1005840"/>
          </a:xfrm>
          <a:prstGeom prst="roundRect">
            <a:avLst>
              <a:gd name="adj" fmla="val 5455"/>
            </a:avLst>
          </a:prstGeom>
          <a:solidFill>
            <a:srgbClr val="F1F3F6"/>
          </a:solidFill>
          <a:ln/>
        </p:spPr>
      </p:sp>
      <p:sp>
        <p:nvSpPr>
          <p:cNvPr id="29" name="Shape 24"/>
          <p:cNvSpPr/>
          <p:nvPr/>
        </p:nvSpPr>
        <p:spPr>
          <a:xfrm>
            <a:off x="8381848" y="2956255"/>
            <a:ext cx="457200" cy="457200"/>
          </a:xfrm>
          <a:prstGeom prst="ellipse">
            <a:avLst/>
          </a:prstGeom>
          <a:solidFill>
            <a:srgbClr val="E7EEFB"/>
          </a:solidFill>
          <a:ln/>
        </p:spPr>
      </p:sp>
      <p:pic>
        <p:nvPicPr>
          <p:cNvPr id="30" name="Image 3" descr="preencoded.png">    </p:cNvPr>
          <p:cNvPicPr>
            <a:picLocks noChangeAspect="1"/>
          </p:cNvPicPr>
          <p:nvPr/>
        </p:nvPicPr>
        <p:blipFill>
          <a:blip r:embed="rId4"/>
          <a:stretch>
            <a:fillRect/>
          </a:stretch>
        </p:blipFill>
        <p:spPr>
          <a:xfrm>
            <a:off x="8500720" y="3075127"/>
            <a:ext cx="219456" cy="219456"/>
          </a:xfrm>
          <a:prstGeom prst="rect">
            <a:avLst/>
          </a:prstGeom>
        </p:spPr>
      </p:pic>
      <p:sp>
        <p:nvSpPr>
          <p:cNvPr id="31" name="Text 25"/>
          <p:cNvSpPr txBox="1"/>
          <p:nvPr/>
        </p:nvSpPr>
        <p:spPr>
          <a:xfrm>
            <a:off x="9021928" y="2883103"/>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Template directory</a:t>
            </a:r>
            <a:endParaRPr lang="en-US" sz="1400" dirty="0"/>
          </a:p>
        </p:txBody>
      </p:sp>
      <p:sp>
        <p:nvSpPr>
          <p:cNvPr id="32" name="Text 26"/>
          <p:cNvSpPr txBox="1"/>
          <p:nvPr/>
        </p:nvSpPr>
        <p:spPr>
          <a:xfrm>
            <a:off x="9021928" y="3184855"/>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See every template delivered through CCM; update template metadata.</a:t>
            </a:r>
            <a:endParaRPr lang="en-US" sz="1150" dirty="0"/>
          </a:p>
        </p:txBody>
      </p:sp>
      <p:sp>
        <p:nvSpPr>
          <p:cNvPr id="33" name="Shape 27"/>
          <p:cNvSpPr/>
          <p:nvPr/>
        </p:nvSpPr>
        <p:spPr>
          <a:xfrm>
            <a:off x="4434840" y="3946550"/>
            <a:ext cx="3489808" cy="1005840"/>
          </a:xfrm>
          <a:prstGeom prst="roundRect">
            <a:avLst>
              <a:gd name="adj" fmla="val 5455"/>
            </a:avLst>
          </a:prstGeom>
          <a:solidFill>
            <a:srgbClr val="F1F3F6"/>
          </a:solidFill>
          <a:ln/>
        </p:spPr>
      </p:sp>
      <p:sp>
        <p:nvSpPr>
          <p:cNvPr id="34" name="Shape 28"/>
          <p:cNvSpPr/>
          <p:nvPr/>
        </p:nvSpPr>
        <p:spPr>
          <a:xfrm>
            <a:off x="4663440" y="4175150"/>
            <a:ext cx="457200" cy="457200"/>
          </a:xfrm>
          <a:prstGeom prst="ellipse">
            <a:avLst/>
          </a:prstGeom>
          <a:solidFill>
            <a:srgbClr val="E7EEFB"/>
          </a:solidFill>
          <a:ln/>
        </p:spPr>
      </p:sp>
      <p:pic>
        <p:nvPicPr>
          <p:cNvPr id="35" name="Image 4" descr="preencoded.png">    </p:cNvPr>
          <p:cNvPicPr>
            <a:picLocks noChangeAspect="1"/>
          </p:cNvPicPr>
          <p:nvPr/>
        </p:nvPicPr>
        <p:blipFill>
          <a:blip r:embed="rId5"/>
          <a:stretch>
            <a:fillRect/>
          </a:stretch>
        </p:blipFill>
        <p:spPr>
          <a:xfrm>
            <a:off x="4782312" y="4294022"/>
            <a:ext cx="219456" cy="219456"/>
          </a:xfrm>
          <a:prstGeom prst="rect">
            <a:avLst/>
          </a:prstGeom>
        </p:spPr>
      </p:pic>
      <p:sp>
        <p:nvSpPr>
          <p:cNvPr id="36" name="Text 29"/>
          <p:cNvSpPr txBox="1"/>
          <p:nvPr/>
        </p:nvSpPr>
        <p:spPr>
          <a:xfrm>
            <a:off x="5303520" y="4101998"/>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Contracts</a:t>
            </a:r>
            <a:endParaRPr lang="en-US" sz="1400" dirty="0"/>
          </a:p>
        </p:txBody>
      </p:sp>
      <p:sp>
        <p:nvSpPr>
          <p:cNvPr id="37" name="Text 30"/>
          <p:cNvSpPr txBox="1"/>
          <p:nvPr/>
        </p:nvSpPr>
        <p:spPr>
          <a:xfrm>
            <a:off x="5303520" y="4403750"/>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Renew non-standard contracts and test them by downloading PDFs.</a:t>
            </a:r>
            <a:endParaRPr lang="en-US" sz="1150" dirty="0"/>
          </a:p>
        </p:txBody>
      </p:sp>
      <p:sp>
        <p:nvSpPr>
          <p:cNvPr id="38" name="Shape 31"/>
          <p:cNvSpPr/>
          <p:nvPr/>
        </p:nvSpPr>
        <p:spPr>
          <a:xfrm>
            <a:off x="8153248" y="3946550"/>
            <a:ext cx="3489808" cy="1005840"/>
          </a:xfrm>
          <a:prstGeom prst="roundRect">
            <a:avLst>
              <a:gd name="adj" fmla="val 5455"/>
            </a:avLst>
          </a:prstGeom>
          <a:solidFill>
            <a:srgbClr val="F1F3F6"/>
          </a:solidFill>
          <a:ln/>
        </p:spPr>
      </p:sp>
      <p:sp>
        <p:nvSpPr>
          <p:cNvPr id="39" name="Shape 32"/>
          <p:cNvSpPr/>
          <p:nvPr/>
        </p:nvSpPr>
        <p:spPr>
          <a:xfrm>
            <a:off x="8381848" y="4175150"/>
            <a:ext cx="457200" cy="457200"/>
          </a:xfrm>
          <a:prstGeom prst="ellipse">
            <a:avLst/>
          </a:prstGeom>
          <a:solidFill>
            <a:srgbClr val="E7EEFB"/>
          </a:solidFill>
          <a:ln/>
        </p:spPr>
      </p:sp>
      <p:pic>
        <p:nvPicPr>
          <p:cNvPr id="40" name="Image 5" descr="preencoded.png">    </p:cNvPr>
          <p:cNvPicPr>
            <a:picLocks noChangeAspect="1"/>
          </p:cNvPicPr>
          <p:nvPr/>
        </p:nvPicPr>
        <p:blipFill>
          <a:blip r:embed="rId6"/>
          <a:stretch>
            <a:fillRect/>
          </a:stretch>
        </p:blipFill>
        <p:spPr>
          <a:xfrm>
            <a:off x="8500720" y="4294022"/>
            <a:ext cx="219456" cy="219456"/>
          </a:xfrm>
          <a:prstGeom prst="rect">
            <a:avLst/>
          </a:prstGeom>
        </p:spPr>
      </p:pic>
      <p:sp>
        <p:nvSpPr>
          <p:cNvPr id="41" name="Text 33"/>
          <p:cNvSpPr txBox="1"/>
          <p:nvPr/>
        </p:nvSpPr>
        <p:spPr>
          <a:xfrm>
            <a:off x="9021928" y="4101998"/>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URL shortener</a:t>
            </a:r>
            <a:endParaRPr lang="en-US" sz="1400" dirty="0"/>
          </a:p>
        </p:txBody>
      </p:sp>
      <p:sp>
        <p:nvSpPr>
          <p:cNvPr id="42" name="Text 34"/>
          <p:cNvSpPr txBox="1"/>
          <p:nvPr/>
        </p:nvSpPr>
        <p:spPr>
          <a:xfrm>
            <a:off x="9021928" y="4403750"/>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Create and view short URLs for customer messages.</a:t>
            </a:r>
            <a:endParaRPr lang="en-US" sz="1150" dirty="0"/>
          </a:p>
        </p:txBody>
      </p:sp>
      <p:sp>
        <p:nvSpPr>
          <p:cNvPr id="43" name="Shape 35"/>
          <p:cNvSpPr/>
          <p:nvPr/>
        </p:nvSpPr>
        <p:spPr>
          <a:xfrm>
            <a:off x="4434840" y="5165446"/>
            <a:ext cx="3489808" cy="1005840"/>
          </a:xfrm>
          <a:prstGeom prst="roundRect">
            <a:avLst>
              <a:gd name="adj" fmla="val 5455"/>
            </a:avLst>
          </a:prstGeom>
          <a:solidFill>
            <a:srgbClr val="F1F3F6"/>
          </a:solidFill>
          <a:ln/>
        </p:spPr>
      </p:sp>
      <p:sp>
        <p:nvSpPr>
          <p:cNvPr id="44" name="Shape 36"/>
          <p:cNvSpPr/>
          <p:nvPr/>
        </p:nvSpPr>
        <p:spPr>
          <a:xfrm>
            <a:off x="4663440" y="5394046"/>
            <a:ext cx="457200" cy="457200"/>
          </a:xfrm>
          <a:prstGeom prst="ellipse">
            <a:avLst/>
          </a:prstGeom>
          <a:solidFill>
            <a:srgbClr val="E7EEFB"/>
          </a:solidFill>
          <a:ln/>
        </p:spPr>
      </p:sp>
      <p:pic>
        <p:nvPicPr>
          <p:cNvPr id="45" name="Image 6" descr="preencoded.png">    </p:cNvPr>
          <p:cNvPicPr>
            <a:picLocks noChangeAspect="1"/>
          </p:cNvPicPr>
          <p:nvPr/>
        </p:nvPicPr>
        <p:blipFill>
          <a:blip r:embed="rId7"/>
          <a:stretch>
            <a:fillRect/>
          </a:stretch>
        </p:blipFill>
        <p:spPr>
          <a:xfrm>
            <a:off x="4782312" y="5512918"/>
            <a:ext cx="219456" cy="219456"/>
          </a:xfrm>
          <a:prstGeom prst="rect">
            <a:avLst/>
          </a:prstGeom>
        </p:spPr>
      </p:pic>
      <p:sp>
        <p:nvSpPr>
          <p:cNvPr id="46" name="Text 37"/>
          <p:cNvSpPr txBox="1"/>
          <p:nvPr/>
        </p:nvSpPr>
        <p:spPr>
          <a:xfrm>
            <a:off x="5303520" y="5320894"/>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Power BI reports</a:t>
            </a:r>
            <a:endParaRPr lang="en-US" sz="1400" dirty="0"/>
          </a:p>
        </p:txBody>
      </p:sp>
      <p:sp>
        <p:nvSpPr>
          <p:cNvPr id="47" name="Text 38"/>
          <p:cNvSpPr txBox="1"/>
          <p:nvPr/>
        </p:nvSpPr>
        <p:spPr>
          <a:xfrm>
            <a:off x="5303520" y="5622646"/>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Print, SMS and email audit reports with data extract.</a:t>
            </a:r>
            <a:endParaRPr lang="en-US" sz="1150" dirty="0"/>
          </a:p>
        </p:txBody>
      </p:sp>
      <p:sp>
        <p:nvSpPr>
          <p:cNvPr id="48" name="Shape 39"/>
          <p:cNvSpPr/>
          <p:nvPr/>
        </p:nvSpPr>
        <p:spPr>
          <a:xfrm>
            <a:off x="8153248" y="5165446"/>
            <a:ext cx="3489808" cy="1005840"/>
          </a:xfrm>
          <a:prstGeom prst="roundRect">
            <a:avLst>
              <a:gd name="adj" fmla="val 5455"/>
            </a:avLst>
          </a:prstGeom>
          <a:solidFill>
            <a:srgbClr val="F1F3F6"/>
          </a:solidFill>
          <a:ln/>
        </p:spPr>
      </p:sp>
      <p:sp>
        <p:nvSpPr>
          <p:cNvPr id="49" name="Shape 40"/>
          <p:cNvSpPr/>
          <p:nvPr/>
        </p:nvSpPr>
        <p:spPr>
          <a:xfrm>
            <a:off x="8381848" y="5394046"/>
            <a:ext cx="457200" cy="457200"/>
          </a:xfrm>
          <a:prstGeom prst="ellipse">
            <a:avLst/>
          </a:prstGeom>
          <a:solidFill>
            <a:srgbClr val="E7EEFB"/>
          </a:solidFill>
          <a:ln/>
        </p:spPr>
      </p:sp>
      <p:pic>
        <p:nvPicPr>
          <p:cNvPr id="50" name="Image 7" descr="preencoded.png">    </p:cNvPr>
          <p:cNvPicPr>
            <a:picLocks noChangeAspect="1"/>
          </p:cNvPicPr>
          <p:nvPr/>
        </p:nvPicPr>
        <p:blipFill>
          <a:blip r:embed="rId8"/>
          <a:stretch>
            <a:fillRect/>
          </a:stretch>
        </p:blipFill>
        <p:spPr>
          <a:xfrm>
            <a:off x="8500720" y="5512918"/>
            <a:ext cx="219456" cy="219456"/>
          </a:xfrm>
          <a:prstGeom prst="rect">
            <a:avLst/>
          </a:prstGeom>
        </p:spPr>
      </p:pic>
      <p:sp>
        <p:nvSpPr>
          <p:cNvPr id="51" name="Text 41"/>
          <p:cNvSpPr txBox="1"/>
          <p:nvPr/>
        </p:nvSpPr>
        <p:spPr>
          <a:xfrm>
            <a:off x="9021928" y="5320894"/>
            <a:ext cx="2438248"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Content Central</a:t>
            </a:r>
            <a:endParaRPr lang="en-US" sz="1400" dirty="0"/>
          </a:p>
        </p:txBody>
      </p:sp>
      <p:sp>
        <p:nvSpPr>
          <p:cNvPr id="52" name="Text 42"/>
          <p:cNvSpPr txBox="1"/>
          <p:nvPr/>
        </p:nvSpPr>
        <p:spPr>
          <a:xfrm>
            <a:off x="9021928" y="5622646"/>
            <a:ext cx="2438248" cy="50292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View stored copies of communications, also visible in Customer Connect.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FB8"/>
        </a:solidFill>
      </p:bgPr>
    </p:bg>
    <p:spTree>
      <p:nvGrpSpPr>
        <p:cNvPr id="1" name=""/>
        <p:cNvGrpSpPr/>
        <p:nvPr/>
      </p:nvGrpSpPr>
      <p:grpSpPr>
        <a:xfrm>
          <a:off x="0" y="0"/>
          <a:ext cx="0" cy="0"/>
          <a:chOff x="0" y="0"/>
          <a:chExt cx="0" cy="0"/>
        </a:xfrm>
      </p:grpSpPr>
      <p:sp>
        <p:nvSpPr>
          <p:cNvPr id="2" name="Text 0"/>
          <p:cNvSpPr txBox="1"/>
          <p:nvPr/>
        </p:nvSpPr>
        <p:spPr>
          <a:xfrm>
            <a:off x="1097280" y="2331720"/>
            <a:ext cx="7315200" cy="320040"/>
          </a:xfrm>
          <a:prstGeom prst="rect">
            <a:avLst/>
          </a:prstGeom>
          <a:noFill/>
          <a:ln/>
        </p:spPr>
        <p:txBody>
          <a:bodyPr wrap="square" lIns="0" tIns="0" rIns="0" bIns="0" rtlCol="0" anchor="t"/>
          <a:lstStyle/>
          <a:p>
            <a:pPr indent="0" marL="0">
              <a:buNone/>
            </a:pPr>
            <a:r>
              <a:rPr lang="en-US" sz="1400" b="1" spc="600" kern="0" dirty="0">
                <a:solidFill>
                  <a:srgbClr val="FFD84D"/>
                </a:solidFill>
                <a:latin typeface="Calibri" pitchFamily="34" charset="0"/>
                <a:ea typeface="Calibri" pitchFamily="34" charset="-122"/>
                <a:cs typeface="Calibri" pitchFamily="34" charset="-120"/>
              </a:rPr>
              <a:t>SECTION 02</a:t>
            </a:r>
            <a:endParaRPr lang="en-US" sz="1400" dirty="0"/>
          </a:p>
        </p:txBody>
      </p:sp>
      <p:sp>
        <p:nvSpPr>
          <p:cNvPr id="3" name="Text 1"/>
          <p:cNvSpPr txBox="1"/>
          <p:nvPr/>
        </p:nvSpPr>
        <p:spPr>
          <a:xfrm>
            <a:off x="109728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Architecture deep dive</a:t>
            </a:r>
            <a:endParaRPr lang="en-US" sz="4800" dirty="0"/>
          </a:p>
        </p:txBody>
      </p:sp>
      <p:sp>
        <p:nvSpPr>
          <p:cNvPr id="4" name="Text 2"/>
          <p:cNvSpPr txBox="1"/>
          <p:nvPr/>
        </p:nvSpPr>
        <p:spPr>
          <a:xfrm>
            <a:off x="1097280" y="3703320"/>
            <a:ext cx="9144000" cy="731520"/>
          </a:xfrm>
          <a:prstGeom prst="rect">
            <a:avLst/>
          </a:prstGeom>
          <a:noFill/>
          <a:ln/>
        </p:spPr>
        <p:txBody>
          <a:bodyPr wrap="square" lIns="0" tIns="0" rIns="0" bIns="0" rtlCol="0" anchor="t"/>
          <a:lstStyle/>
          <a:p>
            <a:pPr indent="0" marL="0">
              <a:buNone/>
            </a:pPr>
            <a:r>
              <a:rPr lang="en-US" sz="1700" dirty="0">
                <a:solidFill>
                  <a:srgbClr val="DCE6FA"/>
                </a:solidFill>
                <a:latin typeface="Calibri" pitchFamily="34" charset="0"/>
                <a:ea typeface="Calibri" pitchFamily="34" charset="-122"/>
                <a:cs typeface="Calibri" pitchFamily="34" charset="-120"/>
              </a:rPr>
              <a:t>How requests enter CCM, are composed in Inspire, reach customers and report back.</a:t>
            </a:r>
            <a:endParaRPr lang="en-US" sz="1700" dirty="0"/>
          </a:p>
        </p:txBody>
      </p:sp>
      <p:sp>
        <p:nvSpPr>
          <p:cNvPr id="5" name="Text 3"/>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B9C8E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LAYERED VIEW</a:t>
            </a:r>
            <a:endParaRPr lang="en-US" sz="1100" dirty="0"/>
          </a:p>
        </p:txBody>
      </p:sp>
      <p:sp>
        <p:nvSpPr>
          <p:cNvPr id="4" name="Text 2"/>
          <p:cNvSpPr txBox="1"/>
          <p:nvPr/>
        </p:nvSpPr>
        <p:spPr>
          <a:xfrm>
            <a:off x="548640" y="502920"/>
            <a:ext cx="758952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CCM platform architecture by layer</a:t>
            </a:r>
            <a:endParaRPr lang="en-US" sz="2700" dirty="0"/>
          </a:p>
        </p:txBody>
      </p:sp>
      <p:sp>
        <p:nvSpPr>
          <p:cNvPr id="5" name="Shape 3"/>
          <p:cNvSpPr/>
          <p:nvPr/>
        </p:nvSpPr>
        <p:spPr>
          <a:xfrm>
            <a:off x="8351215" y="146304"/>
            <a:ext cx="1024128" cy="896112"/>
          </a:xfrm>
          <a:prstGeom prst="rect">
            <a:avLst/>
          </a:prstGeom>
          <a:solidFill>
            <a:srgbClr val="1F4FB8"/>
          </a:solidFill>
          <a:ln/>
        </p:spPr>
      </p:sp>
      <p:sp>
        <p:nvSpPr>
          <p:cNvPr id="6" name="Text 4"/>
          <p:cNvSpPr txBox="1"/>
          <p:nvPr/>
        </p:nvSpPr>
        <p:spPr>
          <a:xfrm>
            <a:off x="8351215"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a:t>
            </a:r>
            <a:endParaRPr lang="en-US" sz="2600" dirty="0"/>
          </a:p>
        </p:txBody>
      </p:sp>
      <p:sp>
        <p:nvSpPr>
          <p:cNvPr id="7" name="Text 5"/>
          <p:cNvSpPr txBox="1"/>
          <p:nvPr/>
        </p:nvSpPr>
        <p:spPr>
          <a:xfrm>
            <a:off x="8351215"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Vendors</a:t>
            </a:r>
            <a:endParaRPr lang="en-US" sz="900" dirty="0"/>
          </a:p>
        </p:txBody>
      </p:sp>
      <p:sp>
        <p:nvSpPr>
          <p:cNvPr id="8" name="Shape 6"/>
          <p:cNvSpPr/>
          <p:nvPr/>
        </p:nvSpPr>
        <p:spPr>
          <a:xfrm>
            <a:off x="9485071" y="146304"/>
            <a:ext cx="1024128" cy="896112"/>
          </a:xfrm>
          <a:prstGeom prst="rect">
            <a:avLst/>
          </a:prstGeom>
          <a:solidFill>
            <a:srgbClr val="1F4FB8"/>
          </a:solidFill>
          <a:ln/>
        </p:spPr>
      </p:sp>
      <p:sp>
        <p:nvSpPr>
          <p:cNvPr id="9" name="Text 7"/>
          <p:cNvSpPr txBox="1"/>
          <p:nvPr/>
        </p:nvSpPr>
        <p:spPr>
          <a:xfrm>
            <a:off x="9485071"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10" name="Text 8"/>
          <p:cNvSpPr txBox="1"/>
          <p:nvPr/>
        </p:nvSpPr>
        <p:spPr>
          <a:xfrm>
            <a:off x="9485071"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Channels</a:t>
            </a:r>
            <a:endParaRPr lang="en-US" sz="900" dirty="0"/>
          </a:p>
        </p:txBody>
      </p:sp>
      <p:sp>
        <p:nvSpPr>
          <p:cNvPr id="11" name="Shape 9"/>
          <p:cNvSpPr/>
          <p:nvPr/>
        </p:nvSpPr>
        <p:spPr>
          <a:xfrm>
            <a:off x="10618927" y="146304"/>
            <a:ext cx="1024128" cy="896112"/>
          </a:xfrm>
          <a:prstGeom prst="rect">
            <a:avLst/>
          </a:prstGeom>
          <a:solidFill>
            <a:srgbClr val="1F4FB8"/>
          </a:solidFill>
          <a:ln/>
        </p:spPr>
      </p:sp>
      <p:sp>
        <p:nvSpPr>
          <p:cNvPr id="12" name="Text 10"/>
          <p:cNvSpPr txBox="1"/>
          <p:nvPr/>
        </p:nvSpPr>
        <p:spPr>
          <a:xfrm>
            <a:off x="10618927" y="182880"/>
            <a:ext cx="1024128"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3" name="Text 11"/>
          <p:cNvSpPr txBox="1"/>
          <p:nvPr/>
        </p:nvSpPr>
        <p:spPr>
          <a:xfrm>
            <a:off x="10618927" y="676656"/>
            <a:ext cx="1024128" cy="292608"/>
          </a:xfrm>
          <a:prstGeom prst="rect">
            <a:avLst/>
          </a:prstGeom>
          <a:noFill/>
          <a:ln/>
        </p:spPr>
        <p:txBody>
          <a:bodyPr wrap="square" lIns="0" tIns="0" rIns="0" bIns="0" rtlCol="0" anchor="ctr"/>
          <a:lstStyle/>
          <a:p>
            <a:pPr algn="ctr" indent="0" marL="0">
              <a:buNone/>
            </a:pPr>
            <a:r>
              <a:rPr lang="en-US" sz="900" dirty="0">
                <a:solidFill>
                  <a:srgbClr val="DCE6FA"/>
                </a:solidFill>
                <a:latin typeface="Calibri" pitchFamily="34" charset="0"/>
                <a:ea typeface="Calibri" pitchFamily="34" charset="-122"/>
                <a:cs typeface="Calibri" pitchFamily="34" charset="-120"/>
              </a:rPr>
              <a:t>Entry paths</a:t>
            </a:r>
            <a:endParaRPr lang="en-US" sz="900" dirty="0"/>
          </a:p>
        </p:txBody>
      </p:sp>
      <p:sp>
        <p:nvSpPr>
          <p:cNvPr id="14" name="Text 12"/>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15" name="Text 13"/>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13</a:t>
            </a:r>
            <a:endParaRPr lang="en-US" sz="900" dirty="0"/>
          </a:p>
        </p:txBody>
      </p:sp>
      <p:sp>
        <p:nvSpPr>
          <p:cNvPr id="16" name="Text 14"/>
          <p:cNvSpPr txBox="1"/>
          <p:nvPr/>
        </p:nvSpPr>
        <p:spPr>
          <a:xfrm>
            <a:off x="548640" y="1353312"/>
            <a:ext cx="1371600" cy="237744"/>
          </a:xfrm>
          <a:prstGeom prst="rect">
            <a:avLst/>
          </a:prstGeom>
          <a:noFill/>
          <a:ln/>
        </p:spPr>
        <p:txBody>
          <a:bodyPr wrap="square" lIns="0" tIns="0" rIns="0" bIns="0" rtlCol="0" anchor="t"/>
          <a:lstStyle/>
          <a:p>
            <a:pPr indent="0" marL="0">
              <a:buNone/>
            </a:pPr>
            <a:r>
              <a:rPr lang="en-US" sz="850" b="1" spc="300" kern="0" dirty="0">
                <a:solidFill>
                  <a:srgbClr val="3A4556"/>
                </a:solidFill>
                <a:latin typeface="Calibri" pitchFamily="34" charset="0"/>
                <a:ea typeface="Calibri" pitchFamily="34" charset="-122"/>
                <a:cs typeface="Calibri" pitchFamily="34" charset="-120"/>
              </a:rPr>
              <a:t>ROLES &amp; ACTORS</a:t>
            </a:r>
            <a:endParaRPr lang="en-US" sz="850" dirty="0"/>
          </a:p>
        </p:txBody>
      </p:sp>
      <p:sp>
        <p:nvSpPr>
          <p:cNvPr id="17" name="Shape 15"/>
          <p:cNvSpPr/>
          <p:nvPr/>
        </p:nvSpPr>
        <p:spPr>
          <a:xfrm>
            <a:off x="548640" y="1627632"/>
            <a:ext cx="1325880" cy="384048"/>
          </a:xfrm>
          <a:prstGeom prst="rect">
            <a:avLst/>
          </a:prstGeom>
          <a:solidFill>
            <a:srgbClr val="FFFFFF"/>
          </a:solidFill>
          <a:ln w="9525">
            <a:solidFill>
              <a:srgbClr val="CCD3DD"/>
            </a:solidFill>
            <a:prstDash val="solid"/>
          </a:ln>
        </p:spPr>
      </p:sp>
      <p:pic>
        <p:nvPicPr>
          <p:cNvPr id="18" name="Image 0" descr="preencoded.png">    </p:cNvPr>
          <p:cNvPicPr>
            <a:picLocks noChangeAspect="1"/>
          </p:cNvPicPr>
          <p:nvPr/>
        </p:nvPicPr>
        <p:blipFill>
          <a:blip r:embed="rId1"/>
          <a:stretch>
            <a:fillRect/>
          </a:stretch>
        </p:blipFill>
        <p:spPr>
          <a:xfrm>
            <a:off x="640080" y="1719072"/>
            <a:ext cx="201168" cy="201168"/>
          </a:xfrm>
          <a:prstGeom prst="rect">
            <a:avLst/>
          </a:prstGeom>
        </p:spPr>
      </p:pic>
      <p:sp>
        <p:nvSpPr>
          <p:cNvPr id="19" name="Text 16"/>
          <p:cNvSpPr txBox="1"/>
          <p:nvPr/>
        </p:nvSpPr>
        <p:spPr>
          <a:xfrm>
            <a:off x="914400" y="1627632"/>
            <a:ext cx="932688" cy="384048"/>
          </a:xfrm>
          <a:prstGeom prst="rect">
            <a:avLst/>
          </a:prstGeom>
          <a:noFill/>
          <a:ln/>
        </p:spPr>
        <p:txBody>
          <a:bodyPr wrap="square" lIns="0" tIns="0" rIns="0" bIns="0" rtlCol="0" anchor="ctr"/>
          <a:lstStyle/>
          <a:p>
            <a:pPr indent="0" marL="0">
              <a:buNone/>
            </a:pPr>
            <a:r>
              <a:rPr lang="en-US" sz="950" b="1" dirty="0">
                <a:solidFill>
                  <a:srgbClr val="1F4FB8"/>
                </a:solidFill>
                <a:latin typeface="Calibri" pitchFamily="34" charset="0"/>
                <a:ea typeface="Calibri" pitchFamily="34" charset="-122"/>
                <a:cs typeface="Calibri" pitchFamily="34" charset="-120"/>
              </a:rPr>
              <a:t>Business user</a:t>
            </a:r>
            <a:endParaRPr lang="en-US" sz="950" dirty="0"/>
          </a:p>
        </p:txBody>
      </p:sp>
      <p:sp>
        <p:nvSpPr>
          <p:cNvPr id="20" name="Shape 17"/>
          <p:cNvSpPr/>
          <p:nvPr/>
        </p:nvSpPr>
        <p:spPr>
          <a:xfrm>
            <a:off x="548640" y="2084832"/>
            <a:ext cx="1325880" cy="384048"/>
          </a:xfrm>
          <a:prstGeom prst="rect">
            <a:avLst/>
          </a:prstGeom>
          <a:solidFill>
            <a:srgbClr val="FFFFFF"/>
          </a:solidFill>
          <a:ln w="9525">
            <a:solidFill>
              <a:srgbClr val="CCD3DD"/>
            </a:solidFill>
            <a:prstDash val="solid"/>
          </a:ln>
        </p:spPr>
      </p:sp>
      <p:pic>
        <p:nvPicPr>
          <p:cNvPr id="21" name="Image 1" descr="preencoded.png">    </p:cNvPr>
          <p:cNvPicPr>
            <a:picLocks noChangeAspect="1"/>
          </p:cNvPicPr>
          <p:nvPr/>
        </p:nvPicPr>
        <p:blipFill>
          <a:blip r:embed="rId2"/>
          <a:stretch>
            <a:fillRect/>
          </a:stretch>
        </p:blipFill>
        <p:spPr>
          <a:xfrm>
            <a:off x="640080" y="2176272"/>
            <a:ext cx="201168" cy="201168"/>
          </a:xfrm>
          <a:prstGeom prst="rect">
            <a:avLst/>
          </a:prstGeom>
        </p:spPr>
      </p:pic>
      <p:sp>
        <p:nvSpPr>
          <p:cNvPr id="22" name="Text 18"/>
          <p:cNvSpPr txBox="1"/>
          <p:nvPr/>
        </p:nvSpPr>
        <p:spPr>
          <a:xfrm>
            <a:off x="914400" y="2084832"/>
            <a:ext cx="932688" cy="384048"/>
          </a:xfrm>
          <a:prstGeom prst="rect">
            <a:avLst/>
          </a:prstGeom>
          <a:noFill/>
          <a:ln/>
        </p:spPr>
        <p:txBody>
          <a:bodyPr wrap="square" lIns="0" tIns="0" rIns="0" bIns="0" rtlCol="0" anchor="ctr"/>
          <a:lstStyle/>
          <a:p>
            <a:pPr indent="0" marL="0">
              <a:buNone/>
            </a:pPr>
            <a:r>
              <a:rPr lang="en-US" sz="950" b="1" dirty="0">
                <a:solidFill>
                  <a:srgbClr val="5B2BC8"/>
                </a:solidFill>
                <a:latin typeface="Calibri" pitchFamily="34" charset="0"/>
                <a:ea typeface="Calibri" pitchFamily="34" charset="-122"/>
                <a:cs typeface="Calibri" pitchFamily="34" charset="-120"/>
              </a:rPr>
              <a:t>Advocate</a:t>
            </a:r>
            <a:endParaRPr lang="en-US" sz="950" dirty="0"/>
          </a:p>
        </p:txBody>
      </p:sp>
      <p:sp>
        <p:nvSpPr>
          <p:cNvPr id="23" name="Shape 19"/>
          <p:cNvSpPr/>
          <p:nvPr/>
        </p:nvSpPr>
        <p:spPr>
          <a:xfrm>
            <a:off x="548640" y="2542032"/>
            <a:ext cx="1325880" cy="384048"/>
          </a:xfrm>
          <a:prstGeom prst="rect">
            <a:avLst/>
          </a:prstGeom>
          <a:solidFill>
            <a:srgbClr val="FFFFFF"/>
          </a:solidFill>
          <a:ln w="9525">
            <a:solidFill>
              <a:srgbClr val="CCD3DD"/>
            </a:solidFill>
            <a:prstDash val="solid"/>
          </a:ln>
        </p:spPr>
      </p:sp>
      <p:pic>
        <p:nvPicPr>
          <p:cNvPr id="24" name="Image 2" descr="preencoded.png">    </p:cNvPr>
          <p:cNvPicPr>
            <a:picLocks noChangeAspect="1"/>
          </p:cNvPicPr>
          <p:nvPr/>
        </p:nvPicPr>
        <p:blipFill>
          <a:blip r:embed="rId3"/>
          <a:stretch>
            <a:fillRect/>
          </a:stretch>
        </p:blipFill>
        <p:spPr>
          <a:xfrm>
            <a:off x="640080" y="2633472"/>
            <a:ext cx="201168" cy="201168"/>
          </a:xfrm>
          <a:prstGeom prst="rect">
            <a:avLst/>
          </a:prstGeom>
        </p:spPr>
      </p:pic>
      <p:sp>
        <p:nvSpPr>
          <p:cNvPr id="25" name="Text 20"/>
          <p:cNvSpPr txBox="1"/>
          <p:nvPr/>
        </p:nvSpPr>
        <p:spPr>
          <a:xfrm>
            <a:off x="914400" y="2542032"/>
            <a:ext cx="932688" cy="384048"/>
          </a:xfrm>
          <a:prstGeom prst="rect">
            <a:avLst/>
          </a:prstGeom>
          <a:noFill/>
          <a:ln/>
        </p:spPr>
        <p:txBody>
          <a:bodyPr wrap="square" lIns="0" tIns="0" rIns="0" bIns="0" rtlCol="0" anchor="ctr"/>
          <a:lstStyle/>
          <a:p>
            <a:pPr indent="0" marL="0">
              <a:buNone/>
            </a:pPr>
            <a:r>
              <a:rPr lang="en-US" sz="950" b="1" dirty="0">
                <a:solidFill>
                  <a:srgbClr val="1F7A6B"/>
                </a:solidFill>
                <a:latin typeface="Calibri" pitchFamily="34" charset="0"/>
                <a:ea typeface="Calibri" pitchFamily="34" charset="-122"/>
                <a:cs typeface="Calibri" pitchFamily="34" charset="-120"/>
              </a:rPr>
              <a:t>Source system</a:t>
            </a:r>
            <a:endParaRPr lang="en-US" sz="950" dirty="0"/>
          </a:p>
        </p:txBody>
      </p:sp>
      <p:sp>
        <p:nvSpPr>
          <p:cNvPr id="26" name="Shape 21"/>
          <p:cNvSpPr/>
          <p:nvPr/>
        </p:nvSpPr>
        <p:spPr>
          <a:xfrm>
            <a:off x="548640" y="2999232"/>
            <a:ext cx="1325880" cy="384048"/>
          </a:xfrm>
          <a:prstGeom prst="rect">
            <a:avLst/>
          </a:prstGeom>
          <a:solidFill>
            <a:srgbClr val="FFFFFF"/>
          </a:solidFill>
          <a:ln w="9525">
            <a:solidFill>
              <a:srgbClr val="CCD3DD"/>
            </a:solidFill>
            <a:prstDash val="solid"/>
          </a:ln>
        </p:spPr>
      </p:sp>
      <p:pic>
        <p:nvPicPr>
          <p:cNvPr id="27" name="Image 3" descr="preencoded.png">    </p:cNvPr>
          <p:cNvPicPr>
            <a:picLocks noChangeAspect="1"/>
          </p:cNvPicPr>
          <p:nvPr/>
        </p:nvPicPr>
        <p:blipFill>
          <a:blip r:embed="rId4"/>
          <a:stretch>
            <a:fillRect/>
          </a:stretch>
        </p:blipFill>
        <p:spPr>
          <a:xfrm>
            <a:off x="640080" y="3090672"/>
            <a:ext cx="201168" cy="201168"/>
          </a:xfrm>
          <a:prstGeom prst="rect">
            <a:avLst/>
          </a:prstGeom>
        </p:spPr>
      </p:pic>
      <p:sp>
        <p:nvSpPr>
          <p:cNvPr id="28" name="Text 22"/>
          <p:cNvSpPr txBox="1"/>
          <p:nvPr/>
        </p:nvSpPr>
        <p:spPr>
          <a:xfrm>
            <a:off x="914400" y="2999232"/>
            <a:ext cx="932688" cy="384048"/>
          </a:xfrm>
          <a:prstGeom prst="rect">
            <a:avLst/>
          </a:prstGeom>
          <a:noFill/>
          <a:ln/>
        </p:spPr>
        <p:txBody>
          <a:bodyPr wrap="square" lIns="0" tIns="0" rIns="0" bIns="0" rtlCol="0" anchor="ctr"/>
          <a:lstStyle/>
          <a:p>
            <a:pPr indent="0" marL="0">
              <a:buNone/>
            </a:pPr>
            <a:r>
              <a:rPr lang="en-US" sz="950" b="1" dirty="0">
                <a:solidFill>
                  <a:srgbClr val="2F86C8"/>
                </a:solidFill>
                <a:latin typeface="Calibri" pitchFamily="34" charset="0"/>
                <a:ea typeface="Calibri" pitchFamily="34" charset="-122"/>
                <a:cs typeface="Calibri" pitchFamily="34" charset="-120"/>
              </a:rPr>
              <a:t>Customer</a:t>
            </a:r>
            <a:endParaRPr lang="en-US" sz="950" dirty="0"/>
          </a:p>
        </p:txBody>
      </p:sp>
      <p:sp>
        <p:nvSpPr>
          <p:cNvPr id="29" name="Shape 23"/>
          <p:cNvSpPr/>
          <p:nvPr/>
        </p:nvSpPr>
        <p:spPr>
          <a:xfrm>
            <a:off x="548640" y="3456432"/>
            <a:ext cx="1325880" cy="384048"/>
          </a:xfrm>
          <a:prstGeom prst="rect">
            <a:avLst/>
          </a:prstGeom>
          <a:solidFill>
            <a:srgbClr val="FFFFFF"/>
          </a:solidFill>
          <a:ln w="9525">
            <a:solidFill>
              <a:srgbClr val="CCD3DD"/>
            </a:solidFill>
            <a:prstDash val="solid"/>
          </a:ln>
        </p:spPr>
      </p:sp>
      <p:pic>
        <p:nvPicPr>
          <p:cNvPr id="30" name="Image 4" descr="preencoded.png">    </p:cNvPr>
          <p:cNvPicPr>
            <a:picLocks noChangeAspect="1"/>
          </p:cNvPicPr>
          <p:nvPr/>
        </p:nvPicPr>
        <p:blipFill>
          <a:blip r:embed="rId5"/>
          <a:stretch>
            <a:fillRect/>
          </a:stretch>
        </p:blipFill>
        <p:spPr>
          <a:xfrm>
            <a:off x="640080" y="3547872"/>
            <a:ext cx="201168" cy="201168"/>
          </a:xfrm>
          <a:prstGeom prst="rect">
            <a:avLst/>
          </a:prstGeom>
        </p:spPr>
      </p:pic>
      <p:sp>
        <p:nvSpPr>
          <p:cNvPr id="31" name="Text 24"/>
          <p:cNvSpPr txBox="1"/>
          <p:nvPr/>
        </p:nvSpPr>
        <p:spPr>
          <a:xfrm>
            <a:off x="914400" y="3456432"/>
            <a:ext cx="932688" cy="384048"/>
          </a:xfrm>
          <a:prstGeom prst="rect">
            <a:avLst/>
          </a:prstGeom>
          <a:noFill/>
          <a:ln/>
        </p:spPr>
        <p:txBody>
          <a:bodyPr wrap="square" lIns="0" tIns="0" rIns="0" bIns="0" rtlCol="0" anchor="ctr"/>
          <a:lstStyle/>
          <a:p>
            <a:pPr indent="0" marL="0">
              <a:buNone/>
            </a:pPr>
            <a:r>
              <a:rPr lang="en-US" sz="950" b="1" dirty="0">
                <a:solidFill>
                  <a:srgbClr val="E8612C"/>
                </a:solidFill>
                <a:latin typeface="Calibri" pitchFamily="34" charset="0"/>
                <a:ea typeface="Calibri" pitchFamily="34" charset="-122"/>
                <a:cs typeface="Calibri" pitchFamily="34" charset="-120"/>
              </a:rPr>
              <a:t>Agent / Provider</a:t>
            </a:r>
            <a:endParaRPr lang="en-US" sz="950" dirty="0"/>
          </a:p>
        </p:txBody>
      </p:sp>
      <p:sp>
        <p:nvSpPr>
          <p:cNvPr id="32" name="Text 25"/>
          <p:cNvSpPr txBox="1"/>
          <p:nvPr/>
        </p:nvSpPr>
        <p:spPr>
          <a:xfrm>
            <a:off x="548640" y="3959352"/>
            <a:ext cx="1371600" cy="237744"/>
          </a:xfrm>
          <a:prstGeom prst="rect">
            <a:avLst/>
          </a:prstGeom>
          <a:noFill/>
          <a:ln/>
        </p:spPr>
        <p:txBody>
          <a:bodyPr wrap="square" lIns="0" tIns="0" rIns="0" bIns="0" rtlCol="0" anchor="t"/>
          <a:lstStyle/>
          <a:p>
            <a:pPr indent="0" marL="0">
              <a:buNone/>
            </a:pPr>
            <a:r>
              <a:rPr lang="en-US" sz="850" b="1" spc="300" kern="0" dirty="0">
                <a:solidFill>
                  <a:srgbClr val="3A4556"/>
                </a:solidFill>
                <a:latin typeface="Calibri" pitchFamily="34" charset="0"/>
                <a:ea typeface="Calibri" pitchFamily="34" charset="-122"/>
                <a:cs typeface="Calibri" pitchFamily="34" charset="-120"/>
              </a:rPr>
              <a:t>CONTROLS</a:t>
            </a:r>
            <a:endParaRPr lang="en-US" sz="850" dirty="0"/>
          </a:p>
        </p:txBody>
      </p:sp>
      <p:sp>
        <p:nvSpPr>
          <p:cNvPr id="33" name="Shape 26"/>
          <p:cNvSpPr/>
          <p:nvPr/>
        </p:nvSpPr>
        <p:spPr>
          <a:xfrm>
            <a:off x="548640" y="4251960"/>
            <a:ext cx="36576" cy="685800"/>
          </a:xfrm>
          <a:prstGeom prst="rect">
            <a:avLst/>
          </a:prstGeom>
          <a:solidFill>
            <a:srgbClr val="5B2BC8"/>
          </a:solidFill>
          <a:ln/>
        </p:spPr>
      </p:sp>
      <p:sp>
        <p:nvSpPr>
          <p:cNvPr id="34" name="Text 27"/>
          <p:cNvSpPr txBox="1"/>
          <p:nvPr/>
        </p:nvSpPr>
        <p:spPr>
          <a:xfrm>
            <a:off x="640080" y="4233672"/>
            <a:ext cx="1325880" cy="960120"/>
          </a:xfrm>
          <a:prstGeom prst="rect">
            <a:avLst/>
          </a:prstGeom>
          <a:noFill/>
          <a:ln/>
        </p:spPr>
        <p:txBody>
          <a:bodyPr wrap="square" lIns="0" tIns="0" rIns="0" bIns="0" rtlCol="0" anchor="t"/>
          <a:lstStyle/>
          <a:p>
            <a:pPr indent="0" marL="0">
              <a:buNone/>
            </a:pPr>
            <a:r>
              <a:rPr lang="en-US" sz="800" dirty="0">
                <a:solidFill>
                  <a:srgbClr val="1C2330"/>
                </a:solidFill>
                <a:latin typeface="Calibri" pitchFamily="34" charset="0"/>
                <a:ea typeface="Calibri" pitchFamily="34" charset="-122"/>
                <a:cs typeface="Calibri" pitchFamily="34" charset="-120"/>
              </a:rPr>
              <a:t>PMI roles and policies</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JWT + role validation</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Entitlement checks</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DNS whitelisting</a:t>
            </a:r>
            <a:endParaRPr lang="en-US" sz="800" dirty="0"/>
          </a:p>
          <a:p>
            <a:pPr indent="0" marL="0">
              <a:buNone/>
            </a:pPr>
            <a:r>
              <a:rPr lang="en-US" sz="800" dirty="0">
                <a:solidFill>
                  <a:srgbClr val="1C2330"/>
                </a:solidFill>
                <a:latin typeface="Calibri" pitchFamily="34" charset="0"/>
                <a:ea typeface="Calibri" pitchFamily="34" charset="-122"/>
                <a:cs typeface="Calibri" pitchFamily="34" charset="-120"/>
              </a:rPr>
              <a:t>Recon audit tables</a:t>
            </a:r>
            <a:endParaRPr lang="en-US" sz="800" dirty="0"/>
          </a:p>
        </p:txBody>
      </p:sp>
      <p:sp>
        <p:nvSpPr>
          <p:cNvPr id="35" name="Shape 28"/>
          <p:cNvSpPr/>
          <p:nvPr/>
        </p:nvSpPr>
        <p:spPr>
          <a:xfrm>
            <a:off x="2011680" y="1353312"/>
            <a:ext cx="7955280" cy="665988"/>
          </a:xfrm>
          <a:prstGeom prst="rect">
            <a:avLst/>
          </a:prstGeom>
          <a:solidFill>
            <a:srgbClr val="EEF0F3"/>
          </a:solidFill>
          <a:ln/>
        </p:spPr>
      </p:sp>
      <p:sp>
        <p:nvSpPr>
          <p:cNvPr id="36" name="Shape 29"/>
          <p:cNvSpPr/>
          <p:nvPr/>
        </p:nvSpPr>
        <p:spPr>
          <a:xfrm>
            <a:off x="2011680" y="1353312"/>
            <a:ext cx="7955280" cy="54864"/>
          </a:xfrm>
          <a:prstGeom prst="rect">
            <a:avLst/>
          </a:prstGeom>
          <a:solidFill>
            <a:srgbClr val="1F7A6B"/>
          </a:solidFill>
          <a:ln/>
        </p:spPr>
      </p:sp>
      <p:sp>
        <p:nvSpPr>
          <p:cNvPr id="37" name="Shape 30"/>
          <p:cNvSpPr/>
          <p:nvPr/>
        </p:nvSpPr>
        <p:spPr>
          <a:xfrm>
            <a:off x="2011680" y="1353312"/>
            <a:ext cx="54864" cy="665988"/>
          </a:xfrm>
          <a:prstGeom prst="rect">
            <a:avLst/>
          </a:prstGeom>
          <a:solidFill>
            <a:srgbClr val="1F7A6B"/>
          </a:solidFill>
          <a:ln/>
        </p:spPr>
      </p:sp>
      <p:sp>
        <p:nvSpPr>
          <p:cNvPr id="38" name="Text 31"/>
          <p:cNvSpPr txBox="1"/>
          <p:nvPr/>
        </p:nvSpPr>
        <p:spPr>
          <a:xfrm>
            <a:off x="2176272" y="1417320"/>
            <a:ext cx="7680960" cy="237744"/>
          </a:xfrm>
          <a:prstGeom prst="rect">
            <a:avLst/>
          </a:prstGeom>
          <a:noFill/>
          <a:ln/>
        </p:spPr>
        <p:txBody>
          <a:bodyPr wrap="square" lIns="0" tIns="0" rIns="0" bIns="0" rtlCol="0" anchor="t"/>
          <a:lstStyle/>
          <a:p>
            <a:pPr indent="0" marL="0">
              <a:buNone/>
            </a:pPr>
            <a:r>
              <a:rPr lang="en-US" sz="800" b="1" spc="300" kern="0" dirty="0">
                <a:solidFill>
                  <a:srgbClr val="1F7A6B"/>
                </a:solidFill>
                <a:latin typeface="Calibri" pitchFamily="34" charset="0"/>
                <a:ea typeface="Calibri" pitchFamily="34" charset="-122"/>
                <a:cs typeface="Calibri" pitchFamily="34" charset="-120"/>
              </a:rPr>
              <a:t>CHANNELS &amp; DELIVERY</a:t>
            </a:r>
            <a:endParaRPr lang="en-US" sz="800" dirty="0"/>
          </a:p>
        </p:txBody>
      </p:sp>
      <p:sp>
        <p:nvSpPr>
          <p:cNvPr id="39" name="Shape 32"/>
          <p:cNvSpPr/>
          <p:nvPr/>
        </p:nvSpPr>
        <p:spPr>
          <a:xfrm>
            <a:off x="2176272" y="1627632"/>
            <a:ext cx="1477670" cy="336804"/>
          </a:xfrm>
          <a:prstGeom prst="rect">
            <a:avLst/>
          </a:prstGeom>
          <a:solidFill>
            <a:srgbClr val="FFFFFF"/>
          </a:solidFill>
          <a:ln w="9525">
            <a:solidFill>
              <a:srgbClr val="CCD3DD"/>
            </a:solidFill>
            <a:prstDash val="solid"/>
          </a:ln>
        </p:spPr>
      </p:sp>
      <p:sp>
        <p:nvSpPr>
          <p:cNvPr id="40" name="Text 33"/>
          <p:cNvSpPr txBox="1"/>
          <p:nvPr/>
        </p:nvSpPr>
        <p:spPr>
          <a:xfrm>
            <a:off x="2249424" y="1655064"/>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EMAIL</a:t>
            </a:r>
            <a:endParaRPr lang="en-US" sz="700" dirty="0"/>
          </a:p>
        </p:txBody>
      </p:sp>
      <p:sp>
        <p:nvSpPr>
          <p:cNvPr id="41" name="Text 34"/>
          <p:cNvSpPr txBox="1"/>
          <p:nvPr/>
        </p:nvSpPr>
        <p:spPr>
          <a:xfrm>
            <a:off x="2249424" y="1792224"/>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SFMC</a:t>
            </a:r>
            <a:endParaRPr lang="en-US" sz="750" dirty="0"/>
          </a:p>
        </p:txBody>
      </p:sp>
      <p:sp>
        <p:nvSpPr>
          <p:cNvPr id="42" name="Shape 35"/>
          <p:cNvSpPr/>
          <p:nvPr/>
        </p:nvSpPr>
        <p:spPr>
          <a:xfrm>
            <a:off x="3727094" y="1627632"/>
            <a:ext cx="1477670" cy="336804"/>
          </a:xfrm>
          <a:prstGeom prst="rect">
            <a:avLst/>
          </a:prstGeom>
          <a:solidFill>
            <a:srgbClr val="FFFFFF"/>
          </a:solidFill>
          <a:ln w="9525">
            <a:solidFill>
              <a:srgbClr val="CCD3DD"/>
            </a:solidFill>
            <a:prstDash val="solid"/>
          </a:ln>
        </p:spPr>
      </p:sp>
      <p:sp>
        <p:nvSpPr>
          <p:cNvPr id="43" name="Text 36"/>
          <p:cNvSpPr txBox="1"/>
          <p:nvPr/>
        </p:nvSpPr>
        <p:spPr>
          <a:xfrm>
            <a:off x="3800246" y="1655064"/>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SMS / MMS</a:t>
            </a:r>
            <a:endParaRPr lang="en-US" sz="700" dirty="0"/>
          </a:p>
        </p:txBody>
      </p:sp>
      <p:sp>
        <p:nvSpPr>
          <p:cNvPr id="44" name="Text 37"/>
          <p:cNvSpPr txBox="1"/>
          <p:nvPr/>
        </p:nvSpPr>
        <p:spPr>
          <a:xfrm>
            <a:off x="3800246" y="1792224"/>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Twilio</a:t>
            </a:r>
            <a:endParaRPr lang="en-US" sz="750" dirty="0"/>
          </a:p>
        </p:txBody>
      </p:sp>
      <p:sp>
        <p:nvSpPr>
          <p:cNvPr id="45" name="Shape 38"/>
          <p:cNvSpPr/>
          <p:nvPr/>
        </p:nvSpPr>
        <p:spPr>
          <a:xfrm>
            <a:off x="5277917" y="1627632"/>
            <a:ext cx="1477670" cy="336804"/>
          </a:xfrm>
          <a:prstGeom prst="rect">
            <a:avLst/>
          </a:prstGeom>
          <a:solidFill>
            <a:srgbClr val="FFFFFF"/>
          </a:solidFill>
          <a:ln w="9525">
            <a:solidFill>
              <a:srgbClr val="CCD3DD"/>
            </a:solidFill>
            <a:prstDash val="solid"/>
          </a:ln>
        </p:spPr>
      </p:sp>
      <p:sp>
        <p:nvSpPr>
          <p:cNvPr id="46" name="Text 39"/>
          <p:cNvSpPr txBox="1"/>
          <p:nvPr/>
        </p:nvSpPr>
        <p:spPr>
          <a:xfrm>
            <a:off x="5351069" y="1655064"/>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PRINT</a:t>
            </a:r>
            <a:endParaRPr lang="en-US" sz="700" dirty="0"/>
          </a:p>
        </p:txBody>
      </p:sp>
      <p:sp>
        <p:nvSpPr>
          <p:cNvPr id="47" name="Text 40"/>
          <p:cNvSpPr txBox="1"/>
          <p:nvPr/>
        </p:nvSpPr>
        <p:spPr>
          <a:xfrm>
            <a:off x="5351069" y="1792224"/>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O’Neil, Highmark</a:t>
            </a:r>
            <a:endParaRPr lang="en-US" sz="750" dirty="0"/>
          </a:p>
        </p:txBody>
      </p:sp>
      <p:sp>
        <p:nvSpPr>
          <p:cNvPr id="48" name="Shape 41"/>
          <p:cNvSpPr/>
          <p:nvPr/>
        </p:nvSpPr>
        <p:spPr>
          <a:xfrm>
            <a:off x="6828739" y="1627632"/>
            <a:ext cx="1477670" cy="336804"/>
          </a:xfrm>
          <a:prstGeom prst="rect">
            <a:avLst/>
          </a:prstGeom>
          <a:solidFill>
            <a:srgbClr val="FFFFFF"/>
          </a:solidFill>
          <a:ln w="9525">
            <a:solidFill>
              <a:srgbClr val="CCD3DD"/>
            </a:solidFill>
            <a:prstDash val="solid"/>
          </a:ln>
        </p:spPr>
      </p:sp>
      <p:sp>
        <p:nvSpPr>
          <p:cNvPr id="49" name="Text 42"/>
          <p:cNvSpPr txBox="1"/>
          <p:nvPr/>
        </p:nvSpPr>
        <p:spPr>
          <a:xfrm>
            <a:off x="6901891" y="1655064"/>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DIGITAL</a:t>
            </a:r>
            <a:endParaRPr lang="en-US" sz="700" dirty="0"/>
          </a:p>
        </p:txBody>
      </p:sp>
      <p:sp>
        <p:nvSpPr>
          <p:cNvPr id="50" name="Text 43"/>
          <p:cNvSpPr txBox="1"/>
          <p:nvPr/>
        </p:nvSpPr>
        <p:spPr>
          <a:xfrm>
            <a:off x="6901891" y="1792224"/>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Message Center</a:t>
            </a:r>
            <a:endParaRPr lang="en-US" sz="750" dirty="0"/>
          </a:p>
        </p:txBody>
      </p:sp>
      <p:sp>
        <p:nvSpPr>
          <p:cNvPr id="51" name="Shape 44"/>
          <p:cNvSpPr/>
          <p:nvPr/>
        </p:nvSpPr>
        <p:spPr>
          <a:xfrm>
            <a:off x="8379562" y="1627632"/>
            <a:ext cx="1477670" cy="336804"/>
          </a:xfrm>
          <a:prstGeom prst="rect">
            <a:avLst/>
          </a:prstGeom>
          <a:solidFill>
            <a:srgbClr val="FFFFFF"/>
          </a:solidFill>
          <a:ln w="9525">
            <a:solidFill>
              <a:srgbClr val="CCD3DD"/>
            </a:solidFill>
            <a:prstDash val="solid"/>
          </a:ln>
        </p:spPr>
      </p:sp>
      <p:sp>
        <p:nvSpPr>
          <p:cNvPr id="52" name="Text 45"/>
          <p:cNvSpPr txBox="1"/>
          <p:nvPr/>
        </p:nvSpPr>
        <p:spPr>
          <a:xfrm>
            <a:off x="8452714" y="1655064"/>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ARCHIVE</a:t>
            </a:r>
            <a:endParaRPr lang="en-US" sz="700" dirty="0"/>
          </a:p>
        </p:txBody>
      </p:sp>
      <p:sp>
        <p:nvSpPr>
          <p:cNvPr id="53" name="Text 46"/>
          <p:cNvSpPr txBox="1"/>
          <p:nvPr/>
        </p:nvSpPr>
        <p:spPr>
          <a:xfrm>
            <a:off x="8452714" y="1792224"/>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ECMS / Content Central</a:t>
            </a:r>
            <a:endParaRPr lang="en-US" sz="750" dirty="0"/>
          </a:p>
        </p:txBody>
      </p:sp>
      <p:sp>
        <p:nvSpPr>
          <p:cNvPr id="54" name="Shape 47"/>
          <p:cNvSpPr/>
          <p:nvPr/>
        </p:nvSpPr>
        <p:spPr>
          <a:xfrm>
            <a:off x="2011680" y="2083308"/>
            <a:ext cx="7955280" cy="665988"/>
          </a:xfrm>
          <a:prstGeom prst="rect">
            <a:avLst/>
          </a:prstGeom>
          <a:solidFill>
            <a:srgbClr val="EEF0F3"/>
          </a:solidFill>
          <a:ln/>
        </p:spPr>
      </p:sp>
      <p:sp>
        <p:nvSpPr>
          <p:cNvPr id="55" name="Shape 48"/>
          <p:cNvSpPr/>
          <p:nvPr/>
        </p:nvSpPr>
        <p:spPr>
          <a:xfrm>
            <a:off x="2011680" y="2083308"/>
            <a:ext cx="7955280" cy="54864"/>
          </a:xfrm>
          <a:prstGeom prst="rect">
            <a:avLst/>
          </a:prstGeom>
          <a:solidFill>
            <a:srgbClr val="0F1B2D"/>
          </a:solidFill>
          <a:ln/>
        </p:spPr>
      </p:sp>
      <p:sp>
        <p:nvSpPr>
          <p:cNvPr id="56" name="Shape 49"/>
          <p:cNvSpPr/>
          <p:nvPr/>
        </p:nvSpPr>
        <p:spPr>
          <a:xfrm>
            <a:off x="2011680" y="2083308"/>
            <a:ext cx="54864" cy="665988"/>
          </a:xfrm>
          <a:prstGeom prst="rect">
            <a:avLst/>
          </a:prstGeom>
          <a:solidFill>
            <a:srgbClr val="0F1B2D"/>
          </a:solidFill>
          <a:ln/>
        </p:spPr>
      </p:sp>
      <p:sp>
        <p:nvSpPr>
          <p:cNvPr id="57" name="Text 50"/>
          <p:cNvSpPr txBox="1"/>
          <p:nvPr/>
        </p:nvSpPr>
        <p:spPr>
          <a:xfrm>
            <a:off x="2176272" y="2147316"/>
            <a:ext cx="7680960" cy="237744"/>
          </a:xfrm>
          <a:prstGeom prst="rect">
            <a:avLst/>
          </a:prstGeom>
          <a:noFill/>
          <a:ln/>
        </p:spPr>
        <p:txBody>
          <a:bodyPr wrap="square" lIns="0" tIns="0" rIns="0" bIns="0" rtlCol="0" anchor="t"/>
          <a:lstStyle/>
          <a:p>
            <a:pPr indent="0" marL="0">
              <a:buNone/>
            </a:pPr>
            <a:r>
              <a:rPr lang="en-US" sz="800" b="1" spc="300" kern="0" dirty="0">
                <a:solidFill>
                  <a:srgbClr val="0F1B2D"/>
                </a:solidFill>
                <a:latin typeface="Calibri" pitchFamily="34" charset="0"/>
                <a:ea typeface="Calibri" pitchFamily="34" charset="-122"/>
                <a:cs typeface="Calibri" pitchFamily="34" charset="-120"/>
              </a:rPr>
              <a:t>ACCESS &amp; IDENTITY</a:t>
            </a:r>
            <a:endParaRPr lang="en-US" sz="800" dirty="0"/>
          </a:p>
        </p:txBody>
      </p:sp>
      <p:sp>
        <p:nvSpPr>
          <p:cNvPr id="58" name="Shape 51"/>
          <p:cNvSpPr/>
          <p:nvPr/>
        </p:nvSpPr>
        <p:spPr>
          <a:xfrm>
            <a:off x="2176272" y="2357628"/>
            <a:ext cx="1865376" cy="336804"/>
          </a:xfrm>
          <a:prstGeom prst="rect">
            <a:avLst/>
          </a:prstGeom>
          <a:solidFill>
            <a:srgbClr val="FFFFFF"/>
          </a:solidFill>
          <a:ln w="9525">
            <a:solidFill>
              <a:srgbClr val="CCD3DD"/>
            </a:solidFill>
            <a:prstDash val="solid"/>
          </a:ln>
        </p:spPr>
      </p:sp>
      <p:sp>
        <p:nvSpPr>
          <p:cNvPr id="59" name="Text 52"/>
          <p:cNvSpPr txBox="1"/>
          <p:nvPr/>
        </p:nvSpPr>
        <p:spPr>
          <a:xfrm>
            <a:off x="2249424"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PMI POLICIES</a:t>
            </a:r>
            <a:endParaRPr lang="en-US" sz="700" dirty="0"/>
          </a:p>
        </p:txBody>
      </p:sp>
      <p:sp>
        <p:nvSpPr>
          <p:cNvPr id="60" name="Text 53"/>
          <p:cNvSpPr txBox="1"/>
          <p:nvPr/>
        </p:nvSpPr>
        <p:spPr>
          <a:xfrm>
            <a:off x="2249424"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ccm-ondemand-[env]-users</a:t>
            </a:r>
            <a:endParaRPr lang="en-US" sz="750" dirty="0"/>
          </a:p>
        </p:txBody>
      </p:sp>
      <p:sp>
        <p:nvSpPr>
          <p:cNvPr id="61" name="Shape 54"/>
          <p:cNvSpPr/>
          <p:nvPr/>
        </p:nvSpPr>
        <p:spPr>
          <a:xfrm>
            <a:off x="4114800" y="2357628"/>
            <a:ext cx="1865376" cy="336804"/>
          </a:xfrm>
          <a:prstGeom prst="rect">
            <a:avLst/>
          </a:prstGeom>
          <a:solidFill>
            <a:srgbClr val="FFFFFF"/>
          </a:solidFill>
          <a:ln w="9525">
            <a:solidFill>
              <a:srgbClr val="CCD3DD"/>
            </a:solidFill>
            <a:prstDash val="solid"/>
          </a:ln>
        </p:spPr>
      </p:sp>
      <p:sp>
        <p:nvSpPr>
          <p:cNvPr id="62" name="Text 55"/>
          <p:cNvSpPr txBox="1"/>
          <p:nvPr/>
        </p:nvSpPr>
        <p:spPr>
          <a:xfrm>
            <a:off x="4187952"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TOKEN VALIDATION</a:t>
            </a:r>
            <a:endParaRPr lang="en-US" sz="700" dirty="0"/>
          </a:p>
        </p:txBody>
      </p:sp>
      <p:sp>
        <p:nvSpPr>
          <p:cNvPr id="63" name="Text 56"/>
          <p:cNvSpPr txBox="1"/>
          <p:nvPr/>
        </p:nvSpPr>
        <p:spPr>
          <a:xfrm>
            <a:off x="4187952"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JWT + role</a:t>
            </a:r>
            <a:endParaRPr lang="en-US" sz="750" dirty="0"/>
          </a:p>
        </p:txBody>
      </p:sp>
      <p:sp>
        <p:nvSpPr>
          <p:cNvPr id="64" name="Shape 57"/>
          <p:cNvSpPr/>
          <p:nvPr/>
        </p:nvSpPr>
        <p:spPr>
          <a:xfrm>
            <a:off x="6053328" y="2357628"/>
            <a:ext cx="1865376" cy="336804"/>
          </a:xfrm>
          <a:prstGeom prst="rect">
            <a:avLst/>
          </a:prstGeom>
          <a:solidFill>
            <a:srgbClr val="FFFFFF"/>
          </a:solidFill>
          <a:ln w="9525">
            <a:solidFill>
              <a:srgbClr val="CCD3DD"/>
            </a:solidFill>
            <a:prstDash val="solid"/>
          </a:ln>
        </p:spPr>
      </p:sp>
      <p:sp>
        <p:nvSpPr>
          <p:cNvPr id="65" name="Text 58"/>
          <p:cNvSpPr txBox="1"/>
          <p:nvPr/>
        </p:nvSpPr>
        <p:spPr>
          <a:xfrm>
            <a:off x="6126480"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REQUEST VALIDATION</a:t>
            </a:r>
            <a:endParaRPr lang="en-US" sz="700" dirty="0"/>
          </a:p>
        </p:txBody>
      </p:sp>
      <p:sp>
        <p:nvSpPr>
          <p:cNvPr id="66" name="Text 59"/>
          <p:cNvSpPr txBox="1"/>
          <p:nvPr/>
        </p:nvSpPr>
        <p:spPr>
          <a:xfrm>
            <a:off x="6126480"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Request and entitlements</a:t>
            </a:r>
            <a:endParaRPr lang="en-US" sz="750" dirty="0"/>
          </a:p>
        </p:txBody>
      </p:sp>
      <p:sp>
        <p:nvSpPr>
          <p:cNvPr id="67" name="Shape 60"/>
          <p:cNvSpPr/>
          <p:nvPr/>
        </p:nvSpPr>
        <p:spPr>
          <a:xfrm>
            <a:off x="7991856" y="2357628"/>
            <a:ext cx="1865376" cy="336804"/>
          </a:xfrm>
          <a:prstGeom prst="rect">
            <a:avLst/>
          </a:prstGeom>
          <a:solidFill>
            <a:srgbClr val="FFFFFF"/>
          </a:solidFill>
          <a:ln w="9525">
            <a:solidFill>
              <a:srgbClr val="CCD3DD"/>
            </a:solidFill>
            <a:prstDash val="solid"/>
          </a:ln>
        </p:spPr>
      </p:sp>
      <p:sp>
        <p:nvSpPr>
          <p:cNvPr id="68" name="Text 61"/>
          <p:cNvSpPr txBox="1"/>
          <p:nvPr/>
        </p:nvSpPr>
        <p:spPr>
          <a:xfrm>
            <a:off x="8065008" y="2385060"/>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DATAPOWER GATEWAY</a:t>
            </a:r>
            <a:endParaRPr lang="en-US" sz="700" dirty="0"/>
          </a:p>
        </p:txBody>
      </p:sp>
      <p:sp>
        <p:nvSpPr>
          <p:cNvPr id="69" name="Text 62"/>
          <p:cNvSpPr txBox="1"/>
          <p:nvPr/>
        </p:nvSpPr>
        <p:spPr>
          <a:xfrm>
            <a:off x="8065008" y="2522220"/>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api.bcbsfl.com, basic auth ext</a:t>
            </a:r>
            <a:endParaRPr lang="en-US" sz="750" dirty="0"/>
          </a:p>
        </p:txBody>
      </p:sp>
      <p:sp>
        <p:nvSpPr>
          <p:cNvPr id="70" name="Shape 63"/>
          <p:cNvSpPr/>
          <p:nvPr/>
        </p:nvSpPr>
        <p:spPr>
          <a:xfrm>
            <a:off x="2011680" y="2813304"/>
            <a:ext cx="7955280" cy="665988"/>
          </a:xfrm>
          <a:prstGeom prst="rect">
            <a:avLst/>
          </a:prstGeom>
          <a:solidFill>
            <a:srgbClr val="EEF0F3"/>
          </a:solidFill>
          <a:ln/>
        </p:spPr>
      </p:sp>
      <p:sp>
        <p:nvSpPr>
          <p:cNvPr id="71" name="Shape 64"/>
          <p:cNvSpPr/>
          <p:nvPr/>
        </p:nvSpPr>
        <p:spPr>
          <a:xfrm>
            <a:off x="2011680" y="2813304"/>
            <a:ext cx="7955280" cy="54864"/>
          </a:xfrm>
          <a:prstGeom prst="rect">
            <a:avLst/>
          </a:prstGeom>
          <a:solidFill>
            <a:srgbClr val="2F86C8"/>
          </a:solidFill>
          <a:ln/>
        </p:spPr>
      </p:sp>
      <p:sp>
        <p:nvSpPr>
          <p:cNvPr id="72" name="Shape 65"/>
          <p:cNvSpPr/>
          <p:nvPr/>
        </p:nvSpPr>
        <p:spPr>
          <a:xfrm>
            <a:off x="2011680" y="2813304"/>
            <a:ext cx="54864" cy="665988"/>
          </a:xfrm>
          <a:prstGeom prst="rect">
            <a:avLst/>
          </a:prstGeom>
          <a:solidFill>
            <a:srgbClr val="2F86C8"/>
          </a:solidFill>
          <a:ln/>
        </p:spPr>
      </p:sp>
      <p:sp>
        <p:nvSpPr>
          <p:cNvPr id="73" name="Text 66"/>
          <p:cNvSpPr txBox="1"/>
          <p:nvPr/>
        </p:nvSpPr>
        <p:spPr>
          <a:xfrm>
            <a:off x="2176272" y="2877312"/>
            <a:ext cx="7680960" cy="237744"/>
          </a:xfrm>
          <a:prstGeom prst="rect">
            <a:avLst/>
          </a:prstGeom>
          <a:noFill/>
          <a:ln/>
        </p:spPr>
        <p:txBody>
          <a:bodyPr wrap="square" lIns="0" tIns="0" rIns="0" bIns="0" rtlCol="0" anchor="t"/>
          <a:lstStyle/>
          <a:p>
            <a:pPr indent="0" marL="0">
              <a:buNone/>
            </a:pPr>
            <a:r>
              <a:rPr lang="en-US" sz="800" b="1" spc="300" kern="0" dirty="0">
                <a:solidFill>
                  <a:srgbClr val="2F86C8"/>
                </a:solidFill>
                <a:latin typeface="Calibri" pitchFamily="34" charset="0"/>
                <a:ea typeface="Calibri" pitchFamily="34" charset="-122"/>
                <a:cs typeface="Calibri" pitchFamily="34" charset="-120"/>
              </a:rPr>
              <a:t>EXPERIENCE</a:t>
            </a:r>
            <a:endParaRPr lang="en-US" sz="800" dirty="0"/>
          </a:p>
        </p:txBody>
      </p:sp>
      <p:sp>
        <p:nvSpPr>
          <p:cNvPr id="74" name="Shape 67"/>
          <p:cNvSpPr/>
          <p:nvPr/>
        </p:nvSpPr>
        <p:spPr>
          <a:xfrm>
            <a:off x="2176272" y="3087624"/>
            <a:ext cx="1865376" cy="336804"/>
          </a:xfrm>
          <a:prstGeom prst="rect">
            <a:avLst/>
          </a:prstGeom>
          <a:solidFill>
            <a:srgbClr val="FFFFFF"/>
          </a:solidFill>
          <a:ln w="9525">
            <a:solidFill>
              <a:srgbClr val="CCD3DD"/>
            </a:solidFill>
            <a:prstDash val="solid"/>
          </a:ln>
        </p:spPr>
      </p:sp>
      <p:sp>
        <p:nvSpPr>
          <p:cNvPr id="75" name="Text 68"/>
          <p:cNvSpPr txBox="1"/>
          <p:nvPr/>
        </p:nvSpPr>
        <p:spPr>
          <a:xfrm>
            <a:off x="2249424" y="3115056"/>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RECON DASHBOARD</a:t>
            </a:r>
            <a:endParaRPr lang="en-US" sz="700" dirty="0"/>
          </a:p>
        </p:txBody>
      </p:sp>
      <p:sp>
        <p:nvSpPr>
          <p:cNvPr id="76" name="Text 69"/>
          <p:cNvSpPr txBox="1"/>
          <p:nvPr/>
        </p:nvSpPr>
        <p:spPr>
          <a:xfrm>
            <a:off x="2249424" y="3252216"/>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Business self-service</a:t>
            </a:r>
            <a:endParaRPr lang="en-US" sz="750" dirty="0"/>
          </a:p>
        </p:txBody>
      </p:sp>
      <p:sp>
        <p:nvSpPr>
          <p:cNvPr id="77" name="Shape 70"/>
          <p:cNvSpPr/>
          <p:nvPr/>
        </p:nvSpPr>
        <p:spPr>
          <a:xfrm>
            <a:off x="4114800" y="3087624"/>
            <a:ext cx="1865376" cy="336804"/>
          </a:xfrm>
          <a:prstGeom prst="rect">
            <a:avLst/>
          </a:prstGeom>
          <a:solidFill>
            <a:srgbClr val="FFFFFF"/>
          </a:solidFill>
          <a:ln w="9525">
            <a:solidFill>
              <a:srgbClr val="CCD3DD"/>
            </a:solidFill>
            <a:prstDash val="solid"/>
          </a:ln>
        </p:spPr>
      </p:sp>
      <p:sp>
        <p:nvSpPr>
          <p:cNvPr id="78" name="Text 71"/>
          <p:cNvSpPr txBox="1"/>
          <p:nvPr/>
        </p:nvSpPr>
        <p:spPr>
          <a:xfrm>
            <a:off x="4187952" y="3115056"/>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ON-DEMAND REUSABLE UI</a:t>
            </a:r>
            <a:endParaRPr lang="en-US" sz="700" dirty="0"/>
          </a:p>
        </p:txBody>
      </p:sp>
      <p:sp>
        <p:nvSpPr>
          <p:cNvPr id="79" name="Text 72"/>
          <p:cNvSpPr txBox="1"/>
          <p:nvPr/>
        </p:nvSpPr>
        <p:spPr>
          <a:xfrm>
            <a:off x="4187952" y="3252216"/>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Staff letter builder</a:t>
            </a:r>
            <a:endParaRPr lang="en-US" sz="750" dirty="0"/>
          </a:p>
        </p:txBody>
      </p:sp>
      <p:sp>
        <p:nvSpPr>
          <p:cNvPr id="80" name="Shape 73"/>
          <p:cNvSpPr/>
          <p:nvPr/>
        </p:nvSpPr>
        <p:spPr>
          <a:xfrm>
            <a:off x="6053328" y="3087624"/>
            <a:ext cx="1865376" cy="336804"/>
          </a:xfrm>
          <a:prstGeom prst="rect">
            <a:avLst/>
          </a:prstGeom>
          <a:solidFill>
            <a:srgbClr val="FFFFFF"/>
          </a:solidFill>
          <a:ln w="9525">
            <a:solidFill>
              <a:srgbClr val="CCD3DD"/>
            </a:solidFill>
            <a:prstDash val="solid"/>
          </a:ln>
        </p:spPr>
      </p:sp>
      <p:sp>
        <p:nvSpPr>
          <p:cNvPr id="81" name="Text 74"/>
          <p:cNvSpPr txBox="1"/>
          <p:nvPr/>
        </p:nvSpPr>
        <p:spPr>
          <a:xfrm>
            <a:off x="6126480" y="3115056"/>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INSPIRE INTERACTIVE</a:t>
            </a:r>
            <a:endParaRPr lang="en-US" sz="700" dirty="0"/>
          </a:p>
        </p:txBody>
      </p:sp>
      <p:sp>
        <p:nvSpPr>
          <p:cNvPr id="82" name="Text 75"/>
          <p:cNvSpPr txBox="1"/>
          <p:nvPr/>
        </p:nvSpPr>
        <p:spPr>
          <a:xfrm>
            <a:off x="6126480" y="3252216"/>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Authoring, approval</a:t>
            </a:r>
            <a:endParaRPr lang="en-US" sz="750" dirty="0"/>
          </a:p>
        </p:txBody>
      </p:sp>
      <p:sp>
        <p:nvSpPr>
          <p:cNvPr id="83" name="Shape 76"/>
          <p:cNvSpPr/>
          <p:nvPr/>
        </p:nvSpPr>
        <p:spPr>
          <a:xfrm>
            <a:off x="7991856" y="3087624"/>
            <a:ext cx="1865376" cy="336804"/>
          </a:xfrm>
          <a:prstGeom prst="rect">
            <a:avLst/>
          </a:prstGeom>
          <a:solidFill>
            <a:srgbClr val="FFFFFF"/>
          </a:solidFill>
          <a:ln w="9525">
            <a:solidFill>
              <a:srgbClr val="CCD3DD"/>
            </a:solidFill>
            <a:prstDash val="solid"/>
          </a:ln>
        </p:spPr>
      </p:sp>
      <p:sp>
        <p:nvSpPr>
          <p:cNvPr id="84" name="Text 77"/>
          <p:cNvSpPr txBox="1"/>
          <p:nvPr/>
        </p:nvSpPr>
        <p:spPr>
          <a:xfrm>
            <a:off x="8065008" y="3115056"/>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POWER BI REPORTS</a:t>
            </a:r>
            <a:endParaRPr lang="en-US" sz="700" dirty="0"/>
          </a:p>
        </p:txBody>
      </p:sp>
      <p:sp>
        <p:nvSpPr>
          <p:cNvPr id="85" name="Text 78"/>
          <p:cNvSpPr txBox="1"/>
          <p:nvPr/>
        </p:nvSpPr>
        <p:spPr>
          <a:xfrm>
            <a:off x="8065008" y="3252216"/>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Audit reporting</a:t>
            </a:r>
            <a:endParaRPr lang="en-US" sz="750" dirty="0"/>
          </a:p>
        </p:txBody>
      </p:sp>
      <p:sp>
        <p:nvSpPr>
          <p:cNvPr id="86" name="Shape 79"/>
          <p:cNvSpPr/>
          <p:nvPr/>
        </p:nvSpPr>
        <p:spPr>
          <a:xfrm>
            <a:off x="2011680" y="3543300"/>
            <a:ext cx="7955280" cy="665988"/>
          </a:xfrm>
          <a:prstGeom prst="rect">
            <a:avLst/>
          </a:prstGeom>
          <a:solidFill>
            <a:srgbClr val="EEF0F3"/>
          </a:solidFill>
          <a:ln/>
        </p:spPr>
      </p:sp>
      <p:sp>
        <p:nvSpPr>
          <p:cNvPr id="87" name="Shape 80"/>
          <p:cNvSpPr/>
          <p:nvPr/>
        </p:nvSpPr>
        <p:spPr>
          <a:xfrm>
            <a:off x="2011680" y="3543300"/>
            <a:ext cx="7955280" cy="54864"/>
          </a:xfrm>
          <a:prstGeom prst="rect">
            <a:avLst/>
          </a:prstGeom>
          <a:solidFill>
            <a:srgbClr val="E8612C"/>
          </a:solidFill>
          <a:ln/>
        </p:spPr>
      </p:sp>
      <p:sp>
        <p:nvSpPr>
          <p:cNvPr id="88" name="Shape 81"/>
          <p:cNvSpPr/>
          <p:nvPr/>
        </p:nvSpPr>
        <p:spPr>
          <a:xfrm>
            <a:off x="2011680" y="3543300"/>
            <a:ext cx="54864" cy="665988"/>
          </a:xfrm>
          <a:prstGeom prst="rect">
            <a:avLst/>
          </a:prstGeom>
          <a:solidFill>
            <a:srgbClr val="E8612C"/>
          </a:solidFill>
          <a:ln/>
        </p:spPr>
      </p:sp>
      <p:sp>
        <p:nvSpPr>
          <p:cNvPr id="89" name="Text 82"/>
          <p:cNvSpPr txBox="1"/>
          <p:nvPr/>
        </p:nvSpPr>
        <p:spPr>
          <a:xfrm>
            <a:off x="2176272" y="3607308"/>
            <a:ext cx="7680960" cy="237744"/>
          </a:xfrm>
          <a:prstGeom prst="rect">
            <a:avLst/>
          </a:prstGeom>
          <a:noFill/>
          <a:ln/>
        </p:spPr>
        <p:txBody>
          <a:bodyPr wrap="square" lIns="0" tIns="0" rIns="0" bIns="0" rtlCol="0" anchor="t"/>
          <a:lstStyle/>
          <a:p>
            <a:pPr indent="0" marL="0">
              <a:buNone/>
            </a:pPr>
            <a:r>
              <a:rPr lang="en-US" sz="800" b="1" spc="300" kern="0" dirty="0">
                <a:solidFill>
                  <a:srgbClr val="E8612C"/>
                </a:solidFill>
                <a:latin typeface="Calibri" pitchFamily="34" charset="0"/>
                <a:ea typeface="Calibri" pitchFamily="34" charset="-122"/>
                <a:cs typeface="Calibri" pitchFamily="34" charset="-120"/>
              </a:rPr>
              <a:t>APPLICATION SERVICES</a:t>
            </a:r>
            <a:endParaRPr lang="en-US" sz="800" dirty="0"/>
          </a:p>
        </p:txBody>
      </p:sp>
      <p:sp>
        <p:nvSpPr>
          <p:cNvPr id="90" name="Shape 83"/>
          <p:cNvSpPr/>
          <p:nvPr/>
        </p:nvSpPr>
        <p:spPr>
          <a:xfrm>
            <a:off x="2176272" y="3817620"/>
            <a:ext cx="1477670" cy="336804"/>
          </a:xfrm>
          <a:prstGeom prst="rect">
            <a:avLst/>
          </a:prstGeom>
          <a:solidFill>
            <a:srgbClr val="FFFFFF"/>
          </a:solidFill>
          <a:ln w="9525">
            <a:solidFill>
              <a:srgbClr val="CCD3DD"/>
            </a:solidFill>
            <a:prstDash val="solid"/>
          </a:ln>
        </p:spPr>
      </p:sp>
      <p:sp>
        <p:nvSpPr>
          <p:cNvPr id="91" name="Text 84"/>
          <p:cNvSpPr txBox="1"/>
          <p:nvPr/>
        </p:nvSpPr>
        <p:spPr>
          <a:xfrm>
            <a:off x="2249424" y="3845052"/>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CCM API</a:t>
            </a:r>
            <a:endParaRPr lang="en-US" sz="700" dirty="0"/>
          </a:p>
        </p:txBody>
      </p:sp>
      <p:sp>
        <p:nvSpPr>
          <p:cNvPr id="92" name="Text 85"/>
          <p:cNvSpPr txBox="1"/>
          <p:nvPr/>
        </p:nvSpPr>
        <p:spPr>
          <a:xfrm>
            <a:off x="2249424" y="3982212"/>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Real-time REST</a:t>
            </a:r>
            <a:endParaRPr lang="en-US" sz="750" dirty="0"/>
          </a:p>
        </p:txBody>
      </p:sp>
      <p:sp>
        <p:nvSpPr>
          <p:cNvPr id="93" name="Shape 86"/>
          <p:cNvSpPr/>
          <p:nvPr/>
        </p:nvSpPr>
        <p:spPr>
          <a:xfrm>
            <a:off x="3727094" y="3817620"/>
            <a:ext cx="1477670" cy="336804"/>
          </a:xfrm>
          <a:prstGeom prst="rect">
            <a:avLst/>
          </a:prstGeom>
          <a:solidFill>
            <a:srgbClr val="FFFFFF"/>
          </a:solidFill>
          <a:ln w="9525">
            <a:solidFill>
              <a:srgbClr val="CCD3DD"/>
            </a:solidFill>
            <a:prstDash val="solid"/>
          </a:ln>
        </p:spPr>
      </p:sp>
      <p:sp>
        <p:nvSpPr>
          <p:cNvPr id="94" name="Text 87"/>
          <p:cNvSpPr txBox="1"/>
          <p:nvPr/>
        </p:nvSpPr>
        <p:spPr>
          <a:xfrm>
            <a:off x="3800246" y="3845052"/>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PREPROCESSOR</a:t>
            </a:r>
            <a:endParaRPr lang="en-US" sz="700" dirty="0"/>
          </a:p>
        </p:txBody>
      </p:sp>
      <p:sp>
        <p:nvSpPr>
          <p:cNvPr id="95" name="Text 88"/>
          <p:cNvSpPr txBox="1"/>
          <p:nvPr/>
        </p:nvSpPr>
        <p:spPr>
          <a:xfrm>
            <a:off x="3800246" y="3982212"/>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Batch, Comm Request</a:t>
            </a:r>
            <a:endParaRPr lang="en-US" sz="750" dirty="0"/>
          </a:p>
        </p:txBody>
      </p:sp>
      <p:sp>
        <p:nvSpPr>
          <p:cNvPr id="96" name="Shape 89"/>
          <p:cNvSpPr/>
          <p:nvPr/>
        </p:nvSpPr>
        <p:spPr>
          <a:xfrm>
            <a:off x="5277917" y="3817620"/>
            <a:ext cx="1477670" cy="336804"/>
          </a:xfrm>
          <a:prstGeom prst="rect">
            <a:avLst/>
          </a:prstGeom>
          <a:solidFill>
            <a:srgbClr val="FFFFFF"/>
          </a:solidFill>
          <a:ln w="9525">
            <a:solidFill>
              <a:srgbClr val="CCD3DD"/>
            </a:solidFill>
            <a:prstDash val="solid"/>
          </a:ln>
        </p:spPr>
      </p:sp>
      <p:sp>
        <p:nvSpPr>
          <p:cNvPr id="97" name="Text 90"/>
          <p:cNvSpPr txBox="1"/>
          <p:nvPr/>
        </p:nvSpPr>
        <p:spPr>
          <a:xfrm>
            <a:off x="5351069" y="3845052"/>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URL SHORTENER</a:t>
            </a:r>
            <a:endParaRPr lang="en-US" sz="700" dirty="0"/>
          </a:p>
        </p:txBody>
      </p:sp>
      <p:sp>
        <p:nvSpPr>
          <p:cNvPr id="98" name="Text 91"/>
          <p:cNvSpPr txBox="1"/>
          <p:nvPr/>
        </p:nvSpPr>
        <p:spPr>
          <a:xfrm>
            <a:off x="5351069" y="3982212"/>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Base62 short links</a:t>
            </a:r>
            <a:endParaRPr lang="en-US" sz="750" dirty="0"/>
          </a:p>
        </p:txBody>
      </p:sp>
      <p:sp>
        <p:nvSpPr>
          <p:cNvPr id="99" name="Shape 92"/>
          <p:cNvSpPr/>
          <p:nvPr/>
        </p:nvSpPr>
        <p:spPr>
          <a:xfrm>
            <a:off x="6828739" y="3817620"/>
            <a:ext cx="1477670" cy="336804"/>
          </a:xfrm>
          <a:prstGeom prst="rect">
            <a:avLst/>
          </a:prstGeom>
          <a:solidFill>
            <a:srgbClr val="FFFFFF"/>
          </a:solidFill>
          <a:ln w="9525">
            <a:solidFill>
              <a:srgbClr val="CCD3DD"/>
            </a:solidFill>
            <a:prstDash val="solid"/>
          </a:ln>
        </p:spPr>
      </p:sp>
      <p:sp>
        <p:nvSpPr>
          <p:cNvPr id="100" name="Text 93"/>
          <p:cNvSpPr txBox="1"/>
          <p:nvPr/>
        </p:nvSpPr>
        <p:spPr>
          <a:xfrm>
            <a:off x="6901891" y="3845052"/>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KAFKA SERVICES</a:t>
            </a:r>
            <a:endParaRPr lang="en-US" sz="700" dirty="0"/>
          </a:p>
        </p:txBody>
      </p:sp>
      <p:sp>
        <p:nvSpPr>
          <p:cNvPr id="101" name="Text 94"/>
          <p:cNvSpPr txBox="1"/>
          <p:nvPr/>
        </p:nvSpPr>
        <p:spPr>
          <a:xfrm>
            <a:off x="6901891" y="3982212"/>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Content ID events</a:t>
            </a:r>
            <a:endParaRPr lang="en-US" sz="750" dirty="0"/>
          </a:p>
        </p:txBody>
      </p:sp>
      <p:sp>
        <p:nvSpPr>
          <p:cNvPr id="102" name="Shape 95"/>
          <p:cNvSpPr/>
          <p:nvPr/>
        </p:nvSpPr>
        <p:spPr>
          <a:xfrm>
            <a:off x="8379562" y="3817620"/>
            <a:ext cx="1477670" cy="336804"/>
          </a:xfrm>
          <a:prstGeom prst="rect">
            <a:avLst/>
          </a:prstGeom>
          <a:solidFill>
            <a:srgbClr val="FFFFFF"/>
          </a:solidFill>
          <a:ln w="9525">
            <a:solidFill>
              <a:srgbClr val="CCD3DD"/>
            </a:solidFill>
            <a:prstDash val="solid"/>
          </a:ln>
        </p:spPr>
      </p:sp>
      <p:sp>
        <p:nvSpPr>
          <p:cNvPr id="103" name="Text 96"/>
          <p:cNvSpPr txBox="1"/>
          <p:nvPr/>
        </p:nvSpPr>
        <p:spPr>
          <a:xfrm>
            <a:off x="8452714" y="3845052"/>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RECON SERVICES</a:t>
            </a:r>
            <a:endParaRPr lang="en-US" sz="700" dirty="0"/>
          </a:p>
        </p:txBody>
      </p:sp>
      <p:sp>
        <p:nvSpPr>
          <p:cNvPr id="104" name="Text 97"/>
          <p:cNvSpPr txBox="1"/>
          <p:nvPr/>
        </p:nvSpPr>
        <p:spPr>
          <a:xfrm>
            <a:off x="8452714" y="3982212"/>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Load, touchpoints</a:t>
            </a:r>
            <a:endParaRPr lang="en-US" sz="750" dirty="0"/>
          </a:p>
        </p:txBody>
      </p:sp>
      <p:sp>
        <p:nvSpPr>
          <p:cNvPr id="105" name="Shape 98"/>
          <p:cNvSpPr/>
          <p:nvPr/>
        </p:nvSpPr>
        <p:spPr>
          <a:xfrm>
            <a:off x="2011680" y="4273296"/>
            <a:ext cx="7955280" cy="665988"/>
          </a:xfrm>
          <a:prstGeom prst="rect">
            <a:avLst/>
          </a:prstGeom>
          <a:solidFill>
            <a:srgbClr val="EEF0F3"/>
          </a:solidFill>
          <a:ln/>
        </p:spPr>
      </p:sp>
      <p:sp>
        <p:nvSpPr>
          <p:cNvPr id="106" name="Shape 99"/>
          <p:cNvSpPr/>
          <p:nvPr/>
        </p:nvSpPr>
        <p:spPr>
          <a:xfrm>
            <a:off x="2011680" y="4273296"/>
            <a:ext cx="7955280" cy="54864"/>
          </a:xfrm>
          <a:prstGeom prst="rect">
            <a:avLst/>
          </a:prstGeom>
          <a:solidFill>
            <a:srgbClr val="5B2BC8"/>
          </a:solidFill>
          <a:ln/>
        </p:spPr>
      </p:sp>
      <p:sp>
        <p:nvSpPr>
          <p:cNvPr id="107" name="Shape 100"/>
          <p:cNvSpPr/>
          <p:nvPr/>
        </p:nvSpPr>
        <p:spPr>
          <a:xfrm>
            <a:off x="2011680" y="4273296"/>
            <a:ext cx="54864" cy="665988"/>
          </a:xfrm>
          <a:prstGeom prst="rect">
            <a:avLst/>
          </a:prstGeom>
          <a:solidFill>
            <a:srgbClr val="5B2BC8"/>
          </a:solidFill>
          <a:ln/>
        </p:spPr>
      </p:sp>
      <p:sp>
        <p:nvSpPr>
          <p:cNvPr id="108" name="Text 101"/>
          <p:cNvSpPr txBox="1"/>
          <p:nvPr/>
        </p:nvSpPr>
        <p:spPr>
          <a:xfrm>
            <a:off x="2176272" y="4337304"/>
            <a:ext cx="7680960" cy="237744"/>
          </a:xfrm>
          <a:prstGeom prst="rect">
            <a:avLst/>
          </a:prstGeom>
          <a:noFill/>
          <a:ln/>
        </p:spPr>
        <p:txBody>
          <a:bodyPr wrap="square" lIns="0" tIns="0" rIns="0" bIns="0" rtlCol="0" anchor="t"/>
          <a:lstStyle/>
          <a:p>
            <a:pPr indent="0" marL="0">
              <a:buNone/>
            </a:pPr>
            <a:r>
              <a:rPr lang="en-US" sz="800" b="1" spc="300" kern="0" dirty="0">
                <a:solidFill>
                  <a:srgbClr val="5B2BC8"/>
                </a:solidFill>
                <a:latin typeface="Calibri" pitchFamily="34" charset="0"/>
                <a:ea typeface="Calibri" pitchFamily="34" charset="-122"/>
                <a:cs typeface="Calibri" pitchFamily="34" charset="-120"/>
              </a:rPr>
              <a:t>COMPOSITION · INSPIRE R15</a:t>
            </a:r>
            <a:endParaRPr lang="en-US" sz="800" dirty="0"/>
          </a:p>
        </p:txBody>
      </p:sp>
      <p:sp>
        <p:nvSpPr>
          <p:cNvPr id="109" name="Shape 102"/>
          <p:cNvSpPr/>
          <p:nvPr/>
        </p:nvSpPr>
        <p:spPr>
          <a:xfrm>
            <a:off x="2176272" y="4547616"/>
            <a:ext cx="1477670" cy="336804"/>
          </a:xfrm>
          <a:prstGeom prst="rect">
            <a:avLst/>
          </a:prstGeom>
          <a:solidFill>
            <a:srgbClr val="FFFFFF"/>
          </a:solidFill>
          <a:ln w="9525">
            <a:solidFill>
              <a:srgbClr val="CCD3DD"/>
            </a:solidFill>
            <a:prstDash val="solid"/>
          </a:ln>
        </p:spPr>
      </p:sp>
      <p:sp>
        <p:nvSpPr>
          <p:cNvPr id="110" name="Text 103"/>
          <p:cNvSpPr txBox="1"/>
          <p:nvPr/>
        </p:nvSpPr>
        <p:spPr>
          <a:xfrm>
            <a:off x="2249424" y="4575048"/>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DESIGNER</a:t>
            </a:r>
            <a:endParaRPr lang="en-US" sz="700" dirty="0"/>
          </a:p>
        </p:txBody>
      </p:sp>
      <p:sp>
        <p:nvSpPr>
          <p:cNvPr id="111" name="Text 104"/>
          <p:cNvSpPr txBox="1"/>
          <p:nvPr/>
        </p:nvSpPr>
        <p:spPr>
          <a:xfrm>
            <a:off x="2249424" y="4712208"/>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Template design</a:t>
            </a:r>
            <a:endParaRPr lang="en-US" sz="750" dirty="0"/>
          </a:p>
        </p:txBody>
      </p:sp>
      <p:sp>
        <p:nvSpPr>
          <p:cNvPr id="112" name="Shape 105"/>
          <p:cNvSpPr/>
          <p:nvPr/>
        </p:nvSpPr>
        <p:spPr>
          <a:xfrm>
            <a:off x="3727094" y="4547616"/>
            <a:ext cx="1477670" cy="336804"/>
          </a:xfrm>
          <a:prstGeom prst="rect">
            <a:avLst/>
          </a:prstGeom>
          <a:solidFill>
            <a:srgbClr val="FFFFFF"/>
          </a:solidFill>
          <a:ln w="9525">
            <a:solidFill>
              <a:srgbClr val="CCD3DD"/>
            </a:solidFill>
            <a:prstDash val="solid"/>
          </a:ln>
        </p:spPr>
      </p:sp>
      <p:sp>
        <p:nvSpPr>
          <p:cNvPr id="113" name="Text 106"/>
          <p:cNvSpPr txBox="1"/>
          <p:nvPr/>
        </p:nvSpPr>
        <p:spPr>
          <a:xfrm>
            <a:off x="3800246" y="4575048"/>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SCALER</a:t>
            </a:r>
            <a:endParaRPr lang="en-US" sz="700" dirty="0"/>
          </a:p>
        </p:txBody>
      </p:sp>
      <p:sp>
        <p:nvSpPr>
          <p:cNvPr id="114" name="Text 107"/>
          <p:cNvSpPr txBox="1"/>
          <p:nvPr/>
        </p:nvSpPr>
        <p:spPr>
          <a:xfrm>
            <a:off x="3800246" y="4712208"/>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Hot folder, real-time</a:t>
            </a:r>
            <a:endParaRPr lang="en-US" sz="750" dirty="0"/>
          </a:p>
        </p:txBody>
      </p:sp>
      <p:sp>
        <p:nvSpPr>
          <p:cNvPr id="115" name="Shape 108"/>
          <p:cNvSpPr/>
          <p:nvPr/>
        </p:nvSpPr>
        <p:spPr>
          <a:xfrm>
            <a:off x="5277917" y="4547616"/>
            <a:ext cx="1477670" cy="336804"/>
          </a:xfrm>
          <a:prstGeom prst="rect">
            <a:avLst/>
          </a:prstGeom>
          <a:solidFill>
            <a:srgbClr val="FFFFFF"/>
          </a:solidFill>
          <a:ln w="9525">
            <a:solidFill>
              <a:srgbClr val="CCD3DD"/>
            </a:solidFill>
            <a:prstDash val="solid"/>
          </a:ln>
        </p:spPr>
      </p:sp>
      <p:sp>
        <p:nvSpPr>
          <p:cNvPr id="116" name="Text 109"/>
          <p:cNvSpPr txBox="1"/>
          <p:nvPr/>
        </p:nvSpPr>
        <p:spPr>
          <a:xfrm>
            <a:off x="5351069" y="4575048"/>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CONTENT MANAGER</a:t>
            </a:r>
            <a:endParaRPr lang="en-US" sz="700" dirty="0"/>
          </a:p>
        </p:txBody>
      </p:sp>
      <p:sp>
        <p:nvSpPr>
          <p:cNvPr id="117" name="Text 110"/>
          <p:cNvSpPr txBox="1"/>
          <p:nvPr/>
        </p:nvSpPr>
        <p:spPr>
          <a:xfrm>
            <a:off x="5351069" y="4712208"/>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Template control</a:t>
            </a:r>
            <a:endParaRPr lang="en-US" sz="750" dirty="0"/>
          </a:p>
        </p:txBody>
      </p:sp>
      <p:sp>
        <p:nvSpPr>
          <p:cNvPr id="118" name="Shape 111"/>
          <p:cNvSpPr/>
          <p:nvPr/>
        </p:nvSpPr>
        <p:spPr>
          <a:xfrm>
            <a:off x="6828739" y="4547616"/>
            <a:ext cx="1477670" cy="336804"/>
          </a:xfrm>
          <a:prstGeom prst="rect">
            <a:avLst/>
          </a:prstGeom>
          <a:solidFill>
            <a:srgbClr val="FFFFFF"/>
          </a:solidFill>
          <a:ln w="9525">
            <a:solidFill>
              <a:srgbClr val="CCD3DD"/>
            </a:solidFill>
            <a:prstDash val="solid"/>
          </a:ln>
        </p:spPr>
      </p:sp>
      <p:sp>
        <p:nvSpPr>
          <p:cNvPr id="119" name="Text 112"/>
          <p:cNvSpPr txBox="1"/>
          <p:nvPr/>
        </p:nvSpPr>
        <p:spPr>
          <a:xfrm>
            <a:off x="6901891" y="4575048"/>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PRODUCTION SERVER</a:t>
            </a:r>
            <a:endParaRPr lang="en-US" sz="700" dirty="0"/>
          </a:p>
        </p:txBody>
      </p:sp>
      <p:sp>
        <p:nvSpPr>
          <p:cNvPr id="120" name="Text 113"/>
          <p:cNvSpPr txBox="1"/>
          <p:nvPr/>
        </p:nvSpPr>
        <p:spPr>
          <a:xfrm>
            <a:off x="6901891" y="4712208"/>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Output</a:t>
            </a:r>
            <a:endParaRPr lang="en-US" sz="750" dirty="0"/>
          </a:p>
        </p:txBody>
      </p:sp>
      <p:sp>
        <p:nvSpPr>
          <p:cNvPr id="121" name="Shape 114"/>
          <p:cNvSpPr/>
          <p:nvPr/>
        </p:nvSpPr>
        <p:spPr>
          <a:xfrm>
            <a:off x="8379562" y="4547616"/>
            <a:ext cx="1477670" cy="336804"/>
          </a:xfrm>
          <a:prstGeom prst="rect">
            <a:avLst/>
          </a:prstGeom>
          <a:solidFill>
            <a:srgbClr val="FFFFFF"/>
          </a:solidFill>
          <a:ln w="9525">
            <a:solidFill>
              <a:srgbClr val="CCD3DD"/>
            </a:solidFill>
            <a:prstDash val="solid"/>
          </a:ln>
        </p:spPr>
      </p:sp>
      <p:sp>
        <p:nvSpPr>
          <p:cNvPr id="122" name="Text 115"/>
          <p:cNvSpPr txBox="1"/>
          <p:nvPr/>
        </p:nvSpPr>
        <p:spPr>
          <a:xfrm>
            <a:off x="8452714" y="4575048"/>
            <a:ext cx="1331366"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LICENSE MANAGER</a:t>
            </a:r>
            <a:endParaRPr lang="en-US" sz="700" dirty="0"/>
          </a:p>
        </p:txBody>
      </p:sp>
      <p:sp>
        <p:nvSpPr>
          <p:cNvPr id="123" name="Text 116"/>
          <p:cNvSpPr txBox="1"/>
          <p:nvPr/>
        </p:nvSpPr>
        <p:spPr>
          <a:xfrm>
            <a:off x="8452714" y="4712208"/>
            <a:ext cx="1331366"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P405–P406</a:t>
            </a:r>
            <a:endParaRPr lang="en-US" sz="750" dirty="0"/>
          </a:p>
        </p:txBody>
      </p:sp>
      <p:sp>
        <p:nvSpPr>
          <p:cNvPr id="124" name="Shape 117"/>
          <p:cNvSpPr/>
          <p:nvPr/>
        </p:nvSpPr>
        <p:spPr>
          <a:xfrm>
            <a:off x="2011680" y="5003292"/>
            <a:ext cx="7955280" cy="665988"/>
          </a:xfrm>
          <a:prstGeom prst="rect">
            <a:avLst/>
          </a:prstGeom>
          <a:solidFill>
            <a:srgbClr val="EEF0F3"/>
          </a:solidFill>
          <a:ln/>
        </p:spPr>
      </p:sp>
      <p:sp>
        <p:nvSpPr>
          <p:cNvPr id="125" name="Shape 118"/>
          <p:cNvSpPr/>
          <p:nvPr/>
        </p:nvSpPr>
        <p:spPr>
          <a:xfrm>
            <a:off x="2011680" y="5003292"/>
            <a:ext cx="7955280" cy="54864"/>
          </a:xfrm>
          <a:prstGeom prst="rect">
            <a:avLst/>
          </a:prstGeom>
          <a:solidFill>
            <a:srgbClr val="1F7A6B"/>
          </a:solidFill>
          <a:ln/>
        </p:spPr>
      </p:sp>
      <p:sp>
        <p:nvSpPr>
          <p:cNvPr id="126" name="Shape 119"/>
          <p:cNvSpPr/>
          <p:nvPr/>
        </p:nvSpPr>
        <p:spPr>
          <a:xfrm>
            <a:off x="2011680" y="5003292"/>
            <a:ext cx="54864" cy="665988"/>
          </a:xfrm>
          <a:prstGeom prst="rect">
            <a:avLst/>
          </a:prstGeom>
          <a:solidFill>
            <a:srgbClr val="1F7A6B"/>
          </a:solidFill>
          <a:ln/>
        </p:spPr>
      </p:sp>
      <p:sp>
        <p:nvSpPr>
          <p:cNvPr id="127" name="Text 120"/>
          <p:cNvSpPr txBox="1"/>
          <p:nvPr/>
        </p:nvSpPr>
        <p:spPr>
          <a:xfrm>
            <a:off x="2176272" y="5067300"/>
            <a:ext cx="7680960" cy="237744"/>
          </a:xfrm>
          <a:prstGeom prst="rect">
            <a:avLst/>
          </a:prstGeom>
          <a:noFill/>
          <a:ln/>
        </p:spPr>
        <p:txBody>
          <a:bodyPr wrap="square" lIns="0" tIns="0" rIns="0" bIns="0" rtlCol="0" anchor="t"/>
          <a:lstStyle/>
          <a:p>
            <a:pPr indent="0" marL="0">
              <a:buNone/>
            </a:pPr>
            <a:r>
              <a:rPr lang="en-US" sz="800" b="1" spc="300" kern="0" dirty="0">
                <a:solidFill>
                  <a:srgbClr val="1F7A6B"/>
                </a:solidFill>
                <a:latin typeface="Calibri" pitchFamily="34" charset="0"/>
                <a:ea typeface="Calibri" pitchFamily="34" charset="-122"/>
                <a:cs typeface="Calibri" pitchFamily="34" charset="-120"/>
              </a:rPr>
              <a:t>DATA LAYER</a:t>
            </a:r>
            <a:endParaRPr lang="en-US" sz="800" dirty="0"/>
          </a:p>
        </p:txBody>
      </p:sp>
      <p:sp>
        <p:nvSpPr>
          <p:cNvPr id="128" name="Shape 121"/>
          <p:cNvSpPr/>
          <p:nvPr/>
        </p:nvSpPr>
        <p:spPr>
          <a:xfrm>
            <a:off x="2176272" y="5277612"/>
            <a:ext cx="1865376" cy="336804"/>
          </a:xfrm>
          <a:prstGeom prst="rect">
            <a:avLst/>
          </a:prstGeom>
          <a:solidFill>
            <a:srgbClr val="FFFFFF"/>
          </a:solidFill>
          <a:ln w="9525">
            <a:solidFill>
              <a:srgbClr val="CCD3DD"/>
            </a:solidFill>
            <a:prstDash val="solid"/>
          </a:ln>
        </p:spPr>
      </p:sp>
      <p:sp>
        <p:nvSpPr>
          <p:cNvPr id="129" name="Text 122"/>
          <p:cNvSpPr txBox="1"/>
          <p:nvPr/>
        </p:nvSpPr>
        <p:spPr>
          <a:xfrm>
            <a:off x="2249424"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RECON</a:t>
            </a:r>
            <a:endParaRPr lang="en-US" sz="700" dirty="0"/>
          </a:p>
        </p:txBody>
      </p:sp>
      <p:sp>
        <p:nvSpPr>
          <p:cNvPr id="130" name="Text 123"/>
          <p:cNvSpPr txBox="1"/>
          <p:nvPr/>
        </p:nvSpPr>
        <p:spPr>
          <a:xfrm>
            <a:off x="2249424"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SQL Server 2019</a:t>
            </a:r>
            <a:endParaRPr lang="en-US" sz="750" dirty="0"/>
          </a:p>
        </p:txBody>
      </p:sp>
      <p:sp>
        <p:nvSpPr>
          <p:cNvPr id="131" name="Shape 124"/>
          <p:cNvSpPr/>
          <p:nvPr/>
        </p:nvSpPr>
        <p:spPr>
          <a:xfrm>
            <a:off x="4114800" y="5277612"/>
            <a:ext cx="1865376" cy="336804"/>
          </a:xfrm>
          <a:prstGeom prst="rect">
            <a:avLst/>
          </a:prstGeom>
          <a:solidFill>
            <a:srgbClr val="FFFFFF"/>
          </a:solidFill>
          <a:ln w="9525">
            <a:solidFill>
              <a:srgbClr val="CCD3DD"/>
            </a:solidFill>
            <a:prstDash val="solid"/>
          </a:ln>
        </p:spPr>
      </p:sp>
      <p:sp>
        <p:nvSpPr>
          <p:cNvPr id="132" name="Text 125"/>
          <p:cNvSpPr txBox="1"/>
          <p:nvPr/>
        </p:nvSpPr>
        <p:spPr>
          <a:xfrm>
            <a:off x="4187952"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P360</a:t>
            </a:r>
            <a:endParaRPr lang="en-US" sz="700" dirty="0"/>
          </a:p>
        </p:txBody>
      </p:sp>
      <p:sp>
        <p:nvSpPr>
          <p:cNvPr id="133" name="Text 126"/>
          <p:cNvSpPr txBox="1"/>
          <p:nvPr/>
        </p:nvSpPr>
        <p:spPr>
          <a:xfrm>
            <a:off x="4187952"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PostgreSQL</a:t>
            </a:r>
            <a:endParaRPr lang="en-US" sz="750" dirty="0"/>
          </a:p>
        </p:txBody>
      </p:sp>
      <p:sp>
        <p:nvSpPr>
          <p:cNvPr id="134" name="Shape 127"/>
          <p:cNvSpPr/>
          <p:nvPr/>
        </p:nvSpPr>
        <p:spPr>
          <a:xfrm>
            <a:off x="6053328" y="5277612"/>
            <a:ext cx="1865376" cy="336804"/>
          </a:xfrm>
          <a:prstGeom prst="rect">
            <a:avLst/>
          </a:prstGeom>
          <a:solidFill>
            <a:srgbClr val="FFFFFF"/>
          </a:solidFill>
          <a:ln w="9525">
            <a:solidFill>
              <a:srgbClr val="CCD3DD"/>
            </a:solidFill>
            <a:prstDash val="solid"/>
          </a:ln>
        </p:spPr>
      </p:sp>
      <p:sp>
        <p:nvSpPr>
          <p:cNvPr id="135" name="Text 128"/>
          <p:cNvSpPr txBox="1"/>
          <p:nvPr/>
        </p:nvSpPr>
        <p:spPr>
          <a:xfrm>
            <a:off x="6126480"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GWDP SAILFISH</a:t>
            </a:r>
            <a:endParaRPr lang="en-US" sz="700" dirty="0"/>
          </a:p>
        </p:txBody>
      </p:sp>
      <p:sp>
        <p:nvSpPr>
          <p:cNvPr id="136" name="Text 129"/>
          <p:cNvSpPr txBox="1"/>
          <p:nvPr/>
        </p:nvSpPr>
        <p:spPr>
          <a:xfrm>
            <a:off x="6126480"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Profile data</a:t>
            </a:r>
            <a:endParaRPr lang="en-US" sz="750" dirty="0"/>
          </a:p>
        </p:txBody>
      </p:sp>
      <p:sp>
        <p:nvSpPr>
          <p:cNvPr id="137" name="Shape 130"/>
          <p:cNvSpPr/>
          <p:nvPr/>
        </p:nvSpPr>
        <p:spPr>
          <a:xfrm>
            <a:off x="7991856" y="5277612"/>
            <a:ext cx="1865376" cy="336804"/>
          </a:xfrm>
          <a:prstGeom prst="rect">
            <a:avLst/>
          </a:prstGeom>
          <a:solidFill>
            <a:srgbClr val="FFFFFF"/>
          </a:solidFill>
          <a:ln w="9525">
            <a:solidFill>
              <a:srgbClr val="CCD3DD"/>
            </a:solidFill>
            <a:prstDash val="solid"/>
          </a:ln>
        </p:spPr>
      </p:sp>
      <p:sp>
        <p:nvSpPr>
          <p:cNvPr id="138" name="Text 131"/>
          <p:cNvSpPr txBox="1"/>
          <p:nvPr/>
        </p:nvSpPr>
        <p:spPr>
          <a:xfrm>
            <a:off x="8065008" y="5305044"/>
            <a:ext cx="1719072" cy="137160"/>
          </a:xfrm>
          <a:prstGeom prst="rect">
            <a:avLst/>
          </a:prstGeom>
          <a:noFill/>
          <a:ln/>
        </p:spPr>
        <p:txBody>
          <a:bodyPr wrap="square" lIns="0" tIns="0" rIns="0" bIns="0" rtlCol="0" anchor="t"/>
          <a:lstStyle/>
          <a:p>
            <a:pPr indent="0" marL="0">
              <a:buNone/>
            </a:pPr>
            <a:r>
              <a:rPr lang="en-US" sz="700" b="1" spc="80" kern="0" dirty="0">
                <a:solidFill>
                  <a:srgbClr val="1C2330"/>
                </a:solidFill>
                <a:latin typeface="Calibri" pitchFamily="34" charset="0"/>
                <a:ea typeface="Calibri" pitchFamily="34" charset="-122"/>
                <a:cs typeface="Calibri" pitchFamily="34" charset="-120"/>
              </a:rPr>
              <a:t>CONTENT CENTRAL</a:t>
            </a:r>
            <a:endParaRPr lang="en-US" sz="700" dirty="0"/>
          </a:p>
        </p:txBody>
      </p:sp>
      <p:sp>
        <p:nvSpPr>
          <p:cNvPr id="139" name="Text 132"/>
          <p:cNvSpPr txBox="1"/>
          <p:nvPr/>
        </p:nvSpPr>
        <p:spPr>
          <a:xfrm>
            <a:off x="8065008" y="5442204"/>
            <a:ext cx="1719072" cy="137160"/>
          </a:xfrm>
          <a:prstGeom prst="rect">
            <a:avLst/>
          </a:prstGeom>
          <a:noFill/>
          <a:ln/>
        </p:spPr>
        <p:txBody>
          <a:bodyPr wrap="square" lIns="0" tIns="0" rIns="0" bIns="0" rtlCol="0" anchor="t"/>
          <a:lstStyle/>
          <a:p>
            <a:pPr indent="0" marL="0">
              <a:buNone/>
            </a:pPr>
            <a:r>
              <a:rPr lang="en-US" sz="750" i="1" dirty="0">
                <a:solidFill>
                  <a:srgbClr val="596273"/>
                </a:solidFill>
                <a:latin typeface="Calibri" pitchFamily="34" charset="0"/>
                <a:ea typeface="Calibri" pitchFamily="34" charset="-122"/>
                <a:cs typeface="Calibri" pitchFamily="34" charset="-120"/>
              </a:rPr>
              <a:t>PDF archive</a:t>
            </a:r>
            <a:endParaRPr lang="en-US" sz="750" dirty="0"/>
          </a:p>
        </p:txBody>
      </p:sp>
      <p:sp>
        <p:nvSpPr>
          <p:cNvPr id="140" name="Shape 133"/>
          <p:cNvSpPr/>
          <p:nvPr/>
        </p:nvSpPr>
        <p:spPr>
          <a:xfrm>
            <a:off x="10104120" y="1353312"/>
            <a:ext cx="1538935" cy="45720"/>
          </a:xfrm>
          <a:prstGeom prst="rect">
            <a:avLst/>
          </a:prstGeom>
          <a:solidFill>
            <a:srgbClr val="1F4FB8"/>
          </a:solidFill>
          <a:ln/>
        </p:spPr>
      </p:sp>
      <p:sp>
        <p:nvSpPr>
          <p:cNvPr id="141" name="Text 134"/>
          <p:cNvSpPr txBox="1"/>
          <p:nvPr/>
        </p:nvSpPr>
        <p:spPr>
          <a:xfrm>
            <a:off x="10104120" y="1444752"/>
            <a:ext cx="1538935" cy="237744"/>
          </a:xfrm>
          <a:prstGeom prst="rect">
            <a:avLst/>
          </a:prstGeom>
          <a:noFill/>
          <a:ln/>
        </p:spPr>
        <p:txBody>
          <a:bodyPr wrap="square" lIns="0" tIns="0" rIns="0" bIns="0" rtlCol="0" anchor="t"/>
          <a:lstStyle/>
          <a:p>
            <a:pPr indent="0" marL="0">
              <a:buNone/>
            </a:pPr>
            <a:r>
              <a:rPr lang="en-US" sz="800" b="1" spc="300" kern="0" dirty="0">
                <a:solidFill>
                  <a:srgbClr val="3A4556"/>
                </a:solidFill>
                <a:latin typeface="Calibri" pitchFamily="34" charset="0"/>
                <a:ea typeface="Calibri" pitchFamily="34" charset="-122"/>
                <a:cs typeface="Calibri" pitchFamily="34" charset="-120"/>
              </a:rPr>
              <a:t>VENDOR ECOSYSTEM</a:t>
            </a:r>
            <a:endParaRPr lang="en-US" sz="800" dirty="0"/>
          </a:p>
        </p:txBody>
      </p:sp>
      <p:sp>
        <p:nvSpPr>
          <p:cNvPr id="142" name="Shape 135"/>
          <p:cNvSpPr/>
          <p:nvPr/>
        </p:nvSpPr>
        <p:spPr>
          <a:xfrm>
            <a:off x="10104120" y="1737360"/>
            <a:ext cx="1538935" cy="256032"/>
          </a:xfrm>
          <a:prstGeom prst="rect">
            <a:avLst/>
          </a:prstGeom>
          <a:solidFill>
            <a:srgbClr val="FFFFFF"/>
          </a:solidFill>
          <a:ln w="9525">
            <a:solidFill>
              <a:srgbClr val="CCD3DD"/>
            </a:solidFill>
            <a:prstDash val="solid"/>
          </a:ln>
        </p:spPr>
      </p:sp>
      <p:sp>
        <p:nvSpPr>
          <p:cNvPr id="143" name="Text 136"/>
          <p:cNvSpPr txBox="1"/>
          <p:nvPr/>
        </p:nvSpPr>
        <p:spPr>
          <a:xfrm>
            <a:off x="10104120" y="1737360"/>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Quadient</a:t>
            </a:r>
            <a:endParaRPr lang="en-US" sz="850" dirty="0"/>
          </a:p>
        </p:txBody>
      </p:sp>
      <p:sp>
        <p:nvSpPr>
          <p:cNvPr id="144" name="Shape 137"/>
          <p:cNvSpPr/>
          <p:nvPr/>
        </p:nvSpPr>
        <p:spPr>
          <a:xfrm>
            <a:off x="10104120" y="2048256"/>
            <a:ext cx="1538935" cy="256032"/>
          </a:xfrm>
          <a:prstGeom prst="rect">
            <a:avLst/>
          </a:prstGeom>
          <a:solidFill>
            <a:srgbClr val="FFFFFF"/>
          </a:solidFill>
          <a:ln w="9525">
            <a:solidFill>
              <a:srgbClr val="CCD3DD"/>
            </a:solidFill>
            <a:prstDash val="solid"/>
          </a:ln>
        </p:spPr>
      </p:sp>
      <p:sp>
        <p:nvSpPr>
          <p:cNvPr id="145" name="Text 138"/>
          <p:cNvSpPr txBox="1"/>
          <p:nvPr/>
        </p:nvSpPr>
        <p:spPr>
          <a:xfrm>
            <a:off x="10104120" y="2048256"/>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Twilio</a:t>
            </a:r>
            <a:endParaRPr lang="en-US" sz="850" dirty="0"/>
          </a:p>
        </p:txBody>
      </p:sp>
      <p:sp>
        <p:nvSpPr>
          <p:cNvPr id="146" name="Shape 139"/>
          <p:cNvSpPr/>
          <p:nvPr/>
        </p:nvSpPr>
        <p:spPr>
          <a:xfrm>
            <a:off x="10104120" y="2359152"/>
            <a:ext cx="1538935" cy="256032"/>
          </a:xfrm>
          <a:prstGeom prst="rect">
            <a:avLst/>
          </a:prstGeom>
          <a:solidFill>
            <a:srgbClr val="FFFFFF"/>
          </a:solidFill>
          <a:ln w="9525">
            <a:solidFill>
              <a:srgbClr val="CCD3DD"/>
            </a:solidFill>
            <a:prstDash val="solid"/>
          </a:ln>
        </p:spPr>
      </p:sp>
      <p:sp>
        <p:nvSpPr>
          <p:cNvPr id="147" name="Text 140"/>
          <p:cNvSpPr txBox="1"/>
          <p:nvPr/>
        </p:nvSpPr>
        <p:spPr>
          <a:xfrm>
            <a:off x="10104120" y="2359152"/>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Salesforce MC</a:t>
            </a:r>
            <a:endParaRPr lang="en-US" sz="850" dirty="0"/>
          </a:p>
        </p:txBody>
      </p:sp>
      <p:sp>
        <p:nvSpPr>
          <p:cNvPr id="148" name="Shape 141"/>
          <p:cNvSpPr/>
          <p:nvPr/>
        </p:nvSpPr>
        <p:spPr>
          <a:xfrm>
            <a:off x="10104120" y="2670048"/>
            <a:ext cx="1538935" cy="256032"/>
          </a:xfrm>
          <a:prstGeom prst="rect">
            <a:avLst/>
          </a:prstGeom>
          <a:solidFill>
            <a:srgbClr val="FFFFFF"/>
          </a:solidFill>
          <a:ln w="9525">
            <a:solidFill>
              <a:srgbClr val="CCD3DD"/>
            </a:solidFill>
            <a:prstDash val="solid"/>
          </a:ln>
        </p:spPr>
      </p:sp>
      <p:sp>
        <p:nvSpPr>
          <p:cNvPr id="149" name="Text 142"/>
          <p:cNvSpPr txBox="1"/>
          <p:nvPr/>
        </p:nvSpPr>
        <p:spPr>
          <a:xfrm>
            <a:off x="10104120" y="2670048"/>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O’Neil</a:t>
            </a:r>
            <a:endParaRPr lang="en-US" sz="850" dirty="0"/>
          </a:p>
        </p:txBody>
      </p:sp>
      <p:sp>
        <p:nvSpPr>
          <p:cNvPr id="150" name="Shape 143"/>
          <p:cNvSpPr/>
          <p:nvPr/>
        </p:nvSpPr>
        <p:spPr>
          <a:xfrm>
            <a:off x="10104120" y="2980944"/>
            <a:ext cx="1538935" cy="256032"/>
          </a:xfrm>
          <a:prstGeom prst="rect">
            <a:avLst/>
          </a:prstGeom>
          <a:solidFill>
            <a:srgbClr val="FFFFFF"/>
          </a:solidFill>
          <a:ln w="9525">
            <a:solidFill>
              <a:srgbClr val="CCD3DD"/>
            </a:solidFill>
            <a:prstDash val="solid"/>
          </a:ln>
        </p:spPr>
      </p:sp>
      <p:sp>
        <p:nvSpPr>
          <p:cNvPr id="151" name="Text 144"/>
          <p:cNvSpPr txBox="1"/>
          <p:nvPr/>
        </p:nvSpPr>
        <p:spPr>
          <a:xfrm>
            <a:off x="10104120" y="2980944"/>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Highmark</a:t>
            </a:r>
            <a:endParaRPr lang="en-US" sz="850" dirty="0"/>
          </a:p>
        </p:txBody>
      </p:sp>
      <p:sp>
        <p:nvSpPr>
          <p:cNvPr id="152" name="Shape 145"/>
          <p:cNvSpPr/>
          <p:nvPr/>
        </p:nvSpPr>
        <p:spPr>
          <a:xfrm>
            <a:off x="10104120" y="3291840"/>
            <a:ext cx="1538935" cy="256032"/>
          </a:xfrm>
          <a:prstGeom prst="rect">
            <a:avLst/>
          </a:prstGeom>
          <a:solidFill>
            <a:srgbClr val="FFFFFF"/>
          </a:solidFill>
          <a:ln w="9525">
            <a:solidFill>
              <a:srgbClr val="CCD3DD"/>
            </a:solidFill>
            <a:prstDash val="solid"/>
          </a:ln>
        </p:spPr>
      </p:sp>
      <p:sp>
        <p:nvSpPr>
          <p:cNvPr id="153" name="Text 146"/>
          <p:cNvSpPr txBox="1"/>
          <p:nvPr/>
        </p:nvSpPr>
        <p:spPr>
          <a:xfrm>
            <a:off x="10104120" y="3291840"/>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Forge</a:t>
            </a:r>
            <a:endParaRPr lang="en-US" sz="850" dirty="0"/>
          </a:p>
        </p:txBody>
      </p:sp>
      <p:sp>
        <p:nvSpPr>
          <p:cNvPr id="154" name="Shape 147"/>
          <p:cNvSpPr/>
          <p:nvPr/>
        </p:nvSpPr>
        <p:spPr>
          <a:xfrm>
            <a:off x="10104120" y="3602736"/>
            <a:ext cx="1538935" cy="256032"/>
          </a:xfrm>
          <a:prstGeom prst="rect">
            <a:avLst/>
          </a:prstGeom>
          <a:solidFill>
            <a:srgbClr val="FFFFFF"/>
          </a:solidFill>
          <a:ln w="9525">
            <a:solidFill>
              <a:srgbClr val="CCD3DD"/>
            </a:solidFill>
            <a:prstDash val="solid"/>
          </a:ln>
        </p:spPr>
      </p:sp>
      <p:sp>
        <p:nvSpPr>
          <p:cNvPr id="155" name="Text 148"/>
          <p:cNvSpPr txBox="1"/>
          <p:nvPr/>
        </p:nvSpPr>
        <p:spPr>
          <a:xfrm>
            <a:off x="10104120" y="3602736"/>
            <a:ext cx="1538935" cy="256032"/>
          </a:xfrm>
          <a:prstGeom prst="rect">
            <a:avLst/>
          </a:prstGeom>
          <a:noFill/>
          <a:ln/>
        </p:spPr>
        <p:txBody>
          <a:bodyPr wrap="square" lIns="0" tIns="0" rIns="0" bIns="0" rtlCol="0" anchor="ctr"/>
          <a:lstStyle/>
          <a:p>
            <a:pPr algn="ctr" indent="0" marL="0">
              <a:buNone/>
            </a:pPr>
            <a:r>
              <a:rPr lang="en-US" sz="850" dirty="0">
                <a:solidFill>
                  <a:srgbClr val="1C2330"/>
                </a:solidFill>
                <a:latin typeface="Calibri" pitchFamily="34" charset="0"/>
                <a:ea typeface="Calibri" pitchFamily="34" charset="-122"/>
                <a:cs typeface="Calibri" pitchFamily="34" charset="-120"/>
              </a:rPr>
              <a:t>Bloomreach</a:t>
            </a:r>
            <a:endParaRPr lang="en-US" sz="850" dirty="0"/>
          </a:p>
        </p:txBody>
      </p:sp>
      <p:sp>
        <p:nvSpPr>
          <p:cNvPr id="156" name="Shape 149"/>
          <p:cNvSpPr/>
          <p:nvPr/>
        </p:nvSpPr>
        <p:spPr>
          <a:xfrm>
            <a:off x="10104120" y="4032504"/>
            <a:ext cx="1538935" cy="45720"/>
          </a:xfrm>
          <a:prstGeom prst="rect">
            <a:avLst/>
          </a:prstGeom>
          <a:solidFill>
            <a:srgbClr val="1F4FB8"/>
          </a:solidFill>
          <a:ln/>
        </p:spPr>
      </p:sp>
      <p:sp>
        <p:nvSpPr>
          <p:cNvPr id="157" name="Text 150"/>
          <p:cNvSpPr txBox="1"/>
          <p:nvPr/>
        </p:nvSpPr>
        <p:spPr>
          <a:xfrm>
            <a:off x="10104120" y="4123944"/>
            <a:ext cx="1538935" cy="237744"/>
          </a:xfrm>
          <a:prstGeom prst="rect">
            <a:avLst/>
          </a:prstGeom>
          <a:noFill/>
          <a:ln/>
        </p:spPr>
        <p:txBody>
          <a:bodyPr wrap="square" lIns="0" tIns="0" rIns="0" bIns="0" rtlCol="0" anchor="t"/>
          <a:lstStyle/>
          <a:p>
            <a:pPr indent="0" marL="0">
              <a:buNone/>
            </a:pPr>
            <a:r>
              <a:rPr lang="en-US" sz="800" b="1" spc="300" kern="0" dirty="0">
                <a:solidFill>
                  <a:srgbClr val="3A4556"/>
                </a:solidFill>
                <a:latin typeface="Calibri" pitchFamily="34" charset="0"/>
                <a:ea typeface="Calibri" pitchFamily="34" charset="-122"/>
                <a:cs typeface="Calibri" pitchFamily="34" charset="-120"/>
              </a:rPr>
              <a:t>BUSINESS VALUE</a:t>
            </a:r>
            <a:endParaRPr lang="en-US" sz="800" dirty="0"/>
          </a:p>
        </p:txBody>
      </p:sp>
      <p:sp>
        <p:nvSpPr>
          <p:cNvPr id="158" name="Shape 151"/>
          <p:cNvSpPr/>
          <p:nvPr/>
        </p:nvSpPr>
        <p:spPr>
          <a:xfrm>
            <a:off x="10104120" y="4416552"/>
            <a:ext cx="1538935" cy="329184"/>
          </a:xfrm>
          <a:prstGeom prst="rect">
            <a:avLst/>
          </a:prstGeom>
          <a:solidFill>
            <a:srgbClr val="FFFFFF"/>
          </a:solidFill>
          <a:ln w="9525">
            <a:solidFill>
              <a:srgbClr val="CCD3DD"/>
            </a:solidFill>
            <a:prstDash val="solid"/>
          </a:ln>
        </p:spPr>
      </p:sp>
      <p:sp>
        <p:nvSpPr>
          <p:cNvPr id="159" name="Text 152"/>
          <p:cNvSpPr txBox="1"/>
          <p:nvPr/>
        </p:nvSpPr>
        <p:spPr>
          <a:xfrm>
            <a:off x="10140696" y="4416552"/>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Business self-service</a:t>
            </a:r>
            <a:endParaRPr lang="en-US" sz="800" dirty="0"/>
          </a:p>
        </p:txBody>
      </p:sp>
      <p:sp>
        <p:nvSpPr>
          <p:cNvPr id="160" name="Shape 153"/>
          <p:cNvSpPr/>
          <p:nvPr/>
        </p:nvSpPr>
        <p:spPr>
          <a:xfrm>
            <a:off x="10104120" y="4800600"/>
            <a:ext cx="1538935" cy="329184"/>
          </a:xfrm>
          <a:prstGeom prst="rect">
            <a:avLst/>
          </a:prstGeom>
          <a:solidFill>
            <a:srgbClr val="FFFFFF"/>
          </a:solidFill>
          <a:ln w="9525">
            <a:solidFill>
              <a:srgbClr val="CCD3DD"/>
            </a:solidFill>
            <a:prstDash val="solid"/>
          </a:ln>
        </p:spPr>
      </p:sp>
      <p:sp>
        <p:nvSpPr>
          <p:cNvPr id="161" name="Text 154"/>
          <p:cNvSpPr txBox="1"/>
          <p:nvPr/>
        </p:nvSpPr>
        <p:spPr>
          <a:xfrm>
            <a:off x="10140696" y="4800600"/>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Preference-driven delivery</a:t>
            </a:r>
            <a:endParaRPr lang="en-US" sz="800" dirty="0"/>
          </a:p>
        </p:txBody>
      </p:sp>
      <p:sp>
        <p:nvSpPr>
          <p:cNvPr id="162" name="Shape 155"/>
          <p:cNvSpPr/>
          <p:nvPr/>
        </p:nvSpPr>
        <p:spPr>
          <a:xfrm>
            <a:off x="10104120" y="5184648"/>
            <a:ext cx="1538935" cy="329184"/>
          </a:xfrm>
          <a:prstGeom prst="rect">
            <a:avLst/>
          </a:prstGeom>
          <a:solidFill>
            <a:srgbClr val="FFFFFF"/>
          </a:solidFill>
          <a:ln w="9525">
            <a:solidFill>
              <a:srgbClr val="CCD3DD"/>
            </a:solidFill>
            <a:prstDash val="solid"/>
          </a:ln>
        </p:spPr>
      </p:sp>
      <p:sp>
        <p:nvSpPr>
          <p:cNvPr id="163" name="Text 156"/>
          <p:cNvSpPr txBox="1"/>
          <p:nvPr/>
        </p:nvSpPr>
        <p:spPr>
          <a:xfrm>
            <a:off x="10140696" y="5184648"/>
            <a:ext cx="1465783" cy="329184"/>
          </a:xfrm>
          <a:prstGeom prst="rect">
            <a:avLst/>
          </a:prstGeom>
          <a:noFill/>
          <a:ln/>
        </p:spPr>
        <p:txBody>
          <a:bodyPr wrap="square" lIns="0" tIns="0" rIns="0" bIns="0" rtlCol="0" anchor="ctr"/>
          <a:lstStyle/>
          <a:p>
            <a:pPr algn="ctr" indent="0" marL="0">
              <a:buNone/>
            </a:pPr>
            <a:r>
              <a:rPr lang="en-US" sz="800" dirty="0">
                <a:solidFill>
                  <a:srgbClr val="1C2330"/>
                </a:solidFill>
                <a:latin typeface="Calibri" pitchFamily="34" charset="0"/>
                <a:ea typeface="Calibri" pitchFamily="34" charset="-122"/>
                <a:cs typeface="Calibri" pitchFamily="34" charset="-120"/>
              </a:rPr>
              <a:t>Suppress and reprint</a:t>
            </a:r>
            <a:endParaRPr lang="en-US" sz="800" dirty="0"/>
          </a:p>
        </p:txBody>
      </p:sp>
      <p:sp>
        <p:nvSpPr>
          <p:cNvPr id="164" name="Shape 157"/>
          <p:cNvSpPr/>
          <p:nvPr/>
        </p:nvSpPr>
        <p:spPr>
          <a:xfrm>
            <a:off x="0" y="5760720"/>
            <a:ext cx="12191695" cy="658368"/>
          </a:xfrm>
          <a:prstGeom prst="rect">
            <a:avLst/>
          </a:prstGeom>
          <a:solidFill>
            <a:srgbClr val="0F1B2D"/>
          </a:solidFill>
          <a:ln/>
        </p:spPr>
      </p:sp>
      <p:sp>
        <p:nvSpPr>
          <p:cNvPr id="165" name="Shape 158"/>
          <p:cNvSpPr/>
          <p:nvPr/>
        </p:nvSpPr>
        <p:spPr>
          <a:xfrm>
            <a:off x="548640" y="5870448"/>
            <a:ext cx="1757629" cy="438912"/>
          </a:xfrm>
          <a:prstGeom prst="rect">
            <a:avLst/>
          </a:prstGeom>
          <a:solidFill>
            <a:srgbClr val="CFE6F5"/>
          </a:solidFill>
          <a:ln/>
        </p:spPr>
      </p:sp>
      <p:sp>
        <p:nvSpPr>
          <p:cNvPr id="166" name="Text 159"/>
          <p:cNvSpPr txBox="1"/>
          <p:nvPr/>
        </p:nvSpPr>
        <p:spPr>
          <a:xfrm>
            <a:off x="585216"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Three integration paths</a:t>
            </a:r>
            <a:endParaRPr lang="en-US" sz="950" dirty="0"/>
          </a:p>
        </p:txBody>
      </p:sp>
      <p:sp>
        <p:nvSpPr>
          <p:cNvPr id="167" name="Shape 160"/>
          <p:cNvSpPr/>
          <p:nvPr/>
        </p:nvSpPr>
        <p:spPr>
          <a:xfrm>
            <a:off x="2415997" y="5870448"/>
            <a:ext cx="1757629" cy="438912"/>
          </a:xfrm>
          <a:prstGeom prst="rect">
            <a:avLst/>
          </a:prstGeom>
          <a:solidFill>
            <a:srgbClr val="CFE6F5"/>
          </a:solidFill>
          <a:ln/>
        </p:spPr>
      </p:sp>
      <p:sp>
        <p:nvSpPr>
          <p:cNvPr id="168" name="Text 161"/>
          <p:cNvSpPr txBox="1"/>
          <p:nvPr/>
        </p:nvSpPr>
        <p:spPr>
          <a:xfrm>
            <a:off x="2452573"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Event-driven (Kafka)</a:t>
            </a:r>
            <a:endParaRPr lang="en-US" sz="950" dirty="0"/>
          </a:p>
        </p:txBody>
      </p:sp>
      <p:sp>
        <p:nvSpPr>
          <p:cNvPr id="169" name="Shape 162"/>
          <p:cNvSpPr/>
          <p:nvPr/>
        </p:nvSpPr>
        <p:spPr>
          <a:xfrm>
            <a:off x="4283354" y="5870448"/>
            <a:ext cx="1757629" cy="438912"/>
          </a:xfrm>
          <a:prstGeom prst="rect">
            <a:avLst/>
          </a:prstGeom>
          <a:solidFill>
            <a:srgbClr val="CFE6F5"/>
          </a:solidFill>
          <a:ln/>
        </p:spPr>
      </p:sp>
      <p:sp>
        <p:nvSpPr>
          <p:cNvPr id="170" name="Text 163"/>
          <p:cNvSpPr txBox="1"/>
          <p:nvPr/>
        </p:nvSpPr>
        <p:spPr>
          <a:xfrm>
            <a:off x="4319930"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Preference-driven (P360)</a:t>
            </a:r>
            <a:endParaRPr lang="en-US" sz="950" dirty="0"/>
          </a:p>
        </p:txBody>
      </p:sp>
      <p:sp>
        <p:nvSpPr>
          <p:cNvPr id="171" name="Shape 164"/>
          <p:cNvSpPr/>
          <p:nvPr/>
        </p:nvSpPr>
        <p:spPr>
          <a:xfrm>
            <a:off x="6150712" y="5870448"/>
            <a:ext cx="1757629" cy="438912"/>
          </a:xfrm>
          <a:prstGeom prst="rect">
            <a:avLst/>
          </a:prstGeom>
          <a:solidFill>
            <a:srgbClr val="CFE6F5"/>
          </a:solidFill>
          <a:ln/>
        </p:spPr>
      </p:sp>
      <p:sp>
        <p:nvSpPr>
          <p:cNvPr id="172" name="Text 165"/>
          <p:cNvSpPr txBox="1"/>
          <p:nvPr/>
        </p:nvSpPr>
        <p:spPr>
          <a:xfrm>
            <a:off x="6187288"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Business self-service</a:t>
            </a:r>
            <a:endParaRPr lang="en-US" sz="950" dirty="0"/>
          </a:p>
        </p:txBody>
      </p:sp>
      <p:sp>
        <p:nvSpPr>
          <p:cNvPr id="173" name="Shape 166"/>
          <p:cNvSpPr/>
          <p:nvPr/>
        </p:nvSpPr>
        <p:spPr>
          <a:xfrm>
            <a:off x="8018069" y="5870448"/>
            <a:ext cx="1757629" cy="438912"/>
          </a:xfrm>
          <a:prstGeom prst="rect">
            <a:avLst/>
          </a:prstGeom>
          <a:solidFill>
            <a:srgbClr val="CFE6F5"/>
          </a:solidFill>
          <a:ln/>
        </p:spPr>
      </p:sp>
      <p:sp>
        <p:nvSpPr>
          <p:cNvPr id="174" name="Text 167"/>
          <p:cNvSpPr txBox="1"/>
          <p:nvPr/>
        </p:nvSpPr>
        <p:spPr>
          <a:xfrm>
            <a:off x="8054645"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End-to-end tracking</a:t>
            </a:r>
            <a:endParaRPr lang="en-US" sz="950" dirty="0"/>
          </a:p>
        </p:txBody>
      </p:sp>
      <p:sp>
        <p:nvSpPr>
          <p:cNvPr id="175" name="Shape 168"/>
          <p:cNvSpPr/>
          <p:nvPr/>
        </p:nvSpPr>
        <p:spPr>
          <a:xfrm>
            <a:off x="9885426" y="5870448"/>
            <a:ext cx="1757629" cy="438912"/>
          </a:xfrm>
          <a:prstGeom prst="rect">
            <a:avLst/>
          </a:prstGeom>
          <a:solidFill>
            <a:srgbClr val="CFE6F5"/>
          </a:solidFill>
          <a:ln/>
        </p:spPr>
      </p:sp>
      <p:sp>
        <p:nvSpPr>
          <p:cNvPr id="176" name="Text 169"/>
          <p:cNvSpPr txBox="1"/>
          <p:nvPr/>
        </p:nvSpPr>
        <p:spPr>
          <a:xfrm>
            <a:off x="9922002" y="5870448"/>
            <a:ext cx="1684477" cy="438912"/>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"Buy &amp; Build" (Quadient)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DEPLOYMENT TOPOLOGY</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CCM runtime estate — on-premises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14</a:t>
            </a:r>
            <a:endParaRPr lang="en-US" sz="900" dirty="0"/>
          </a:p>
        </p:txBody>
      </p:sp>
      <p:sp>
        <p:nvSpPr>
          <p:cNvPr id="9" name="Text 7"/>
          <p:cNvSpPr txBox="1"/>
          <p:nvPr/>
        </p:nvSpPr>
        <p:spPr>
          <a:xfrm>
            <a:off x="548640" y="1280160"/>
            <a:ext cx="11094415" cy="274320"/>
          </a:xfrm>
          <a:prstGeom prst="rect">
            <a:avLst/>
          </a:prstGeom>
          <a:noFill/>
          <a:ln/>
        </p:spPr>
        <p:txBody>
          <a:bodyPr wrap="square" lIns="0" tIns="0" rIns="0" bIns="0" rtlCol="0" anchor="t"/>
          <a:lstStyle/>
          <a:p>
            <a:pPr indent="0" marL="0">
              <a:buNone/>
            </a:pPr>
            <a:r>
              <a:rPr lang="en-US" sz="1250" dirty="0">
                <a:solidFill>
                  <a:srgbClr val="596273"/>
                </a:solidFill>
                <a:latin typeface="Calibri" pitchFamily="34" charset="0"/>
                <a:ea typeface="Calibri" pitchFamily="34" charset="-122"/>
                <a:cs typeface="Calibri" pitchFamily="34" charset="-120"/>
              </a:rPr>
              <a:t>APIs and UIs run on on-premises OpenShift; composition, batch and data run on dedicated servers. Egress is brokered by DataPower or SFTP.</a:t>
            </a:r>
            <a:endParaRPr lang="en-US" sz="1250" dirty="0"/>
          </a:p>
        </p:txBody>
      </p:sp>
      <p:sp>
        <p:nvSpPr>
          <p:cNvPr id="10" name="Shape 8"/>
          <p:cNvSpPr/>
          <p:nvPr/>
        </p:nvSpPr>
        <p:spPr>
          <a:xfrm>
            <a:off x="548640" y="1645920"/>
            <a:ext cx="11094415" cy="749808"/>
          </a:xfrm>
          <a:prstGeom prst="rect">
            <a:avLst/>
          </a:prstGeom>
          <a:solidFill>
            <a:srgbClr val="FBF1E6"/>
          </a:solidFill>
          <a:ln w="15875">
            <a:solidFill>
              <a:srgbClr val="D9A066"/>
            </a:solidFill>
            <a:prstDash val="solid"/>
          </a:ln>
        </p:spPr>
      </p:sp>
      <p:sp>
        <p:nvSpPr>
          <p:cNvPr id="11" name="Text 9"/>
          <p:cNvSpPr txBox="1"/>
          <p:nvPr/>
        </p:nvSpPr>
        <p:spPr>
          <a:xfrm>
            <a:off x="685800" y="1682496"/>
            <a:ext cx="2743200" cy="237744"/>
          </a:xfrm>
          <a:prstGeom prst="rect">
            <a:avLst/>
          </a:prstGeom>
          <a:noFill/>
          <a:ln/>
        </p:spPr>
        <p:txBody>
          <a:bodyPr wrap="square" lIns="0" tIns="0" rIns="0" bIns="0" rtlCol="0" anchor="t"/>
          <a:lstStyle/>
          <a:p>
            <a:pPr indent="0" marL="0">
              <a:buNone/>
            </a:pPr>
            <a:r>
              <a:rPr lang="en-US" sz="900" b="1" spc="300" kern="0" dirty="0">
                <a:solidFill>
                  <a:srgbClr val="B36A1E"/>
                </a:solidFill>
                <a:latin typeface="Calibri" pitchFamily="34" charset="0"/>
                <a:ea typeface="Calibri" pitchFamily="34" charset="-122"/>
                <a:cs typeface="Calibri" pitchFamily="34" charset="-120"/>
              </a:rPr>
              <a:t>ACCESS EDGE</a:t>
            </a:r>
            <a:endParaRPr lang="en-US" sz="900" dirty="0"/>
          </a:p>
        </p:txBody>
      </p:sp>
      <p:sp>
        <p:nvSpPr>
          <p:cNvPr id="12" name="Shape 10"/>
          <p:cNvSpPr/>
          <p:nvPr/>
        </p:nvSpPr>
        <p:spPr>
          <a:xfrm>
            <a:off x="685800" y="1920240"/>
            <a:ext cx="2054291" cy="384048"/>
          </a:xfrm>
          <a:prstGeom prst="rect">
            <a:avLst/>
          </a:prstGeom>
          <a:solidFill>
            <a:srgbClr val="FFFFFF"/>
          </a:solidFill>
          <a:ln w="9525">
            <a:solidFill>
              <a:srgbClr val="E5CFB3"/>
            </a:solidFill>
            <a:prstDash val="solid"/>
          </a:ln>
        </p:spPr>
      </p:sp>
      <p:sp>
        <p:nvSpPr>
          <p:cNvPr id="13" name="Text 11"/>
          <p:cNvSpPr txBox="1"/>
          <p:nvPr/>
        </p:nvSpPr>
        <p:spPr>
          <a:xfrm>
            <a:off x="685800" y="1920240"/>
            <a:ext cx="2054291" cy="38404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Internal users · advocates</a:t>
            </a:r>
            <a:endParaRPr lang="en-US" sz="1050" dirty="0"/>
          </a:p>
        </p:txBody>
      </p:sp>
      <p:sp>
        <p:nvSpPr>
          <p:cNvPr id="14" name="Shape 12"/>
          <p:cNvSpPr/>
          <p:nvPr/>
        </p:nvSpPr>
        <p:spPr>
          <a:xfrm>
            <a:off x="2877251" y="1920240"/>
            <a:ext cx="2054291" cy="384048"/>
          </a:xfrm>
          <a:prstGeom prst="rect">
            <a:avLst/>
          </a:prstGeom>
          <a:solidFill>
            <a:srgbClr val="FFFFFF"/>
          </a:solidFill>
          <a:ln w="9525">
            <a:solidFill>
              <a:srgbClr val="E5CFB3"/>
            </a:solidFill>
            <a:prstDash val="solid"/>
          </a:ln>
        </p:spPr>
      </p:sp>
      <p:sp>
        <p:nvSpPr>
          <p:cNvPr id="15" name="Text 13"/>
          <p:cNvSpPr txBox="1"/>
          <p:nvPr/>
        </p:nvSpPr>
        <p:spPr>
          <a:xfrm>
            <a:off x="2877251" y="1920240"/>
            <a:ext cx="2054291" cy="38404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NetScaler</a:t>
            </a:r>
            <a:endParaRPr lang="en-US" sz="1050" dirty="0"/>
          </a:p>
        </p:txBody>
      </p:sp>
      <p:sp>
        <p:nvSpPr>
          <p:cNvPr id="16" name="Shape 14"/>
          <p:cNvSpPr/>
          <p:nvPr/>
        </p:nvSpPr>
        <p:spPr>
          <a:xfrm>
            <a:off x="5068702" y="1920240"/>
            <a:ext cx="2054291" cy="384048"/>
          </a:xfrm>
          <a:prstGeom prst="rect">
            <a:avLst/>
          </a:prstGeom>
          <a:solidFill>
            <a:srgbClr val="FFFFFF"/>
          </a:solidFill>
          <a:ln w="9525">
            <a:solidFill>
              <a:srgbClr val="E5CFB3"/>
            </a:solidFill>
            <a:prstDash val="solid"/>
          </a:ln>
        </p:spPr>
      </p:sp>
      <p:sp>
        <p:nvSpPr>
          <p:cNvPr id="17" name="Text 15"/>
          <p:cNvSpPr txBox="1"/>
          <p:nvPr/>
        </p:nvSpPr>
        <p:spPr>
          <a:xfrm>
            <a:off x="5068702" y="1920240"/>
            <a:ext cx="2054291" cy="38404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PMI policies</a:t>
            </a:r>
            <a:endParaRPr lang="en-US" sz="1050" dirty="0"/>
          </a:p>
        </p:txBody>
      </p:sp>
      <p:sp>
        <p:nvSpPr>
          <p:cNvPr id="18" name="Shape 16"/>
          <p:cNvSpPr/>
          <p:nvPr/>
        </p:nvSpPr>
        <p:spPr>
          <a:xfrm>
            <a:off x="7260153" y="1920240"/>
            <a:ext cx="2054291" cy="384048"/>
          </a:xfrm>
          <a:prstGeom prst="rect">
            <a:avLst/>
          </a:prstGeom>
          <a:solidFill>
            <a:srgbClr val="FFFFFF"/>
          </a:solidFill>
          <a:ln w="9525">
            <a:solidFill>
              <a:srgbClr val="E5CFB3"/>
            </a:solidFill>
            <a:prstDash val="solid"/>
          </a:ln>
        </p:spPr>
      </p:sp>
      <p:sp>
        <p:nvSpPr>
          <p:cNvPr id="19" name="Text 17"/>
          <p:cNvSpPr txBox="1"/>
          <p:nvPr/>
        </p:nvSpPr>
        <p:spPr>
          <a:xfrm>
            <a:off x="7260153" y="1920240"/>
            <a:ext cx="2054291" cy="38404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DataPower · api.bcbsfl.com</a:t>
            </a:r>
            <a:endParaRPr lang="en-US" sz="1050" dirty="0"/>
          </a:p>
        </p:txBody>
      </p:sp>
      <p:sp>
        <p:nvSpPr>
          <p:cNvPr id="20" name="Shape 18"/>
          <p:cNvSpPr/>
          <p:nvPr/>
        </p:nvSpPr>
        <p:spPr>
          <a:xfrm>
            <a:off x="9451604" y="1920240"/>
            <a:ext cx="2054291" cy="384048"/>
          </a:xfrm>
          <a:prstGeom prst="rect">
            <a:avLst/>
          </a:prstGeom>
          <a:solidFill>
            <a:srgbClr val="FFFFFF"/>
          </a:solidFill>
          <a:ln w="9525">
            <a:solidFill>
              <a:srgbClr val="E5CFB3"/>
            </a:solidFill>
            <a:prstDash val="solid"/>
          </a:ln>
        </p:spPr>
      </p:sp>
      <p:sp>
        <p:nvSpPr>
          <p:cNvPr id="21" name="Text 19"/>
          <p:cNvSpPr txBox="1"/>
          <p:nvPr/>
        </p:nvSpPr>
        <p:spPr>
          <a:xfrm>
            <a:off x="9451604" y="1920240"/>
            <a:ext cx="2054291" cy="38404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DivBiz external (basic auth)</a:t>
            </a:r>
            <a:endParaRPr lang="en-US" sz="1050" dirty="0"/>
          </a:p>
        </p:txBody>
      </p:sp>
      <p:sp>
        <p:nvSpPr>
          <p:cNvPr id="22" name="Shape 20"/>
          <p:cNvSpPr/>
          <p:nvPr/>
        </p:nvSpPr>
        <p:spPr>
          <a:xfrm>
            <a:off x="548640" y="2514600"/>
            <a:ext cx="11094415" cy="1600200"/>
          </a:xfrm>
          <a:prstGeom prst="rect">
            <a:avLst/>
          </a:prstGeom>
          <a:ln w="15875">
            <a:solidFill>
              <a:srgbClr val="1F4FB8"/>
            </a:solidFill>
            <a:prstDash val="dash"/>
          </a:ln>
        </p:spPr>
      </p:sp>
      <p:sp>
        <p:nvSpPr>
          <p:cNvPr id="23" name="Text 21"/>
          <p:cNvSpPr txBox="1"/>
          <p:nvPr/>
        </p:nvSpPr>
        <p:spPr>
          <a:xfrm>
            <a:off x="685800" y="2578608"/>
            <a:ext cx="5486400" cy="237744"/>
          </a:xfrm>
          <a:prstGeom prst="rect">
            <a:avLst/>
          </a:prstGeom>
          <a:noFill/>
          <a:ln/>
        </p:spPr>
        <p:txBody>
          <a:bodyPr wrap="square" lIns="0" tIns="0" rIns="0" bIns="0" rtlCol="0" anchor="t"/>
          <a:lstStyle/>
          <a:p>
            <a:pPr indent="0" marL="0">
              <a:buNone/>
            </a:pPr>
            <a:r>
              <a:rPr lang="en-US" sz="900" b="1" spc="300" kern="0" dirty="0">
                <a:solidFill>
                  <a:srgbClr val="1F4FB8"/>
                </a:solidFill>
                <a:latin typeface="Calibri" pitchFamily="34" charset="0"/>
                <a:ea typeface="Calibri" pitchFamily="34" charset="-122"/>
                <a:cs typeface="Calibri" pitchFamily="34" charset="-120"/>
              </a:rPr>
              <a:t>OPENSHIFT CONTAINER PLATFORM (OSE) · OSE4-PROD</a:t>
            </a:r>
            <a:endParaRPr lang="en-US" sz="900" dirty="0"/>
          </a:p>
        </p:txBody>
      </p:sp>
      <p:sp>
        <p:nvSpPr>
          <p:cNvPr id="24" name="Text 22"/>
          <p:cNvSpPr txBox="1"/>
          <p:nvPr/>
        </p:nvSpPr>
        <p:spPr>
          <a:xfrm>
            <a:off x="6035040" y="2578608"/>
            <a:ext cx="5470855" cy="228600"/>
          </a:xfrm>
          <a:prstGeom prst="rect">
            <a:avLst/>
          </a:prstGeom>
          <a:noFill/>
          <a:ln/>
        </p:spPr>
        <p:txBody>
          <a:bodyPr wrap="square" lIns="0" tIns="0" rIns="0" bIns="0" rtlCol="0" anchor="t"/>
          <a:lstStyle/>
          <a:p>
            <a:pPr algn="r" indent="0" marL="0">
              <a:buNone/>
            </a:pPr>
            <a:r>
              <a:rPr lang="en-US" sz="950" dirty="0">
                <a:solidFill>
                  <a:srgbClr val="596273"/>
                </a:solidFill>
                <a:latin typeface="Calibri" pitchFamily="34" charset="0"/>
                <a:ea typeface="Calibri" pitchFamily="34" charset="-122"/>
                <a:cs typeface="Calibri" pitchFamily="34" charset="-120"/>
              </a:rPr>
              <a:t>Count = deployed services  ·  logs: Splunk</a:t>
            </a:r>
            <a:endParaRPr lang="en-US" sz="950" dirty="0"/>
          </a:p>
        </p:txBody>
      </p:sp>
      <p:sp>
        <p:nvSpPr>
          <p:cNvPr id="25" name="Shape 23"/>
          <p:cNvSpPr/>
          <p:nvPr/>
        </p:nvSpPr>
        <p:spPr>
          <a:xfrm>
            <a:off x="685800" y="2852928"/>
            <a:ext cx="3484778" cy="384048"/>
          </a:xfrm>
          <a:prstGeom prst="rect">
            <a:avLst/>
          </a:prstGeom>
          <a:solidFill>
            <a:srgbClr val="0F1B2D"/>
          </a:solidFill>
          <a:ln/>
        </p:spPr>
      </p:sp>
      <p:sp>
        <p:nvSpPr>
          <p:cNvPr id="26" name="Text 24"/>
          <p:cNvSpPr txBox="1"/>
          <p:nvPr/>
        </p:nvSpPr>
        <p:spPr>
          <a:xfrm>
            <a:off x="822960" y="2852928"/>
            <a:ext cx="275325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ccm-dcs-prod</a:t>
            </a:r>
            <a:endParaRPr lang="en-US" sz="1200" dirty="0"/>
          </a:p>
        </p:txBody>
      </p:sp>
      <p:sp>
        <p:nvSpPr>
          <p:cNvPr id="27" name="Text 25"/>
          <p:cNvSpPr txBox="1"/>
          <p:nvPr/>
        </p:nvSpPr>
        <p:spPr>
          <a:xfrm>
            <a:off x="3439058" y="2852928"/>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6</a:t>
            </a:r>
            <a:endParaRPr lang="en-US" sz="1700" dirty="0"/>
          </a:p>
        </p:txBody>
      </p:sp>
      <p:sp>
        <p:nvSpPr>
          <p:cNvPr id="28" name="Shape 26"/>
          <p:cNvSpPr/>
          <p:nvPr/>
        </p:nvSpPr>
        <p:spPr>
          <a:xfrm>
            <a:off x="685800" y="3236976"/>
            <a:ext cx="3484778" cy="758952"/>
          </a:xfrm>
          <a:prstGeom prst="rect">
            <a:avLst/>
          </a:prstGeom>
          <a:solidFill>
            <a:srgbClr val="FFFFFF"/>
          </a:solidFill>
          <a:ln w="9525">
            <a:solidFill>
              <a:srgbClr val="CCD3DD"/>
            </a:solidFill>
            <a:prstDash val="solid"/>
          </a:ln>
        </p:spPr>
      </p:sp>
      <p:sp>
        <p:nvSpPr>
          <p:cNvPr id="29" name="Text 27"/>
          <p:cNvSpPr txBox="1"/>
          <p:nvPr/>
        </p:nvSpPr>
        <p:spPr>
          <a:xfrm>
            <a:off x="822960" y="3328416"/>
            <a:ext cx="3210458"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Recon Dashboard, On-Demand UI, document composition, data retrieval, Recon load, Recon services</a:t>
            </a:r>
            <a:endParaRPr lang="en-US" sz="1050" dirty="0"/>
          </a:p>
        </p:txBody>
      </p:sp>
      <p:sp>
        <p:nvSpPr>
          <p:cNvPr id="30" name="Shape 28"/>
          <p:cNvSpPr/>
          <p:nvPr/>
        </p:nvSpPr>
        <p:spPr>
          <a:xfrm>
            <a:off x="4353458" y="2852928"/>
            <a:ext cx="3484778" cy="384048"/>
          </a:xfrm>
          <a:prstGeom prst="rect">
            <a:avLst/>
          </a:prstGeom>
          <a:solidFill>
            <a:srgbClr val="1F4FB8"/>
          </a:solidFill>
          <a:ln/>
        </p:spPr>
      </p:sp>
      <p:sp>
        <p:nvSpPr>
          <p:cNvPr id="31" name="Text 29"/>
          <p:cNvSpPr txBox="1"/>
          <p:nvPr/>
        </p:nvSpPr>
        <p:spPr>
          <a:xfrm>
            <a:off x="4490618" y="2852928"/>
            <a:ext cx="275325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ccm-preprocessor-prod</a:t>
            </a:r>
            <a:endParaRPr lang="en-US" sz="1200" dirty="0"/>
          </a:p>
        </p:txBody>
      </p:sp>
      <p:sp>
        <p:nvSpPr>
          <p:cNvPr id="32" name="Text 30"/>
          <p:cNvSpPr txBox="1"/>
          <p:nvPr/>
        </p:nvSpPr>
        <p:spPr>
          <a:xfrm>
            <a:off x="7106717" y="2852928"/>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4</a:t>
            </a:r>
            <a:endParaRPr lang="en-US" sz="1700" dirty="0"/>
          </a:p>
        </p:txBody>
      </p:sp>
      <p:sp>
        <p:nvSpPr>
          <p:cNvPr id="33" name="Shape 31"/>
          <p:cNvSpPr/>
          <p:nvPr/>
        </p:nvSpPr>
        <p:spPr>
          <a:xfrm>
            <a:off x="4353458" y="3236976"/>
            <a:ext cx="3484778" cy="758952"/>
          </a:xfrm>
          <a:prstGeom prst="rect">
            <a:avLst/>
          </a:prstGeom>
          <a:solidFill>
            <a:srgbClr val="FFFFFF"/>
          </a:solidFill>
          <a:ln w="9525">
            <a:solidFill>
              <a:srgbClr val="CCD3DD"/>
            </a:solidFill>
            <a:prstDash val="solid"/>
          </a:ln>
        </p:spPr>
      </p:sp>
      <p:sp>
        <p:nvSpPr>
          <p:cNvPr id="34" name="Text 32"/>
          <p:cNvSpPr txBox="1"/>
          <p:nvPr/>
        </p:nvSpPr>
        <p:spPr>
          <a:xfrm>
            <a:off x="4490618" y="3328416"/>
            <a:ext cx="3210458"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Preprocessor and Comm Request APIs, Kafka services, URL shortener, Recon real-time load</a:t>
            </a:r>
            <a:endParaRPr lang="en-US" sz="1050" dirty="0"/>
          </a:p>
        </p:txBody>
      </p:sp>
      <p:sp>
        <p:nvSpPr>
          <p:cNvPr id="35" name="Shape 33"/>
          <p:cNvSpPr/>
          <p:nvPr/>
        </p:nvSpPr>
        <p:spPr>
          <a:xfrm>
            <a:off x="8021117" y="2852928"/>
            <a:ext cx="3484778" cy="384048"/>
          </a:xfrm>
          <a:prstGeom prst="rect">
            <a:avLst/>
          </a:prstGeom>
          <a:solidFill>
            <a:srgbClr val="1F7A6B"/>
          </a:solidFill>
          <a:ln/>
        </p:spPr>
      </p:sp>
      <p:sp>
        <p:nvSpPr>
          <p:cNvPr id="36" name="Text 34"/>
          <p:cNvSpPr txBox="1"/>
          <p:nvPr/>
        </p:nvSpPr>
        <p:spPr>
          <a:xfrm>
            <a:off x="8158277" y="2852928"/>
            <a:ext cx="275325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sms-handler-prod</a:t>
            </a:r>
            <a:endParaRPr lang="en-US" sz="1200" dirty="0"/>
          </a:p>
        </p:txBody>
      </p:sp>
      <p:sp>
        <p:nvSpPr>
          <p:cNvPr id="37" name="Text 35"/>
          <p:cNvSpPr txBox="1"/>
          <p:nvPr/>
        </p:nvSpPr>
        <p:spPr>
          <a:xfrm>
            <a:off x="10774375" y="2852928"/>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1</a:t>
            </a:r>
            <a:endParaRPr lang="en-US" sz="1700" dirty="0"/>
          </a:p>
        </p:txBody>
      </p:sp>
      <p:sp>
        <p:nvSpPr>
          <p:cNvPr id="38" name="Shape 36"/>
          <p:cNvSpPr/>
          <p:nvPr/>
        </p:nvSpPr>
        <p:spPr>
          <a:xfrm>
            <a:off x="8021117" y="3236976"/>
            <a:ext cx="3484778" cy="758952"/>
          </a:xfrm>
          <a:prstGeom prst="rect">
            <a:avLst/>
          </a:prstGeom>
          <a:solidFill>
            <a:srgbClr val="FFFFFF"/>
          </a:solidFill>
          <a:ln w="9525">
            <a:solidFill>
              <a:srgbClr val="CCD3DD"/>
            </a:solidFill>
            <a:prstDash val="solid"/>
          </a:ln>
        </p:spPr>
      </p:sp>
      <p:sp>
        <p:nvSpPr>
          <p:cNvPr id="39" name="Text 37"/>
          <p:cNvSpPr txBox="1"/>
          <p:nvPr/>
        </p:nvSpPr>
        <p:spPr>
          <a:xfrm>
            <a:off x="8158277" y="3328416"/>
            <a:ext cx="3210458"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SMS/MMS response handler writing delivery status to Recon</a:t>
            </a:r>
            <a:endParaRPr lang="en-US" sz="1050" dirty="0"/>
          </a:p>
        </p:txBody>
      </p:sp>
      <p:sp>
        <p:nvSpPr>
          <p:cNvPr id="40" name="Shape 38"/>
          <p:cNvSpPr/>
          <p:nvPr/>
        </p:nvSpPr>
        <p:spPr>
          <a:xfrm>
            <a:off x="548640" y="4224528"/>
            <a:ext cx="11094415" cy="1600200"/>
          </a:xfrm>
          <a:prstGeom prst="rect">
            <a:avLst/>
          </a:prstGeom>
          <a:ln w="15875">
            <a:solidFill>
              <a:srgbClr val="3A4556"/>
            </a:solidFill>
            <a:prstDash val="dash"/>
          </a:ln>
        </p:spPr>
      </p:sp>
      <p:sp>
        <p:nvSpPr>
          <p:cNvPr id="41" name="Text 39"/>
          <p:cNvSpPr txBox="1"/>
          <p:nvPr/>
        </p:nvSpPr>
        <p:spPr>
          <a:xfrm>
            <a:off x="685800" y="4288536"/>
            <a:ext cx="5486400" cy="237744"/>
          </a:xfrm>
          <a:prstGeom prst="rect">
            <a:avLst/>
          </a:prstGeom>
          <a:noFill/>
          <a:ln/>
        </p:spPr>
        <p:txBody>
          <a:bodyPr wrap="square" lIns="0" tIns="0" rIns="0" bIns="0" rtlCol="0" anchor="t"/>
          <a:lstStyle/>
          <a:p>
            <a:pPr indent="0" marL="0">
              <a:buNone/>
            </a:pPr>
            <a:r>
              <a:rPr lang="en-US" sz="900" b="1" spc="300" kern="0" dirty="0">
                <a:solidFill>
                  <a:srgbClr val="3A4556"/>
                </a:solidFill>
                <a:latin typeface="Calibri" pitchFamily="34" charset="0"/>
                <a:ea typeface="Calibri" pitchFamily="34" charset="-122"/>
                <a:cs typeface="Calibri" pitchFamily="34" charset="-120"/>
              </a:rPr>
              <a:t>DEDICATED ON-PREMISES SERVERS</a:t>
            </a:r>
            <a:endParaRPr lang="en-US" sz="900" dirty="0"/>
          </a:p>
        </p:txBody>
      </p:sp>
      <p:sp>
        <p:nvSpPr>
          <p:cNvPr id="42" name="Text 40"/>
          <p:cNvSpPr txBox="1"/>
          <p:nvPr/>
        </p:nvSpPr>
        <p:spPr>
          <a:xfrm>
            <a:off x="6035040" y="4288536"/>
            <a:ext cx="5470855" cy="228600"/>
          </a:xfrm>
          <a:prstGeom prst="rect">
            <a:avLst/>
          </a:prstGeom>
          <a:noFill/>
          <a:ln/>
        </p:spPr>
        <p:txBody>
          <a:bodyPr wrap="square" lIns="0" tIns="0" rIns="0" bIns="0" rtlCol="0" anchor="t"/>
          <a:lstStyle/>
          <a:p>
            <a:pPr algn="r" indent="0" marL="0">
              <a:buNone/>
            </a:pPr>
            <a:r>
              <a:rPr lang="en-US" sz="950" dirty="0">
                <a:solidFill>
                  <a:srgbClr val="596273"/>
                </a:solidFill>
                <a:latin typeface="Calibri" pitchFamily="34" charset="0"/>
                <a:ea typeface="Calibri" pitchFamily="34" charset="-122"/>
                <a:cs typeface="Calibri" pitchFamily="34" charset="-120"/>
              </a:rPr>
              <a:t>Count = servers or brokers</a:t>
            </a:r>
            <a:endParaRPr lang="en-US" sz="950" dirty="0"/>
          </a:p>
        </p:txBody>
      </p:sp>
      <p:sp>
        <p:nvSpPr>
          <p:cNvPr id="43" name="Shape 41"/>
          <p:cNvSpPr/>
          <p:nvPr/>
        </p:nvSpPr>
        <p:spPr>
          <a:xfrm>
            <a:off x="685800" y="4562856"/>
            <a:ext cx="2054291" cy="384048"/>
          </a:xfrm>
          <a:prstGeom prst="rect">
            <a:avLst/>
          </a:prstGeom>
          <a:solidFill>
            <a:srgbClr val="E8612C"/>
          </a:solidFill>
          <a:ln/>
        </p:spPr>
      </p:sp>
      <p:sp>
        <p:nvSpPr>
          <p:cNvPr id="44" name="Text 42"/>
          <p:cNvSpPr txBox="1"/>
          <p:nvPr/>
        </p:nvSpPr>
        <p:spPr>
          <a:xfrm>
            <a:off x="822960" y="4562856"/>
            <a:ext cx="1322771"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Inspire R15</a:t>
            </a:r>
            <a:endParaRPr lang="en-US" sz="1200" dirty="0"/>
          </a:p>
        </p:txBody>
      </p:sp>
      <p:sp>
        <p:nvSpPr>
          <p:cNvPr id="45" name="Text 43"/>
          <p:cNvSpPr txBox="1"/>
          <p:nvPr/>
        </p:nvSpPr>
        <p:spPr>
          <a:xfrm>
            <a:off x="2008571" y="4562856"/>
            <a:ext cx="594360" cy="384048"/>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13</a:t>
            </a:r>
            <a:endParaRPr lang="en-US" sz="1700" dirty="0"/>
          </a:p>
        </p:txBody>
      </p:sp>
      <p:sp>
        <p:nvSpPr>
          <p:cNvPr id="46" name="Shape 44"/>
          <p:cNvSpPr/>
          <p:nvPr/>
        </p:nvSpPr>
        <p:spPr>
          <a:xfrm>
            <a:off x="685800" y="4946904"/>
            <a:ext cx="2054291" cy="758952"/>
          </a:xfrm>
          <a:prstGeom prst="rect">
            <a:avLst/>
          </a:prstGeom>
          <a:solidFill>
            <a:srgbClr val="FFFFFF"/>
          </a:solidFill>
          <a:ln w="9525">
            <a:solidFill>
              <a:srgbClr val="CCD3DD"/>
            </a:solidFill>
            <a:prstDash val="solid"/>
          </a:ln>
        </p:spPr>
      </p:sp>
      <p:sp>
        <p:nvSpPr>
          <p:cNvPr id="47" name="Text 45"/>
          <p:cNvSpPr txBox="1"/>
          <p:nvPr/>
        </p:nvSpPr>
        <p:spPr>
          <a:xfrm>
            <a:off x="822960" y="5038344"/>
            <a:ext cx="1779971"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Scaler P407–412, Interactive P413–417, License P405–406</a:t>
            </a:r>
            <a:endParaRPr lang="en-US" sz="1050" dirty="0"/>
          </a:p>
        </p:txBody>
      </p:sp>
      <p:sp>
        <p:nvSpPr>
          <p:cNvPr id="48" name="Shape 46"/>
          <p:cNvSpPr/>
          <p:nvPr/>
        </p:nvSpPr>
        <p:spPr>
          <a:xfrm>
            <a:off x="2877251" y="4562856"/>
            <a:ext cx="2054291" cy="384048"/>
          </a:xfrm>
          <a:prstGeom prst="rect">
            <a:avLst/>
          </a:prstGeom>
          <a:solidFill>
            <a:srgbClr val="3A4556"/>
          </a:solidFill>
          <a:ln/>
        </p:spPr>
      </p:sp>
      <p:sp>
        <p:nvSpPr>
          <p:cNvPr id="49" name="Text 47"/>
          <p:cNvSpPr txBox="1"/>
          <p:nvPr/>
        </p:nvSpPr>
        <p:spPr>
          <a:xfrm>
            <a:off x="3014411" y="4562856"/>
            <a:ext cx="1322771"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Batch</a:t>
            </a:r>
            <a:endParaRPr lang="en-US" sz="1200" dirty="0"/>
          </a:p>
        </p:txBody>
      </p:sp>
      <p:sp>
        <p:nvSpPr>
          <p:cNvPr id="50" name="Text 48"/>
          <p:cNvSpPr txBox="1"/>
          <p:nvPr/>
        </p:nvSpPr>
        <p:spPr>
          <a:xfrm>
            <a:off x="4200022" y="4562856"/>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1</a:t>
            </a:r>
            <a:endParaRPr lang="en-US" sz="1700" dirty="0"/>
          </a:p>
        </p:txBody>
      </p:sp>
      <p:sp>
        <p:nvSpPr>
          <p:cNvPr id="51" name="Shape 49"/>
          <p:cNvSpPr/>
          <p:nvPr/>
        </p:nvSpPr>
        <p:spPr>
          <a:xfrm>
            <a:off x="2877251" y="4946904"/>
            <a:ext cx="2054291" cy="758952"/>
          </a:xfrm>
          <a:prstGeom prst="rect">
            <a:avLst/>
          </a:prstGeom>
          <a:solidFill>
            <a:srgbClr val="FFFFFF"/>
          </a:solidFill>
          <a:ln w="9525">
            <a:solidFill>
              <a:srgbClr val="CCD3DD"/>
            </a:solidFill>
            <a:prstDash val="solid"/>
          </a:ln>
        </p:spPr>
      </p:sp>
      <p:sp>
        <p:nvSpPr>
          <p:cNvPr id="52" name="Text 50"/>
          <p:cNvSpPr txBox="1"/>
          <p:nvPr/>
        </p:nvSpPr>
        <p:spPr>
          <a:xfrm>
            <a:off x="3014411" y="5038344"/>
            <a:ext cx="1779971"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Control-M + Spark on Hadoop · edclhdpp432</a:t>
            </a:r>
            <a:endParaRPr lang="en-US" sz="1050" dirty="0"/>
          </a:p>
        </p:txBody>
      </p:sp>
      <p:sp>
        <p:nvSpPr>
          <p:cNvPr id="53" name="Shape 51"/>
          <p:cNvSpPr/>
          <p:nvPr/>
        </p:nvSpPr>
        <p:spPr>
          <a:xfrm>
            <a:off x="5068702" y="4562856"/>
            <a:ext cx="2054291" cy="384048"/>
          </a:xfrm>
          <a:prstGeom prst="rect">
            <a:avLst/>
          </a:prstGeom>
          <a:solidFill>
            <a:srgbClr val="0F1B2D"/>
          </a:solidFill>
          <a:ln/>
        </p:spPr>
      </p:sp>
      <p:sp>
        <p:nvSpPr>
          <p:cNvPr id="54" name="Text 52"/>
          <p:cNvSpPr txBox="1"/>
          <p:nvPr/>
        </p:nvSpPr>
        <p:spPr>
          <a:xfrm>
            <a:off x="5205862" y="4562856"/>
            <a:ext cx="1322771"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SQL Server 2019</a:t>
            </a:r>
            <a:endParaRPr lang="en-US" sz="1200" dirty="0"/>
          </a:p>
        </p:txBody>
      </p:sp>
      <p:sp>
        <p:nvSpPr>
          <p:cNvPr id="55" name="Text 53"/>
          <p:cNvSpPr txBox="1"/>
          <p:nvPr/>
        </p:nvSpPr>
        <p:spPr>
          <a:xfrm>
            <a:off x="6391473" y="4562856"/>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2</a:t>
            </a:r>
            <a:endParaRPr lang="en-US" sz="1700" dirty="0"/>
          </a:p>
        </p:txBody>
      </p:sp>
      <p:sp>
        <p:nvSpPr>
          <p:cNvPr id="56" name="Shape 54"/>
          <p:cNvSpPr/>
          <p:nvPr/>
        </p:nvSpPr>
        <p:spPr>
          <a:xfrm>
            <a:off x="5068702" y="4946904"/>
            <a:ext cx="2054291" cy="758952"/>
          </a:xfrm>
          <a:prstGeom prst="rect">
            <a:avLst/>
          </a:prstGeom>
          <a:solidFill>
            <a:srgbClr val="FFFFFF"/>
          </a:solidFill>
          <a:ln w="9525">
            <a:solidFill>
              <a:srgbClr val="CCD3DD"/>
            </a:solidFill>
            <a:prstDash val="solid"/>
          </a:ln>
        </p:spPr>
      </p:sp>
      <p:sp>
        <p:nvSpPr>
          <p:cNvPr id="57" name="Text 55"/>
          <p:cNvSpPr txBox="1"/>
          <p:nvPr/>
        </p:nvSpPr>
        <p:spPr>
          <a:xfrm>
            <a:off x="5205862" y="5038344"/>
            <a:ext cx="1779971"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SQLPX0105 Recon · SQLPD9747 Inspire DBs</a:t>
            </a:r>
            <a:endParaRPr lang="en-US" sz="1050" dirty="0"/>
          </a:p>
        </p:txBody>
      </p:sp>
      <p:sp>
        <p:nvSpPr>
          <p:cNvPr id="58" name="Shape 56"/>
          <p:cNvSpPr/>
          <p:nvPr/>
        </p:nvSpPr>
        <p:spPr>
          <a:xfrm>
            <a:off x="7260153" y="4562856"/>
            <a:ext cx="2054291" cy="384048"/>
          </a:xfrm>
          <a:prstGeom prst="rect">
            <a:avLst/>
          </a:prstGeom>
          <a:solidFill>
            <a:srgbClr val="1F7A6B"/>
          </a:solidFill>
          <a:ln/>
        </p:spPr>
      </p:sp>
      <p:sp>
        <p:nvSpPr>
          <p:cNvPr id="59" name="Text 57"/>
          <p:cNvSpPr txBox="1"/>
          <p:nvPr/>
        </p:nvSpPr>
        <p:spPr>
          <a:xfrm>
            <a:off x="7397313" y="4562856"/>
            <a:ext cx="1322771"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Kafka</a:t>
            </a:r>
            <a:endParaRPr lang="en-US" sz="1200" dirty="0"/>
          </a:p>
        </p:txBody>
      </p:sp>
      <p:sp>
        <p:nvSpPr>
          <p:cNvPr id="60" name="Text 58"/>
          <p:cNvSpPr txBox="1"/>
          <p:nvPr/>
        </p:nvSpPr>
        <p:spPr>
          <a:xfrm>
            <a:off x="8582924" y="4562856"/>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3</a:t>
            </a:r>
            <a:endParaRPr lang="en-US" sz="1700" dirty="0"/>
          </a:p>
        </p:txBody>
      </p:sp>
      <p:sp>
        <p:nvSpPr>
          <p:cNvPr id="61" name="Shape 59"/>
          <p:cNvSpPr/>
          <p:nvPr/>
        </p:nvSpPr>
        <p:spPr>
          <a:xfrm>
            <a:off x="7260153" y="4946904"/>
            <a:ext cx="2054291" cy="758952"/>
          </a:xfrm>
          <a:prstGeom prst="rect">
            <a:avLst/>
          </a:prstGeom>
          <a:solidFill>
            <a:srgbClr val="FFFFFF"/>
          </a:solidFill>
          <a:ln w="9525">
            <a:solidFill>
              <a:srgbClr val="CCD3DD"/>
            </a:solidFill>
            <a:prstDash val="solid"/>
          </a:ln>
        </p:spPr>
      </p:sp>
      <p:sp>
        <p:nvSpPr>
          <p:cNvPr id="62" name="Text 60"/>
          <p:cNvSpPr txBox="1"/>
          <p:nvPr/>
        </p:nvSpPr>
        <p:spPr>
          <a:xfrm>
            <a:off x="7397313" y="5038344"/>
            <a:ext cx="1779971"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edclkfkp404–406 :6667</a:t>
            </a:r>
            <a:endParaRPr lang="en-US" sz="1050" dirty="0"/>
          </a:p>
        </p:txBody>
      </p:sp>
      <p:sp>
        <p:nvSpPr>
          <p:cNvPr id="63" name="Shape 61"/>
          <p:cNvSpPr/>
          <p:nvPr/>
        </p:nvSpPr>
        <p:spPr>
          <a:xfrm>
            <a:off x="9451604" y="4562856"/>
            <a:ext cx="2054291" cy="384048"/>
          </a:xfrm>
          <a:prstGeom prst="rect">
            <a:avLst/>
          </a:prstGeom>
          <a:solidFill>
            <a:srgbClr val="1F4FB8"/>
          </a:solidFill>
          <a:ln/>
        </p:spPr>
      </p:sp>
      <p:sp>
        <p:nvSpPr>
          <p:cNvPr id="64" name="Text 62"/>
          <p:cNvSpPr txBox="1"/>
          <p:nvPr/>
        </p:nvSpPr>
        <p:spPr>
          <a:xfrm>
            <a:off x="9588764" y="4562856"/>
            <a:ext cx="1322771"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p:txBody>
      </p:sp>
      <p:sp>
        <p:nvSpPr>
          <p:cNvPr id="65" name="Text 63"/>
          <p:cNvSpPr txBox="1"/>
          <p:nvPr/>
        </p:nvSpPr>
        <p:spPr>
          <a:xfrm>
            <a:off x="10774375" y="4562856"/>
            <a:ext cx="594360" cy="384048"/>
          </a:xfrm>
          <a:prstGeom prst="rect">
            <a:avLst/>
          </a:prstGeom>
          <a:noFill/>
          <a:ln/>
        </p:spPr>
        <p:txBody>
          <a:bodyPr wrap="square" lIns="0" tIns="0" rIns="0" bIns="0" rtlCol="0" anchor="ctr"/>
          <a:lstStyle/>
          <a:p>
            <a:pPr algn="r" indent="0" marL="0">
              <a:buNone/>
            </a:pPr>
            <a:r>
              <a:rPr lang="en-US" sz="1700" b="1" dirty="0">
                <a:solidFill>
                  <a:srgbClr val="F5C04A"/>
                </a:solidFill>
                <a:latin typeface="Calibri" pitchFamily="34" charset="0"/>
                <a:ea typeface="Calibri" pitchFamily="34" charset="-122"/>
                <a:cs typeface="Calibri" pitchFamily="34" charset="-120"/>
              </a:rPr>
              <a:t>1</a:t>
            </a:r>
            <a:endParaRPr lang="en-US" sz="1700" dirty="0"/>
          </a:p>
        </p:txBody>
      </p:sp>
      <p:sp>
        <p:nvSpPr>
          <p:cNvPr id="66" name="Shape 64"/>
          <p:cNvSpPr/>
          <p:nvPr/>
        </p:nvSpPr>
        <p:spPr>
          <a:xfrm>
            <a:off x="9451604" y="4946904"/>
            <a:ext cx="2054291" cy="758952"/>
          </a:xfrm>
          <a:prstGeom prst="rect">
            <a:avLst/>
          </a:prstGeom>
          <a:solidFill>
            <a:srgbClr val="FFFFFF"/>
          </a:solidFill>
          <a:ln w="9525">
            <a:solidFill>
              <a:srgbClr val="CCD3DD"/>
            </a:solidFill>
            <a:prstDash val="solid"/>
          </a:ln>
        </p:spPr>
      </p:sp>
      <p:sp>
        <p:nvSpPr>
          <p:cNvPr id="67" name="Text 65"/>
          <p:cNvSpPr txBox="1"/>
          <p:nvPr/>
        </p:nvSpPr>
        <p:spPr>
          <a:xfrm>
            <a:off x="9588764" y="5038344"/>
            <a:ext cx="1779971" cy="594360"/>
          </a:xfrm>
          <a:prstGeom prst="rect">
            <a:avLst/>
          </a:prstGeom>
          <a:noFill/>
          <a:ln/>
        </p:spPr>
        <p:txBody>
          <a:bodyPr wrap="square" lIns="0" tIns="0" rIns="0" bIns="0" rtlCol="0" anchor="t"/>
          <a:lstStyle/>
          <a:p>
            <a:pPr indent="0" marL="0">
              <a:buNone/>
            </a:pPr>
            <a:r>
              <a:rPr lang="en-US" sz="1050" dirty="0">
                <a:solidFill>
                  <a:srgbClr val="1C2330"/>
                </a:solidFill>
                <a:latin typeface="Calibri" pitchFamily="34" charset="0"/>
                <a:ea typeface="Calibri" pitchFamily="34" charset="-122"/>
                <a:cs typeface="Calibri" pitchFamily="34" charset="-120"/>
              </a:rPr>
              <a:t>srsps0063 · CCM_Reports_Prod</a:t>
            </a:r>
            <a:endParaRPr lang="en-US" sz="1050" dirty="0"/>
          </a:p>
        </p:txBody>
      </p:sp>
      <p:sp>
        <p:nvSpPr>
          <p:cNvPr id="68" name="Shape 66"/>
          <p:cNvSpPr/>
          <p:nvPr/>
        </p:nvSpPr>
        <p:spPr>
          <a:xfrm>
            <a:off x="548640" y="5897880"/>
            <a:ext cx="11094415" cy="530352"/>
          </a:xfrm>
          <a:prstGeom prst="rect">
            <a:avLst/>
          </a:prstGeom>
          <a:solidFill>
            <a:srgbClr val="EEF2FA"/>
          </a:solidFill>
          <a:ln w="15875">
            <a:solidFill>
              <a:srgbClr val="1F4FB8"/>
            </a:solidFill>
            <a:prstDash val="solid"/>
          </a:ln>
        </p:spPr>
      </p:sp>
      <p:sp>
        <p:nvSpPr>
          <p:cNvPr id="69" name="Text 67"/>
          <p:cNvSpPr txBox="1"/>
          <p:nvPr/>
        </p:nvSpPr>
        <p:spPr>
          <a:xfrm>
            <a:off x="685800" y="6044184"/>
            <a:ext cx="1828800" cy="237744"/>
          </a:xfrm>
          <a:prstGeom prst="rect">
            <a:avLst/>
          </a:prstGeom>
          <a:noFill/>
          <a:ln/>
        </p:spPr>
        <p:txBody>
          <a:bodyPr wrap="square" lIns="0" tIns="0" rIns="0" bIns="0" rtlCol="0" anchor="t"/>
          <a:lstStyle/>
          <a:p>
            <a:pPr indent="0" marL="0">
              <a:buNone/>
            </a:pPr>
            <a:r>
              <a:rPr lang="en-US" sz="900" b="1" spc="300" kern="0" dirty="0">
                <a:solidFill>
                  <a:srgbClr val="1F4FB8"/>
                </a:solidFill>
                <a:latin typeface="Calibri" pitchFamily="34" charset="0"/>
                <a:ea typeface="Calibri" pitchFamily="34" charset="-122"/>
                <a:cs typeface="Calibri" pitchFamily="34" charset="-120"/>
              </a:rPr>
              <a:t>BROKERED EGRESS</a:t>
            </a:r>
            <a:endParaRPr lang="en-US" sz="900" dirty="0"/>
          </a:p>
        </p:txBody>
      </p:sp>
      <p:sp>
        <p:nvSpPr>
          <p:cNvPr id="70" name="Shape 68"/>
          <p:cNvSpPr/>
          <p:nvPr/>
        </p:nvSpPr>
        <p:spPr>
          <a:xfrm>
            <a:off x="2377440" y="5961888"/>
            <a:ext cx="2211248" cy="402336"/>
          </a:xfrm>
          <a:prstGeom prst="rect">
            <a:avLst/>
          </a:prstGeom>
          <a:solidFill>
            <a:srgbClr val="FFFFFF"/>
          </a:solidFill>
          <a:ln w="9525">
            <a:solidFill>
              <a:srgbClr val="CCD3DD"/>
            </a:solidFill>
            <a:prstDash val="solid"/>
          </a:ln>
        </p:spPr>
      </p:sp>
      <p:sp>
        <p:nvSpPr>
          <p:cNvPr id="71" name="Text 69"/>
          <p:cNvSpPr txBox="1"/>
          <p:nvPr/>
        </p:nvSpPr>
        <p:spPr>
          <a:xfrm>
            <a:off x="2377440" y="5961888"/>
            <a:ext cx="2211248" cy="402336"/>
          </a:xfrm>
          <a:prstGeom prst="rect">
            <a:avLst/>
          </a:prstGeom>
          <a:noFill/>
          <a:ln/>
        </p:spPr>
        <p:txBody>
          <a:bodyPr wrap="square" lIns="0" tIns="0" rIns="0" bIns="0" rtlCol="0" anchor="ctr"/>
          <a:lstStyle/>
          <a:p>
            <a:pPr algn="ctr" indent="0" marL="0">
              <a:buNone/>
            </a:pPr>
            <a:r>
              <a:rPr lang="en-US" sz="1000" b="1" dirty="0">
                <a:solidFill>
                  <a:srgbClr val="1C2330"/>
                </a:solidFill>
                <a:latin typeface="Calibri" pitchFamily="34" charset="0"/>
                <a:ea typeface="Calibri" pitchFamily="34" charset="-122"/>
                <a:cs typeface="Calibri" pitchFamily="34" charset="-120"/>
              </a:rPr>
              <a:t>DataPower REST → Twilio, SFMC</a:t>
            </a:r>
            <a:endParaRPr lang="en-US" sz="1000" dirty="0"/>
          </a:p>
        </p:txBody>
      </p:sp>
      <p:sp>
        <p:nvSpPr>
          <p:cNvPr id="72" name="Shape 70"/>
          <p:cNvSpPr/>
          <p:nvPr/>
        </p:nvSpPr>
        <p:spPr>
          <a:xfrm>
            <a:off x="4698416" y="5961888"/>
            <a:ext cx="2211248" cy="402336"/>
          </a:xfrm>
          <a:prstGeom prst="rect">
            <a:avLst/>
          </a:prstGeom>
          <a:solidFill>
            <a:srgbClr val="FFFFFF"/>
          </a:solidFill>
          <a:ln w="9525">
            <a:solidFill>
              <a:srgbClr val="CCD3DD"/>
            </a:solidFill>
            <a:prstDash val="solid"/>
          </a:ln>
        </p:spPr>
      </p:sp>
      <p:sp>
        <p:nvSpPr>
          <p:cNvPr id="73" name="Text 71"/>
          <p:cNvSpPr txBox="1"/>
          <p:nvPr/>
        </p:nvSpPr>
        <p:spPr>
          <a:xfrm>
            <a:off x="4698416" y="5961888"/>
            <a:ext cx="2211248" cy="402336"/>
          </a:xfrm>
          <a:prstGeom prst="rect">
            <a:avLst/>
          </a:prstGeom>
          <a:noFill/>
          <a:ln/>
        </p:spPr>
        <p:txBody>
          <a:bodyPr wrap="square" lIns="0" tIns="0" rIns="0" bIns="0" rtlCol="0" anchor="ctr"/>
          <a:lstStyle/>
          <a:p>
            <a:pPr algn="ctr" indent="0" marL="0">
              <a:buNone/>
            </a:pPr>
            <a:r>
              <a:rPr lang="en-US" sz="1000" b="1" dirty="0">
                <a:solidFill>
                  <a:srgbClr val="1C2330"/>
                </a:solidFill>
                <a:latin typeface="Calibri" pitchFamily="34" charset="0"/>
                <a:ea typeface="Calibri" pitchFamily="34" charset="-122"/>
                <a:cs typeface="Calibri" pitchFamily="34" charset="-120"/>
              </a:rPr>
              <a:t>SFTP securefile → print vendors</a:t>
            </a:r>
            <a:endParaRPr lang="en-US" sz="1000" dirty="0"/>
          </a:p>
        </p:txBody>
      </p:sp>
      <p:sp>
        <p:nvSpPr>
          <p:cNvPr id="74" name="Shape 72"/>
          <p:cNvSpPr/>
          <p:nvPr/>
        </p:nvSpPr>
        <p:spPr>
          <a:xfrm>
            <a:off x="7019392" y="5961888"/>
            <a:ext cx="2211248" cy="402336"/>
          </a:xfrm>
          <a:prstGeom prst="rect">
            <a:avLst/>
          </a:prstGeom>
          <a:solidFill>
            <a:srgbClr val="FFFFFF"/>
          </a:solidFill>
          <a:ln w="9525">
            <a:solidFill>
              <a:srgbClr val="CCD3DD"/>
            </a:solidFill>
            <a:prstDash val="solid"/>
          </a:ln>
        </p:spPr>
      </p:sp>
      <p:sp>
        <p:nvSpPr>
          <p:cNvPr id="75" name="Text 73"/>
          <p:cNvSpPr txBox="1"/>
          <p:nvPr/>
        </p:nvSpPr>
        <p:spPr>
          <a:xfrm>
            <a:off x="7019392" y="5961888"/>
            <a:ext cx="2211248" cy="402336"/>
          </a:xfrm>
          <a:prstGeom prst="rect">
            <a:avLst/>
          </a:prstGeom>
          <a:noFill/>
          <a:ln/>
        </p:spPr>
        <p:txBody>
          <a:bodyPr wrap="square" lIns="0" tIns="0" rIns="0" bIns="0" rtlCol="0" anchor="ctr"/>
          <a:lstStyle/>
          <a:p>
            <a:pPr algn="ctr" indent="0" marL="0">
              <a:buNone/>
            </a:pPr>
            <a:r>
              <a:rPr lang="en-US" sz="1000" b="1" dirty="0">
                <a:solidFill>
                  <a:srgbClr val="1C2330"/>
                </a:solidFill>
                <a:latin typeface="Calibri" pitchFamily="34" charset="0"/>
                <a:ea typeface="Calibri" pitchFamily="34" charset="-122"/>
                <a:cs typeface="Calibri" pitchFamily="34" charset="-120"/>
              </a:rPr>
              <a:t>lookups.twilio.com</a:t>
            </a:r>
            <a:endParaRPr lang="en-US" sz="1000" dirty="0"/>
          </a:p>
        </p:txBody>
      </p:sp>
      <p:sp>
        <p:nvSpPr>
          <p:cNvPr id="76" name="Shape 74"/>
          <p:cNvSpPr/>
          <p:nvPr/>
        </p:nvSpPr>
        <p:spPr>
          <a:xfrm>
            <a:off x="9340367" y="5961888"/>
            <a:ext cx="2211248" cy="402336"/>
          </a:xfrm>
          <a:prstGeom prst="rect">
            <a:avLst/>
          </a:prstGeom>
          <a:solidFill>
            <a:srgbClr val="FFFFFF"/>
          </a:solidFill>
          <a:ln w="9525">
            <a:solidFill>
              <a:srgbClr val="CCD3DD"/>
            </a:solidFill>
            <a:prstDash val="solid"/>
          </a:ln>
        </p:spPr>
      </p:sp>
      <p:sp>
        <p:nvSpPr>
          <p:cNvPr id="77" name="Text 75"/>
          <p:cNvSpPr txBox="1"/>
          <p:nvPr/>
        </p:nvSpPr>
        <p:spPr>
          <a:xfrm>
            <a:off x="9340367" y="5961888"/>
            <a:ext cx="2211248" cy="402336"/>
          </a:xfrm>
          <a:prstGeom prst="rect">
            <a:avLst/>
          </a:prstGeom>
          <a:noFill/>
          <a:ln/>
        </p:spPr>
        <p:txBody>
          <a:bodyPr wrap="square" lIns="0" tIns="0" rIns="0" bIns="0" rtlCol="0" anchor="ctr"/>
          <a:lstStyle/>
          <a:p>
            <a:pPr algn="ctr" indent="0" marL="0">
              <a:buNone/>
            </a:pPr>
            <a:r>
              <a:rPr lang="en-US" sz="1000" b="1" dirty="0">
                <a:solidFill>
                  <a:srgbClr val="1C2330"/>
                </a:solidFill>
                <a:latin typeface="Calibri" pitchFamily="34" charset="0"/>
                <a:ea typeface="Calibri" pitchFamily="34" charset="-122"/>
                <a:cs typeface="Calibri" pitchFamily="34" charset="-120"/>
              </a:rPr>
              <a:t>Bloomreach CMS (MMS images)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CONSOLIDATED VIEW</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End-to-end architecture</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15</a:t>
            </a:r>
            <a:endParaRPr lang="en-US" sz="900" dirty="0"/>
          </a:p>
        </p:txBody>
      </p:sp>
      <p:sp>
        <p:nvSpPr>
          <p:cNvPr id="9" name="Shape 7"/>
          <p:cNvSpPr/>
          <p:nvPr/>
        </p:nvSpPr>
        <p:spPr>
          <a:xfrm>
            <a:off x="548640" y="1371600"/>
            <a:ext cx="1691640" cy="3474720"/>
          </a:xfrm>
          <a:prstGeom prst="roundRect">
            <a:avLst>
              <a:gd name="adj" fmla="val 3243"/>
            </a:avLst>
          </a:prstGeom>
          <a:solidFill>
            <a:srgbClr val="F1F3F6"/>
          </a:solidFill>
          <a:ln/>
        </p:spPr>
      </p:sp>
      <p:sp>
        <p:nvSpPr>
          <p:cNvPr id="10" name="Text 8"/>
          <p:cNvSpPr txBox="1"/>
          <p:nvPr/>
        </p:nvSpPr>
        <p:spPr>
          <a:xfrm>
            <a:off x="685800" y="1481328"/>
            <a:ext cx="1463040" cy="256032"/>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SOURCE SYSTEMS</a:t>
            </a:r>
            <a:endParaRPr lang="en-US" sz="1000" dirty="0"/>
          </a:p>
        </p:txBody>
      </p:sp>
      <p:sp>
        <p:nvSpPr>
          <p:cNvPr id="11" name="Shape 9"/>
          <p:cNvSpPr/>
          <p:nvPr/>
        </p:nvSpPr>
        <p:spPr>
          <a:xfrm>
            <a:off x="685800" y="1828800"/>
            <a:ext cx="1417320" cy="347472"/>
          </a:xfrm>
          <a:prstGeom prst="roundRect">
            <a:avLst>
              <a:gd name="adj" fmla="val 13158"/>
            </a:avLst>
          </a:prstGeom>
          <a:solidFill>
            <a:srgbClr val="FFFFFF"/>
          </a:solidFill>
          <a:ln w="12700">
            <a:solidFill>
              <a:srgbClr val="CCD3DD"/>
            </a:solidFill>
            <a:prstDash val="solid"/>
          </a:ln>
        </p:spPr>
      </p:sp>
      <p:sp>
        <p:nvSpPr>
          <p:cNvPr id="12" name="Text 10"/>
          <p:cNvSpPr txBox="1"/>
          <p:nvPr/>
        </p:nvSpPr>
        <p:spPr>
          <a:xfrm>
            <a:off x="685800" y="1828800"/>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EWoC</a:t>
            </a:r>
            <a:endParaRPr lang="en-US" sz="1050" dirty="0"/>
          </a:p>
        </p:txBody>
      </p:sp>
      <p:sp>
        <p:nvSpPr>
          <p:cNvPr id="13" name="Shape 11"/>
          <p:cNvSpPr/>
          <p:nvPr/>
        </p:nvSpPr>
        <p:spPr>
          <a:xfrm>
            <a:off x="685800" y="2249424"/>
            <a:ext cx="1417320" cy="347472"/>
          </a:xfrm>
          <a:prstGeom prst="roundRect">
            <a:avLst>
              <a:gd name="adj" fmla="val 13158"/>
            </a:avLst>
          </a:prstGeom>
          <a:solidFill>
            <a:srgbClr val="FFFFFF"/>
          </a:solidFill>
          <a:ln w="12700">
            <a:solidFill>
              <a:srgbClr val="CCD3DD"/>
            </a:solidFill>
            <a:prstDash val="solid"/>
          </a:ln>
        </p:spPr>
      </p:sp>
      <p:sp>
        <p:nvSpPr>
          <p:cNvPr id="14" name="Text 12"/>
          <p:cNvSpPr txBox="1"/>
          <p:nvPr/>
        </p:nvSpPr>
        <p:spPr>
          <a:xfrm>
            <a:off x="685800" y="2249424"/>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Claims Workflow</a:t>
            </a:r>
            <a:endParaRPr lang="en-US" sz="1050" dirty="0"/>
          </a:p>
        </p:txBody>
      </p:sp>
      <p:sp>
        <p:nvSpPr>
          <p:cNvPr id="15" name="Shape 13"/>
          <p:cNvSpPr/>
          <p:nvPr/>
        </p:nvSpPr>
        <p:spPr>
          <a:xfrm>
            <a:off x="685800" y="2670048"/>
            <a:ext cx="1417320" cy="347472"/>
          </a:xfrm>
          <a:prstGeom prst="roundRect">
            <a:avLst>
              <a:gd name="adj" fmla="val 13158"/>
            </a:avLst>
          </a:prstGeom>
          <a:solidFill>
            <a:srgbClr val="FFFFFF"/>
          </a:solidFill>
          <a:ln w="12700">
            <a:solidFill>
              <a:srgbClr val="CCD3DD"/>
            </a:solidFill>
            <a:prstDash val="solid"/>
          </a:ln>
        </p:spPr>
      </p:sp>
      <p:sp>
        <p:nvSpPr>
          <p:cNvPr id="16" name="Text 14"/>
          <p:cNvSpPr txBox="1"/>
          <p:nvPr/>
        </p:nvSpPr>
        <p:spPr>
          <a:xfrm>
            <a:off x="685800" y="2670048"/>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OPL / Quest</a:t>
            </a:r>
            <a:endParaRPr lang="en-US" sz="1050" dirty="0"/>
          </a:p>
        </p:txBody>
      </p:sp>
      <p:sp>
        <p:nvSpPr>
          <p:cNvPr id="17" name="Shape 15"/>
          <p:cNvSpPr/>
          <p:nvPr/>
        </p:nvSpPr>
        <p:spPr>
          <a:xfrm>
            <a:off x="685800" y="3090672"/>
            <a:ext cx="1417320" cy="347472"/>
          </a:xfrm>
          <a:prstGeom prst="roundRect">
            <a:avLst>
              <a:gd name="adj" fmla="val 13158"/>
            </a:avLst>
          </a:prstGeom>
          <a:solidFill>
            <a:srgbClr val="FFFFFF"/>
          </a:solidFill>
          <a:ln w="12700">
            <a:solidFill>
              <a:srgbClr val="CCD3DD"/>
            </a:solidFill>
            <a:prstDash val="solid"/>
          </a:ln>
        </p:spPr>
      </p:sp>
      <p:sp>
        <p:nvSpPr>
          <p:cNvPr id="18" name="Text 16"/>
          <p:cNvSpPr txBox="1"/>
          <p:nvPr/>
        </p:nvSpPr>
        <p:spPr>
          <a:xfrm>
            <a:off x="685800" y="3090672"/>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Payments (PPX)</a:t>
            </a:r>
            <a:endParaRPr lang="en-US" sz="1050" dirty="0"/>
          </a:p>
        </p:txBody>
      </p:sp>
      <p:sp>
        <p:nvSpPr>
          <p:cNvPr id="19" name="Shape 17"/>
          <p:cNvSpPr/>
          <p:nvPr/>
        </p:nvSpPr>
        <p:spPr>
          <a:xfrm>
            <a:off x="685800" y="3511296"/>
            <a:ext cx="1417320" cy="347472"/>
          </a:xfrm>
          <a:prstGeom prst="roundRect">
            <a:avLst>
              <a:gd name="adj" fmla="val 13158"/>
            </a:avLst>
          </a:prstGeom>
          <a:solidFill>
            <a:srgbClr val="FFFFFF"/>
          </a:solidFill>
          <a:ln w="12700">
            <a:solidFill>
              <a:srgbClr val="CCD3DD"/>
            </a:solidFill>
            <a:prstDash val="solid"/>
          </a:ln>
        </p:spPr>
      </p:sp>
      <p:sp>
        <p:nvSpPr>
          <p:cNvPr id="20" name="Text 18"/>
          <p:cNvSpPr txBox="1"/>
          <p:nvPr/>
        </p:nvSpPr>
        <p:spPr>
          <a:xfrm>
            <a:off x="685800" y="3511296"/>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CIAM</a:t>
            </a:r>
            <a:endParaRPr lang="en-US" sz="1050" dirty="0"/>
          </a:p>
        </p:txBody>
      </p:sp>
      <p:sp>
        <p:nvSpPr>
          <p:cNvPr id="21" name="Shape 19"/>
          <p:cNvSpPr/>
          <p:nvPr/>
        </p:nvSpPr>
        <p:spPr>
          <a:xfrm>
            <a:off x="685800" y="3931920"/>
            <a:ext cx="1417320" cy="347472"/>
          </a:xfrm>
          <a:prstGeom prst="roundRect">
            <a:avLst>
              <a:gd name="adj" fmla="val 13158"/>
            </a:avLst>
          </a:prstGeom>
          <a:solidFill>
            <a:srgbClr val="FFFFFF"/>
          </a:solidFill>
          <a:ln w="12700">
            <a:solidFill>
              <a:srgbClr val="CCD3DD"/>
            </a:solidFill>
            <a:prstDash val="solid"/>
          </a:ln>
        </p:spPr>
      </p:sp>
      <p:sp>
        <p:nvSpPr>
          <p:cNvPr id="22" name="Text 20"/>
          <p:cNvSpPr txBox="1"/>
          <p:nvPr/>
        </p:nvSpPr>
        <p:spPr>
          <a:xfrm>
            <a:off x="685800" y="3931920"/>
            <a:ext cx="1417320" cy="347472"/>
          </a:xfrm>
          <a:prstGeom prst="rect">
            <a:avLst/>
          </a:prstGeom>
          <a:noFill/>
          <a:ln/>
        </p:spPr>
        <p:txBody>
          <a:bodyPr wrap="square" lIns="0" tIns="0" rIns="0" bIns="0" rtlCol="0" anchor="ctr"/>
          <a:lstStyle/>
          <a:p>
            <a:pPr algn="ctr" indent="0" marL="0">
              <a:buNone/>
            </a:pPr>
            <a:r>
              <a:rPr lang="en-US" sz="1050" dirty="0">
                <a:solidFill>
                  <a:srgbClr val="1C2330"/>
                </a:solidFill>
                <a:latin typeface="Calibri" pitchFamily="34" charset="0"/>
                <a:ea typeface="Calibri" pitchFamily="34" charset="-122"/>
                <a:cs typeface="Calibri" pitchFamily="34" charset="-120"/>
              </a:rPr>
              <a:t>Sales Connect / EDE</a:t>
            </a:r>
            <a:endParaRPr lang="en-US" sz="1050" dirty="0"/>
          </a:p>
        </p:txBody>
      </p:sp>
      <p:sp>
        <p:nvSpPr>
          <p:cNvPr id="23" name="Shape 21"/>
          <p:cNvSpPr/>
          <p:nvPr/>
        </p:nvSpPr>
        <p:spPr>
          <a:xfrm>
            <a:off x="685800" y="4352544"/>
            <a:ext cx="1417320" cy="347472"/>
          </a:xfrm>
          <a:prstGeom prst="roundRect">
            <a:avLst>
              <a:gd name="adj" fmla="val 13158"/>
            </a:avLst>
          </a:prstGeom>
          <a:solidFill>
            <a:srgbClr val="FFFFFF"/>
          </a:solidFill>
          <a:ln w="12700">
            <a:solidFill>
              <a:srgbClr val="CCD3DD"/>
            </a:solidFill>
            <a:prstDash val="solid"/>
          </a:ln>
        </p:spPr>
      </p:sp>
      <p:sp>
        <p:nvSpPr>
          <p:cNvPr id="24" name="Text 22"/>
          <p:cNvSpPr txBox="1"/>
          <p:nvPr/>
        </p:nvSpPr>
        <p:spPr>
          <a:xfrm>
            <a:off x="685800" y="4352544"/>
            <a:ext cx="1417320" cy="347472"/>
          </a:xfrm>
          <a:prstGeom prst="rect">
            <a:avLst/>
          </a:prstGeom>
          <a:noFill/>
          <a:ln/>
        </p:spPr>
        <p:txBody>
          <a:bodyPr wrap="square" lIns="0" tIns="0" rIns="0" bIns="0" rtlCol="0" anchor="ctr"/>
          <a:lstStyle/>
          <a:p>
            <a:pPr algn="ctr" indent="0" marL="0">
              <a:buNone/>
            </a:pPr>
            <a:r>
              <a:rPr lang="en-US" sz="1050" dirty="0">
                <a:solidFill>
                  <a:srgbClr val="596273"/>
                </a:solidFill>
                <a:latin typeface="Calibri" pitchFamily="34" charset="0"/>
                <a:ea typeface="Calibri" pitchFamily="34" charset="-122"/>
                <a:cs typeface="Calibri" pitchFamily="34" charset="-120"/>
              </a:rPr>
              <a:t>+ 30 more</a:t>
            </a:r>
            <a:endParaRPr lang="en-US" sz="1050" dirty="0"/>
          </a:p>
        </p:txBody>
      </p:sp>
      <p:sp>
        <p:nvSpPr>
          <p:cNvPr id="25" name="Text 23"/>
          <p:cNvSpPr txBox="1"/>
          <p:nvPr/>
        </p:nvSpPr>
        <p:spPr>
          <a:xfrm>
            <a:off x="2606040" y="1353312"/>
            <a:ext cx="1874520" cy="256032"/>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INTEGRATION METHOD</a:t>
            </a:r>
            <a:endParaRPr lang="en-US" sz="1000" dirty="0"/>
          </a:p>
        </p:txBody>
      </p:sp>
      <p:sp>
        <p:nvSpPr>
          <p:cNvPr id="26" name="Shape 24"/>
          <p:cNvSpPr/>
          <p:nvPr/>
        </p:nvSpPr>
        <p:spPr>
          <a:xfrm>
            <a:off x="2606040" y="1645920"/>
            <a:ext cx="1874520" cy="749808"/>
          </a:xfrm>
          <a:prstGeom prst="roundRect">
            <a:avLst>
              <a:gd name="adj" fmla="val 7317"/>
            </a:avLst>
          </a:prstGeom>
          <a:solidFill>
            <a:srgbClr val="1F4FB8"/>
          </a:solidFill>
          <a:ln/>
        </p:spPr>
      </p:sp>
      <p:sp>
        <p:nvSpPr>
          <p:cNvPr id="27" name="Text 25"/>
          <p:cNvSpPr txBox="1"/>
          <p:nvPr/>
        </p:nvSpPr>
        <p:spPr>
          <a:xfrm>
            <a:off x="2715768" y="170992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On-demand UI</a:t>
            </a:r>
            <a:endParaRPr lang="en-US" sz="1300" dirty="0"/>
          </a:p>
        </p:txBody>
      </p:sp>
      <p:sp>
        <p:nvSpPr>
          <p:cNvPr id="28" name="Text 26"/>
          <p:cNvSpPr txBox="1"/>
          <p:nvPr/>
        </p:nvSpPr>
        <p:spPr>
          <a:xfrm>
            <a:off x="2715768" y="1993392"/>
            <a:ext cx="165506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Users build letters inside source apps</a:t>
            </a:r>
            <a:endParaRPr lang="en-US" sz="1000" dirty="0"/>
          </a:p>
        </p:txBody>
      </p:sp>
      <p:sp>
        <p:nvSpPr>
          <p:cNvPr id="29" name="Shape 27"/>
          <p:cNvSpPr/>
          <p:nvPr/>
        </p:nvSpPr>
        <p:spPr>
          <a:xfrm>
            <a:off x="2240280" y="2020824"/>
            <a:ext cx="365760" cy="0"/>
          </a:xfrm>
          <a:prstGeom prst="line">
            <a:avLst/>
          </a:prstGeom>
          <a:noFill/>
          <a:ln w="19050">
            <a:solidFill>
              <a:srgbClr val="596273"/>
            </a:solidFill>
            <a:prstDash val="solid"/>
            <a:tailEnd type="triangle"/>
          </a:ln>
        </p:spPr>
      </p:sp>
      <p:sp>
        <p:nvSpPr>
          <p:cNvPr id="30" name="Shape 28"/>
          <p:cNvSpPr/>
          <p:nvPr/>
        </p:nvSpPr>
        <p:spPr>
          <a:xfrm>
            <a:off x="2606040" y="2514600"/>
            <a:ext cx="1874520" cy="749808"/>
          </a:xfrm>
          <a:prstGeom prst="roundRect">
            <a:avLst>
              <a:gd name="adj" fmla="val 7317"/>
            </a:avLst>
          </a:prstGeom>
          <a:solidFill>
            <a:srgbClr val="1F4FB8"/>
          </a:solidFill>
          <a:ln/>
        </p:spPr>
      </p:sp>
      <p:sp>
        <p:nvSpPr>
          <p:cNvPr id="31" name="Text 29"/>
          <p:cNvSpPr txBox="1"/>
          <p:nvPr/>
        </p:nvSpPr>
        <p:spPr>
          <a:xfrm>
            <a:off x="2715768" y="257860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CCM API</a:t>
            </a:r>
            <a:endParaRPr lang="en-US" sz="1300" dirty="0"/>
          </a:p>
        </p:txBody>
      </p:sp>
      <p:sp>
        <p:nvSpPr>
          <p:cNvPr id="32" name="Text 30"/>
          <p:cNvSpPr txBox="1"/>
          <p:nvPr/>
        </p:nvSpPr>
        <p:spPr>
          <a:xfrm>
            <a:off x="2715768" y="2862072"/>
            <a:ext cx="165506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Real-time REST, event-driven</a:t>
            </a:r>
            <a:endParaRPr lang="en-US" sz="1000" dirty="0"/>
          </a:p>
        </p:txBody>
      </p:sp>
      <p:sp>
        <p:nvSpPr>
          <p:cNvPr id="33" name="Shape 31"/>
          <p:cNvSpPr/>
          <p:nvPr/>
        </p:nvSpPr>
        <p:spPr>
          <a:xfrm>
            <a:off x="2240280" y="2889504"/>
            <a:ext cx="365760" cy="0"/>
          </a:xfrm>
          <a:prstGeom prst="line">
            <a:avLst/>
          </a:prstGeom>
          <a:noFill/>
          <a:ln w="19050">
            <a:solidFill>
              <a:srgbClr val="596273"/>
            </a:solidFill>
            <a:prstDash val="solid"/>
            <a:tailEnd type="triangle"/>
          </a:ln>
        </p:spPr>
      </p:sp>
      <p:sp>
        <p:nvSpPr>
          <p:cNvPr id="34" name="Shape 32"/>
          <p:cNvSpPr/>
          <p:nvPr/>
        </p:nvSpPr>
        <p:spPr>
          <a:xfrm>
            <a:off x="2606040" y="3383280"/>
            <a:ext cx="1874520" cy="749808"/>
          </a:xfrm>
          <a:prstGeom prst="roundRect">
            <a:avLst>
              <a:gd name="adj" fmla="val 7317"/>
            </a:avLst>
          </a:prstGeom>
          <a:solidFill>
            <a:srgbClr val="1F4FB8"/>
          </a:solidFill>
          <a:ln/>
        </p:spPr>
      </p:sp>
      <p:sp>
        <p:nvSpPr>
          <p:cNvPr id="35" name="Text 33"/>
          <p:cNvSpPr txBox="1"/>
          <p:nvPr/>
        </p:nvSpPr>
        <p:spPr>
          <a:xfrm>
            <a:off x="2715768" y="344728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Preprocessor</a:t>
            </a:r>
            <a:endParaRPr lang="en-US" sz="1300" dirty="0"/>
          </a:p>
        </p:txBody>
      </p:sp>
      <p:sp>
        <p:nvSpPr>
          <p:cNvPr id="36" name="Text 34"/>
          <p:cNvSpPr txBox="1"/>
          <p:nvPr/>
        </p:nvSpPr>
        <p:spPr>
          <a:xfrm>
            <a:off x="2715768" y="3730752"/>
            <a:ext cx="1655064" cy="365760"/>
          </a:xfrm>
          <a:prstGeom prst="rect">
            <a:avLst/>
          </a:prstGeom>
          <a:noFill/>
          <a:ln/>
        </p:spPr>
        <p:txBody>
          <a:bodyPr wrap="square" lIns="0" tIns="0" rIns="0" bIns="0" rtlCol="0" anchor="t"/>
          <a:lstStyle/>
          <a:p>
            <a:pPr indent="0" marL="0">
              <a:buNone/>
            </a:pPr>
            <a:r>
              <a:rPr lang="en-US" sz="1000" dirty="0">
                <a:solidFill>
                  <a:srgbClr val="DCE6FA"/>
                </a:solidFill>
                <a:latin typeface="Calibri" pitchFamily="34" charset="0"/>
                <a:ea typeface="Calibri" pitchFamily="34" charset="-122"/>
                <a:cs typeface="Calibri" pitchFamily="34" charset="-120"/>
              </a:rPr>
              <a:t>Scheduled batch files · Spark, Control-M</a:t>
            </a:r>
            <a:endParaRPr lang="en-US" sz="1000" dirty="0"/>
          </a:p>
        </p:txBody>
      </p:sp>
      <p:sp>
        <p:nvSpPr>
          <p:cNvPr id="37" name="Shape 35"/>
          <p:cNvSpPr/>
          <p:nvPr/>
        </p:nvSpPr>
        <p:spPr>
          <a:xfrm>
            <a:off x="2240280" y="3758184"/>
            <a:ext cx="365760" cy="0"/>
          </a:xfrm>
          <a:prstGeom prst="line">
            <a:avLst/>
          </a:prstGeom>
          <a:noFill/>
          <a:ln w="19050">
            <a:solidFill>
              <a:srgbClr val="596273"/>
            </a:solidFill>
            <a:prstDash val="solid"/>
            <a:tailEnd type="triangle"/>
          </a:ln>
        </p:spPr>
      </p:sp>
      <p:sp>
        <p:nvSpPr>
          <p:cNvPr id="38" name="Shape 36"/>
          <p:cNvSpPr/>
          <p:nvPr/>
        </p:nvSpPr>
        <p:spPr>
          <a:xfrm>
            <a:off x="2606040" y="4279392"/>
            <a:ext cx="1874520" cy="566928"/>
          </a:xfrm>
          <a:prstGeom prst="roundRect">
            <a:avLst>
              <a:gd name="adj" fmla="val 9677"/>
            </a:avLst>
          </a:prstGeom>
          <a:solidFill>
            <a:srgbClr val="FFFFFF"/>
          </a:solidFill>
          <a:ln w="12700">
            <a:solidFill>
              <a:srgbClr val="1F4FB8"/>
            </a:solidFill>
            <a:prstDash val="dash"/>
          </a:ln>
        </p:spPr>
      </p:sp>
      <p:sp>
        <p:nvSpPr>
          <p:cNvPr id="39" name="Text 37"/>
          <p:cNvSpPr txBox="1"/>
          <p:nvPr/>
        </p:nvSpPr>
        <p:spPr>
          <a:xfrm>
            <a:off x="2697480" y="4279392"/>
            <a:ext cx="1691640" cy="566928"/>
          </a:xfrm>
          <a:prstGeom prst="rect">
            <a:avLst/>
          </a:prstGeom>
          <a:noFill/>
          <a:ln/>
        </p:spPr>
        <p:txBody>
          <a:bodyPr wrap="square" lIns="0" tIns="0" rIns="0" bIns="0" rtlCol="0" anchor="ctr"/>
          <a:lstStyle/>
          <a:p>
            <a:pPr algn="ctr" indent="0" marL="0">
              <a:buNone/>
            </a:pPr>
            <a:r>
              <a:rPr lang="en-US" sz="1050" b="1" dirty="0">
                <a:solidFill>
                  <a:srgbClr val="1C2330"/>
                </a:solidFill>
                <a:latin typeface="Calibri" pitchFamily="34" charset="0"/>
                <a:ea typeface="Calibri" pitchFamily="34" charset="-122"/>
                <a:cs typeface="Calibri" pitchFamily="34" charset="-120"/>
              </a:rPr>
              <a:t>Enrichment </a:t>
            </a:r>
            <a:pPr algn="ctr" indent="0" marL="0">
              <a:buNone/>
            </a:pPr>
            <a:r>
              <a:rPr lang="en-US" sz="1050" dirty="0">
                <a:solidFill>
                  <a:srgbClr val="1C2330"/>
                </a:solidFill>
                <a:latin typeface="Calibri" pitchFamily="34" charset="0"/>
                <a:ea typeface="Calibri" pitchFamily="34" charset="-122"/>
                <a:cs typeface="Calibri" pitchFamily="34" charset="-120"/>
              </a:rPr>
              <a:t>P360 · GWDP · CIP</a:t>
            </a:r>
            <a:endParaRPr lang="en-US" sz="1050" dirty="0"/>
          </a:p>
        </p:txBody>
      </p:sp>
      <p:sp>
        <p:nvSpPr>
          <p:cNvPr id="40" name="Shape 38"/>
          <p:cNvSpPr/>
          <p:nvPr/>
        </p:nvSpPr>
        <p:spPr>
          <a:xfrm>
            <a:off x="4754880" y="1645920"/>
            <a:ext cx="411480" cy="3200400"/>
          </a:xfrm>
          <a:prstGeom prst="roundRect">
            <a:avLst>
              <a:gd name="adj" fmla="val 11111"/>
            </a:avLst>
          </a:prstGeom>
          <a:solidFill>
            <a:srgbClr val="D9DEE6"/>
          </a:solidFill>
          <a:ln/>
        </p:spPr>
      </p:sp>
      <p:sp>
        <p:nvSpPr>
          <p:cNvPr id="41" name="Text 39"/>
          <p:cNvSpPr txBox="1"/>
          <p:nvPr/>
        </p:nvSpPr>
        <p:spPr>
          <a:xfrm rot="16200000">
            <a:off x="3383280" y="3044952"/>
            <a:ext cx="3154680" cy="411480"/>
          </a:xfrm>
          <a:prstGeom prst="rect">
            <a:avLst/>
          </a:prstGeom>
          <a:noFill/>
          <a:ln/>
        </p:spPr>
        <p:txBody>
          <a:bodyPr wrap="square" lIns="0" tIns="0" rIns="0" bIns="0" rtlCol="0" anchor="ctr"/>
          <a:lstStyle/>
          <a:p>
            <a:pPr algn="ctr" indent="0" marL="0">
              <a:buNone/>
            </a:pPr>
            <a:r>
              <a:rPr lang="en-US" sz="1000" b="1" spc="100" kern="0" dirty="0">
                <a:solidFill>
                  <a:srgbClr val="1C2330"/>
                </a:solidFill>
                <a:latin typeface="Calibri" pitchFamily="34" charset="0"/>
                <a:ea typeface="Calibri" pitchFamily="34" charset="-122"/>
                <a:cs typeface="Calibri" pitchFamily="34" charset="-120"/>
              </a:rPr>
              <a:t>DATAPOWER GATEWAY</a:t>
            </a:r>
            <a:endParaRPr lang="en-US" sz="1000" dirty="0"/>
          </a:p>
        </p:txBody>
      </p:sp>
      <p:sp>
        <p:nvSpPr>
          <p:cNvPr id="42" name="Shape 40"/>
          <p:cNvSpPr/>
          <p:nvPr/>
        </p:nvSpPr>
        <p:spPr>
          <a:xfrm>
            <a:off x="4480560" y="2020824"/>
            <a:ext cx="274320" cy="0"/>
          </a:xfrm>
          <a:prstGeom prst="line">
            <a:avLst/>
          </a:prstGeom>
          <a:noFill/>
          <a:ln w="19050">
            <a:solidFill>
              <a:srgbClr val="596273"/>
            </a:solidFill>
            <a:prstDash val="solid"/>
            <a:tailEnd type="triangle"/>
          </a:ln>
        </p:spPr>
      </p:sp>
      <p:sp>
        <p:nvSpPr>
          <p:cNvPr id="43" name="Shape 41"/>
          <p:cNvSpPr/>
          <p:nvPr/>
        </p:nvSpPr>
        <p:spPr>
          <a:xfrm>
            <a:off x="4480560" y="2889504"/>
            <a:ext cx="274320" cy="0"/>
          </a:xfrm>
          <a:prstGeom prst="line">
            <a:avLst/>
          </a:prstGeom>
          <a:noFill/>
          <a:ln w="19050">
            <a:solidFill>
              <a:srgbClr val="596273"/>
            </a:solidFill>
            <a:prstDash val="solid"/>
            <a:tailEnd type="triangle"/>
          </a:ln>
        </p:spPr>
      </p:sp>
      <p:sp>
        <p:nvSpPr>
          <p:cNvPr id="44" name="Shape 42"/>
          <p:cNvSpPr/>
          <p:nvPr/>
        </p:nvSpPr>
        <p:spPr>
          <a:xfrm>
            <a:off x="4480560" y="3758184"/>
            <a:ext cx="274320" cy="0"/>
          </a:xfrm>
          <a:prstGeom prst="line">
            <a:avLst/>
          </a:prstGeom>
          <a:noFill/>
          <a:ln w="19050">
            <a:solidFill>
              <a:srgbClr val="596273"/>
            </a:solidFill>
            <a:prstDash val="solid"/>
            <a:tailEnd type="triangle"/>
          </a:ln>
        </p:spPr>
      </p:sp>
      <p:sp>
        <p:nvSpPr>
          <p:cNvPr id="45" name="Shape 43"/>
          <p:cNvSpPr/>
          <p:nvPr/>
        </p:nvSpPr>
        <p:spPr>
          <a:xfrm>
            <a:off x="5440680" y="1371600"/>
            <a:ext cx="2286000" cy="3474720"/>
          </a:xfrm>
          <a:prstGeom prst="roundRect">
            <a:avLst>
              <a:gd name="adj" fmla="val 2400"/>
            </a:avLst>
          </a:prstGeom>
          <a:solidFill>
            <a:srgbClr val="0F1B2D"/>
          </a:solidFill>
          <a:ln/>
        </p:spPr>
      </p:sp>
      <p:sp>
        <p:nvSpPr>
          <p:cNvPr id="46" name="Text 44"/>
          <p:cNvSpPr txBox="1"/>
          <p:nvPr/>
        </p:nvSpPr>
        <p:spPr>
          <a:xfrm>
            <a:off x="5577840" y="1481328"/>
            <a:ext cx="201168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Quadient Inspire R15</a:t>
            </a:r>
            <a:endParaRPr lang="en-US" sz="1400" dirty="0"/>
          </a:p>
        </p:txBody>
      </p:sp>
      <p:sp>
        <p:nvSpPr>
          <p:cNvPr id="47" name="Shape 45"/>
          <p:cNvSpPr/>
          <p:nvPr/>
        </p:nvSpPr>
        <p:spPr>
          <a:xfrm>
            <a:off x="5577840" y="1920240"/>
            <a:ext cx="2011680" cy="1188720"/>
          </a:xfrm>
          <a:prstGeom prst="roundRect">
            <a:avLst>
              <a:gd name="adj" fmla="val 4615"/>
            </a:avLst>
          </a:prstGeom>
          <a:solidFill>
            <a:srgbClr val="1E2F4F"/>
          </a:solidFill>
          <a:ln/>
        </p:spPr>
      </p:sp>
      <p:sp>
        <p:nvSpPr>
          <p:cNvPr id="48" name="Text 46"/>
          <p:cNvSpPr txBox="1"/>
          <p:nvPr/>
        </p:nvSpPr>
        <p:spPr>
          <a:xfrm>
            <a:off x="5696712" y="2011680"/>
            <a:ext cx="1773936" cy="1051560"/>
          </a:xfrm>
          <a:prstGeom prst="rect">
            <a:avLst/>
          </a:prstGeom>
          <a:noFill/>
          <a:ln/>
        </p:spPr>
        <p:txBody>
          <a:bodyPr wrap="square" lIns="0" tIns="0" rIns="0" bIns="0" rtlCol="0" anchor="t"/>
          <a:lstStyle/>
          <a:p>
            <a:pPr indent="0" marL="0">
              <a:buNone/>
            </a:pPr>
            <a:r>
              <a:rPr lang="en-US" sz="1050" b="1" dirty="0">
                <a:solidFill>
                  <a:srgbClr val="FFD84D"/>
                </a:solidFill>
                <a:latin typeface="Calibri" pitchFamily="34" charset="0"/>
                <a:ea typeface="Calibri" pitchFamily="34" charset="-122"/>
                <a:cs typeface="Calibri" pitchFamily="34" charset="-120"/>
              </a:rPr>
              <a:t>Design</a:t>
            </a:r>
            <a:endParaRPr lang="en-US" sz="1050" dirty="0"/>
          </a:p>
          <a:p>
            <a:pPr indent="0" marL="0">
              <a:buNone/>
            </a:pPr>
            <a:r>
              <a:rPr lang="en-US" sz="1050" dirty="0">
                <a:solidFill>
                  <a:srgbClr val="D5DEEE"/>
                </a:solidFill>
                <a:latin typeface="Calibri" pitchFamily="34" charset="0"/>
                <a:ea typeface="Calibri" pitchFamily="34" charset="-122"/>
                <a:cs typeface="Calibri" pitchFamily="34" charset="-120"/>
              </a:rPr>
              <a:t>Designer: template design and data transform</a:t>
            </a:r>
            <a:endParaRPr lang="en-US" sz="1050" dirty="0"/>
          </a:p>
          <a:p>
            <a:pPr indent="0" marL="0">
              <a:buNone/>
            </a:pPr>
            <a:r>
              <a:rPr lang="en-US" sz="1050" dirty="0">
                <a:solidFill>
                  <a:srgbClr val="D5DEEE"/>
                </a:solidFill>
                <a:latin typeface="Calibri" pitchFamily="34" charset="0"/>
                <a:ea typeface="Calibri" pitchFamily="34" charset="-122"/>
                <a:cs typeface="Calibri" pitchFamily="34" charset="-120"/>
              </a:rPr>
              <a:t>Interactive: authoring and approval</a:t>
            </a:r>
            <a:endParaRPr lang="en-US" sz="1050" dirty="0"/>
          </a:p>
        </p:txBody>
      </p:sp>
      <p:sp>
        <p:nvSpPr>
          <p:cNvPr id="49" name="Shape 47"/>
          <p:cNvSpPr/>
          <p:nvPr/>
        </p:nvSpPr>
        <p:spPr>
          <a:xfrm>
            <a:off x="5577840" y="3246120"/>
            <a:ext cx="2011680" cy="1463040"/>
          </a:xfrm>
          <a:prstGeom prst="roundRect">
            <a:avLst>
              <a:gd name="adj" fmla="val 3750"/>
            </a:avLst>
          </a:prstGeom>
          <a:solidFill>
            <a:srgbClr val="1E2F4F"/>
          </a:solidFill>
          <a:ln/>
        </p:spPr>
      </p:sp>
      <p:sp>
        <p:nvSpPr>
          <p:cNvPr id="50" name="Text 48"/>
          <p:cNvSpPr txBox="1"/>
          <p:nvPr/>
        </p:nvSpPr>
        <p:spPr>
          <a:xfrm>
            <a:off x="5696712" y="3337560"/>
            <a:ext cx="1773936" cy="1325880"/>
          </a:xfrm>
          <a:prstGeom prst="rect">
            <a:avLst/>
          </a:prstGeom>
          <a:noFill/>
          <a:ln/>
        </p:spPr>
        <p:txBody>
          <a:bodyPr wrap="square" lIns="0" tIns="0" rIns="0" bIns="0" rtlCol="0" anchor="t"/>
          <a:lstStyle/>
          <a:p>
            <a:pPr indent="0" marL="0">
              <a:buNone/>
            </a:pPr>
            <a:r>
              <a:rPr lang="en-US" sz="1050" b="1" dirty="0">
                <a:solidFill>
                  <a:srgbClr val="FFD84D"/>
                </a:solidFill>
                <a:latin typeface="Calibri" pitchFamily="34" charset="0"/>
                <a:ea typeface="Calibri" pitchFamily="34" charset="-122"/>
                <a:cs typeface="Calibri" pitchFamily="34" charset="-120"/>
              </a:rPr>
              <a:t>Production</a:t>
            </a:r>
            <a:endParaRPr lang="en-US" sz="1050" dirty="0"/>
          </a:p>
          <a:p>
            <a:pPr indent="0" marL="0">
              <a:buNone/>
            </a:pPr>
            <a:r>
              <a:rPr lang="en-US" sz="1050" dirty="0">
                <a:solidFill>
                  <a:srgbClr val="D5DEEE"/>
                </a:solidFill>
                <a:latin typeface="Calibri" pitchFamily="34" charset="0"/>
                <a:ea typeface="Calibri" pitchFamily="34" charset="-122"/>
                <a:cs typeface="Calibri" pitchFamily="34" charset="-120"/>
              </a:rPr>
              <a:t>Scaler: hot folder and real-time intake</a:t>
            </a:r>
            <a:endParaRPr lang="en-US" sz="1050" dirty="0"/>
          </a:p>
          <a:p>
            <a:pPr indent="0" marL="0">
              <a:buNone/>
            </a:pPr>
            <a:r>
              <a:rPr lang="en-US" sz="1050" dirty="0">
                <a:solidFill>
                  <a:srgbClr val="D5DEEE"/>
                </a:solidFill>
                <a:latin typeface="Calibri" pitchFamily="34" charset="0"/>
                <a:ea typeface="Calibri" pitchFamily="34" charset="-122"/>
                <a:cs typeface="Calibri" pitchFamily="34" charset="-120"/>
              </a:rPr>
              <a:t>Content Manager</a:t>
            </a:r>
            <a:endParaRPr lang="en-US" sz="1050" dirty="0"/>
          </a:p>
          <a:p>
            <a:pPr indent="0" marL="0">
              <a:buNone/>
            </a:pPr>
            <a:r>
              <a:rPr lang="en-US" sz="1050" dirty="0">
                <a:solidFill>
                  <a:srgbClr val="D5DEEE"/>
                </a:solidFill>
                <a:latin typeface="Calibri" pitchFamily="34" charset="0"/>
                <a:ea typeface="Calibri" pitchFamily="34" charset="-122"/>
                <a:cs typeface="Calibri" pitchFamily="34" charset="-120"/>
              </a:rPr>
              <a:t>Production Server: output</a:t>
            </a:r>
            <a:endParaRPr lang="en-US" sz="1050" dirty="0"/>
          </a:p>
        </p:txBody>
      </p:sp>
      <p:sp>
        <p:nvSpPr>
          <p:cNvPr id="51" name="Shape 49"/>
          <p:cNvSpPr/>
          <p:nvPr/>
        </p:nvSpPr>
        <p:spPr>
          <a:xfrm>
            <a:off x="5166360" y="3246120"/>
            <a:ext cx="274320" cy="0"/>
          </a:xfrm>
          <a:prstGeom prst="line">
            <a:avLst/>
          </a:prstGeom>
          <a:noFill/>
          <a:ln w="19050">
            <a:solidFill>
              <a:srgbClr val="596273"/>
            </a:solidFill>
            <a:prstDash val="solid"/>
            <a:tailEnd type="triangle"/>
          </a:ln>
        </p:spPr>
      </p:sp>
      <p:sp>
        <p:nvSpPr>
          <p:cNvPr id="52" name="Text 50"/>
          <p:cNvSpPr txBox="1"/>
          <p:nvPr/>
        </p:nvSpPr>
        <p:spPr>
          <a:xfrm>
            <a:off x="8046720" y="1353312"/>
            <a:ext cx="2057400" cy="256032"/>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CHANNELS &amp; VENDORS</a:t>
            </a:r>
            <a:endParaRPr lang="en-US" sz="1000" dirty="0"/>
          </a:p>
        </p:txBody>
      </p:sp>
      <p:sp>
        <p:nvSpPr>
          <p:cNvPr id="53" name="Shape 51"/>
          <p:cNvSpPr/>
          <p:nvPr/>
        </p:nvSpPr>
        <p:spPr>
          <a:xfrm>
            <a:off x="8046720" y="1645920"/>
            <a:ext cx="2057400" cy="548640"/>
          </a:xfrm>
          <a:prstGeom prst="roundRect">
            <a:avLst>
              <a:gd name="adj" fmla="val 10000"/>
            </a:avLst>
          </a:prstGeom>
          <a:solidFill>
            <a:srgbClr val="E7EEFB"/>
          </a:solidFill>
          <a:ln/>
        </p:spPr>
      </p:sp>
      <p:sp>
        <p:nvSpPr>
          <p:cNvPr id="54" name="Text 52"/>
          <p:cNvSpPr txBox="1"/>
          <p:nvPr/>
        </p:nvSpPr>
        <p:spPr>
          <a:xfrm>
            <a:off x="8156448" y="1645920"/>
            <a:ext cx="1837944" cy="548640"/>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Email</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SFMC</a:t>
            </a:r>
            <a:endParaRPr lang="en-US" sz="1050" dirty="0"/>
          </a:p>
        </p:txBody>
      </p:sp>
      <p:sp>
        <p:nvSpPr>
          <p:cNvPr id="55" name="Shape 53"/>
          <p:cNvSpPr/>
          <p:nvPr/>
        </p:nvSpPr>
        <p:spPr>
          <a:xfrm>
            <a:off x="8046720" y="2286000"/>
            <a:ext cx="2057400" cy="548640"/>
          </a:xfrm>
          <a:prstGeom prst="roundRect">
            <a:avLst>
              <a:gd name="adj" fmla="val 10000"/>
            </a:avLst>
          </a:prstGeom>
          <a:solidFill>
            <a:srgbClr val="E7EEFB"/>
          </a:solidFill>
          <a:ln/>
        </p:spPr>
      </p:sp>
      <p:sp>
        <p:nvSpPr>
          <p:cNvPr id="56" name="Text 54"/>
          <p:cNvSpPr txBox="1"/>
          <p:nvPr/>
        </p:nvSpPr>
        <p:spPr>
          <a:xfrm>
            <a:off x="8156448" y="2286000"/>
            <a:ext cx="1837944" cy="548640"/>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SMS / MMS</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Twilio</a:t>
            </a:r>
            <a:endParaRPr lang="en-US" sz="1050" dirty="0"/>
          </a:p>
        </p:txBody>
      </p:sp>
      <p:sp>
        <p:nvSpPr>
          <p:cNvPr id="57" name="Shape 55"/>
          <p:cNvSpPr/>
          <p:nvPr/>
        </p:nvSpPr>
        <p:spPr>
          <a:xfrm>
            <a:off x="8046720" y="2926080"/>
            <a:ext cx="2057400" cy="548640"/>
          </a:xfrm>
          <a:prstGeom prst="roundRect">
            <a:avLst>
              <a:gd name="adj" fmla="val 10000"/>
            </a:avLst>
          </a:prstGeom>
          <a:solidFill>
            <a:srgbClr val="E7EEFB"/>
          </a:solidFill>
          <a:ln/>
        </p:spPr>
      </p:sp>
      <p:sp>
        <p:nvSpPr>
          <p:cNvPr id="58" name="Text 56"/>
          <p:cNvSpPr txBox="1"/>
          <p:nvPr/>
        </p:nvSpPr>
        <p:spPr>
          <a:xfrm>
            <a:off x="8156448" y="2926080"/>
            <a:ext cx="1837944" cy="548640"/>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Print</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O’Neil, Highmark</a:t>
            </a:r>
            <a:endParaRPr lang="en-US" sz="1050" dirty="0"/>
          </a:p>
        </p:txBody>
      </p:sp>
      <p:sp>
        <p:nvSpPr>
          <p:cNvPr id="59" name="Shape 57"/>
          <p:cNvSpPr/>
          <p:nvPr/>
        </p:nvSpPr>
        <p:spPr>
          <a:xfrm>
            <a:off x="8046720" y="3566160"/>
            <a:ext cx="2057400" cy="548640"/>
          </a:xfrm>
          <a:prstGeom prst="roundRect">
            <a:avLst>
              <a:gd name="adj" fmla="val 10000"/>
            </a:avLst>
          </a:prstGeom>
          <a:solidFill>
            <a:srgbClr val="E7EEFB"/>
          </a:solidFill>
          <a:ln/>
        </p:spPr>
      </p:sp>
      <p:sp>
        <p:nvSpPr>
          <p:cNvPr id="60" name="Text 58"/>
          <p:cNvSpPr txBox="1"/>
          <p:nvPr/>
        </p:nvSpPr>
        <p:spPr>
          <a:xfrm>
            <a:off x="8156448" y="3566160"/>
            <a:ext cx="1837944" cy="548640"/>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Digital</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Message Center</a:t>
            </a:r>
            <a:endParaRPr lang="en-US" sz="1050" dirty="0"/>
          </a:p>
        </p:txBody>
      </p:sp>
      <p:sp>
        <p:nvSpPr>
          <p:cNvPr id="61" name="Shape 59"/>
          <p:cNvSpPr/>
          <p:nvPr/>
        </p:nvSpPr>
        <p:spPr>
          <a:xfrm>
            <a:off x="8046720" y="4206240"/>
            <a:ext cx="2057400" cy="548640"/>
          </a:xfrm>
          <a:prstGeom prst="roundRect">
            <a:avLst>
              <a:gd name="adj" fmla="val 10000"/>
            </a:avLst>
          </a:prstGeom>
          <a:solidFill>
            <a:srgbClr val="FFFFFF"/>
          </a:solidFill>
          <a:ln w="12700">
            <a:solidFill>
              <a:srgbClr val="CCD3DD"/>
            </a:solidFill>
            <a:prstDash val="solid"/>
          </a:ln>
        </p:spPr>
      </p:sp>
      <p:sp>
        <p:nvSpPr>
          <p:cNvPr id="62" name="Text 60"/>
          <p:cNvSpPr txBox="1"/>
          <p:nvPr/>
        </p:nvSpPr>
        <p:spPr>
          <a:xfrm>
            <a:off x="8156448" y="4206240"/>
            <a:ext cx="1837944" cy="548640"/>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Archive</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ECMS / Content Central</a:t>
            </a:r>
            <a:endParaRPr lang="en-US" sz="1050" dirty="0"/>
          </a:p>
        </p:txBody>
      </p:sp>
      <p:sp>
        <p:nvSpPr>
          <p:cNvPr id="63" name="Shape 61"/>
          <p:cNvSpPr/>
          <p:nvPr/>
        </p:nvSpPr>
        <p:spPr>
          <a:xfrm>
            <a:off x="7726680" y="3108960"/>
            <a:ext cx="320040" cy="0"/>
          </a:xfrm>
          <a:prstGeom prst="line">
            <a:avLst/>
          </a:prstGeom>
          <a:noFill/>
          <a:ln w="19050">
            <a:solidFill>
              <a:srgbClr val="596273"/>
            </a:solidFill>
            <a:prstDash val="solid"/>
            <a:tailEnd type="triangle"/>
          </a:ln>
        </p:spPr>
      </p:sp>
      <p:sp>
        <p:nvSpPr>
          <p:cNvPr id="64" name="Shape 62"/>
          <p:cNvSpPr/>
          <p:nvPr/>
        </p:nvSpPr>
        <p:spPr>
          <a:xfrm>
            <a:off x="10424160" y="1645920"/>
            <a:ext cx="1218895" cy="2514600"/>
          </a:xfrm>
          <a:prstGeom prst="roundRect">
            <a:avLst>
              <a:gd name="adj" fmla="val 4501"/>
            </a:avLst>
          </a:prstGeom>
          <a:solidFill>
            <a:srgbClr val="F1F3F6"/>
          </a:solidFill>
          <a:ln/>
        </p:spPr>
      </p:sp>
      <p:sp>
        <p:nvSpPr>
          <p:cNvPr id="65" name="Shape 63"/>
          <p:cNvSpPr/>
          <p:nvPr/>
        </p:nvSpPr>
        <p:spPr>
          <a:xfrm>
            <a:off x="10759288" y="1874520"/>
            <a:ext cx="548640" cy="548640"/>
          </a:xfrm>
          <a:prstGeom prst="ellipse">
            <a:avLst/>
          </a:prstGeom>
          <a:solidFill>
            <a:srgbClr val="1F4FB8"/>
          </a:solidFill>
          <a:ln/>
        </p:spPr>
      </p:sp>
      <p:pic>
        <p:nvPicPr>
          <p:cNvPr id="66" name="Image 0" descr="preencoded.png">    </p:cNvPr>
          <p:cNvPicPr>
            <a:picLocks noChangeAspect="1"/>
          </p:cNvPicPr>
          <p:nvPr/>
        </p:nvPicPr>
        <p:blipFill>
          <a:blip r:embed="rId1"/>
          <a:stretch>
            <a:fillRect/>
          </a:stretch>
        </p:blipFill>
        <p:spPr>
          <a:xfrm>
            <a:off x="10901934" y="2017166"/>
            <a:ext cx="263347" cy="263347"/>
          </a:xfrm>
          <a:prstGeom prst="rect">
            <a:avLst/>
          </a:prstGeom>
        </p:spPr>
      </p:pic>
      <p:sp>
        <p:nvSpPr>
          <p:cNvPr id="67" name="Text 64"/>
          <p:cNvSpPr txBox="1"/>
          <p:nvPr/>
        </p:nvSpPr>
        <p:spPr>
          <a:xfrm>
            <a:off x="10515600" y="2560320"/>
            <a:ext cx="1036015" cy="274320"/>
          </a:xfrm>
          <a:prstGeom prst="rect">
            <a:avLst/>
          </a:prstGeom>
          <a:noFill/>
          <a:ln/>
        </p:spPr>
        <p:txBody>
          <a:bodyPr wrap="square" lIns="0" tIns="0" rIns="0" bIns="0" rtlCol="0" anchor="t"/>
          <a:lstStyle/>
          <a:p>
            <a:pPr algn="ctr" indent="0" marL="0">
              <a:buNone/>
            </a:pPr>
            <a:r>
              <a:rPr lang="en-US" sz="1300" b="1" dirty="0">
                <a:solidFill>
                  <a:srgbClr val="1C2330"/>
                </a:solidFill>
                <a:latin typeface="Calibri" pitchFamily="34" charset="0"/>
                <a:ea typeface="Calibri" pitchFamily="34" charset="-122"/>
                <a:cs typeface="Calibri" pitchFamily="34" charset="-120"/>
              </a:rPr>
              <a:t>Customers</a:t>
            </a:r>
            <a:endParaRPr lang="en-US" sz="1300" dirty="0"/>
          </a:p>
        </p:txBody>
      </p:sp>
      <p:sp>
        <p:nvSpPr>
          <p:cNvPr id="68" name="Text 65"/>
          <p:cNvSpPr txBox="1"/>
          <p:nvPr/>
        </p:nvSpPr>
        <p:spPr>
          <a:xfrm>
            <a:off x="10515600" y="2880360"/>
            <a:ext cx="1036015" cy="1097280"/>
          </a:xfrm>
          <a:prstGeom prst="rect">
            <a:avLst/>
          </a:prstGeom>
          <a:noFill/>
          <a:ln/>
        </p:spPr>
        <p:txBody>
          <a:bodyPr wrap="square" lIns="0" tIns="0" rIns="0" bIns="0" rtlCol="0" anchor="t"/>
          <a:lstStyle/>
          <a:p>
            <a:pPr algn="ctr" indent="0" marL="0">
              <a:buNone/>
            </a:pPr>
            <a:r>
              <a:rPr lang="en-US" sz="1050" dirty="0">
                <a:solidFill>
                  <a:srgbClr val="596273"/>
                </a:solidFill>
                <a:latin typeface="Calibri" pitchFamily="34" charset="0"/>
                <a:ea typeface="Calibri" pitchFamily="34" charset="-122"/>
                <a:cs typeface="Calibri" pitchFamily="34" charset="-120"/>
              </a:rPr>
              <a:t>Members, prospects, delegates, agents, providers</a:t>
            </a:r>
            <a:endParaRPr lang="en-US" sz="1050" dirty="0"/>
          </a:p>
        </p:txBody>
      </p:sp>
      <p:sp>
        <p:nvSpPr>
          <p:cNvPr id="69" name="Shape 66"/>
          <p:cNvSpPr/>
          <p:nvPr/>
        </p:nvSpPr>
        <p:spPr>
          <a:xfrm>
            <a:off x="10104120" y="2834640"/>
            <a:ext cx="320040" cy="0"/>
          </a:xfrm>
          <a:prstGeom prst="line">
            <a:avLst/>
          </a:prstGeom>
          <a:noFill/>
          <a:ln w="19050">
            <a:solidFill>
              <a:srgbClr val="596273"/>
            </a:solidFill>
            <a:prstDash val="solid"/>
            <a:tailEnd type="triangle"/>
          </a:ln>
        </p:spPr>
      </p:sp>
      <p:sp>
        <p:nvSpPr>
          <p:cNvPr id="70" name="Text 67"/>
          <p:cNvSpPr txBox="1"/>
          <p:nvPr/>
        </p:nvSpPr>
        <p:spPr>
          <a:xfrm>
            <a:off x="548640" y="4928616"/>
            <a:ext cx="3657600" cy="228600"/>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TRACKING &amp; FEEDBACK LOOP</a:t>
            </a:r>
            <a:endParaRPr lang="en-US" sz="1000" dirty="0"/>
          </a:p>
        </p:txBody>
      </p:sp>
      <p:sp>
        <p:nvSpPr>
          <p:cNvPr id="71" name="Shape 68"/>
          <p:cNvSpPr/>
          <p:nvPr/>
        </p:nvSpPr>
        <p:spPr>
          <a:xfrm>
            <a:off x="548640" y="5230368"/>
            <a:ext cx="1999427" cy="960120"/>
          </a:xfrm>
          <a:prstGeom prst="roundRect">
            <a:avLst>
              <a:gd name="adj" fmla="val 5714"/>
            </a:avLst>
          </a:prstGeom>
          <a:solidFill>
            <a:srgbClr val="FFFFFF"/>
          </a:solidFill>
          <a:ln w="12700">
            <a:solidFill>
              <a:srgbClr val="1F4FB8"/>
            </a:solidFill>
            <a:prstDash val="solid"/>
          </a:ln>
        </p:spPr>
      </p:sp>
      <p:sp>
        <p:nvSpPr>
          <p:cNvPr id="72" name="Text 69"/>
          <p:cNvSpPr txBox="1"/>
          <p:nvPr/>
        </p:nvSpPr>
        <p:spPr>
          <a:xfrm>
            <a:off x="658368" y="5303520"/>
            <a:ext cx="1779971" cy="813816"/>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Recon Dashboard · Power BI</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Business self-service and audit reporting</a:t>
            </a:r>
            <a:endParaRPr lang="en-US" sz="1050" dirty="0"/>
          </a:p>
        </p:txBody>
      </p:sp>
      <p:sp>
        <p:nvSpPr>
          <p:cNvPr id="73" name="Shape 70"/>
          <p:cNvSpPr/>
          <p:nvPr/>
        </p:nvSpPr>
        <p:spPr>
          <a:xfrm flipH="1">
            <a:off x="2548067" y="5710428"/>
            <a:ext cx="274320" cy="0"/>
          </a:xfrm>
          <a:prstGeom prst="line">
            <a:avLst/>
          </a:prstGeom>
          <a:noFill/>
          <a:ln w="19050">
            <a:solidFill>
              <a:srgbClr val="596273"/>
            </a:solidFill>
            <a:prstDash val="solid"/>
            <a:tailEnd type="triangle"/>
          </a:ln>
        </p:spPr>
      </p:sp>
      <p:sp>
        <p:nvSpPr>
          <p:cNvPr id="74" name="Shape 71"/>
          <p:cNvSpPr/>
          <p:nvPr/>
        </p:nvSpPr>
        <p:spPr>
          <a:xfrm>
            <a:off x="2822387" y="5230368"/>
            <a:ext cx="1999427" cy="960120"/>
          </a:xfrm>
          <a:prstGeom prst="roundRect">
            <a:avLst>
              <a:gd name="adj" fmla="val 5714"/>
            </a:avLst>
          </a:prstGeom>
          <a:solidFill>
            <a:srgbClr val="FFFFFF"/>
          </a:solidFill>
          <a:ln w="12700">
            <a:solidFill>
              <a:srgbClr val="1F4FB8"/>
            </a:solidFill>
            <a:prstDash val="solid"/>
          </a:ln>
        </p:spPr>
      </p:sp>
      <p:sp>
        <p:nvSpPr>
          <p:cNvPr id="75" name="Text 72"/>
          <p:cNvSpPr txBox="1"/>
          <p:nvPr/>
        </p:nvSpPr>
        <p:spPr>
          <a:xfrm>
            <a:off x="2932115" y="5303520"/>
            <a:ext cx="1779971" cy="813816"/>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Recon Services</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Touchpoints via MSMQ; reprocessing</a:t>
            </a:r>
            <a:endParaRPr lang="en-US" sz="1050" dirty="0"/>
          </a:p>
        </p:txBody>
      </p:sp>
      <p:sp>
        <p:nvSpPr>
          <p:cNvPr id="76" name="Shape 73"/>
          <p:cNvSpPr/>
          <p:nvPr/>
        </p:nvSpPr>
        <p:spPr>
          <a:xfrm flipH="1">
            <a:off x="4821814" y="5710428"/>
            <a:ext cx="274320" cy="0"/>
          </a:xfrm>
          <a:prstGeom prst="line">
            <a:avLst/>
          </a:prstGeom>
          <a:noFill/>
          <a:ln w="19050">
            <a:solidFill>
              <a:srgbClr val="596273"/>
            </a:solidFill>
            <a:prstDash val="solid"/>
            <a:tailEnd type="triangle"/>
          </a:ln>
        </p:spPr>
      </p:sp>
      <p:sp>
        <p:nvSpPr>
          <p:cNvPr id="77" name="Shape 74"/>
          <p:cNvSpPr/>
          <p:nvPr/>
        </p:nvSpPr>
        <p:spPr>
          <a:xfrm>
            <a:off x="5096134" y="5230368"/>
            <a:ext cx="1999427" cy="960120"/>
          </a:xfrm>
          <a:prstGeom prst="roundRect">
            <a:avLst>
              <a:gd name="adj" fmla="val 5714"/>
            </a:avLst>
          </a:prstGeom>
          <a:solidFill>
            <a:srgbClr val="FFFFFF"/>
          </a:solidFill>
          <a:ln w="12700">
            <a:solidFill>
              <a:srgbClr val="1F4FB8"/>
            </a:solidFill>
            <a:prstDash val="solid"/>
          </a:ln>
        </p:spPr>
      </p:sp>
      <p:sp>
        <p:nvSpPr>
          <p:cNvPr id="78" name="Text 75"/>
          <p:cNvSpPr txBox="1"/>
          <p:nvPr/>
        </p:nvSpPr>
        <p:spPr>
          <a:xfrm>
            <a:off x="5205862" y="5303520"/>
            <a:ext cx="1779971" cy="813816"/>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Recon (SQL Server)</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Every request, status, content ID; failed items for retry</a:t>
            </a:r>
            <a:endParaRPr lang="en-US" sz="1050" dirty="0"/>
          </a:p>
        </p:txBody>
      </p:sp>
      <p:sp>
        <p:nvSpPr>
          <p:cNvPr id="79" name="Shape 76"/>
          <p:cNvSpPr/>
          <p:nvPr/>
        </p:nvSpPr>
        <p:spPr>
          <a:xfrm flipH="1">
            <a:off x="7095561" y="5710428"/>
            <a:ext cx="274320" cy="0"/>
          </a:xfrm>
          <a:prstGeom prst="line">
            <a:avLst/>
          </a:prstGeom>
          <a:noFill/>
          <a:ln w="19050">
            <a:solidFill>
              <a:srgbClr val="596273"/>
            </a:solidFill>
            <a:prstDash val="solid"/>
            <a:tailEnd type="triangle"/>
          </a:ln>
        </p:spPr>
      </p:sp>
      <p:sp>
        <p:nvSpPr>
          <p:cNvPr id="80" name="Shape 77"/>
          <p:cNvSpPr/>
          <p:nvPr/>
        </p:nvSpPr>
        <p:spPr>
          <a:xfrm>
            <a:off x="7369881" y="5230368"/>
            <a:ext cx="1999427" cy="960120"/>
          </a:xfrm>
          <a:prstGeom prst="roundRect">
            <a:avLst>
              <a:gd name="adj" fmla="val 5714"/>
            </a:avLst>
          </a:prstGeom>
          <a:solidFill>
            <a:srgbClr val="FFFFFF"/>
          </a:solidFill>
          <a:ln w="12700">
            <a:solidFill>
              <a:srgbClr val="1F4FB8"/>
            </a:solidFill>
            <a:prstDash val="solid"/>
          </a:ln>
        </p:spPr>
      </p:sp>
      <p:sp>
        <p:nvSpPr>
          <p:cNvPr id="81" name="Text 78"/>
          <p:cNvSpPr txBox="1"/>
          <p:nvPr/>
        </p:nvSpPr>
        <p:spPr>
          <a:xfrm>
            <a:off x="7479609" y="5303520"/>
            <a:ext cx="1779971" cy="813816"/>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Delivery receipts</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Vendor SFTP inbox files; SMS/MMS response handler</a:t>
            </a:r>
            <a:endParaRPr lang="en-US" sz="1050" dirty="0"/>
          </a:p>
        </p:txBody>
      </p:sp>
      <p:sp>
        <p:nvSpPr>
          <p:cNvPr id="82" name="Shape 79"/>
          <p:cNvSpPr/>
          <p:nvPr/>
        </p:nvSpPr>
        <p:spPr>
          <a:xfrm>
            <a:off x="9643628" y="5230368"/>
            <a:ext cx="1999427" cy="960120"/>
          </a:xfrm>
          <a:prstGeom prst="roundRect">
            <a:avLst>
              <a:gd name="adj" fmla="val 5714"/>
            </a:avLst>
          </a:prstGeom>
          <a:solidFill>
            <a:srgbClr val="E7EEFB"/>
          </a:solidFill>
          <a:ln/>
        </p:spPr>
      </p:sp>
      <p:sp>
        <p:nvSpPr>
          <p:cNvPr id="83" name="Text 80"/>
          <p:cNvSpPr txBox="1"/>
          <p:nvPr/>
        </p:nvSpPr>
        <p:spPr>
          <a:xfrm>
            <a:off x="9753356" y="5303520"/>
            <a:ext cx="1779971" cy="813816"/>
          </a:xfrm>
          <a:prstGeom prst="rect">
            <a:avLst/>
          </a:prstGeom>
          <a:noFill/>
          <a:ln/>
        </p:spPr>
        <p:txBody>
          <a:bodyPr wrap="square" lIns="0" tIns="0" rIns="0" bIns="0" rtlCol="0" anchor="ctr"/>
          <a:lstStyle/>
          <a:p>
            <a:pPr indent="0" marL="0">
              <a:buNone/>
            </a:pPr>
            <a:r>
              <a:rPr lang="en-US" sz="1050" b="1" dirty="0">
                <a:solidFill>
                  <a:srgbClr val="1C2330"/>
                </a:solidFill>
                <a:latin typeface="Calibri" pitchFamily="34" charset="0"/>
                <a:ea typeface="Calibri" pitchFamily="34" charset="-122"/>
                <a:cs typeface="Calibri" pitchFamily="34" charset="-120"/>
              </a:rPr>
              <a:t>Kafka events</a:t>
            </a:r>
            <a:endParaRPr lang="en-US" sz="1050" dirty="0"/>
          </a:p>
          <a:p>
            <a:pPr indent="0" marL="0">
              <a:buNone/>
            </a:pPr>
            <a:r>
              <a:rPr lang="en-US" sz="1050" dirty="0">
                <a:solidFill>
                  <a:srgbClr val="596273"/>
                </a:solidFill>
                <a:latin typeface="Calibri" pitchFamily="34" charset="0"/>
                <a:ea typeface="Calibri" pitchFamily="34" charset="-122"/>
                <a:cs typeface="Calibri" pitchFamily="34" charset="-120"/>
              </a:rPr>
              <a:t>Content ID and task ID from Inspire back to source systems and EWoC</a:t>
            </a:r>
            <a:endParaRPr lang="en-US" sz="1050" dirty="0"/>
          </a:p>
        </p:txBody>
      </p:sp>
      <p:sp>
        <p:nvSpPr>
          <p:cNvPr id="84" name="Shape 81"/>
          <p:cNvSpPr/>
          <p:nvPr/>
        </p:nvSpPr>
        <p:spPr>
          <a:xfrm>
            <a:off x="8321040" y="4846320"/>
            <a:ext cx="0" cy="365760"/>
          </a:xfrm>
          <a:prstGeom prst="line">
            <a:avLst/>
          </a:prstGeom>
          <a:noFill/>
          <a:ln w="19050">
            <a:solidFill>
              <a:srgbClr val="1F4FB8"/>
            </a:solidFill>
            <a:prstDash val="solid"/>
            <a:tailEnd type="triangle"/>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INTEGRATION</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Three ways to integrate with CCM</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3108960"/>
                <a:gridCol w="3108960"/>
                <a:gridCol w="3136392"/>
              </a:tblGrid>
              <a:tr h="457200">
                <a:tc>
                  <a:txBody>
                    <a:bodyPr/>
                    <a:lstStyle/>
                    <a:p>
                      <a:pPr indent="0" marL="0">
                        <a:buNone/>
                      </a:pP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FFFF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On-demand reusable UI</a:t>
                      </a:r>
                      <a:endParaRPr lang="en-US" sz="13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Real-time CCM API</a:t>
                      </a:r>
                      <a:endParaRPr lang="en-US" sz="13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Batch preprocessor</a:t>
                      </a:r>
                      <a:endParaRPr lang="en-US" sz="13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r>
              <a:tr h="73152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1F3F6"/>
                    </a:solidFill>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One-off letters a staff member composes while working a case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Event-driven, system-to-system messages (SMS, email, letter)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High-volume, scheduled communications</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73152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Triggered by</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1F3F6"/>
                    </a:solidFill>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Source app opens the UI and passes template data via postMessage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REST call with HCCID, template, image URL and profile data</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Input file dropped by source app; Control-M schedule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73152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Entry point</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1F3F6"/>
                    </a:solidFill>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Template Lookup UI → CCM API → Inspire Interactive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CCM API (Java on OpenShift) via DataPower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Spark preprocessor on Hadoop: parse, enrich, create requests</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73152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Rejections</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1F3F6"/>
                    </a:solidFill>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Invalid token or role blocked by JWT and role validation</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Request and entitlement validation; error returned to caller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Rejected-requests file returned to source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73152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Named in designs</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F1F3F6"/>
                    </a:solidFill>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EWoC, Claims Workflow, OPL/Quest; FEP I360 users directly</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Internal apps such as ECIR, CIAM, P360; Sales Connect / EDE externally</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Any source delivering input files in a configured layout</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bl>
          </a:graphicData>
        </a:graphic>
      </p:graphicFrame>
      <p:sp>
        <p:nvSpPr>
          <p:cNvPr id="10" name="Text 7"/>
          <p:cNvSpPr txBox="1"/>
          <p:nvPr/>
        </p:nvSpPr>
        <p:spPr>
          <a:xfrm>
            <a:off x="548640" y="5897880"/>
            <a:ext cx="11094415" cy="411480"/>
          </a:xfrm>
          <a:prstGeom prst="rect">
            <a:avLst/>
          </a:prstGeom>
          <a:noFill/>
          <a:ln/>
        </p:spPr>
        <p:txBody>
          <a:bodyPr wrap="square" lIns="0" tIns="0" rIns="0" bIns="0" rtlCol="0" anchor="t"/>
          <a:lstStyle/>
          <a:p>
            <a:pPr indent="0" marL="0">
              <a:buNone/>
            </a:pPr>
            <a:r>
              <a:rPr lang="en-US" sz="1200" i="1" dirty="0">
                <a:solidFill>
                  <a:srgbClr val="596273"/>
                </a:solidFill>
                <a:latin typeface="Calibri" pitchFamily="34" charset="0"/>
                <a:ea typeface="Calibri" pitchFamily="34" charset="-122"/>
                <a:cs typeface="Calibri" pitchFamily="34" charset="-120"/>
              </a:rPr>
              <a:t>All three paths converge on the same Inspire production, delivery, archive and Recon tracking, so reporting and suppression work identically regardless of entry point.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FLOW 1 OF 3</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Real-time API: from request to delivery receipt</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17</a:t>
            </a:r>
            <a:endParaRPr lang="en-US" sz="900" dirty="0"/>
          </a:p>
        </p:txBody>
      </p:sp>
      <p:sp>
        <p:nvSpPr>
          <p:cNvPr id="9" name="Shape 7"/>
          <p:cNvSpPr/>
          <p:nvPr/>
        </p:nvSpPr>
        <p:spPr>
          <a:xfrm>
            <a:off x="548640" y="1481328"/>
            <a:ext cx="402336" cy="402336"/>
          </a:xfrm>
          <a:prstGeom prst="ellipse">
            <a:avLst/>
          </a:prstGeom>
          <a:solidFill>
            <a:srgbClr val="1F4FB8"/>
          </a:solidFill>
          <a:ln/>
        </p:spPr>
      </p:sp>
      <p:sp>
        <p:nvSpPr>
          <p:cNvPr id="10" name="Text 8"/>
          <p:cNvSpPr txBox="1"/>
          <p:nvPr/>
        </p:nvSpPr>
        <p:spPr>
          <a:xfrm>
            <a:off x="548640" y="1481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097280" y="1463040"/>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Stage images</a:t>
            </a:r>
            <a:endParaRPr lang="en-US" sz="1400" dirty="0"/>
          </a:p>
        </p:txBody>
      </p:sp>
      <p:sp>
        <p:nvSpPr>
          <p:cNvPr id="12" name="Text 10"/>
          <p:cNvSpPr txBox="1"/>
          <p:nvPr/>
        </p:nvSpPr>
        <p:spPr>
          <a:xfrm>
            <a:off x="1097280" y="1755648"/>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Business users publish MMS images to the internet-facing Bloomreach CMS so Twilio can fetch and transcode them.</a:t>
            </a:r>
            <a:endParaRPr lang="en-US" sz="1150" dirty="0"/>
          </a:p>
        </p:txBody>
      </p:sp>
      <p:sp>
        <p:nvSpPr>
          <p:cNvPr id="13" name="Shape 11"/>
          <p:cNvSpPr/>
          <p:nvPr/>
        </p:nvSpPr>
        <p:spPr>
          <a:xfrm>
            <a:off x="548640" y="2450592"/>
            <a:ext cx="402336" cy="402336"/>
          </a:xfrm>
          <a:prstGeom prst="ellipse">
            <a:avLst/>
          </a:prstGeom>
          <a:solidFill>
            <a:srgbClr val="1F4FB8"/>
          </a:solidFill>
          <a:ln/>
        </p:spPr>
      </p:sp>
      <p:sp>
        <p:nvSpPr>
          <p:cNvPr id="14" name="Text 12"/>
          <p:cNvSpPr txBox="1"/>
          <p:nvPr/>
        </p:nvSpPr>
        <p:spPr>
          <a:xfrm>
            <a:off x="548640"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097280" y="2432304"/>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Request</a:t>
            </a:r>
            <a:endParaRPr lang="en-US" sz="1400" dirty="0"/>
          </a:p>
        </p:txBody>
      </p:sp>
      <p:sp>
        <p:nvSpPr>
          <p:cNvPr id="16" name="Text 14"/>
          <p:cNvSpPr txBox="1"/>
          <p:nvPr/>
        </p:nvSpPr>
        <p:spPr>
          <a:xfrm>
            <a:off x="1097280" y="2724912"/>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Source application calls the CCM API with HCCID, template, image URL and profile information.</a:t>
            </a:r>
            <a:endParaRPr lang="en-US" sz="1150" dirty="0"/>
          </a:p>
        </p:txBody>
      </p:sp>
      <p:sp>
        <p:nvSpPr>
          <p:cNvPr id="17" name="Shape 15"/>
          <p:cNvSpPr/>
          <p:nvPr/>
        </p:nvSpPr>
        <p:spPr>
          <a:xfrm>
            <a:off x="548640" y="3419856"/>
            <a:ext cx="402336" cy="402336"/>
          </a:xfrm>
          <a:prstGeom prst="ellipse">
            <a:avLst/>
          </a:prstGeom>
          <a:solidFill>
            <a:srgbClr val="1F4FB8"/>
          </a:solidFill>
          <a:ln/>
        </p:spPr>
      </p:sp>
      <p:sp>
        <p:nvSpPr>
          <p:cNvPr id="18" name="Text 16"/>
          <p:cNvSpPr txBox="1"/>
          <p:nvPr/>
        </p:nvSpPr>
        <p:spPr>
          <a:xfrm>
            <a:off x="548640"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097280" y="3401568"/>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Validate and enrich</a:t>
            </a:r>
            <a:endParaRPr lang="en-US" sz="1400" dirty="0"/>
          </a:p>
        </p:txBody>
      </p:sp>
      <p:sp>
        <p:nvSpPr>
          <p:cNvPr id="20" name="Text 18"/>
          <p:cNvSpPr txBox="1"/>
          <p:nvPr/>
        </p:nvSpPr>
        <p:spPr>
          <a:xfrm>
            <a:off x="1097280" y="3694176"/>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CCM API checks the request and entitlements, maps the member to a party ID, pulls profile and preferences from P360, and saves the request to Recon.</a:t>
            </a:r>
            <a:endParaRPr lang="en-US" sz="1150" dirty="0"/>
          </a:p>
        </p:txBody>
      </p:sp>
      <p:sp>
        <p:nvSpPr>
          <p:cNvPr id="21" name="Shape 19"/>
          <p:cNvSpPr/>
          <p:nvPr/>
        </p:nvSpPr>
        <p:spPr>
          <a:xfrm>
            <a:off x="548640" y="4389120"/>
            <a:ext cx="402336" cy="402336"/>
          </a:xfrm>
          <a:prstGeom prst="ellipse">
            <a:avLst/>
          </a:prstGeom>
          <a:solidFill>
            <a:srgbClr val="1F4FB8"/>
          </a:solidFill>
          <a:ln/>
        </p:spPr>
      </p:sp>
      <p:sp>
        <p:nvSpPr>
          <p:cNvPr id="22" name="Text 20"/>
          <p:cNvSpPr txBox="1"/>
          <p:nvPr/>
        </p:nvSpPr>
        <p:spPr>
          <a:xfrm>
            <a:off x="548640" y="4389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097280" y="4370832"/>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Compose</a:t>
            </a:r>
            <a:endParaRPr lang="en-US" sz="1400" dirty="0"/>
          </a:p>
        </p:txBody>
      </p:sp>
      <p:sp>
        <p:nvSpPr>
          <p:cNvPr id="24" name="Text 22"/>
          <p:cNvSpPr txBox="1"/>
          <p:nvPr/>
        </p:nvSpPr>
        <p:spPr>
          <a:xfrm>
            <a:off x="1097280" y="4663440"/>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Through DataPower, CCM API sends Inspire the template definitions and validated image data. Inspire logs to Recon.</a:t>
            </a:r>
            <a:endParaRPr lang="en-US" sz="1150" dirty="0"/>
          </a:p>
        </p:txBody>
      </p:sp>
      <p:sp>
        <p:nvSpPr>
          <p:cNvPr id="25" name="Shape 23"/>
          <p:cNvSpPr/>
          <p:nvPr/>
        </p:nvSpPr>
        <p:spPr>
          <a:xfrm>
            <a:off x="548640" y="5358384"/>
            <a:ext cx="402336" cy="402336"/>
          </a:xfrm>
          <a:prstGeom prst="ellipse">
            <a:avLst/>
          </a:prstGeom>
          <a:solidFill>
            <a:srgbClr val="1F4FB8"/>
          </a:solidFill>
          <a:ln/>
        </p:spPr>
      </p:sp>
      <p:sp>
        <p:nvSpPr>
          <p:cNvPr id="26" name="Text 24"/>
          <p:cNvSpPr txBox="1"/>
          <p:nvPr/>
        </p:nvSpPr>
        <p:spPr>
          <a:xfrm>
            <a:off x="548640" y="5358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097280" y="5340096"/>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Archive</a:t>
            </a:r>
            <a:endParaRPr lang="en-US" sz="1400" dirty="0"/>
          </a:p>
        </p:txBody>
      </p:sp>
      <p:sp>
        <p:nvSpPr>
          <p:cNvPr id="28" name="Text 26"/>
          <p:cNvSpPr txBox="1"/>
          <p:nvPr/>
        </p:nvSpPr>
        <p:spPr>
          <a:xfrm>
            <a:off x="1097280" y="5632704"/>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Inspire generates the PDF and uploads it to ECMS / Content Central. Failed uploads are held in Recon and retried.</a:t>
            </a:r>
            <a:endParaRPr lang="en-US" sz="1150" dirty="0"/>
          </a:p>
        </p:txBody>
      </p:sp>
      <p:sp>
        <p:nvSpPr>
          <p:cNvPr id="29" name="Shape 27"/>
          <p:cNvSpPr/>
          <p:nvPr/>
        </p:nvSpPr>
        <p:spPr>
          <a:xfrm>
            <a:off x="6291072" y="1481328"/>
            <a:ext cx="402336" cy="402336"/>
          </a:xfrm>
          <a:prstGeom prst="ellipse">
            <a:avLst/>
          </a:prstGeom>
          <a:solidFill>
            <a:srgbClr val="0F1B2D"/>
          </a:solidFill>
          <a:ln/>
        </p:spPr>
      </p:sp>
      <p:sp>
        <p:nvSpPr>
          <p:cNvPr id="30" name="Text 28"/>
          <p:cNvSpPr txBox="1"/>
          <p:nvPr/>
        </p:nvSpPr>
        <p:spPr>
          <a:xfrm>
            <a:off x="6291072" y="1481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6839712" y="1463040"/>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Deliver</a:t>
            </a:r>
            <a:endParaRPr lang="en-US" sz="1400" dirty="0"/>
          </a:p>
        </p:txBody>
      </p:sp>
      <p:sp>
        <p:nvSpPr>
          <p:cNvPr id="32" name="Text 30"/>
          <p:cNvSpPr txBox="1"/>
          <p:nvPr/>
        </p:nvSpPr>
        <p:spPr>
          <a:xfrm>
            <a:off x="6839712" y="1755648"/>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SMS via Twilio and email via SFMC over REST; print is batched into one daily file per vendor over SFTP. SMS and email link to Message Center.</a:t>
            </a:r>
            <a:endParaRPr lang="en-US" sz="1150" dirty="0"/>
          </a:p>
        </p:txBody>
      </p:sp>
      <p:sp>
        <p:nvSpPr>
          <p:cNvPr id="33" name="Shape 31"/>
          <p:cNvSpPr/>
          <p:nvPr/>
        </p:nvSpPr>
        <p:spPr>
          <a:xfrm>
            <a:off x="6291072" y="2450592"/>
            <a:ext cx="402336" cy="402336"/>
          </a:xfrm>
          <a:prstGeom prst="ellipse">
            <a:avLst/>
          </a:prstGeom>
          <a:solidFill>
            <a:srgbClr val="0F1B2D"/>
          </a:solidFill>
          <a:ln/>
        </p:spPr>
      </p:sp>
      <p:sp>
        <p:nvSpPr>
          <p:cNvPr id="34" name="Text 32"/>
          <p:cNvSpPr txBox="1"/>
          <p:nvPr/>
        </p:nvSpPr>
        <p:spPr>
          <a:xfrm>
            <a:off x="6291072"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txBox="1"/>
          <p:nvPr/>
        </p:nvSpPr>
        <p:spPr>
          <a:xfrm>
            <a:off x="6839712" y="2432304"/>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Notify source systems</a:t>
            </a:r>
            <a:endParaRPr lang="en-US" sz="1400" dirty="0"/>
          </a:p>
        </p:txBody>
      </p:sp>
      <p:sp>
        <p:nvSpPr>
          <p:cNvPr id="36" name="Text 34"/>
          <p:cNvSpPr txBox="1"/>
          <p:nvPr/>
        </p:nvSpPr>
        <p:spPr>
          <a:xfrm>
            <a:off x="6839712" y="2724912"/>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CCM Kafka Services publish the content ID and EWoC task ID; consumers update the source systems.</a:t>
            </a:r>
            <a:endParaRPr lang="en-US" sz="1150" dirty="0"/>
          </a:p>
        </p:txBody>
      </p:sp>
      <p:sp>
        <p:nvSpPr>
          <p:cNvPr id="37" name="Shape 35"/>
          <p:cNvSpPr/>
          <p:nvPr/>
        </p:nvSpPr>
        <p:spPr>
          <a:xfrm>
            <a:off x="6291072" y="3419856"/>
            <a:ext cx="402336" cy="402336"/>
          </a:xfrm>
          <a:prstGeom prst="ellipse">
            <a:avLst/>
          </a:prstGeom>
          <a:solidFill>
            <a:srgbClr val="0F1B2D"/>
          </a:solidFill>
          <a:ln/>
        </p:spPr>
      </p:sp>
      <p:sp>
        <p:nvSpPr>
          <p:cNvPr id="38" name="Text 36"/>
          <p:cNvSpPr txBox="1"/>
          <p:nvPr/>
        </p:nvSpPr>
        <p:spPr>
          <a:xfrm>
            <a:off x="6291072"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9" name="Text 37"/>
          <p:cNvSpPr txBox="1"/>
          <p:nvPr/>
        </p:nvSpPr>
        <p:spPr>
          <a:xfrm>
            <a:off x="6839712" y="3401568"/>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Digital inbox</a:t>
            </a:r>
            <a:endParaRPr lang="en-US" sz="1400" dirty="0"/>
          </a:p>
        </p:txBody>
      </p:sp>
      <p:sp>
        <p:nvSpPr>
          <p:cNvPr id="40" name="Text 38"/>
          <p:cNvSpPr txBox="1"/>
          <p:nvPr/>
        </p:nvSpPr>
        <p:spPr>
          <a:xfrm>
            <a:off x="6839712" y="3694176"/>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EWoC and CAM Inventories create the Message Center item; the member logs in to read it.</a:t>
            </a:r>
            <a:endParaRPr lang="en-US" sz="1150" dirty="0"/>
          </a:p>
        </p:txBody>
      </p:sp>
      <p:sp>
        <p:nvSpPr>
          <p:cNvPr id="41" name="Shape 39"/>
          <p:cNvSpPr/>
          <p:nvPr/>
        </p:nvSpPr>
        <p:spPr>
          <a:xfrm>
            <a:off x="6291072" y="4389120"/>
            <a:ext cx="402336" cy="402336"/>
          </a:xfrm>
          <a:prstGeom prst="ellipse">
            <a:avLst/>
          </a:prstGeom>
          <a:solidFill>
            <a:srgbClr val="0F1B2D"/>
          </a:solidFill>
          <a:ln/>
        </p:spPr>
      </p:sp>
      <p:sp>
        <p:nvSpPr>
          <p:cNvPr id="42" name="Text 40"/>
          <p:cNvSpPr txBox="1"/>
          <p:nvPr/>
        </p:nvSpPr>
        <p:spPr>
          <a:xfrm>
            <a:off x="6291072" y="4389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3" name="Text 41"/>
          <p:cNvSpPr txBox="1"/>
          <p:nvPr/>
        </p:nvSpPr>
        <p:spPr>
          <a:xfrm>
            <a:off x="6839712" y="4370832"/>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Delivery receipts</a:t>
            </a:r>
            <a:endParaRPr lang="en-US" sz="1400" dirty="0"/>
          </a:p>
        </p:txBody>
      </p:sp>
      <p:sp>
        <p:nvSpPr>
          <p:cNvPr id="44" name="Text 42"/>
          <p:cNvSpPr txBox="1"/>
          <p:nvPr/>
        </p:nvSpPr>
        <p:spPr>
          <a:xfrm>
            <a:off x="6839712" y="4663440"/>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Vendor status files (SFTP inbox) and the SMS/MMS response handler load delivery status and date into Recon.</a:t>
            </a:r>
            <a:endParaRPr lang="en-US" sz="1150" dirty="0"/>
          </a:p>
        </p:txBody>
      </p:sp>
      <p:sp>
        <p:nvSpPr>
          <p:cNvPr id="45" name="Shape 43"/>
          <p:cNvSpPr/>
          <p:nvPr/>
        </p:nvSpPr>
        <p:spPr>
          <a:xfrm>
            <a:off x="6291072" y="5358384"/>
            <a:ext cx="402336" cy="402336"/>
          </a:xfrm>
          <a:prstGeom prst="ellipse">
            <a:avLst/>
          </a:prstGeom>
          <a:solidFill>
            <a:srgbClr val="0F1B2D"/>
          </a:solidFill>
          <a:ln/>
        </p:spPr>
      </p:sp>
      <p:sp>
        <p:nvSpPr>
          <p:cNvPr id="46" name="Text 44"/>
          <p:cNvSpPr txBox="1"/>
          <p:nvPr/>
        </p:nvSpPr>
        <p:spPr>
          <a:xfrm>
            <a:off x="6291072" y="5358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7" name="Text 45"/>
          <p:cNvSpPr txBox="1"/>
          <p:nvPr/>
        </p:nvSpPr>
        <p:spPr>
          <a:xfrm>
            <a:off x="6839712" y="5340096"/>
            <a:ext cx="4800600" cy="274320"/>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Touchpoints</a:t>
            </a:r>
            <a:endParaRPr lang="en-US" sz="1400" dirty="0"/>
          </a:p>
        </p:txBody>
      </p:sp>
      <p:sp>
        <p:nvSpPr>
          <p:cNvPr id="48" name="Text 46"/>
          <p:cNvSpPr txBox="1"/>
          <p:nvPr/>
        </p:nvSpPr>
        <p:spPr>
          <a:xfrm>
            <a:off x="6839712" y="5632704"/>
            <a:ext cx="4800600" cy="64008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Recon Services create customer touchpoints through MSMQ for the servicing record.</a:t>
            </a:r>
            <a:endParaRPr lang="en-US" sz="1150" dirty="0"/>
          </a:p>
        </p:txBody>
      </p:sp>
      <p:sp>
        <p:nvSpPr>
          <p:cNvPr id="49" name="Text 47"/>
          <p:cNvSpPr txBox="1"/>
          <p:nvPr/>
        </p:nvSpPr>
        <p:spPr>
          <a:xfrm>
            <a:off x="548640" y="6144768"/>
            <a:ext cx="4572000" cy="228600"/>
          </a:xfrm>
          <a:prstGeom prst="rect">
            <a:avLst/>
          </a:prstGeom>
          <a:noFill/>
          <a:ln/>
        </p:spPr>
        <p:txBody>
          <a:bodyPr wrap="square" lIns="0" tIns="0" rIns="0" bIns="0" rtlCol="0" anchor="t"/>
          <a:lstStyle/>
          <a:p>
            <a:pPr indent="0" marL="0">
              <a:buNone/>
            </a:pPr>
            <a:r>
              <a:rPr lang="en-US" sz="1000" b="1" dirty="0">
                <a:solidFill>
                  <a:srgbClr val="1F4FB8"/>
                </a:solidFill>
                <a:latin typeface="Calibri" pitchFamily="34" charset="0"/>
                <a:ea typeface="Calibri" pitchFamily="34" charset="-122"/>
                <a:cs typeface="Calibri" pitchFamily="34" charset="-120"/>
              </a:rPr>
              <a:t>Steps 1–5: request and composition</a:t>
            </a:r>
            <a:endParaRPr lang="en-US" sz="1000" dirty="0"/>
          </a:p>
        </p:txBody>
      </p:sp>
      <p:sp>
        <p:nvSpPr>
          <p:cNvPr id="50" name="Text 48"/>
          <p:cNvSpPr txBox="1"/>
          <p:nvPr/>
        </p:nvSpPr>
        <p:spPr>
          <a:xfrm>
            <a:off x="6291072" y="6144768"/>
            <a:ext cx="4572000" cy="228600"/>
          </a:xfrm>
          <a:prstGeom prst="rect">
            <a:avLst/>
          </a:prstGeom>
          <a:noFill/>
          <a:ln/>
        </p:spPr>
        <p:txBody>
          <a:bodyPr wrap="square" lIns="0" tIns="0" rIns="0" bIns="0" rtlCol="0" anchor="t"/>
          <a:lstStyle/>
          <a:p>
            <a:pPr indent="0" marL="0">
              <a:buNone/>
            </a:pPr>
            <a:r>
              <a:rPr lang="en-US" sz="1000" b="1" dirty="0">
                <a:solidFill>
                  <a:srgbClr val="0F1B2D"/>
                </a:solidFill>
                <a:latin typeface="Calibri" pitchFamily="34" charset="0"/>
                <a:ea typeface="Calibri" pitchFamily="34" charset="-122"/>
                <a:cs typeface="Calibri" pitchFamily="34" charset="-120"/>
              </a:rPr>
              <a:t>Steps 6–10: delivery and feedback</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FLOW 2 OF 3</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Batch preprocessor: scheduled, high-volume delivery</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18</a:t>
            </a:r>
            <a:endParaRPr lang="en-US" sz="900" dirty="0"/>
          </a:p>
        </p:txBody>
      </p:sp>
      <p:sp>
        <p:nvSpPr>
          <p:cNvPr id="9" name="Shape 7"/>
          <p:cNvSpPr/>
          <p:nvPr/>
        </p:nvSpPr>
        <p:spPr>
          <a:xfrm>
            <a:off x="548640" y="1508760"/>
            <a:ext cx="1962851" cy="3154680"/>
          </a:xfrm>
          <a:prstGeom prst="roundRect">
            <a:avLst>
              <a:gd name="adj" fmla="val 2795"/>
            </a:avLst>
          </a:prstGeom>
          <a:solidFill>
            <a:srgbClr val="F1F3F6"/>
          </a:solidFill>
          <a:ln/>
        </p:spPr>
      </p:sp>
      <p:sp>
        <p:nvSpPr>
          <p:cNvPr id="10" name="Shape 8"/>
          <p:cNvSpPr/>
          <p:nvPr/>
        </p:nvSpPr>
        <p:spPr>
          <a:xfrm>
            <a:off x="777240" y="1783080"/>
            <a:ext cx="566928" cy="566928"/>
          </a:xfrm>
          <a:prstGeom prst="ellipse">
            <a:avLst/>
          </a:prstGeom>
          <a:solidFill>
            <a:srgbClr val="1F4FB8"/>
          </a:solidFill>
          <a:ln/>
        </p:spPr>
      </p:sp>
      <p:pic>
        <p:nvPicPr>
          <p:cNvPr id="11" name="Image 0" descr="preencoded.png">    </p:cNvPr>
          <p:cNvPicPr>
            <a:picLocks noChangeAspect="1"/>
          </p:cNvPicPr>
          <p:nvPr/>
        </p:nvPicPr>
        <p:blipFill>
          <a:blip r:embed="rId1"/>
          <a:stretch>
            <a:fillRect/>
          </a:stretch>
        </p:blipFill>
        <p:spPr>
          <a:xfrm>
            <a:off x="924641" y="1930481"/>
            <a:ext cx="272125" cy="272125"/>
          </a:xfrm>
          <a:prstGeom prst="rect">
            <a:avLst/>
          </a:prstGeom>
        </p:spPr>
      </p:pic>
      <p:sp>
        <p:nvSpPr>
          <p:cNvPr id="12" name="Text 9"/>
          <p:cNvSpPr txBox="1"/>
          <p:nvPr/>
        </p:nvSpPr>
        <p:spPr>
          <a:xfrm>
            <a:off x="1825691" y="1828800"/>
            <a:ext cx="457200" cy="365760"/>
          </a:xfrm>
          <a:prstGeom prst="rect">
            <a:avLst/>
          </a:prstGeom>
          <a:noFill/>
          <a:ln/>
        </p:spPr>
        <p:txBody>
          <a:bodyPr wrap="square" lIns="0" tIns="0" rIns="0" bIns="0" rtlCol="0" anchor="t"/>
          <a:lstStyle/>
          <a:p>
            <a:pPr algn="r" indent="0" marL="0">
              <a:buNone/>
            </a:pPr>
            <a:r>
              <a:rPr lang="en-US" sz="1400" b="1" dirty="0">
                <a:solidFill>
                  <a:srgbClr val="CCD3DD"/>
                </a:solidFill>
                <a:latin typeface="Calibri" pitchFamily="34" charset="0"/>
                <a:ea typeface="Calibri" pitchFamily="34" charset="-122"/>
                <a:cs typeface="Calibri" pitchFamily="34" charset="-120"/>
              </a:rPr>
              <a:t>01</a:t>
            </a:r>
            <a:endParaRPr lang="en-US" sz="1400" dirty="0"/>
          </a:p>
        </p:txBody>
      </p:sp>
      <p:sp>
        <p:nvSpPr>
          <p:cNvPr id="13" name="Text 10"/>
          <p:cNvSpPr txBox="1"/>
          <p:nvPr/>
        </p:nvSpPr>
        <p:spPr>
          <a:xfrm>
            <a:off x="777240" y="2514600"/>
            <a:ext cx="1505651"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Receive</a:t>
            </a:r>
            <a:endParaRPr lang="en-US" sz="1500" dirty="0"/>
          </a:p>
        </p:txBody>
      </p:sp>
      <p:sp>
        <p:nvSpPr>
          <p:cNvPr id="14" name="Text 11"/>
          <p:cNvSpPr txBox="1"/>
          <p:nvPr/>
        </p:nvSpPr>
        <p:spPr>
          <a:xfrm>
            <a:off x="777240" y="2880360"/>
            <a:ext cx="1505651" cy="1691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Source apps deliver input files. Each source’s layout (file type, field positions) is defined in configuration.</a:t>
            </a:r>
            <a:endParaRPr lang="en-US" sz="1200" dirty="0"/>
          </a:p>
        </p:txBody>
      </p:sp>
      <p:sp>
        <p:nvSpPr>
          <p:cNvPr id="15" name="Shape 12"/>
          <p:cNvSpPr/>
          <p:nvPr/>
        </p:nvSpPr>
        <p:spPr>
          <a:xfrm>
            <a:off x="2548067" y="2066544"/>
            <a:ext cx="246888" cy="0"/>
          </a:xfrm>
          <a:prstGeom prst="line">
            <a:avLst/>
          </a:prstGeom>
          <a:noFill/>
          <a:ln w="19050">
            <a:solidFill>
              <a:srgbClr val="1F4FB8"/>
            </a:solidFill>
            <a:prstDash val="solid"/>
            <a:tailEnd type="triangle"/>
          </a:ln>
        </p:spPr>
      </p:sp>
      <p:sp>
        <p:nvSpPr>
          <p:cNvPr id="16" name="Shape 13"/>
          <p:cNvSpPr/>
          <p:nvPr/>
        </p:nvSpPr>
        <p:spPr>
          <a:xfrm>
            <a:off x="2831531" y="1508760"/>
            <a:ext cx="1962851" cy="3154680"/>
          </a:xfrm>
          <a:prstGeom prst="roundRect">
            <a:avLst>
              <a:gd name="adj" fmla="val 2795"/>
            </a:avLst>
          </a:prstGeom>
          <a:solidFill>
            <a:srgbClr val="F1F3F6"/>
          </a:solidFill>
          <a:ln/>
        </p:spPr>
      </p:sp>
      <p:sp>
        <p:nvSpPr>
          <p:cNvPr id="17" name="Shape 14"/>
          <p:cNvSpPr/>
          <p:nvPr/>
        </p:nvSpPr>
        <p:spPr>
          <a:xfrm>
            <a:off x="3060131" y="1783080"/>
            <a:ext cx="566928" cy="566928"/>
          </a:xfrm>
          <a:prstGeom prst="ellipse">
            <a:avLst/>
          </a:prstGeom>
          <a:solidFill>
            <a:srgbClr val="1F4FB8"/>
          </a:solidFill>
          <a:ln/>
        </p:spPr>
      </p:sp>
      <p:pic>
        <p:nvPicPr>
          <p:cNvPr id="18" name="Image 1" descr="preencoded.png">    </p:cNvPr>
          <p:cNvPicPr>
            <a:picLocks noChangeAspect="1"/>
          </p:cNvPicPr>
          <p:nvPr/>
        </p:nvPicPr>
        <p:blipFill>
          <a:blip r:embed="rId2"/>
          <a:stretch>
            <a:fillRect/>
          </a:stretch>
        </p:blipFill>
        <p:spPr>
          <a:xfrm>
            <a:off x="3207532" y="1930481"/>
            <a:ext cx="272125" cy="272125"/>
          </a:xfrm>
          <a:prstGeom prst="rect">
            <a:avLst/>
          </a:prstGeom>
        </p:spPr>
      </p:pic>
      <p:sp>
        <p:nvSpPr>
          <p:cNvPr id="19" name="Text 15"/>
          <p:cNvSpPr txBox="1"/>
          <p:nvPr/>
        </p:nvSpPr>
        <p:spPr>
          <a:xfrm>
            <a:off x="4108582" y="1828800"/>
            <a:ext cx="457200" cy="365760"/>
          </a:xfrm>
          <a:prstGeom prst="rect">
            <a:avLst/>
          </a:prstGeom>
          <a:noFill/>
          <a:ln/>
        </p:spPr>
        <p:txBody>
          <a:bodyPr wrap="square" lIns="0" tIns="0" rIns="0" bIns="0" rtlCol="0" anchor="t"/>
          <a:lstStyle/>
          <a:p>
            <a:pPr algn="r" indent="0" marL="0">
              <a:buNone/>
            </a:pPr>
            <a:r>
              <a:rPr lang="en-US" sz="1400" b="1" dirty="0">
                <a:solidFill>
                  <a:srgbClr val="CCD3DD"/>
                </a:solidFill>
                <a:latin typeface="Calibri" pitchFamily="34" charset="0"/>
                <a:ea typeface="Calibri" pitchFamily="34" charset="-122"/>
                <a:cs typeface="Calibri" pitchFamily="34" charset="-120"/>
              </a:rPr>
              <a:t>02</a:t>
            </a:r>
            <a:endParaRPr lang="en-US" sz="1400" dirty="0"/>
          </a:p>
        </p:txBody>
      </p:sp>
      <p:sp>
        <p:nvSpPr>
          <p:cNvPr id="20" name="Text 16"/>
          <p:cNvSpPr txBox="1"/>
          <p:nvPr/>
        </p:nvSpPr>
        <p:spPr>
          <a:xfrm>
            <a:off x="3060131" y="2514600"/>
            <a:ext cx="1505651"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Parse and validate</a:t>
            </a:r>
            <a:endParaRPr lang="en-US" sz="1500" dirty="0"/>
          </a:p>
        </p:txBody>
      </p:sp>
      <p:sp>
        <p:nvSpPr>
          <p:cNvPr id="21" name="Text 17"/>
          <p:cNvSpPr txBox="1"/>
          <p:nvPr/>
        </p:nvSpPr>
        <p:spPr>
          <a:xfrm>
            <a:off x="3060131" y="2880360"/>
            <a:ext cx="1505651" cy="1691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Control-M launches the Spark preprocessor on Hadoop. Invalid records go to a rejected-requests file for the source.</a:t>
            </a:r>
            <a:endParaRPr lang="en-US" sz="1200" dirty="0"/>
          </a:p>
        </p:txBody>
      </p:sp>
      <p:sp>
        <p:nvSpPr>
          <p:cNvPr id="22" name="Shape 18"/>
          <p:cNvSpPr/>
          <p:nvPr/>
        </p:nvSpPr>
        <p:spPr>
          <a:xfrm>
            <a:off x="4830958" y="2066544"/>
            <a:ext cx="246888" cy="0"/>
          </a:xfrm>
          <a:prstGeom prst="line">
            <a:avLst/>
          </a:prstGeom>
          <a:noFill/>
          <a:ln w="19050">
            <a:solidFill>
              <a:srgbClr val="1F4FB8"/>
            </a:solidFill>
            <a:prstDash val="solid"/>
            <a:tailEnd type="triangle"/>
          </a:ln>
        </p:spPr>
      </p:sp>
      <p:sp>
        <p:nvSpPr>
          <p:cNvPr id="23" name="Shape 19"/>
          <p:cNvSpPr/>
          <p:nvPr/>
        </p:nvSpPr>
        <p:spPr>
          <a:xfrm>
            <a:off x="5114422" y="1508760"/>
            <a:ext cx="1962851" cy="3154680"/>
          </a:xfrm>
          <a:prstGeom prst="roundRect">
            <a:avLst>
              <a:gd name="adj" fmla="val 2795"/>
            </a:avLst>
          </a:prstGeom>
          <a:solidFill>
            <a:srgbClr val="F1F3F6"/>
          </a:solidFill>
          <a:ln/>
        </p:spPr>
      </p:sp>
      <p:sp>
        <p:nvSpPr>
          <p:cNvPr id="24" name="Shape 20"/>
          <p:cNvSpPr/>
          <p:nvPr/>
        </p:nvSpPr>
        <p:spPr>
          <a:xfrm>
            <a:off x="5343022" y="1783080"/>
            <a:ext cx="566928" cy="566928"/>
          </a:xfrm>
          <a:prstGeom prst="ellipse">
            <a:avLst/>
          </a:prstGeom>
          <a:solidFill>
            <a:srgbClr val="1F4FB8"/>
          </a:solidFill>
          <a:ln/>
        </p:spPr>
      </p:sp>
      <p:pic>
        <p:nvPicPr>
          <p:cNvPr id="25" name="Image 2" descr="preencoded.png">    </p:cNvPr>
          <p:cNvPicPr>
            <a:picLocks noChangeAspect="1"/>
          </p:cNvPicPr>
          <p:nvPr/>
        </p:nvPicPr>
        <p:blipFill>
          <a:blip r:embed="rId3"/>
          <a:stretch>
            <a:fillRect/>
          </a:stretch>
        </p:blipFill>
        <p:spPr>
          <a:xfrm>
            <a:off x="5490423" y="1930481"/>
            <a:ext cx="272125" cy="272125"/>
          </a:xfrm>
          <a:prstGeom prst="rect">
            <a:avLst/>
          </a:prstGeom>
        </p:spPr>
      </p:pic>
      <p:sp>
        <p:nvSpPr>
          <p:cNvPr id="26" name="Text 21"/>
          <p:cNvSpPr txBox="1"/>
          <p:nvPr/>
        </p:nvSpPr>
        <p:spPr>
          <a:xfrm>
            <a:off x="6391473" y="1828800"/>
            <a:ext cx="457200" cy="365760"/>
          </a:xfrm>
          <a:prstGeom prst="rect">
            <a:avLst/>
          </a:prstGeom>
          <a:noFill/>
          <a:ln/>
        </p:spPr>
        <p:txBody>
          <a:bodyPr wrap="square" lIns="0" tIns="0" rIns="0" bIns="0" rtlCol="0" anchor="t"/>
          <a:lstStyle/>
          <a:p>
            <a:pPr algn="r" indent="0" marL="0">
              <a:buNone/>
            </a:pPr>
            <a:r>
              <a:rPr lang="en-US" sz="1400" b="1" dirty="0">
                <a:solidFill>
                  <a:srgbClr val="CCD3DD"/>
                </a:solidFill>
                <a:latin typeface="Calibri" pitchFamily="34" charset="0"/>
                <a:ea typeface="Calibri" pitchFamily="34" charset="-122"/>
                <a:cs typeface="Calibri" pitchFamily="34" charset="-120"/>
              </a:rPr>
              <a:t>03</a:t>
            </a:r>
            <a:endParaRPr lang="en-US" sz="1400" dirty="0"/>
          </a:p>
        </p:txBody>
      </p:sp>
      <p:sp>
        <p:nvSpPr>
          <p:cNvPr id="27" name="Text 22"/>
          <p:cNvSpPr txBox="1"/>
          <p:nvPr/>
        </p:nvSpPr>
        <p:spPr>
          <a:xfrm>
            <a:off x="5343022" y="2514600"/>
            <a:ext cx="1505651"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Enrich</a:t>
            </a:r>
            <a:endParaRPr lang="en-US" sz="1500" dirty="0"/>
          </a:p>
        </p:txBody>
      </p:sp>
      <p:sp>
        <p:nvSpPr>
          <p:cNvPr id="28" name="Text 23"/>
          <p:cNvSpPr txBox="1"/>
          <p:nvPr/>
        </p:nvSpPr>
        <p:spPr>
          <a:xfrm>
            <a:off x="5343022" y="2880360"/>
            <a:ext cx="1505651" cy="1691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Records are joined with P360 (party ID, profile, preferences and consents) and GWDP SailFish profile data.</a:t>
            </a:r>
            <a:endParaRPr lang="en-US" sz="1200" dirty="0"/>
          </a:p>
        </p:txBody>
      </p:sp>
      <p:sp>
        <p:nvSpPr>
          <p:cNvPr id="29" name="Shape 24"/>
          <p:cNvSpPr/>
          <p:nvPr/>
        </p:nvSpPr>
        <p:spPr>
          <a:xfrm>
            <a:off x="7113849" y="2066544"/>
            <a:ext cx="246888" cy="0"/>
          </a:xfrm>
          <a:prstGeom prst="line">
            <a:avLst/>
          </a:prstGeom>
          <a:noFill/>
          <a:ln w="19050">
            <a:solidFill>
              <a:srgbClr val="1F4FB8"/>
            </a:solidFill>
            <a:prstDash val="solid"/>
            <a:tailEnd type="triangle"/>
          </a:ln>
        </p:spPr>
      </p:sp>
      <p:sp>
        <p:nvSpPr>
          <p:cNvPr id="30" name="Shape 25"/>
          <p:cNvSpPr/>
          <p:nvPr/>
        </p:nvSpPr>
        <p:spPr>
          <a:xfrm>
            <a:off x="7397313" y="1508760"/>
            <a:ext cx="1962851" cy="3154680"/>
          </a:xfrm>
          <a:prstGeom prst="roundRect">
            <a:avLst>
              <a:gd name="adj" fmla="val 2795"/>
            </a:avLst>
          </a:prstGeom>
          <a:solidFill>
            <a:srgbClr val="F1F3F6"/>
          </a:solidFill>
          <a:ln/>
        </p:spPr>
      </p:sp>
      <p:sp>
        <p:nvSpPr>
          <p:cNvPr id="31" name="Shape 26"/>
          <p:cNvSpPr/>
          <p:nvPr/>
        </p:nvSpPr>
        <p:spPr>
          <a:xfrm>
            <a:off x="7625913" y="1783080"/>
            <a:ext cx="566928" cy="566928"/>
          </a:xfrm>
          <a:prstGeom prst="ellipse">
            <a:avLst/>
          </a:prstGeom>
          <a:solidFill>
            <a:srgbClr val="1F4FB8"/>
          </a:solidFill>
          <a:ln/>
        </p:spPr>
      </p:sp>
      <p:pic>
        <p:nvPicPr>
          <p:cNvPr id="32" name="Image 3" descr="preencoded.png">    </p:cNvPr>
          <p:cNvPicPr>
            <a:picLocks noChangeAspect="1"/>
          </p:cNvPicPr>
          <p:nvPr/>
        </p:nvPicPr>
        <p:blipFill>
          <a:blip r:embed="rId4"/>
          <a:stretch>
            <a:fillRect/>
          </a:stretch>
        </p:blipFill>
        <p:spPr>
          <a:xfrm>
            <a:off x="7773314" y="1930481"/>
            <a:ext cx="272125" cy="272125"/>
          </a:xfrm>
          <a:prstGeom prst="rect">
            <a:avLst/>
          </a:prstGeom>
        </p:spPr>
      </p:pic>
      <p:sp>
        <p:nvSpPr>
          <p:cNvPr id="33" name="Text 27"/>
          <p:cNvSpPr txBox="1"/>
          <p:nvPr/>
        </p:nvSpPr>
        <p:spPr>
          <a:xfrm>
            <a:off x="8674364" y="1828800"/>
            <a:ext cx="457200" cy="365760"/>
          </a:xfrm>
          <a:prstGeom prst="rect">
            <a:avLst/>
          </a:prstGeom>
          <a:noFill/>
          <a:ln/>
        </p:spPr>
        <p:txBody>
          <a:bodyPr wrap="square" lIns="0" tIns="0" rIns="0" bIns="0" rtlCol="0" anchor="t"/>
          <a:lstStyle/>
          <a:p>
            <a:pPr algn="r" indent="0" marL="0">
              <a:buNone/>
            </a:pPr>
            <a:r>
              <a:rPr lang="en-US" sz="1400" b="1" dirty="0">
                <a:solidFill>
                  <a:srgbClr val="CCD3DD"/>
                </a:solidFill>
                <a:latin typeface="Calibri" pitchFamily="34" charset="0"/>
                <a:ea typeface="Calibri" pitchFamily="34" charset="-122"/>
                <a:cs typeface="Calibri" pitchFamily="34" charset="-120"/>
              </a:rPr>
              <a:t>04</a:t>
            </a:r>
            <a:endParaRPr lang="en-US" sz="1400" dirty="0"/>
          </a:p>
        </p:txBody>
      </p:sp>
      <p:sp>
        <p:nvSpPr>
          <p:cNvPr id="34" name="Text 28"/>
          <p:cNvSpPr txBox="1"/>
          <p:nvPr/>
        </p:nvSpPr>
        <p:spPr>
          <a:xfrm>
            <a:off x="7625913" y="2514600"/>
            <a:ext cx="1505651"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Create requests</a:t>
            </a:r>
            <a:endParaRPr lang="en-US" sz="1500" dirty="0"/>
          </a:p>
        </p:txBody>
      </p:sp>
      <p:sp>
        <p:nvSpPr>
          <p:cNvPr id="35" name="Text 29"/>
          <p:cNvSpPr txBox="1"/>
          <p:nvPr/>
        </p:nvSpPr>
        <p:spPr>
          <a:xfrm>
            <a:off x="7625913" y="2880360"/>
            <a:ext cx="1505651" cy="1691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One request per channel (archive/print, SMS, email) based on each template’s configuration, sent to Inspire via DataPower.</a:t>
            </a:r>
            <a:endParaRPr lang="en-US" sz="1200" dirty="0"/>
          </a:p>
        </p:txBody>
      </p:sp>
      <p:sp>
        <p:nvSpPr>
          <p:cNvPr id="36" name="Shape 30"/>
          <p:cNvSpPr/>
          <p:nvPr/>
        </p:nvSpPr>
        <p:spPr>
          <a:xfrm>
            <a:off x="9396740" y="2066544"/>
            <a:ext cx="246888" cy="0"/>
          </a:xfrm>
          <a:prstGeom prst="line">
            <a:avLst/>
          </a:prstGeom>
          <a:noFill/>
          <a:ln w="19050">
            <a:solidFill>
              <a:srgbClr val="1F4FB8"/>
            </a:solidFill>
            <a:prstDash val="solid"/>
            <a:tailEnd type="triangle"/>
          </a:ln>
        </p:spPr>
      </p:sp>
      <p:sp>
        <p:nvSpPr>
          <p:cNvPr id="37" name="Shape 31"/>
          <p:cNvSpPr/>
          <p:nvPr/>
        </p:nvSpPr>
        <p:spPr>
          <a:xfrm>
            <a:off x="9680204" y="1508760"/>
            <a:ext cx="1962851" cy="3154680"/>
          </a:xfrm>
          <a:prstGeom prst="roundRect">
            <a:avLst>
              <a:gd name="adj" fmla="val 2795"/>
            </a:avLst>
          </a:prstGeom>
          <a:solidFill>
            <a:srgbClr val="E7EEFB"/>
          </a:solidFill>
          <a:ln/>
        </p:spPr>
      </p:sp>
      <p:sp>
        <p:nvSpPr>
          <p:cNvPr id="38" name="Shape 32"/>
          <p:cNvSpPr/>
          <p:nvPr/>
        </p:nvSpPr>
        <p:spPr>
          <a:xfrm>
            <a:off x="9908804" y="1783080"/>
            <a:ext cx="566928" cy="566928"/>
          </a:xfrm>
          <a:prstGeom prst="ellipse">
            <a:avLst/>
          </a:prstGeom>
          <a:solidFill>
            <a:srgbClr val="1F4FB8"/>
          </a:solidFill>
          <a:ln/>
        </p:spPr>
      </p:sp>
      <p:pic>
        <p:nvPicPr>
          <p:cNvPr id="39" name="Image 4" descr="preencoded.png">    </p:cNvPr>
          <p:cNvPicPr>
            <a:picLocks noChangeAspect="1"/>
          </p:cNvPicPr>
          <p:nvPr/>
        </p:nvPicPr>
        <p:blipFill>
          <a:blip r:embed="rId5"/>
          <a:stretch>
            <a:fillRect/>
          </a:stretch>
        </p:blipFill>
        <p:spPr>
          <a:xfrm>
            <a:off x="10056205" y="1930481"/>
            <a:ext cx="272125" cy="272125"/>
          </a:xfrm>
          <a:prstGeom prst="rect">
            <a:avLst/>
          </a:prstGeom>
        </p:spPr>
      </p:pic>
      <p:sp>
        <p:nvSpPr>
          <p:cNvPr id="40" name="Text 33"/>
          <p:cNvSpPr txBox="1"/>
          <p:nvPr/>
        </p:nvSpPr>
        <p:spPr>
          <a:xfrm>
            <a:off x="10957255" y="1828800"/>
            <a:ext cx="457200" cy="365760"/>
          </a:xfrm>
          <a:prstGeom prst="rect">
            <a:avLst/>
          </a:prstGeom>
          <a:noFill/>
          <a:ln/>
        </p:spPr>
        <p:txBody>
          <a:bodyPr wrap="square" lIns="0" tIns="0" rIns="0" bIns="0" rtlCol="0" anchor="t"/>
          <a:lstStyle/>
          <a:p>
            <a:pPr algn="r" indent="0" marL="0">
              <a:buNone/>
            </a:pPr>
            <a:r>
              <a:rPr lang="en-US" sz="1400" b="1" dirty="0">
                <a:solidFill>
                  <a:srgbClr val="CCD3DD"/>
                </a:solidFill>
                <a:latin typeface="Calibri" pitchFamily="34" charset="0"/>
                <a:ea typeface="Calibri" pitchFamily="34" charset="-122"/>
                <a:cs typeface="Calibri" pitchFamily="34" charset="-120"/>
              </a:rPr>
              <a:t>05</a:t>
            </a:r>
            <a:endParaRPr lang="en-US" sz="1400" dirty="0"/>
          </a:p>
        </p:txBody>
      </p:sp>
      <p:sp>
        <p:nvSpPr>
          <p:cNvPr id="41" name="Text 34"/>
          <p:cNvSpPr txBox="1"/>
          <p:nvPr/>
        </p:nvSpPr>
        <p:spPr>
          <a:xfrm>
            <a:off x="9908804" y="2514600"/>
            <a:ext cx="1505651"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Deliver and track</a:t>
            </a:r>
            <a:endParaRPr lang="en-US" sz="1500" dirty="0"/>
          </a:p>
        </p:txBody>
      </p:sp>
      <p:sp>
        <p:nvSpPr>
          <p:cNvPr id="42" name="Text 35"/>
          <p:cNvSpPr txBox="1"/>
          <p:nvPr/>
        </p:nvSpPr>
        <p:spPr>
          <a:xfrm>
            <a:off x="9908804" y="2880360"/>
            <a:ext cx="1505651" cy="1691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Same downstream path as real-time: archive, vendor delivery, Kafka events, Recon status and touchpoints.</a:t>
            </a:r>
            <a:endParaRPr lang="en-US" sz="1200" dirty="0"/>
          </a:p>
        </p:txBody>
      </p:sp>
      <p:sp>
        <p:nvSpPr>
          <p:cNvPr id="43" name="Text 36"/>
          <p:cNvSpPr txBox="1"/>
          <p:nvPr/>
        </p:nvSpPr>
        <p:spPr>
          <a:xfrm>
            <a:off x="548640" y="4937760"/>
            <a:ext cx="5486400" cy="256032"/>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HOW BATCH DIFFERS FROM REAL-TIME</a:t>
            </a:r>
            <a:endParaRPr lang="en-US" sz="1000" dirty="0"/>
          </a:p>
        </p:txBody>
      </p:sp>
      <p:sp>
        <p:nvSpPr>
          <p:cNvPr id="44" name="Text 37"/>
          <p:cNvSpPr txBox="1"/>
          <p:nvPr/>
        </p:nvSpPr>
        <p:spPr>
          <a:xfrm>
            <a:off x="548640" y="5257800"/>
            <a:ext cx="3515258" cy="868680"/>
          </a:xfrm>
          <a:prstGeom prst="rect">
            <a:avLst/>
          </a:prstGeom>
          <a:noFill/>
          <a:ln/>
        </p:spPr>
        <p:txBody>
          <a:bodyPr wrap="square" lIns="0" tIns="0" rIns="0" bIns="0" rtlCol="0" anchor="t"/>
          <a:lstStyle/>
          <a:p>
            <a:pPr indent="0" marL="0">
              <a:buNone/>
            </a:pPr>
            <a:r>
              <a:rPr lang="en-US" sz="1250" b="1" dirty="0">
                <a:solidFill>
                  <a:srgbClr val="1C2330"/>
                </a:solidFill>
                <a:latin typeface="Calibri" pitchFamily="34" charset="0"/>
                <a:ea typeface="Calibri" pitchFamily="34" charset="-122"/>
                <a:cs typeface="Calibri" pitchFamily="34" charset="-120"/>
              </a:rPr>
              <a:t>Scheduled, not event-driven. </a:t>
            </a:r>
            <a:pPr indent="0" marL="0">
              <a:buNone/>
            </a:pPr>
            <a:r>
              <a:rPr lang="en-US" sz="1250" dirty="0">
                <a:solidFill>
                  <a:srgbClr val="596273"/>
                </a:solidFill>
                <a:latin typeface="Calibri" pitchFamily="34" charset="0"/>
                <a:ea typeface="Calibri" pitchFamily="34" charset="-122"/>
                <a:cs typeface="Calibri" pitchFamily="34" charset="-120"/>
              </a:rPr>
              <a:t>Control-M orchestrates runs; a shell script starts the Spark job.</a:t>
            </a:r>
            <a:endParaRPr lang="en-US" sz="1250" dirty="0"/>
          </a:p>
        </p:txBody>
      </p:sp>
      <p:sp>
        <p:nvSpPr>
          <p:cNvPr id="45" name="Text 38"/>
          <p:cNvSpPr txBox="1"/>
          <p:nvPr/>
        </p:nvSpPr>
        <p:spPr>
          <a:xfrm>
            <a:off x="4338218" y="5257800"/>
            <a:ext cx="3515258" cy="868680"/>
          </a:xfrm>
          <a:prstGeom prst="rect">
            <a:avLst/>
          </a:prstGeom>
          <a:noFill/>
          <a:ln/>
        </p:spPr>
        <p:txBody>
          <a:bodyPr wrap="square" lIns="0" tIns="0" rIns="0" bIns="0" rtlCol="0" anchor="t"/>
          <a:lstStyle/>
          <a:p>
            <a:pPr indent="0" marL="0">
              <a:buNone/>
            </a:pPr>
            <a:r>
              <a:rPr lang="en-US" sz="1250" b="1" dirty="0">
                <a:solidFill>
                  <a:srgbClr val="1C2330"/>
                </a:solidFill>
                <a:latin typeface="Calibri" pitchFamily="34" charset="0"/>
                <a:ea typeface="Calibri" pitchFamily="34" charset="-122"/>
                <a:cs typeface="Calibri" pitchFamily="34" charset="-120"/>
              </a:rPr>
              <a:t>Rejections come back as a file. </a:t>
            </a:r>
            <a:pPr indent="0" marL="0">
              <a:buNone/>
            </a:pPr>
            <a:r>
              <a:rPr lang="en-US" sz="1250" dirty="0">
                <a:solidFill>
                  <a:srgbClr val="596273"/>
                </a:solidFill>
                <a:latin typeface="Calibri" pitchFamily="34" charset="0"/>
                <a:ea typeface="Calibri" pitchFamily="34" charset="-122"/>
                <a:cs typeface="Calibri" pitchFamily="34" charset="-120"/>
              </a:rPr>
              <a:t>Sources reconcile rejected records from the returned file, not an API error.</a:t>
            </a:r>
            <a:endParaRPr lang="en-US" sz="1250" dirty="0"/>
          </a:p>
        </p:txBody>
      </p:sp>
      <p:sp>
        <p:nvSpPr>
          <p:cNvPr id="46" name="Text 39"/>
          <p:cNvSpPr txBox="1"/>
          <p:nvPr/>
        </p:nvSpPr>
        <p:spPr>
          <a:xfrm>
            <a:off x="8127797" y="5257800"/>
            <a:ext cx="3515258" cy="868680"/>
          </a:xfrm>
          <a:prstGeom prst="rect">
            <a:avLst/>
          </a:prstGeom>
          <a:noFill/>
          <a:ln/>
        </p:spPr>
        <p:txBody>
          <a:bodyPr wrap="square" lIns="0" tIns="0" rIns="0" bIns="0" rtlCol="0" anchor="t"/>
          <a:lstStyle/>
          <a:p>
            <a:pPr indent="0" marL="0">
              <a:buNone/>
            </a:pPr>
            <a:r>
              <a:rPr lang="en-US" sz="1250" b="1" dirty="0">
                <a:solidFill>
                  <a:srgbClr val="1C2330"/>
                </a:solidFill>
                <a:latin typeface="Calibri" pitchFamily="34" charset="0"/>
                <a:ea typeface="Calibri" pitchFamily="34" charset="-122"/>
                <a:cs typeface="Calibri" pitchFamily="34" charset="-120"/>
              </a:rPr>
              <a:t>Channels come from config. </a:t>
            </a:r>
            <a:pPr indent="0" marL="0">
              <a:buNone/>
            </a:pPr>
            <a:r>
              <a:rPr lang="en-US" sz="1250" dirty="0">
                <a:solidFill>
                  <a:srgbClr val="596273"/>
                </a:solidFill>
                <a:latin typeface="Calibri" pitchFamily="34" charset="0"/>
                <a:ea typeface="Calibri" pitchFamily="34" charset="-122"/>
                <a:cs typeface="Calibri" pitchFamily="34" charset="-120"/>
              </a:rPr>
              <a:t>Delivery channels are set per template configuration, not per request.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FLOW 3 OF 3</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On-demand reusable UI: staff-composed letters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19</a:t>
            </a:r>
            <a:endParaRPr lang="en-US" sz="900" dirty="0"/>
          </a:p>
        </p:txBody>
      </p:sp>
      <p:sp>
        <p:nvSpPr>
          <p:cNvPr id="9" name="Shape 7"/>
          <p:cNvSpPr/>
          <p:nvPr/>
        </p:nvSpPr>
        <p:spPr>
          <a:xfrm>
            <a:off x="548640" y="1508760"/>
            <a:ext cx="1863090" cy="2148840"/>
          </a:xfrm>
          <a:prstGeom prst="roundRect">
            <a:avLst>
              <a:gd name="adj" fmla="val 2945"/>
            </a:avLst>
          </a:prstGeom>
          <a:solidFill>
            <a:srgbClr val="F1F3F6"/>
          </a:solidFill>
          <a:ln/>
        </p:spPr>
      </p:sp>
      <p:sp>
        <p:nvSpPr>
          <p:cNvPr id="10" name="Shape 8"/>
          <p:cNvSpPr/>
          <p:nvPr/>
        </p:nvSpPr>
        <p:spPr>
          <a:xfrm>
            <a:off x="749808" y="1709928"/>
            <a:ext cx="402336" cy="402336"/>
          </a:xfrm>
          <a:prstGeom prst="ellipse">
            <a:avLst/>
          </a:prstGeom>
          <a:solidFill>
            <a:srgbClr val="1F4FB8"/>
          </a:solidFill>
          <a:ln/>
        </p:spPr>
      </p:sp>
      <p:sp>
        <p:nvSpPr>
          <p:cNvPr id="11" name="Text 9"/>
          <p:cNvSpPr txBox="1"/>
          <p:nvPr/>
        </p:nvSpPr>
        <p:spPr>
          <a:xfrm>
            <a:off x="74980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749808" y="224028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Launch</a:t>
            </a:r>
            <a:endParaRPr lang="en-US" sz="1400" dirty="0"/>
          </a:p>
        </p:txBody>
      </p:sp>
      <p:sp>
        <p:nvSpPr>
          <p:cNvPr id="13" name="Text 11"/>
          <p:cNvSpPr txBox="1"/>
          <p:nvPr/>
        </p:nvSpPr>
        <p:spPr>
          <a:xfrm>
            <a:off x="749808" y="256032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Source app (EWoC, Claims Workflow, OPL/Quest) opens the reusable UI and passes template data via postMessage.</a:t>
            </a:r>
            <a:endParaRPr lang="en-US" sz="1150" dirty="0"/>
          </a:p>
        </p:txBody>
      </p:sp>
      <p:sp>
        <p:nvSpPr>
          <p:cNvPr id="14" name="Shape 12"/>
          <p:cNvSpPr/>
          <p:nvPr/>
        </p:nvSpPr>
        <p:spPr>
          <a:xfrm>
            <a:off x="2594610" y="1508760"/>
            <a:ext cx="1863090" cy="2148840"/>
          </a:xfrm>
          <a:prstGeom prst="roundRect">
            <a:avLst>
              <a:gd name="adj" fmla="val 2945"/>
            </a:avLst>
          </a:prstGeom>
          <a:solidFill>
            <a:srgbClr val="F1F3F6"/>
          </a:solidFill>
          <a:ln/>
        </p:spPr>
      </p:sp>
      <p:sp>
        <p:nvSpPr>
          <p:cNvPr id="15" name="Shape 13"/>
          <p:cNvSpPr/>
          <p:nvPr/>
        </p:nvSpPr>
        <p:spPr>
          <a:xfrm>
            <a:off x="2795778" y="1709928"/>
            <a:ext cx="402336" cy="402336"/>
          </a:xfrm>
          <a:prstGeom prst="ellipse">
            <a:avLst/>
          </a:prstGeom>
          <a:solidFill>
            <a:srgbClr val="1F4FB8"/>
          </a:solidFill>
          <a:ln/>
        </p:spPr>
      </p:sp>
      <p:sp>
        <p:nvSpPr>
          <p:cNvPr id="16" name="Text 14"/>
          <p:cNvSpPr txBox="1"/>
          <p:nvPr/>
        </p:nvSpPr>
        <p:spPr>
          <a:xfrm>
            <a:off x="279577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2795778" y="224028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Pick a template</a:t>
            </a:r>
            <a:endParaRPr lang="en-US" sz="1400" dirty="0"/>
          </a:p>
        </p:txBody>
      </p:sp>
      <p:sp>
        <p:nvSpPr>
          <p:cNvPr id="18" name="Text 16"/>
          <p:cNvSpPr txBox="1"/>
          <p:nvPr/>
        </p:nvSpPr>
        <p:spPr>
          <a:xfrm>
            <a:off x="2795778" y="256032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Template Lookup UI calls the Template Lookup API, which returns only templates the user is entitled to.</a:t>
            </a:r>
            <a:endParaRPr lang="en-US" sz="1150" dirty="0"/>
          </a:p>
        </p:txBody>
      </p:sp>
      <p:sp>
        <p:nvSpPr>
          <p:cNvPr id="19" name="Shape 17"/>
          <p:cNvSpPr/>
          <p:nvPr/>
        </p:nvSpPr>
        <p:spPr>
          <a:xfrm>
            <a:off x="4640580" y="1508760"/>
            <a:ext cx="1863090" cy="2148840"/>
          </a:xfrm>
          <a:prstGeom prst="roundRect">
            <a:avLst>
              <a:gd name="adj" fmla="val 2945"/>
            </a:avLst>
          </a:prstGeom>
          <a:solidFill>
            <a:srgbClr val="F1F3F6"/>
          </a:solidFill>
          <a:ln/>
        </p:spPr>
      </p:sp>
      <p:sp>
        <p:nvSpPr>
          <p:cNvPr id="20" name="Shape 18"/>
          <p:cNvSpPr/>
          <p:nvPr/>
        </p:nvSpPr>
        <p:spPr>
          <a:xfrm>
            <a:off x="4841748" y="1709928"/>
            <a:ext cx="402336" cy="402336"/>
          </a:xfrm>
          <a:prstGeom prst="ellipse">
            <a:avLst/>
          </a:prstGeom>
          <a:solidFill>
            <a:srgbClr val="1F4FB8"/>
          </a:solidFill>
          <a:ln/>
        </p:spPr>
      </p:sp>
      <p:sp>
        <p:nvSpPr>
          <p:cNvPr id="21" name="Text 19"/>
          <p:cNvSpPr txBox="1"/>
          <p:nvPr/>
        </p:nvSpPr>
        <p:spPr>
          <a:xfrm>
            <a:off x="484174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4841748" y="224028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Submit data</a:t>
            </a:r>
            <a:endParaRPr lang="en-US" sz="1400" dirty="0"/>
          </a:p>
        </p:txBody>
      </p:sp>
      <p:sp>
        <p:nvSpPr>
          <p:cNvPr id="23" name="Text 21"/>
          <p:cNvSpPr txBox="1"/>
          <p:nvPr/>
        </p:nvSpPr>
        <p:spPr>
          <a:xfrm>
            <a:off x="4841748" y="256032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UI sends template data and template ID to the CCM API, which saves request details in Recon and creates an Inspire ticket.</a:t>
            </a:r>
            <a:endParaRPr lang="en-US" sz="1150" dirty="0"/>
          </a:p>
        </p:txBody>
      </p:sp>
      <p:sp>
        <p:nvSpPr>
          <p:cNvPr id="24" name="Shape 22"/>
          <p:cNvSpPr/>
          <p:nvPr/>
        </p:nvSpPr>
        <p:spPr>
          <a:xfrm>
            <a:off x="6686550" y="1508760"/>
            <a:ext cx="1863090" cy="2148840"/>
          </a:xfrm>
          <a:prstGeom prst="roundRect">
            <a:avLst>
              <a:gd name="adj" fmla="val 2945"/>
            </a:avLst>
          </a:prstGeom>
          <a:solidFill>
            <a:srgbClr val="F1F3F6"/>
          </a:solidFill>
          <a:ln/>
        </p:spPr>
      </p:sp>
      <p:sp>
        <p:nvSpPr>
          <p:cNvPr id="25" name="Shape 23"/>
          <p:cNvSpPr/>
          <p:nvPr/>
        </p:nvSpPr>
        <p:spPr>
          <a:xfrm>
            <a:off x="6887718" y="1709928"/>
            <a:ext cx="402336" cy="402336"/>
          </a:xfrm>
          <a:prstGeom prst="ellipse">
            <a:avLst/>
          </a:prstGeom>
          <a:solidFill>
            <a:srgbClr val="1F4FB8"/>
          </a:solidFill>
          <a:ln/>
        </p:spPr>
      </p:sp>
      <p:sp>
        <p:nvSpPr>
          <p:cNvPr id="26" name="Text 24"/>
          <p:cNvSpPr txBox="1"/>
          <p:nvPr/>
        </p:nvSpPr>
        <p:spPr>
          <a:xfrm>
            <a:off x="688771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6887718" y="224028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Get a ticket URL</a:t>
            </a:r>
            <a:endParaRPr lang="en-US" sz="1400" dirty="0"/>
          </a:p>
        </p:txBody>
      </p:sp>
      <p:sp>
        <p:nvSpPr>
          <p:cNvPr id="28" name="Text 26"/>
          <p:cNvSpPr txBox="1"/>
          <p:nvPr/>
        </p:nvSpPr>
        <p:spPr>
          <a:xfrm>
            <a:off x="6887718" y="256032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CCM API returns the Inspire Interactive URL for that ticket.</a:t>
            </a:r>
            <a:endParaRPr lang="en-US" sz="1150" dirty="0"/>
          </a:p>
        </p:txBody>
      </p:sp>
      <p:sp>
        <p:nvSpPr>
          <p:cNvPr id="29" name="Shape 27"/>
          <p:cNvSpPr/>
          <p:nvPr/>
        </p:nvSpPr>
        <p:spPr>
          <a:xfrm>
            <a:off x="548640" y="3931920"/>
            <a:ext cx="1863090" cy="2148840"/>
          </a:xfrm>
          <a:prstGeom prst="roundRect">
            <a:avLst>
              <a:gd name="adj" fmla="val 2945"/>
            </a:avLst>
          </a:prstGeom>
          <a:solidFill>
            <a:srgbClr val="F1F3F6"/>
          </a:solidFill>
          <a:ln/>
        </p:spPr>
      </p:sp>
      <p:sp>
        <p:nvSpPr>
          <p:cNvPr id="30" name="Shape 28"/>
          <p:cNvSpPr/>
          <p:nvPr/>
        </p:nvSpPr>
        <p:spPr>
          <a:xfrm>
            <a:off x="749808" y="4133088"/>
            <a:ext cx="402336" cy="402336"/>
          </a:xfrm>
          <a:prstGeom prst="ellipse">
            <a:avLst/>
          </a:prstGeom>
          <a:solidFill>
            <a:srgbClr val="1F4FB8"/>
          </a:solidFill>
          <a:ln/>
        </p:spPr>
      </p:sp>
      <p:sp>
        <p:nvSpPr>
          <p:cNvPr id="31" name="Text 29"/>
          <p:cNvSpPr txBox="1"/>
          <p:nvPr/>
        </p:nvSpPr>
        <p:spPr>
          <a:xfrm>
            <a:off x="74980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749808" y="466344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Build the letter</a:t>
            </a:r>
            <a:endParaRPr lang="en-US" sz="1400" dirty="0"/>
          </a:p>
        </p:txBody>
      </p:sp>
      <p:sp>
        <p:nvSpPr>
          <p:cNvPr id="33" name="Text 31"/>
          <p:cNvSpPr txBox="1"/>
          <p:nvPr/>
        </p:nvSpPr>
        <p:spPr>
          <a:xfrm>
            <a:off x="749808" y="498348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User is redirected to Inspire Interactive and completes the letter for the selected template.</a:t>
            </a:r>
            <a:endParaRPr lang="en-US" sz="1150" dirty="0"/>
          </a:p>
        </p:txBody>
      </p:sp>
      <p:sp>
        <p:nvSpPr>
          <p:cNvPr id="34" name="Shape 32"/>
          <p:cNvSpPr/>
          <p:nvPr/>
        </p:nvSpPr>
        <p:spPr>
          <a:xfrm>
            <a:off x="2594610" y="3931920"/>
            <a:ext cx="1863090" cy="2148840"/>
          </a:xfrm>
          <a:prstGeom prst="roundRect">
            <a:avLst>
              <a:gd name="adj" fmla="val 2945"/>
            </a:avLst>
          </a:prstGeom>
          <a:solidFill>
            <a:srgbClr val="F1F3F6"/>
          </a:solidFill>
          <a:ln/>
        </p:spPr>
      </p:sp>
      <p:sp>
        <p:nvSpPr>
          <p:cNvPr id="35" name="Shape 33"/>
          <p:cNvSpPr/>
          <p:nvPr/>
        </p:nvSpPr>
        <p:spPr>
          <a:xfrm>
            <a:off x="2795778" y="4133088"/>
            <a:ext cx="402336" cy="402336"/>
          </a:xfrm>
          <a:prstGeom prst="ellipse">
            <a:avLst/>
          </a:prstGeom>
          <a:solidFill>
            <a:srgbClr val="1F4FB8"/>
          </a:solidFill>
          <a:ln/>
        </p:spPr>
      </p:sp>
      <p:sp>
        <p:nvSpPr>
          <p:cNvPr id="36" name="Text 34"/>
          <p:cNvSpPr txBox="1"/>
          <p:nvPr/>
        </p:nvSpPr>
        <p:spPr>
          <a:xfrm>
            <a:off x="279577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2795778" y="466344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Send</a:t>
            </a:r>
            <a:endParaRPr lang="en-US" sz="1400" dirty="0"/>
          </a:p>
        </p:txBody>
      </p:sp>
      <p:sp>
        <p:nvSpPr>
          <p:cNvPr id="38" name="Text 36"/>
          <p:cNvSpPr txBox="1"/>
          <p:nvPr/>
        </p:nvSpPr>
        <p:spPr>
          <a:xfrm>
            <a:off x="2795778" y="498348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User submits; the letter is released for delivery and the event is published to Kafka.</a:t>
            </a:r>
            <a:endParaRPr lang="en-US" sz="1150" dirty="0"/>
          </a:p>
        </p:txBody>
      </p:sp>
      <p:sp>
        <p:nvSpPr>
          <p:cNvPr id="39" name="Shape 37"/>
          <p:cNvSpPr/>
          <p:nvPr/>
        </p:nvSpPr>
        <p:spPr>
          <a:xfrm>
            <a:off x="4640580" y="3931920"/>
            <a:ext cx="1863090" cy="2148840"/>
          </a:xfrm>
          <a:prstGeom prst="roundRect">
            <a:avLst>
              <a:gd name="adj" fmla="val 2945"/>
            </a:avLst>
          </a:prstGeom>
          <a:solidFill>
            <a:srgbClr val="F1F3F6"/>
          </a:solidFill>
          <a:ln/>
        </p:spPr>
      </p:sp>
      <p:sp>
        <p:nvSpPr>
          <p:cNvPr id="40" name="Shape 38"/>
          <p:cNvSpPr/>
          <p:nvPr/>
        </p:nvSpPr>
        <p:spPr>
          <a:xfrm>
            <a:off x="4841748" y="4133088"/>
            <a:ext cx="402336" cy="402336"/>
          </a:xfrm>
          <a:prstGeom prst="ellipse">
            <a:avLst/>
          </a:prstGeom>
          <a:solidFill>
            <a:srgbClr val="1F4FB8"/>
          </a:solidFill>
          <a:ln/>
        </p:spPr>
      </p:sp>
      <p:sp>
        <p:nvSpPr>
          <p:cNvPr id="41" name="Text 39"/>
          <p:cNvSpPr txBox="1"/>
          <p:nvPr/>
        </p:nvSpPr>
        <p:spPr>
          <a:xfrm>
            <a:off x="484174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2" name="Text 40"/>
          <p:cNvSpPr txBox="1"/>
          <p:nvPr/>
        </p:nvSpPr>
        <p:spPr>
          <a:xfrm>
            <a:off x="4841748" y="4663440"/>
            <a:ext cx="1460754" cy="292608"/>
          </a:xfrm>
          <a:prstGeom prst="rect">
            <a:avLst/>
          </a:prstGeom>
          <a:noFill/>
          <a:ln/>
        </p:spPr>
        <p:txBody>
          <a:bodyPr wrap="square" lIns="0" tIns="0" rIns="0" bIns="0" rtlCol="0" anchor="t"/>
          <a:lstStyle/>
          <a:p>
            <a:pPr indent="0" marL="0">
              <a:buNone/>
            </a:pPr>
            <a:r>
              <a:rPr lang="en-US" sz="1400" b="1" dirty="0">
                <a:solidFill>
                  <a:srgbClr val="1C2330"/>
                </a:solidFill>
                <a:latin typeface="Calibri" pitchFamily="34" charset="0"/>
                <a:ea typeface="Calibri" pitchFamily="34" charset="-122"/>
                <a:cs typeface="Calibri" pitchFamily="34" charset="-120"/>
              </a:rPr>
              <a:t>Close the loop</a:t>
            </a:r>
            <a:endParaRPr lang="en-US" sz="1400" dirty="0"/>
          </a:p>
        </p:txBody>
      </p:sp>
      <p:sp>
        <p:nvSpPr>
          <p:cNvPr id="43" name="Text 41"/>
          <p:cNvSpPr txBox="1"/>
          <p:nvPr/>
        </p:nvSpPr>
        <p:spPr>
          <a:xfrm>
            <a:off x="4841748" y="4983480"/>
            <a:ext cx="1460754" cy="1051560"/>
          </a:xfrm>
          <a:prstGeom prst="rect">
            <a:avLst/>
          </a:prstGeom>
          <a:noFill/>
          <a:ln/>
        </p:spPr>
        <p:txBody>
          <a:bodyPr wrap="square" lIns="0" tIns="0" rIns="0" bIns="0" rtlCol="0" anchor="t"/>
          <a:lstStyle/>
          <a:p>
            <a:pPr indent="0" marL="0">
              <a:buNone/>
            </a:pPr>
            <a:r>
              <a:rPr lang="en-US" sz="1150" dirty="0">
                <a:solidFill>
                  <a:srgbClr val="596273"/>
                </a:solidFill>
                <a:latin typeface="Calibri" pitchFamily="34" charset="0"/>
                <a:ea typeface="Calibri" pitchFamily="34" charset="-122"/>
                <a:cs typeface="Calibri" pitchFamily="34" charset="-120"/>
              </a:rPr>
              <a:t>A Kafka consumer publishes the result back so source systems update their records.</a:t>
            </a:r>
            <a:endParaRPr lang="en-US" sz="1150" dirty="0"/>
          </a:p>
        </p:txBody>
      </p:sp>
      <p:sp>
        <p:nvSpPr>
          <p:cNvPr id="44" name="Shape 42"/>
          <p:cNvSpPr/>
          <p:nvPr/>
        </p:nvSpPr>
        <p:spPr>
          <a:xfrm>
            <a:off x="8869680" y="1508760"/>
            <a:ext cx="2773375" cy="4572000"/>
          </a:xfrm>
          <a:prstGeom prst="roundRect">
            <a:avLst>
              <a:gd name="adj" fmla="val 1978"/>
            </a:avLst>
          </a:prstGeom>
          <a:solidFill>
            <a:srgbClr val="0F1B2D"/>
          </a:solidFill>
          <a:ln/>
        </p:spPr>
      </p:sp>
      <p:sp>
        <p:nvSpPr>
          <p:cNvPr id="45" name="Text 43"/>
          <p:cNvSpPr txBox="1"/>
          <p:nvPr/>
        </p:nvSpPr>
        <p:spPr>
          <a:xfrm>
            <a:off x="9144000" y="1737360"/>
            <a:ext cx="2224735"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Controls built in</a:t>
            </a:r>
            <a:endParaRPr lang="en-US" sz="1600" dirty="0"/>
          </a:p>
        </p:txBody>
      </p:sp>
      <p:sp>
        <p:nvSpPr>
          <p:cNvPr id="46" name="Text 44"/>
          <p:cNvSpPr txBox="1"/>
          <p:nvPr/>
        </p:nvSpPr>
        <p:spPr>
          <a:xfrm>
            <a:off x="9144000" y="2194560"/>
            <a:ext cx="2270455" cy="32004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PMI role ccm-ondemand-[env]-users gates access</a:t>
            </a:r>
            <a:endParaRPr lang="en-US" sz="1200" dirty="0"/>
          </a:p>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JWT inspection plus role validation on each call</a:t>
            </a:r>
            <a:endParaRPr lang="en-US" sz="1200" dirty="0"/>
          </a:p>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Template list filtered to user entitlements</a:t>
            </a:r>
            <a:endParaRPr lang="en-US" sz="1200" dirty="0"/>
          </a:p>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DNS whitelist on outbound links</a:t>
            </a:r>
            <a:endParaRPr lang="en-US" sz="1200" dirty="0"/>
          </a:p>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React/Node UI and Java APIs on OpenShift, logged to Splunk</a:t>
            </a:r>
            <a:endParaRPr lang="en-US" sz="1200" dirty="0"/>
          </a:p>
          <a:p>
            <a:pPr marL="177800" indent="-177800">
              <a:spcAft>
                <a:spcPts val="800"/>
              </a:spcAft>
              <a:buSzPct val="100000"/>
              <a:buChar char="•"/>
            </a:pPr>
            <a:r>
              <a:rPr lang="en-US" sz="1200" dirty="0">
                <a:solidFill>
                  <a:srgbClr val="D5DEEE"/>
                </a:solidFill>
                <a:latin typeface="Calibri" pitchFamily="34" charset="0"/>
                <a:ea typeface="Calibri" pitchFamily="34" charset="-122"/>
                <a:cs typeface="Calibri" pitchFamily="34" charset="-120"/>
              </a:rPr>
              <a:t>FEP I360 users open the app directly</a:t>
            </a:r>
            <a:endParaRPr lang="en-US" sz="1200" dirty="0"/>
          </a:p>
        </p:txBody>
      </p:sp>
      <p:sp>
        <p:nvSpPr>
          <p:cNvPr id="47" name="Text 45"/>
          <p:cNvSpPr txBox="1"/>
          <p:nvPr/>
        </p:nvSpPr>
        <p:spPr>
          <a:xfrm>
            <a:off x="9144000" y="5577840"/>
            <a:ext cx="2224735" cy="274320"/>
          </a:xfrm>
          <a:prstGeom prst="rect">
            <a:avLst/>
          </a:prstGeom>
          <a:noFill/>
          <a:ln/>
        </p:spPr>
        <p:txBody>
          <a:bodyPr wrap="square" lIns="0" tIns="0" rIns="0" bIns="0" rtlCol="0" anchor="t"/>
          <a:lstStyle/>
          <a:p>
            <a:pPr indent="0" marL="0">
              <a:buNone/>
            </a:pPr>
            <a:r>
              <a:rPr lang="en-US" sz="1100" b="1" dirty="0">
                <a:solidFill>
                  <a:srgbClr val="FFD84D"/>
                </a:solidFill>
                <a:latin typeface="Calibri" pitchFamily="34" charset="0"/>
                <a:ea typeface="Calibri" pitchFamily="34" charset="-122"/>
                <a:cs typeface="Calibri" pitchFamily="34" charset="-120"/>
              </a:rPr>
              <a:t>Status: Option 2, confirmed approach</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DELIVERY</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How each channel is handed off and confirmed</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371600"/>
                <a:gridCol w="1737360"/>
                <a:gridCol w="3429000"/>
                <a:gridCol w="3246120"/>
                <a:gridCol w="1307592"/>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Vendor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Hand-off from CCM</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back to CCM</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2025 YTD</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r>
              <a:tr h="68580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SFMC</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REST through DataPower. Email links to 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Status file via SFTP inbox, loaded by Recon Batch Load</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18.25M</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82296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SMS / MMS</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Twilio</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REST through DataPower. Twilio pulls MMS images from Bloomreach and transcodes them to S3.</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SMS/MMS Response Handler (REST) writes to Recon</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4.41M</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68580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O’Neil, Highmark</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One consolidated file per vendor per day via SFTP outbox.</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Status file via SFTP inbox, loaded by Recon Batch Load</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1.35M</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68580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Digital</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Kafka event → EWoC → CAM Inventories → 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Member opens via link or login; content ID tracked in Recon</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307K</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685800">
                <a:tc>
                  <a:txBody>
                    <a:bodyPr/>
                    <a:lstStyle/>
                    <a:p>
                      <a:pPr indent="0" marL="0">
                        <a:buNone/>
                      </a:pPr>
                      <a:r>
                        <a:rPr lang="en-US" sz="1200" b="1" dirty="0">
                          <a:solidFill>
                            <a:srgbClr val="1C2330"/>
                          </a:solidFill>
                          <a:latin typeface="Calibri" pitchFamily="34" charset="0"/>
                          <a:ea typeface="Calibri" pitchFamily="34" charset="-122"/>
                          <a:cs typeface="Calibri" pitchFamily="34" charset="-120"/>
                        </a:rPr>
                        <a:t>Archive</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ECMS / Content Central</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PDF generated and uploaded over REST.</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Content ID stored by Recon Load Services; failures retried</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200" dirty="0">
                          <a:solidFill>
                            <a:srgbClr val="1C2330"/>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101600" marR="101600" marT="76200" marB="762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bl>
          </a:graphicData>
        </a:graphic>
      </p:graphicFrame>
      <p:sp>
        <p:nvSpPr>
          <p:cNvPr id="10" name="Text 7"/>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100" i="1" dirty="0">
                <a:solidFill>
                  <a:srgbClr val="596273"/>
                </a:solidFill>
                <a:latin typeface="Calibri" pitchFamily="34" charset="0"/>
                <a:ea typeface="Calibri" pitchFamily="34" charset="-122"/>
                <a:cs typeface="Calibri" pitchFamily="34" charset="-120"/>
              </a:rPr>
              <a:t>Note: the IT Contact Platform vendor list shows Forge and O’Neil, and the Systems Integration view shows print as Forge. Confirm the current print vendor set.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SHARED SERVICE</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URL shortener</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21</a:t>
            </a:r>
            <a:endParaRPr lang="en-US" sz="900" dirty="0"/>
          </a:p>
        </p:txBody>
      </p:sp>
      <p:sp>
        <p:nvSpPr>
          <p:cNvPr id="9" name="Shape 7"/>
          <p:cNvSpPr/>
          <p:nvPr/>
        </p:nvSpPr>
        <p:spPr>
          <a:xfrm>
            <a:off x="548640" y="1600200"/>
            <a:ext cx="1737360" cy="1051560"/>
          </a:xfrm>
          <a:prstGeom prst="roundRect">
            <a:avLst>
              <a:gd name="adj" fmla="val 5217"/>
            </a:avLst>
          </a:prstGeom>
          <a:solidFill>
            <a:srgbClr val="F1F3F6"/>
          </a:solidFill>
          <a:ln/>
        </p:spPr>
      </p:sp>
      <p:sp>
        <p:nvSpPr>
          <p:cNvPr id="10" name="Text 8"/>
          <p:cNvSpPr txBox="1"/>
          <p:nvPr/>
        </p:nvSpPr>
        <p:spPr>
          <a:xfrm>
            <a:off x="658368" y="1600200"/>
            <a:ext cx="1517904" cy="1051560"/>
          </a:xfrm>
          <a:prstGeom prst="rect">
            <a:avLst/>
          </a:prstGeom>
          <a:noFill/>
          <a:ln/>
        </p:spPr>
        <p:txBody>
          <a:bodyPr wrap="square" lIns="0" tIns="0" rIns="0" bIns="0" rtlCol="0" anchor="ctr"/>
          <a:lstStyle/>
          <a:p>
            <a:pPr algn="ctr" indent="0" marL="0">
              <a:buNone/>
            </a:pPr>
            <a:r>
              <a:rPr lang="en-US" sz="1300" b="1" dirty="0">
                <a:solidFill>
                  <a:srgbClr val="1C2330"/>
                </a:solidFill>
                <a:latin typeface="Calibri" pitchFamily="34" charset="0"/>
                <a:ea typeface="Calibri" pitchFamily="34" charset="-122"/>
                <a:cs typeface="Calibri" pitchFamily="34" charset="-120"/>
              </a:rPr>
              <a:t>Internal users</a:t>
            </a:r>
            <a:endParaRPr lang="en-US" sz="1300" dirty="0"/>
          </a:p>
          <a:p>
            <a:pPr algn="ctr" indent="0" marL="0">
              <a:buNone/>
            </a:pPr>
            <a:r>
              <a:rPr lang="en-US" sz="1050" dirty="0">
                <a:solidFill>
                  <a:srgbClr val="596273"/>
                </a:solidFill>
                <a:latin typeface="Calibri" pitchFamily="34" charset="0"/>
                <a:ea typeface="Calibri" pitchFamily="34" charset="-122"/>
                <a:cs typeface="Calibri" pitchFamily="34" charset="-120"/>
              </a:rPr>
              <a:t>Create links for SMS templates</a:t>
            </a:r>
            <a:endParaRPr lang="en-US" sz="1300" dirty="0"/>
          </a:p>
        </p:txBody>
      </p:sp>
      <p:sp>
        <p:nvSpPr>
          <p:cNvPr id="11" name="Shape 9"/>
          <p:cNvSpPr/>
          <p:nvPr/>
        </p:nvSpPr>
        <p:spPr>
          <a:xfrm>
            <a:off x="2286000" y="2125980"/>
            <a:ext cx="373304" cy="0"/>
          </a:xfrm>
          <a:prstGeom prst="line">
            <a:avLst/>
          </a:prstGeom>
          <a:noFill/>
          <a:ln w="19050">
            <a:solidFill>
              <a:srgbClr val="596273"/>
            </a:solidFill>
            <a:prstDash val="solid"/>
            <a:tailEnd type="triangle"/>
          </a:ln>
        </p:spPr>
      </p:sp>
      <p:sp>
        <p:nvSpPr>
          <p:cNvPr id="12" name="Shape 10"/>
          <p:cNvSpPr/>
          <p:nvPr/>
        </p:nvSpPr>
        <p:spPr>
          <a:xfrm>
            <a:off x="2659304" y="1600200"/>
            <a:ext cx="2011680" cy="1051560"/>
          </a:xfrm>
          <a:prstGeom prst="roundRect">
            <a:avLst>
              <a:gd name="adj" fmla="val 5217"/>
            </a:avLst>
          </a:prstGeom>
          <a:solidFill>
            <a:srgbClr val="F1F3F6"/>
          </a:solidFill>
          <a:ln/>
        </p:spPr>
      </p:sp>
      <p:sp>
        <p:nvSpPr>
          <p:cNvPr id="13" name="Text 11"/>
          <p:cNvSpPr txBox="1"/>
          <p:nvPr/>
        </p:nvSpPr>
        <p:spPr>
          <a:xfrm>
            <a:off x="2769032" y="1600200"/>
            <a:ext cx="1792224" cy="1051560"/>
          </a:xfrm>
          <a:prstGeom prst="rect">
            <a:avLst/>
          </a:prstGeom>
          <a:noFill/>
          <a:ln/>
        </p:spPr>
        <p:txBody>
          <a:bodyPr wrap="square" lIns="0" tIns="0" rIns="0" bIns="0" rtlCol="0" anchor="ctr"/>
          <a:lstStyle/>
          <a:p>
            <a:pPr algn="ctr" indent="0" marL="0">
              <a:buNone/>
            </a:pPr>
            <a:r>
              <a:rPr lang="en-US" sz="1300" b="1" dirty="0">
                <a:solidFill>
                  <a:srgbClr val="1C2330"/>
                </a:solidFill>
                <a:latin typeface="Calibri" pitchFamily="34" charset="0"/>
                <a:ea typeface="Calibri" pitchFamily="34" charset="-122"/>
                <a:cs typeface="Calibri" pitchFamily="34" charset="-120"/>
              </a:rPr>
              <a:t>Recon Dashboard</a:t>
            </a:r>
            <a:endParaRPr lang="en-US" sz="1300" dirty="0"/>
          </a:p>
          <a:p>
            <a:pPr algn="ctr" indent="0" marL="0">
              <a:buNone/>
            </a:pPr>
            <a:r>
              <a:rPr lang="en-US" sz="1050" dirty="0">
                <a:solidFill>
                  <a:srgbClr val="596273"/>
                </a:solidFill>
                <a:latin typeface="Calibri" pitchFamily="34" charset="0"/>
                <a:ea typeface="Calibri" pitchFamily="34" charset="-122"/>
                <a:cs typeface="Calibri" pitchFamily="34" charset="-120"/>
              </a:rPr>
              <a:t>PMI roles: Read-URL, Update-URL</a:t>
            </a:r>
            <a:endParaRPr lang="en-US" sz="1300" dirty="0"/>
          </a:p>
        </p:txBody>
      </p:sp>
      <p:sp>
        <p:nvSpPr>
          <p:cNvPr id="14" name="Shape 12"/>
          <p:cNvSpPr/>
          <p:nvPr/>
        </p:nvSpPr>
        <p:spPr>
          <a:xfrm>
            <a:off x="4670984" y="2125980"/>
            <a:ext cx="373304" cy="0"/>
          </a:xfrm>
          <a:prstGeom prst="line">
            <a:avLst/>
          </a:prstGeom>
          <a:noFill/>
          <a:ln w="19050">
            <a:solidFill>
              <a:srgbClr val="596273"/>
            </a:solidFill>
            <a:prstDash val="solid"/>
            <a:tailEnd type="triangle"/>
          </a:ln>
        </p:spPr>
      </p:sp>
      <p:sp>
        <p:nvSpPr>
          <p:cNvPr id="15" name="Shape 13"/>
          <p:cNvSpPr/>
          <p:nvPr/>
        </p:nvSpPr>
        <p:spPr>
          <a:xfrm>
            <a:off x="5044288" y="1600200"/>
            <a:ext cx="1463040" cy="1051560"/>
          </a:xfrm>
          <a:prstGeom prst="roundRect">
            <a:avLst>
              <a:gd name="adj" fmla="val 5217"/>
            </a:avLst>
          </a:prstGeom>
          <a:solidFill>
            <a:srgbClr val="D9DEE6"/>
          </a:solidFill>
          <a:ln/>
        </p:spPr>
      </p:sp>
      <p:sp>
        <p:nvSpPr>
          <p:cNvPr id="16" name="Text 14"/>
          <p:cNvSpPr txBox="1"/>
          <p:nvPr/>
        </p:nvSpPr>
        <p:spPr>
          <a:xfrm>
            <a:off x="5154016" y="1600200"/>
            <a:ext cx="1243584" cy="1051560"/>
          </a:xfrm>
          <a:prstGeom prst="rect">
            <a:avLst/>
          </a:prstGeom>
          <a:noFill/>
          <a:ln/>
        </p:spPr>
        <p:txBody>
          <a:bodyPr wrap="square" lIns="0" tIns="0" rIns="0" bIns="0" rtlCol="0" anchor="ctr"/>
          <a:lstStyle/>
          <a:p>
            <a:pPr algn="ctr" indent="0" marL="0">
              <a:buNone/>
            </a:pPr>
            <a:r>
              <a:rPr lang="en-US" sz="1300" b="1" dirty="0">
                <a:solidFill>
                  <a:srgbClr val="1C2330"/>
                </a:solidFill>
                <a:latin typeface="Calibri" pitchFamily="34" charset="0"/>
                <a:ea typeface="Calibri" pitchFamily="34" charset="-122"/>
                <a:cs typeface="Calibri" pitchFamily="34" charset="-120"/>
              </a:rPr>
              <a:t>DataPower</a:t>
            </a:r>
            <a:endParaRPr lang="en-US" sz="1300" dirty="0"/>
          </a:p>
          <a:p>
            <a:pPr algn="ctr" indent="0" marL="0">
              <a:buNone/>
            </a:pPr>
            <a:r>
              <a:rPr lang="en-US" sz="1050" dirty="0">
                <a:solidFill>
                  <a:srgbClr val="596273"/>
                </a:solidFill>
                <a:latin typeface="Calibri" pitchFamily="34" charset="0"/>
                <a:ea typeface="Calibri" pitchFamily="34" charset="-122"/>
                <a:cs typeface="Calibri" pitchFamily="34" charset="-120"/>
              </a:rPr>
              <a:t>API gateway</a:t>
            </a:r>
            <a:endParaRPr lang="en-US" sz="1300" dirty="0"/>
          </a:p>
        </p:txBody>
      </p:sp>
      <p:sp>
        <p:nvSpPr>
          <p:cNvPr id="17" name="Shape 15"/>
          <p:cNvSpPr/>
          <p:nvPr/>
        </p:nvSpPr>
        <p:spPr>
          <a:xfrm>
            <a:off x="6507328" y="2125980"/>
            <a:ext cx="373304" cy="0"/>
          </a:xfrm>
          <a:prstGeom prst="line">
            <a:avLst/>
          </a:prstGeom>
          <a:noFill/>
          <a:ln w="19050">
            <a:solidFill>
              <a:srgbClr val="596273"/>
            </a:solidFill>
            <a:prstDash val="solid"/>
            <a:tailEnd type="triangle"/>
          </a:ln>
        </p:spPr>
      </p:sp>
      <p:sp>
        <p:nvSpPr>
          <p:cNvPr id="18" name="Shape 16"/>
          <p:cNvSpPr/>
          <p:nvPr/>
        </p:nvSpPr>
        <p:spPr>
          <a:xfrm>
            <a:off x="6880631" y="1600200"/>
            <a:ext cx="2606040" cy="1051560"/>
          </a:xfrm>
          <a:prstGeom prst="roundRect">
            <a:avLst>
              <a:gd name="adj" fmla="val 5217"/>
            </a:avLst>
          </a:prstGeom>
          <a:solidFill>
            <a:srgbClr val="1F4FB8"/>
          </a:solidFill>
          <a:ln/>
        </p:spPr>
      </p:sp>
      <p:sp>
        <p:nvSpPr>
          <p:cNvPr id="19" name="Text 17"/>
          <p:cNvSpPr txBox="1"/>
          <p:nvPr/>
        </p:nvSpPr>
        <p:spPr>
          <a:xfrm>
            <a:off x="6990359" y="1600200"/>
            <a:ext cx="2386584"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URL shortener API</a:t>
            </a:r>
            <a:endParaRPr lang="en-US" sz="1300" dirty="0"/>
          </a:p>
          <a:p>
            <a:pPr algn="ctr" indent="0" marL="0">
              <a:buNone/>
            </a:pPr>
            <a:r>
              <a:rPr lang="en-US" sz="1050" dirty="0">
                <a:solidFill>
                  <a:srgbClr val="DCE6FA"/>
                </a:solidFill>
                <a:latin typeface="Calibri" pitchFamily="34" charset="0"/>
                <a:ea typeface="Calibri" pitchFamily="34" charset="-122"/>
                <a:cs typeface="Calibri" pitchFamily="34" charset="-120"/>
              </a:rPr>
              <a:t>/ccm/api/v1/urlshortener · OpenShift</a:t>
            </a:r>
            <a:endParaRPr lang="en-US" sz="1300" dirty="0"/>
          </a:p>
        </p:txBody>
      </p:sp>
      <p:sp>
        <p:nvSpPr>
          <p:cNvPr id="20" name="Shape 18"/>
          <p:cNvSpPr/>
          <p:nvPr/>
        </p:nvSpPr>
        <p:spPr>
          <a:xfrm>
            <a:off x="9486671" y="2125980"/>
            <a:ext cx="373304" cy="0"/>
          </a:xfrm>
          <a:prstGeom prst="line">
            <a:avLst/>
          </a:prstGeom>
          <a:noFill/>
          <a:ln w="19050">
            <a:solidFill>
              <a:srgbClr val="596273"/>
            </a:solidFill>
            <a:prstDash val="solid"/>
            <a:tailEnd type="triangle"/>
          </a:ln>
        </p:spPr>
      </p:sp>
      <p:sp>
        <p:nvSpPr>
          <p:cNvPr id="21" name="Shape 19"/>
          <p:cNvSpPr/>
          <p:nvPr/>
        </p:nvSpPr>
        <p:spPr>
          <a:xfrm>
            <a:off x="9859975" y="1600200"/>
            <a:ext cx="1783080" cy="1051560"/>
          </a:xfrm>
          <a:prstGeom prst="roundRect">
            <a:avLst>
              <a:gd name="adj" fmla="val 5217"/>
            </a:avLst>
          </a:prstGeom>
          <a:solidFill>
            <a:srgbClr val="F1F3F6"/>
          </a:solidFill>
          <a:ln/>
        </p:spPr>
      </p:sp>
      <p:sp>
        <p:nvSpPr>
          <p:cNvPr id="22" name="Text 20"/>
          <p:cNvSpPr txBox="1"/>
          <p:nvPr/>
        </p:nvSpPr>
        <p:spPr>
          <a:xfrm>
            <a:off x="9969703" y="1600200"/>
            <a:ext cx="1563624" cy="1051560"/>
          </a:xfrm>
          <a:prstGeom prst="rect">
            <a:avLst/>
          </a:prstGeom>
          <a:noFill/>
          <a:ln/>
        </p:spPr>
        <p:txBody>
          <a:bodyPr wrap="square" lIns="0" tIns="0" rIns="0" bIns="0" rtlCol="0" anchor="ctr"/>
          <a:lstStyle/>
          <a:p>
            <a:pPr algn="ctr" indent="0" marL="0">
              <a:buNone/>
            </a:pPr>
            <a:r>
              <a:rPr lang="en-US" sz="1300" b="1" dirty="0">
                <a:solidFill>
                  <a:srgbClr val="1C2330"/>
                </a:solidFill>
                <a:latin typeface="Calibri" pitchFamily="34" charset="0"/>
                <a:ea typeface="Calibri" pitchFamily="34" charset="-122"/>
                <a:cs typeface="Calibri" pitchFamily="34" charset="-120"/>
              </a:rPr>
              <a:t>Recon (SQL)</a:t>
            </a:r>
            <a:endParaRPr lang="en-US" sz="1300" dirty="0"/>
          </a:p>
          <a:p>
            <a:pPr algn="ctr" indent="0" marL="0">
              <a:buNone/>
            </a:pPr>
            <a:r>
              <a:rPr lang="en-US" sz="1050" dirty="0">
                <a:solidFill>
                  <a:srgbClr val="596273"/>
                </a:solidFill>
                <a:latin typeface="Calibri" pitchFamily="34" charset="0"/>
                <a:ea typeface="Calibri" pitchFamily="34" charset="-122"/>
                <a:cs typeface="Calibri" pitchFamily="34" charset="-120"/>
              </a:rPr>
              <a:t>Saves URL; writes audit tables</a:t>
            </a:r>
            <a:endParaRPr lang="en-US" sz="1300" dirty="0"/>
          </a:p>
        </p:txBody>
      </p:sp>
      <p:sp>
        <p:nvSpPr>
          <p:cNvPr id="23" name="Shape 21"/>
          <p:cNvSpPr/>
          <p:nvPr/>
        </p:nvSpPr>
        <p:spPr>
          <a:xfrm>
            <a:off x="4769968" y="3063240"/>
            <a:ext cx="2011680" cy="777240"/>
          </a:xfrm>
          <a:prstGeom prst="roundRect">
            <a:avLst>
              <a:gd name="adj" fmla="val 7059"/>
            </a:avLst>
          </a:prstGeom>
          <a:solidFill>
            <a:srgbClr val="FFFFFF"/>
          </a:solidFill>
          <a:ln w="12700">
            <a:solidFill>
              <a:srgbClr val="CCD3DD"/>
            </a:solidFill>
            <a:prstDash val="solid"/>
          </a:ln>
        </p:spPr>
      </p:sp>
      <p:sp>
        <p:nvSpPr>
          <p:cNvPr id="24" name="Text 22"/>
          <p:cNvSpPr txBox="1"/>
          <p:nvPr/>
        </p:nvSpPr>
        <p:spPr>
          <a:xfrm>
            <a:off x="4815688" y="3063240"/>
            <a:ext cx="1920240" cy="77724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Apps and services</a:t>
            </a:r>
            <a:endParaRPr lang="en-US" sz="1200" dirty="0"/>
          </a:p>
          <a:p>
            <a:pPr algn="ctr" indent="0" marL="0">
              <a:buNone/>
            </a:pPr>
            <a:r>
              <a:rPr lang="en-US" sz="1050" dirty="0">
                <a:solidFill>
                  <a:srgbClr val="596273"/>
                </a:solidFill>
                <a:latin typeface="Calibri" pitchFamily="34" charset="0"/>
                <a:ea typeface="Calibri" pitchFamily="34" charset="-122"/>
                <a:cs typeface="Calibri" pitchFamily="34" charset="-120"/>
              </a:rPr>
              <a:t>Smart IVR and others call the API</a:t>
            </a:r>
            <a:endParaRPr lang="en-US" sz="1200" dirty="0"/>
          </a:p>
        </p:txBody>
      </p:sp>
      <p:sp>
        <p:nvSpPr>
          <p:cNvPr id="25" name="Shape 23"/>
          <p:cNvSpPr/>
          <p:nvPr/>
        </p:nvSpPr>
        <p:spPr>
          <a:xfrm flipV="1">
            <a:off x="5775808" y="2651760"/>
            <a:ext cx="0" cy="411480"/>
          </a:xfrm>
          <a:prstGeom prst="line">
            <a:avLst/>
          </a:prstGeom>
          <a:noFill/>
          <a:ln w="19050">
            <a:solidFill>
              <a:srgbClr val="596273"/>
            </a:solidFill>
            <a:prstDash val="solid"/>
            <a:tailEnd type="triangle"/>
          </a:ln>
        </p:spPr>
      </p:sp>
      <p:sp>
        <p:nvSpPr>
          <p:cNvPr id="26" name="Shape 24"/>
          <p:cNvSpPr/>
          <p:nvPr/>
        </p:nvSpPr>
        <p:spPr>
          <a:xfrm>
            <a:off x="7200671" y="3063240"/>
            <a:ext cx="1965960" cy="777240"/>
          </a:xfrm>
          <a:prstGeom prst="roundRect">
            <a:avLst>
              <a:gd name="adj" fmla="val 7059"/>
            </a:avLst>
          </a:prstGeom>
          <a:solidFill>
            <a:srgbClr val="FFFFFF"/>
          </a:solidFill>
          <a:ln w="12700">
            <a:solidFill>
              <a:srgbClr val="CCD3DD"/>
            </a:solidFill>
            <a:prstDash val="solid"/>
          </a:ln>
        </p:spPr>
      </p:sp>
      <p:sp>
        <p:nvSpPr>
          <p:cNvPr id="27" name="Text 25"/>
          <p:cNvSpPr txBox="1"/>
          <p:nvPr/>
        </p:nvSpPr>
        <p:spPr>
          <a:xfrm>
            <a:off x="7200671" y="3063240"/>
            <a:ext cx="1965960" cy="77724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Splunk</a:t>
            </a:r>
            <a:endParaRPr lang="en-US" sz="1200" dirty="0"/>
          </a:p>
          <a:p>
            <a:pPr algn="ctr" indent="0" marL="0">
              <a:buNone/>
            </a:pPr>
            <a:r>
              <a:rPr lang="en-US" sz="1050" dirty="0">
                <a:solidFill>
                  <a:srgbClr val="596273"/>
                </a:solidFill>
                <a:latin typeface="Calibri" pitchFamily="34" charset="0"/>
                <a:ea typeface="Calibri" pitchFamily="34" charset="-122"/>
                <a:cs typeface="Calibri" pitchFamily="34" charset="-120"/>
              </a:rPr>
              <a:t>Info and error logs</a:t>
            </a:r>
            <a:endParaRPr lang="en-US" sz="1200" dirty="0"/>
          </a:p>
        </p:txBody>
      </p:sp>
      <p:sp>
        <p:nvSpPr>
          <p:cNvPr id="28" name="Shape 26"/>
          <p:cNvSpPr/>
          <p:nvPr/>
        </p:nvSpPr>
        <p:spPr>
          <a:xfrm>
            <a:off x="8179079" y="2651760"/>
            <a:ext cx="0" cy="411480"/>
          </a:xfrm>
          <a:prstGeom prst="line">
            <a:avLst/>
          </a:prstGeom>
          <a:noFill/>
          <a:ln w="19050">
            <a:solidFill>
              <a:srgbClr val="596273"/>
            </a:solidFill>
            <a:prstDash val="solid"/>
            <a:tailEnd type="triangle"/>
          </a:ln>
        </p:spPr>
      </p:sp>
      <p:sp>
        <p:nvSpPr>
          <p:cNvPr id="29" name="Shape 27"/>
          <p:cNvSpPr/>
          <p:nvPr/>
        </p:nvSpPr>
        <p:spPr>
          <a:xfrm>
            <a:off x="548640" y="4251960"/>
            <a:ext cx="2567864" cy="1828800"/>
          </a:xfrm>
          <a:prstGeom prst="roundRect">
            <a:avLst>
              <a:gd name="adj" fmla="val 3000"/>
            </a:avLst>
          </a:prstGeom>
          <a:solidFill>
            <a:srgbClr val="E7EEFB"/>
          </a:solidFill>
          <a:ln/>
        </p:spPr>
      </p:sp>
      <p:sp>
        <p:nvSpPr>
          <p:cNvPr id="30" name="Text 28"/>
          <p:cNvSpPr txBox="1"/>
          <p:nvPr/>
        </p:nvSpPr>
        <p:spPr>
          <a:xfrm>
            <a:off x="777240" y="4434840"/>
            <a:ext cx="2110664" cy="32004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7-character Base62 keys</a:t>
            </a:r>
            <a:endParaRPr lang="en-US" sz="1400" dirty="0"/>
          </a:p>
        </p:txBody>
      </p:sp>
      <p:sp>
        <p:nvSpPr>
          <p:cNvPr id="31" name="Text 29"/>
          <p:cNvSpPr txBox="1"/>
          <p:nvPr/>
        </p:nvSpPr>
        <p:spPr>
          <a:xfrm>
            <a:off x="777240" y="4800600"/>
            <a:ext cx="2110664" cy="118872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Characters 0–9, a–z, A–Z give about 3.5 trillion unique short codes.</a:t>
            </a:r>
            <a:endParaRPr lang="en-US" sz="1200" dirty="0"/>
          </a:p>
        </p:txBody>
      </p:sp>
      <p:sp>
        <p:nvSpPr>
          <p:cNvPr id="32" name="Shape 30"/>
          <p:cNvSpPr/>
          <p:nvPr/>
        </p:nvSpPr>
        <p:spPr>
          <a:xfrm>
            <a:off x="3390824" y="4251960"/>
            <a:ext cx="2567864" cy="1828800"/>
          </a:xfrm>
          <a:prstGeom prst="roundRect">
            <a:avLst>
              <a:gd name="adj" fmla="val 3000"/>
            </a:avLst>
          </a:prstGeom>
          <a:solidFill>
            <a:srgbClr val="E7EEFB"/>
          </a:solidFill>
          <a:ln/>
        </p:spPr>
      </p:sp>
      <p:sp>
        <p:nvSpPr>
          <p:cNvPr id="33" name="Text 31"/>
          <p:cNvSpPr txBox="1"/>
          <p:nvPr/>
        </p:nvSpPr>
        <p:spPr>
          <a:xfrm>
            <a:off x="3619424" y="4434840"/>
            <a:ext cx="2110664" cy="32004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Request</a:t>
            </a:r>
            <a:endParaRPr lang="en-US" sz="1400" dirty="0"/>
          </a:p>
        </p:txBody>
      </p:sp>
      <p:sp>
        <p:nvSpPr>
          <p:cNvPr id="34" name="Text 32"/>
          <p:cNvSpPr txBox="1"/>
          <p:nvPr/>
        </p:nvSpPr>
        <p:spPr>
          <a:xfrm>
            <a:off x="3619424" y="4800600"/>
            <a:ext cx="2110664" cy="1188720"/>
          </a:xfrm>
          <a:prstGeom prst="rect">
            <a:avLst/>
          </a:prstGeom>
          <a:noFill/>
          <a:ln/>
        </p:spPr>
        <p:txBody>
          <a:bodyPr wrap="square" lIns="0" tIns="0" rIns="0" bIns="0" rtlCol="0" anchor="t"/>
          <a:lstStyle/>
          <a:p>
            <a:pPr indent="0" marL="0">
              <a:buNone/>
            </a:pPr>
            <a:r>
              <a:rPr lang="en-US" sz="1200" dirty="0">
                <a:solidFill>
                  <a:srgbClr val="1C2330"/>
                </a:solidFill>
                <a:latin typeface="Courier New" pitchFamily="34" charset="0"/>
                <a:ea typeface="Courier New" pitchFamily="34" charset="-122"/>
                <a:cs typeface="Courier New" pitchFamily="34" charset="-120"/>
              </a:rPr>
              <a:t>long_url, expire_date, app_id, transaction_id</a:t>
            </a:r>
            <a:endParaRPr lang="en-US" sz="1200" dirty="0"/>
          </a:p>
        </p:txBody>
      </p:sp>
      <p:sp>
        <p:nvSpPr>
          <p:cNvPr id="35" name="Shape 33"/>
          <p:cNvSpPr/>
          <p:nvPr/>
        </p:nvSpPr>
        <p:spPr>
          <a:xfrm>
            <a:off x="6233008" y="4251960"/>
            <a:ext cx="2567864" cy="1828800"/>
          </a:xfrm>
          <a:prstGeom prst="roundRect">
            <a:avLst>
              <a:gd name="adj" fmla="val 3000"/>
            </a:avLst>
          </a:prstGeom>
          <a:solidFill>
            <a:srgbClr val="E7EEFB"/>
          </a:solidFill>
          <a:ln/>
        </p:spPr>
      </p:sp>
      <p:sp>
        <p:nvSpPr>
          <p:cNvPr id="36" name="Text 34"/>
          <p:cNvSpPr txBox="1"/>
          <p:nvPr/>
        </p:nvSpPr>
        <p:spPr>
          <a:xfrm>
            <a:off x="6461608" y="4434840"/>
            <a:ext cx="2110664" cy="32004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Response</a:t>
            </a:r>
            <a:endParaRPr lang="en-US" sz="1400" dirty="0"/>
          </a:p>
        </p:txBody>
      </p:sp>
      <p:sp>
        <p:nvSpPr>
          <p:cNvPr id="37" name="Text 35"/>
          <p:cNvSpPr txBox="1"/>
          <p:nvPr/>
        </p:nvSpPr>
        <p:spPr>
          <a:xfrm>
            <a:off x="6461608" y="4800600"/>
            <a:ext cx="2110664" cy="1188720"/>
          </a:xfrm>
          <a:prstGeom prst="rect">
            <a:avLst/>
          </a:prstGeom>
          <a:noFill/>
          <a:ln/>
        </p:spPr>
        <p:txBody>
          <a:bodyPr wrap="square" lIns="0" tIns="0" rIns="0" bIns="0" rtlCol="0" anchor="t"/>
          <a:lstStyle/>
          <a:p>
            <a:pPr indent="0" marL="0">
              <a:buNone/>
            </a:pPr>
            <a:r>
              <a:rPr lang="en-US" sz="1200" dirty="0">
                <a:solidFill>
                  <a:srgbClr val="1C2330"/>
                </a:solidFill>
                <a:latin typeface="Courier New" pitchFamily="34" charset="0"/>
                <a:ea typeface="Courier New" pitchFamily="34" charset="-122"/>
                <a:cs typeface="Courier New" pitchFamily="34" charset="-120"/>
              </a:rPr>
              <a:t>long_url, short_url</a:t>
            </a:r>
            <a:endParaRPr lang="en-US" sz="1200" dirty="0"/>
          </a:p>
        </p:txBody>
      </p:sp>
      <p:sp>
        <p:nvSpPr>
          <p:cNvPr id="38" name="Shape 36"/>
          <p:cNvSpPr/>
          <p:nvPr/>
        </p:nvSpPr>
        <p:spPr>
          <a:xfrm>
            <a:off x="9075191" y="4251960"/>
            <a:ext cx="2567864" cy="1828800"/>
          </a:xfrm>
          <a:prstGeom prst="roundRect">
            <a:avLst>
              <a:gd name="adj" fmla="val 3000"/>
            </a:avLst>
          </a:prstGeom>
          <a:solidFill>
            <a:srgbClr val="E7EEFB"/>
          </a:solidFill>
          <a:ln/>
        </p:spPr>
      </p:sp>
      <p:sp>
        <p:nvSpPr>
          <p:cNvPr id="39" name="Text 37"/>
          <p:cNvSpPr txBox="1"/>
          <p:nvPr/>
        </p:nvSpPr>
        <p:spPr>
          <a:xfrm>
            <a:off x="9303791" y="4434840"/>
            <a:ext cx="2110664" cy="32004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Safety and audit</a:t>
            </a:r>
            <a:endParaRPr lang="en-US" sz="1400" dirty="0"/>
          </a:p>
        </p:txBody>
      </p:sp>
      <p:sp>
        <p:nvSpPr>
          <p:cNvPr id="40" name="Text 38"/>
          <p:cNvSpPr txBox="1"/>
          <p:nvPr/>
        </p:nvSpPr>
        <p:spPr>
          <a:xfrm>
            <a:off x="9303791" y="4800600"/>
            <a:ext cx="2110664" cy="118872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DNS whitelist on destination domains, HTTP encoding, and every request written to audit tables.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NEW CAPABILITY  ·  REQUIRED</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SMS line-type lookup for Sales Connect / EDE</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22</a:t>
            </a:r>
            <a:endParaRPr lang="en-US" sz="900" dirty="0"/>
          </a:p>
        </p:txBody>
      </p:sp>
      <p:sp>
        <p:nvSpPr>
          <p:cNvPr id="9" name="Text 7"/>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350" dirty="0">
                <a:solidFill>
                  <a:srgbClr val="596273"/>
                </a:solidFill>
                <a:latin typeface="Calibri" pitchFamily="34" charset="0"/>
                <a:ea typeface="Calibri" pitchFamily="34" charset="-122"/>
                <a:cs typeface="Calibri" pitchFamily="34" charset="-120"/>
              </a:rPr>
              <a:t>CCM externalizes /lookups and /commRequest to DivBiz so Sales Connect / EDE can confirm a number can receive texts before sending. VOIP numbers are ineligible.</a:t>
            </a:r>
            <a:endParaRPr lang="en-US" sz="1350" dirty="0"/>
          </a:p>
        </p:txBody>
      </p:sp>
      <p:sp>
        <p:nvSpPr>
          <p:cNvPr id="10" name="Text 8"/>
          <p:cNvSpPr txBox="1"/>
          <p:nvPr/>
        </p:nvSpPr>
        <p:spPr>
          <a:xfrm>
            <a:off x="548640" y="2011680"/>
            <a:ext cx="7315200" cy="274320"/>
          </a:xfrm>
          <a:prstGeom prst="rect">
            <a:avLst/>
          </a:prstGeom>
          <a:noFill/>
          <a:ln/>
        </p:spPr>
        <p:txBody>
          <a:bodyPr wrap="square" lIns="0" tIns="0" rIns="0" bIns="0" rtlCol="0" anchor="t"/>
          <a:lstStyle/>
          <a:p>
            <a:pPr indent="0" marL="0">
              <a:buNone/>
            </a:pPr>
            <a:r>
              <a:rPr lang="en-US" sz="1200" b="1" dirty="0">
                <a:solidFill>
                  <a:srgbClr val="1F4FB8"/>
                </a:solidFill>
                <a:latin typeface="Calibri" pitchFamily="34" charset="0"/>
                <a:ea typeface="Calibri" pitchFamily="34" charset="-122"/>
                <a:cs typeface="Calibri" pitchFamily="34" charset="-120"/>
              </a:rPr>
              <a:t>A  ·  Is this number textable?  (steps 1–5)</a:t>
            </a:r>
            <a:endParaRPr lang="en-US" sz="1200" dirty="0"/>
          </a:p>
        </p:txBody>
      </p:sp>
      <p:sp>
        <p:nvSpPr>
          <p:cNvPr id="11" name="Shape 9"/>
          <p:cNvSpPr/>
          <p:nvPr/>
        </p:nvSpPr>
        <p:spPr>
          <a:xfrm>
            <a:off x="548640" y="2377440"/>
            <a:ext cx="1920240" cy="1188720"/>
          </a:xfrm>
          <a:prstGeom prst="roundRect">
            <a:avLst>
              <a:gd name="adj" fmla="val 4615"/>
            </a:avLst>
          </a:prstGeom>
          <a:solidFill>
            <a:srgbClr val="F1F3F6"/>
          </a:solidFill>
          <a:ln/>
        </p:spPr>
      </p:sp>
      <p:sp>
        <p:nvSpPr>
          <p:cNvPr id="12" name="Text 10"/>
          <p:cNvSpPr txBox="1"/>
          <p:nvPr/>
        </p:nvSpPr>
        <p:spPr>
          <a:xfrm>
            <a:off x="640080" y="2377440"/>
            <a:ext cx="173736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Sales Connect / EDE</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DivBiz</a:t>
            </a:r>
            <a:endParaRPr lang="en-US" sz="1200" dirty="0"/>
          </a:p>
        </p:txBody>
      </p:sp>
      <p:sp>
        <p:nvSpPr>
          <p:cNvPr id="13" name="Shape 11"/>
          <p:cNvSpPr/>
          <p:nvPr/>
        </p:nvSpPr>
        <p:spPr>
          <a:xfrm>
            <a:off x="2468880" y="2971800"/>
            <a:ext cx="167564" cy="0"/>
          </a:xfrm>
          <a:prstGeom prst="line">
            <a:avLst/>
          </a:prstGeom>
          <a:noFill/>
          <a:ln w="19050">
            <a:solidFill>
              <a:srgbClr val="596273"/>
            </a:solidFill>
            <a:prstDash val="solid"/>
            <a:tailEnd type="triangle"/>
          </a:ln>
        </p:spPr>
      </p:sp>
      <p:sp>
        <p:nvSpPr>
          <p:cNvPr id="14" name="Shape 12"/>
          <p:cNvSpPr/>
          <p:nvPr/>
        </p:nvSpPr>
        <p:spPr>
          <a:xfrm>
            <a:off x="2636444" y="2377440"/>
            <a:ext cx="2377440" cy="1188720"/>
          </a:xfrm>
          <a:prstGeom prst="roundRect">
            <a:avLst>
              <a:gd name="adj" fmla="val 4615"/>
            </a:avLst>
          </a:prstGeom>
          <a:solidFill>
            <a:srgbClr val="F1F3F6"/>
          </a:solidFill>
          <a:ln/>
        </p:spPr>
      </p:sp>
      <p:sp>
        <p:nvSpPr>
          <p:cNvPr id="15" name="Text 13"/>
          <p:cNvSpPr txBox="1"/>
          <p:nvPr/>
        </p:nvSpPr>
        <p:spPr>
          <a:xfrm>
            <a:off x="2727884" y="2377440"/>
            <a:ext cx="219456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DataPower</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Basic auth · /ccm/api/v*/ccmpreprocessor-ext</a:t>
            </a:r>
            <a:endParaRPr lang="en-US" sz="1200" dirty="0"/>
          </a:p>
        </p:txBody>
      </p:sp>
      <p:sp>
        <p:nvSpPr>
          <p:cNvPr id="16" name="Shape 14"/>
          <p:cNvSpPr/>
          <p:nvPr/>
        </p:nvSpPr>
        <p:spPr>
          <a:xfrm>
            <a:off x="5013884" y="2971800"/>
            <a:ext cx="167564" cy="0"/>
          </a:xfrm>
          <a:prstGeom prst="line">
            <a:avLst/>
          </a:prstGeom>
          <a:noFill/>
          <a:ln w="19050">
            <a:solidFill>
              <a:srgbClr val="596273"/>
            </a:solidFill>
            <a:prstDash val="solid"/>
            <a:tailEnd type="triangle"/>
          </a:ln>
        </p:spPr>
      </p:sp>
      <p:sp>
        <p:nvSpPr>
          <p:cNvPr id="17" name="Shape 15"/>
          <p:cNvSpPr/>
          <p:nvPr/>
        </p:nvSpPr>
        <p:spPr>
          <a:xfrm>
            <a:off x="5181448" y="2377440"/>
            <a:ext cx="2560320" cy="1188720"/>
          </a:xfrm>
          <a:prstGeom prst="roundRect">
            <a:avLst>
              <a:gd name="adj" fmla="val 4615"/>
            </a:avLst>
          </a:prstGeom>
          <a:solidFill>
            <a:srgbClr val="1F4FB8"/>
          </a:solidFill>
          <a:ln/>
        </p:spPr>
      </p:sp>
      <p:sp>
        <p:nvSpPr>
          <p:cNvPr id="18" name="Text 16"/>
          <p:cNvSpPr txBox="1"/>
          <p:nvPr/>
        </p:nvSpPr>
        <p:spPr>
          <a:xfrm>
            <a:off x="5272888" y="2377440"/>
            <a:ext cx="237744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Phone Line Type</a:t>
            </a:r>
            <a:endParaRPr lang="en-US" sz="1200" dirty="0"/>
          </a:p>
          <a:p>
            <a:pPr algn="ctr" indent="0" marL="0">
              <a:buNone/>
            </a:pPr>
            <a:r>
              <a:rPr lang="en-US" sz="1000" dirty="0">
                <a:solidFill>
                  <a:srgbClr val="DCE6FA"/>
                </a:solidFill>
                <a:latin typeface="Calibri" pitchFamily="34" charset="0"/>
                <a:ea typeface="Calibri" pitchFamily="34" charset="-122"/>
                <a:cs typeface="Calibri" pitchFamily="34" charset="-120"/>
              </a:rPr>
              <a:t>New /lookupLineType in commRequest service; reads and writes CCM Recon</a:t>
            </a:r>
            <a:endParaRPr lang="en-US" sz="1200" dirty="0"/>
          </a:p>
        </p:txBody>
      </p:sp>
      <p:sp>
        <p:nvSpPr>
          <p:cNvPr id="19" name="Shape 17"/>
          <p:cNvSpPr/>
          <p:nvPr/>
        </p:nvSpPr>
        <p:spPr>
          <a:xfrm>
            <a:off x="7741768" y="2971800"/>
            <a:ext cx="167564" cy="0"/>
          </a:xfrm>
          <a:prstGeom prst="line">
            <a:avLst/>
          </a:prstGeom>
          <a:noFill/>
          <a:ln w="19050">
            <a:solidFill>
              <a:srgbClr val="596273"/>
            </a:solidFill>
            <a:prstDash val="solid"/>
            <a:tailEnd type="triangle"/>
          </a:ln>
        </p:spPr>
      </p:sp>
      <p:sp>
        <p:nvSpPr>
          <p:cNvPr id="20" name="Shape 18"/>
          <p:cNvSpPr/>
          <p:nvPr/>
        </p:nvSpPr>
        <p:spPr>
          <a:xfrm>
            <a:off x="7909331" y="2377440"/>
            <a:ext cx="1737360" cy="1188720"/>
          </a:xfrm>
          <a:prstGeom prst="roundRect">
            <a:avLst>
              <a:gd name="adj" fmla="val 4615"/>
            </a:avLst>
          </a:prstGeom>
          <a:solidFill>
            <a:srgbClr val="F1F3F6"/>
          </a:solidFill>
          <a:ln/>
        </p:spPr>
      </p:sp>
      <p:sp>
        <p:nvSpPr>
          <p:cNvPr id="21" name="Text 19"/>
          <p:cNvSpPr txBox="1"/>
          <p:nvPr/>
        </p:nvSpPr>
        <p:spPr>
          <a:xfrm>
            <a:off x="8000771" y="2377440"/>
            <a:ext cx="155448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phoneNumbers</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Internal endpoint via DataPower</a:t>
            </a:r>
            <a:endParaRPr lang="en-US" sz="1200" dirty="0"/>
          </a:p>
        </p:txBody>
      </p:sp>
      <p:sp>
        <p:nvSpPr>
          <p:cNvPr id="22" name="Shape 20"/>
          <p:cNvSpPr/>
          <p:nvPr/>
        </p:nvSpPr>
        <p:spPr>
          <a:xfrm>
            <a:off x="9646691" y="2971800"/>
            <a:ext cx="167564" cy="0"/>
          </a:xfrm>
          <a:prstGeom prst="line">
            <a:avLst/>
          </a:prstGeom>
          <a:noFill/>
          <a:ln w="19050">
            <a:solidFill>
              <a:srgbClr val="596273"/>
            </a:solidFill>
            <a:prstDash val="solid"/>
            <a:tailEnd type="triangle"/>
          </a:ln>
        </p:spPr>
      </p:sp>
      <p:sp>
        <p:nvSpPr>
          <p:cNvPr id="23" name="Shape 21"/>
          <p:cNvSpPr/>
          <p:nvPr/>
        </p:nvSpPr>
        <p:spPr>
          <a:xfrm>
            <a:off x="9814255" y="2377440"/>
            <a:ext cx="1828800" cy="1188720"/>
          </a:xfrm>
          <a:prstGeom prst="roundRect">
            <a:avLst>
              <a:gd name="adj" fmla="val 4615"/>
            </a:avLst>
          </a:prstGeom>
          <a:solidFill>
            <a:srgbClr val="F1F3F6"/>
          </a:solidFill>
          <a:ln/>
        </p:spPr>
      </p:sp>
      <p:sp>
        <p:nvSpPr>
          <p:cNvPr id="24" name="Text 22"/>
          <p:cNvSpPr txBox="1"/>
          <p:nvPr/>
        </p:nvSpPr>
        <p:spPr>
          <a:xfrm>
            <a:off x="9905695" y="2377440"/>
            <a:ext cx="164592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Twilio Lookup API</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lookups.twilio.com</a:t>
            </a:r>
            <a:endParaRPr lang="en-US" sz="1200" dirty="0"/>
          </a:p>
        </p:txBody>
      </p:sp>
      <p:sp>
        <p:nvSpPr>
          <p:cNvPr id="25" name="Text 23"/>
          <p:cNvSpPr txBox="1"/>
          <p:nvPr/>
        </p:nvSpPr>
        <p:spPr>
          <a:xfrm>
            <a:off x="548640" y="3931920"/>
            <a:ext cx="7315200" cy="274320"/>
          </a:xfrm>
          <a:prstGeom prst="rect">
            <a:avLst/>
          </a:prstGeom>
          <a:noFill/>
          <a:ln/>
        </p:spPr>
        <p:txBody>
          <a:bodyPr wrap="square" lIns="0" tIns="0" rIns="0" bIns="0" rtlCol="0" anchor="t"/>
          <a:lstStyle/>
          <a:p>
            <a:pPr indent="0" marL="0">
              <a:buNone/>
            </a:pPr>
            <a:r>
              <a:rPr lang="en-US" sz="1200" b="1" dirty="0">
                <a:solidFill>
                  <a:srgbClr val="1F4FB8"/>
                </a:solidFill>
                <a:latin typeface="Calibri" pitchFamily="34" charset="0"/>
                <a:ea typeface="Calibri" pitchFamily="34" charset="-122"/>
                <a:cs typeface="Calibri" pitchFamily="34" charset="-120"/>
              </a:rPr>
              <a:t>B  ·  Send the message  (steps 6–9)</a:t>
            </a:r>
            <a:endParaRPr lang="en-US" sz="1200" dirty="0"/>
          </a:p>
        </p:txBody>
      </p:sp>
      <p:sp>
        <p:nvSpPr>
          <p:cNvPr id="26" name="Shape 24"/>
          <p:cNvSpPr/>
          <p:nvPr/>
        </p:nvSpPr>
        <p:spPr>
          <a:xfrm>
            <a:off x="548640" y="4297680"/>
            <a:ext cx="1463040" cy="1188720"/>
          </a:xfrm>
          <a:prstGeom prst="roundRect">
            <a:avLst>
              <a:gd name="adj" fmla="val 4615"/>
            </a:avLst>
          </a:prstGeom>
          <a:solidFill>
            <a:srgbClr val="F1F3F6"/>
          </a:solidFill>
          <a:ln/>
        </p:spPr>
      </p:sp>
      <p:sp>
        <p:nvSpPr>
          <p:cNvPr id="27" name="Text 25"/>
          <p:cNvSpPr txBox="1"/>
          <p:nvPr/>
        </p:nvSpPr>
        <p:spPr>
          <a:xfrm>
            <a:off x="640080" y="4297680"/>
            <a:ext cx="128016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Sales Connect / EDE</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Comm Request</a:t>
            </a:r>
            <a:endParaRPr lang="en-US" sz="1200" dirty="0"/>
          </a:p>
        </p:txBody>
      </p:sp>
      <p:sp>
        <p:nvSpPr>
          <p:cNvPr id="28" name="Shape 26"/>
          <p:cNvSpPr/>
          <p:nvPr/>
        </p:nvSpPr>
        <p:spPr>
          <a:xfrm>
            <a:off x="2011680" y="4892040"/>
            <a:ext cx="203149" cy="0"/>
          </a:xfrm>
          <a:prstGeom prst="line">
            <a:avLst/>
          </a:prstGeom>
          <a:noFill/>
          <a:ln w="19050">
            <a:solidFill>
              <a:srgbClr val="596273"/>
            </a:solidFill>
            <a:prstDash val="solid"/>
            <a:tailEnd type="triangle"/>
          </a:ln>
        </p:spPr>
      </p:sp>
      <p:sp>
        <p:nvSpPr>
          <p:cNvPr id="29" name="Shape 27"/>
          <p:cNvSpPr/>
          <p:nvPr/>
        </p:nvSpPr>
        <p:spPr>
          <a:xfrm>
            <a:off x="2214829" y="4297680"/>
            <a:ext cx="1554480" cy="1188720"/>
          </a:xfrm>
          <a:prstGeom prst="roundRect">
            <a:avLst>
              <a:gd name="adj" fmla="val 4615"/>
            </a:avLst>
          </a:prstGeom>
          <a:solidFill>
            <a:srgbClr val="F1F3F6"/>
          </a:solidFill>
          <a:ln/>
        </p:spPr>
      </p:sp>
      <p:sp>
        <p:nvSpPr>
          <p:cNvPr id="30" name="Text 28"/>
          <p:cNvSpPr txBox="1"/>
          <p:nvPr/>
        </p:nvSpPr>
        <p:spPr>
          <a:xfrm>
            <a:off x="2306269" y="4297680"/>
            <a:ext cx="137160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DataPower</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CCM handshake returned (7c)</a:t>
            </a:r>
            <a:endParaRPr lang="en-US" sz="1200" dirty="0"/>
          </a:p>
        </p:txBody>
      </p:sp>
      <p:sp>
        <p:nvSpPr>
          <p:cNvPr id="31" name="Shape 29"/>
          <p:cNvSpPr/>
          <p:nvPr/>
        </p:nvSpPr>
        <p:spPr>
          <a:xfrm>
            <a:off x="3769309" y="4892040"/>
            <a:ext cx="203149" cy="0"/>
          </a:xfrm>
          <a:prstGeom prst="line">
            <a:avLst/>
          </a:prstGeom>
          <a:noFill/>
          <a:ln w="19050">
            <a:solidFill>
              <a:srgbClr val="596273"/>
            </a:solidFill>
            <a:prstDash val="solid"/>
            <a:tailEnd type="triangle"/>
          </a:ln>
        </p:spPr>
      </p:sp>
      <p:sp>
        <p:nvSpPr>
          <p:cNvPr id="32" name="Shape 30"/>
          <p:cNvSpPr/>
          <p:nvPr/>
        </p:nvSpPr>
        <p:spPr>
          <a:xfrm>
            <a:off x="3972458" y="4297680"/>
            <a:ext cx="1417320" cy="1188720"/>
          </a:xfrm>
          <a:prstGeom prst="roundRect">
            <a:avLst>
              <a:gd name="adj" fmla="val 4615"/>
            </a:avLst>
          </a:prstGeom>
          <a:solidFill>
            <a:srgbClr val="1F4FB8"/>
          </a:solidFill>
          <a:ln/>
        </p:spPr>
      </p:sp>
      <p:sp>
        <p:nvSpPr>
          <p:cNvPr id="33" name="Text 31"/>
          <p:cNvSpPr txBox="1"/>
          <p:nvPr/>
        </p:nvSpPr>
        <p:spPr>
          <a:xfrm>
            <a:off x="4063898" y="4297680"/>
            <a:ext cx="123444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 Request</a:t>
            </a:r>
            <a:endParaRPr lang="en-US" sz="1200" dirty="0"/>
          </a:p>
          <a:p>
            <a:pPr algn="ctr" indent="0" marL="0">
              <a:buNone/>
            </a:pPr>
            <a:r>
              <a:rPr lang="en-US" sz="1000" dirty="0">
                <a:solidFill>
                  <a:srgbClr val="DCE6FA"/>
                </a:solidFill>
                <a:latin typeface="Calibri" pitchFamily="34" charset="0"/>
                <a:ea typeface="Calibri" pitchFamily="34" charset="-122"/>
                <a:cs typeface="Calibri" pitchFamily="34" charset="-120"/>
              </a:rPr>
              <a:t>OpenShift backend</a:t>
            </a:r>
            <a:endParaRPr lang="en-US" sz="1200" dirty="0"/>
          </a:p>
        </p:txBody>
      </p:sp>
      <p:sp>
        <p:nvSpPr>
          <p:cNvPr id="34" name="Shape 32"/>
          <p:cNvSpPr/>
          <p:nvPr/>
        </p:nvSpPr>
        <p:spPr>
          <a:xfrm>
            <a:off x="5389778" y="4892040"/>
            <a:ext cx="203149" cy="0"/>
          </a:xfrm>
          <a:prstGeom prst="line">
            <a:avLst/>
          </a:prstGeom>
          <a:noFill/>
          <a:ln w="19050">
            <a:solidFill>
              <a:srgbClr val="596273"/>
            </a:solidFill>
            <a:prstDash val="solid"/>
            <a:tailEnd type="triangle"/>
          </a:ln>
        </p:spPr>
      </p:sp>
      <p:sp>
        <p:nvSpPr>
          <p:cNvPr id="35" name="Shape 33"/>
          <p:cNvSpPr/>
          <p:nvPr/>
        </p:nvSpPr>
        <p:spPr>
          <a:xfrm>
            <a:off x="5592928" y="4297680"/>
            <a:ext cx="1417320" cy="1188720"/>
          </a:xfrm>
          <a:prstGeom prst="roundRect">
            <a:avLst>
              <a:gd name="adj" fmla="val 4615"/>
            </a:avLst>
          </a:prstGeom>
          <a:solidFill>
            <a:srgbClr val="F1F3F6"/>
          </a:solidFill>
          <a:ln/>
        </p:spPr>
      </p:sp>
      <p:sp>
        <p:nvSpPr>
          <p:cNvPr id="36" name="Text 34"/>
          <p:cNvSpPr txBox="1"/>
          <p:nvPr/>
        </p:nvSpPr>
        <p:spPr>
          <a:xfrm>
            <a:off x="5684368" y="4297680"/>
            <a:ext cx="123444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Quadient Inspire</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Composes SMS</a:t>
            </a:r>
            <a:endParaRPr lang="en-US" sz="1200" dirty="0"/>
          </a:p>
        </p:txBody>
      </p:sp>
      <p:sp>
        <p:nvSpPr>
          <p:cNvPr id="37" name="Shape 35"/>
          <p:cNvSpPr/>
          <p:nvPr/>
        </p:nvSpPr>
        <p:spPr>
          <a:xfrm>
            <a:off x="7010248" y="4892040"/>
            <a:ext cx="203149" cy="0"/>
          </a:xfrm>
          <a:prstGeom prst="line">
            <a:avLst/>
          </a:prstGeom>
          <a:noFill/>
          <a:ln w="19050">
            <a:solidFill>
              <a:srgbClr val="596273"/>
            </a:solidFill>
            <a:prstDash val="solid"/>
            <a:tailEnd type="triangle"/>
          </a:ln>
        </p:spPr>
      </p:sp>
      <p:sp>
        <p:nvSpPr>
          <p:cNvPr id="38" name="Shape 36"/>
          <p:cNvSpPr/>
          <p:nvPr/>
        </p:nvSpPr>
        <p:spPr>
          <a:xfrm>
            <a:off x="7213397" y="4297680"/>
            <a:ext cx="1737360" cy="1188720"/>
          </a:xfrm>
          <a:prstGeom prst="roundRect">
            <a:avLst>
              <a:gd name="adj" fmla="val 4615"/>
            </a:avLst>
          </a:prstGeom>
          <a:solidFill>
            <a:srgbClr val="F1F3F6"/>
          </a:solidFill>
          <a:ln/>
        </p:spPr>
      </p:sp>
      <p:sp>
        <p:nvSpPr>
          <p:cNvPr id="39" name="Text 37"/>
          <p:cNvSpPr txBox="1"/>
          <p:nvPr/>
        </p:nvSpPr>
        <p:spPr>
          <a:xfrm>
            <a:off x="7304837" y="4297680"/>
            <a:ext cx="155448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Send Messages</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/ccm/api/v1/sms/sendMessages</a:t>
            </a:r>
            <a:endParaRPr lang="en-US" sz="1200" dirty="0"/>
          </a:p>
        </p:txBody>
      </p:sp>
      <p:sp>
        <p:nvSpPr>
          <p:cNvPr id="40" name="Shape 38"/>
          <p:cNvSpPr/>
          <p:nvPr/>
        </p:nvSpPr>
        <p:spPr>
          <a:xfrm>
            <a:off x="8950757" y="4892040"/>
            <a:ext cx="203149" cy="0"/>
          </a:xfrm>
          <a:prstGeom prst="line">
            <a:avLst/>
          </a:prstGeom>
          <a:noFill/>
          <a:ln w="19050">
            <a:solidFill>
              <a:srgbClr val="596273"/>
            </a:solidFill>
            <a:prstDash val="solid"/>
            <a:tailEnd type="triangle"/>
          </a:ln>
        </p:spPr>
      </p:sp>
      <p:sp>
        <p:nvSpPr>
          <p:cNvPr id="41" name="Shape 39"/>
          <p:cNvSpPr/>
          <p:nvPr/>
        </p:nvSpPr>
        <p:spPr>
          <a:xfrm>
            <a:off x="9153906" y="4297680"/>
            <a:ext cx="1143000" cy="1188720"/>
          </a:xfrm>
          <a:prstGeom prst="roundRect">
            <a:avLst>
              <a:gd name="adj" fmla="val 4800"/>
            </a:avLst>
          </a:prstGeom>
          <a:solidFill>
            <a:srgbClr val="F1F3F6"/>
          </a:solidFill>
          <a:ln/>
        </p:spPr>
      </p:sp>
      <p:sp>
        <p:nvSpPr>
          <p:cNvPr id="42" name="Text 40"/>
          <p:cNvSpPr txBox="1"/>
          <p:nvPr/>
        </p:nvSpPr>
        <p:spPr>
          <a:xfrm>
            <a:off x="9245346" y="4297680"/>
            <a:ext cx="96012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Twilio</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api.twilio.com</a:t>
            </a:r>
            <a:endParaRPr lang="en-US" sz="1200" dirty="0"/>
          </a:p>
        </p:txBody>
      </p:sp>
      <p:sp>
        <p:nvSpPr>
          <p:cNvPr id="43" name="Shape 41"/>
          <p:cNvSpPr/>
          <p:nvPr/>
        </p:nvSpPr>
        <p:spPr>
          <a:xfrm>
            <a:off x="10296906" y="4892040"/>
            <a:ext cx="203149" cy="0"/>
          </a:xfrm>
          <a:prstGeom prst="line">
            <a:avLst/>
          </a:prstGeom>
          <a:noFill/>
          <a:ln w="19050">
            <a:solidFill>
              <a:srgbClr val="596273"/>
            </a:solidFill>
            <a:prstDash val="solid"/>
            <a:tailEnd type="triangle"/>
          </a:ln>
        </p:spPr>
      </p:sp>
      <p:sp>
        <p:nvSpPr>
          <p:cNvPr id="44" name="Shape 42"/>
          <p:cNvSpPr/>
          <p:nvPr/>
        </p:nvSpPr>
        <p:spPr>
          <a:xfrm>
            <a:off x="10500055" y="4297680"/>
            <a:ext cx="1143000" cy="1188720"/>
          </a:xfrm>
          <a:prstGeom prst="roundRect">
            <a:avLst>
              <a:gd name="adj" fmla="val 4800"/>
            </a:avLst>
          </a:prstGeom>
          <a:solidFill>
            <a:srgbClr val="F1F3F6"/>
          </a:solidFill>
          <a:ln/>
        </p:spPr>
      </p:sp>
      <p:sp>
        <p:nvSpPr>
          <p:cNvPr id="45" name="Text 43"/>
          <p:cNvSpPr txBox="1"/>
          <p:nvPr/>
        </p:nvSpPr>
        <p:spPr>
          <a:xfrm>
            <a:off x="10591495" y="4297680"/>
            <a:ext cx="960120" cy="1188720"/>
          </a:xfrm>
          <a:prstGeom prst="rect">
            <a:avLst/>
          </a:prstGeom>
          <a:noFill/>
          <a:ln/>
        </p:spPr>
        <p:txBody>
          <a:bodyPr wrap="square" lIns="0" tIns="0" rIns="0" bIns="0" rtlCol="0" anchor="ctr"/>
          <a:lstStyle/>
          <a:p>
            <a:pPr algn="ctr" indent="0" marL="0">
              <a:buNone/>
            </a:pPr>
            <a:r>
              <a:rPr lang="en-US" sz="1200" b="1" dirty="0">
                <a:solidFill>
                  <a:srgbClr val="1C2330"/>
                </a:solidFill>
                <a:latin typeface="Calibri" pitchFamily="34" charset="0"/>
                <a:ea typeface="Calibri" pitchFamily="34" charset="-122"/>
                <a:cs typeface="Calibri" pitchFamily="34" charset="-120"/>
              </a:rPr>
              <a:t>Customer</a:t>
            </a:r>
            <a:endParaRPr lang="en-US" sz="1200" dirty="0"/>
          </a:p>
          <a:p>
            <a:pPr algn="ctr" indent="0" marL="0">
              <a:buNone/>
            </a:pPr>
            <a:r>
              <a:rPr lang="en-US" sz="1000" dirty="0">
                <a:solidFill>
                  <a:srgbClr val="596273"/>
                </a:solidFill>
                <a:latin typeface="Calibri" pitchFamily="34" charset="0"/>
                <a:ea typeface="Calibri" pitchFamily="34" charset="-122"/>
                <a:cs typeface="Calibri" pitchFamily="34" charset="-120"/>
              </a:rPr>
              <a:t>Receives SMS</a:t>
            </a:r>
            <a:endParaRPr lang="en-US" sz="1200" dirty="0"/>
          </a:p>
        </p:txBody>
      </p:sp>
      <p:sp>
        <p:nvSpPr>
          <p:cNvPr id="46" name="Text 44"/>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150" i="1" dirty="0">
                <a:solidFill>
                  <a:srgbClr val="596273"/>
                </a:solidFill>
                <a:latin typeface="Calibri" pitchFamily="34" charset="0"/>
                <a:ea typeface="Calibri" pitchFamily="34" charset="-122"/>
                <a:cs typeface="Calibri" pitchFamily="34" charset="-120"/>
              </a:rPr>
              <a:t>Internal apps (ECIR, CIAM, P360 and others) keep using the internal /commrequest and /phoneNumbers endpoints; only the external path is new.</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PLATFORM STACK</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Physical components and monitoring coverage</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00200"/>
                <a:gridCol w="3566160"/>
                <a:gridCol w="3931920"/>
                <a:gridCol w="1005840"/>
                <a:gridCol w="987552"/>
              </a:tblGrid>
              <a:tr h="4937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Environment detail</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Alerts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Logs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Access path</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NetScaler → PMI → NetScaler → DataPower → NetScaler</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api.bcbsfl.com for service calls; non-API resources bypass DataPower</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CCM web and APIs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Red Hat OpenShift: CCM-DCS-PROD, CCM-PREPROCESSOR-PROD, SMS-HANDLER-PROD</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ose4-prod cluster; routes detailed on next slide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B03A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C98A00"/>
                          </a:solidFill>
                          <a:latin typeface="Calibri" pitchFamily="34" charset="0"/>
                          <a:ea typeface="Calibri" pitchFamily="34" charset="-122"/>
                          <a:cs typeface="Calibri" pitchFamily="34" charset="-120"/>
                        </a:rPr>
                        <a:t>Needs more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Composition</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Quadient Inspire R15: Scaler, Interactive, Content Manager, License Manager</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Scaler P407–P412 · Interactive P413–P417 · License Mgr P405–P406</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C98A00"/>
                          </a:solidFill>
                          <a:latin typeface="Calibri" pitchFamily="34" charset="0"/>
                          <a:ea typeface="Calibri" pitchFamily="34" charset="-122"/>
                          <a:cs typeface="Calibri" pitchFamily="34" charset="-120"/>
                        </a:rPr>
                        <a:t>Needs more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Batch</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Control-M (CCM batch); CCM ETL preprocessor on Hadoop / Spark</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Server edclhdpp432 · NAS network share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Data</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SQL Server 2019</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SQLPX0105: INSPIRE_RECON_PROD · SQLPD9747: Interactive, Scaler, Content Manager DBs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Events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Kafka</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edclkfkp404–406.bcbsfl.com:6667</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Vendor exchange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SFTP: securefile.bcbsfl.com</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Print and status files to and from vendors</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493776">
                <a:tc>
                  <a:txBody>
                    <a:bodyPr/>
                    <a:lstStyle/>
                    <a:p>
                      <a:pPr indent="0" marL="0">
                        <a:buNone/>
                      </a:pPr>
                      <a:r>
                        <a:rPr lang="en-US" sz="1100" b="1" dirty="0">
                          <a:solidFill>
                            <a:srgbClr val="1C2330"/>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Splunk; Power BI</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Index blue-app-ccm (role Splunk-App-CCM) · Power BI host srsps0063, CCM_Reports_Prod</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B03A2E"/>
                          </a:solidFill>
                          <a:latin typeface="Calibri" pitchFamily="34" charset="0"/>
                          <a:ea typeface="Calibri" pitchFamily="34" charset="-122"/>
                          <a:cs typeface="Calibri" pitchFamily="34" charset="-120"/>
                        </a:rPr>
                        <a:t>Power BI: None</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algn="ctr" indent="0" marL="0">
                        <a:buNone/>
                      </a:pPr>
                      <a:r>
                        <a:rPr lang="en-US" sz="1100" b="1" dirty="0">
                          <a:solidFill>
                            <a:srgbClr val="5962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bl>
          </a:graphicData>
        </a:graphic>
      </p:graphicFrame>
      <p:sp>
        <p:nvSpPr>
          <p:cNvPr id="10" name="Text 7"/>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050" i="1" dirty="0">
                <a:solidFill>
                  <a:srgbClr val="596273"/>
                </a:solidFill>
                <a:latin typeface="Calibri" pitchFamily="34" charset="0"/>
                <a:ea typeface="Calibri" pitchFamily="34" charset="-122"/>
                <a:cs typeface="Calibri" pitchFamily="34" charset="-120"/>
              </a:rPr>
              <a:t>Source: Physical Architecture, CCM Platform (2019–2020). "—" means not marked in the source. Validate hosts, versions and alert status before operational use.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OPENSHIFT</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Production route inventory</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24</a:t>
            </a:r>
            <a:endParaRPr lang="en-US" sz="900" dirty="0"/>
          </a:p>
        </p:txBody>
      </p:sp>
      <p:sp>
        <p:nvSpPr>
          <p:cNvPr id="9" name="Text 7"/>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Project: ccm-dcs-prod</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858000" cy="914400"/>
        </p:xfrm>
        <a:graphic>
          <a:graphicData uri="http://schemas.openxmlformats.org/drawingml/2006/table">
            <a:tbl>
              <a:tblPr/>
              <a:tblGrid>
                <a:gridCol w="2331720"/>
                <a:gridCol w="960120"/>
                <a:gridCol w="356616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Host</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ccm-ondemand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ccm-ondemand.bcbsfl.com</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ccm-ondemand-dns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B03A2E"/>
                          </a:solidFill>
                          <a:latin typeface="Calibri" pitchFamily="34" charset="0"/>
                          <a:ea typeface="Calibri" pitchFamily="34" charset="-122"/>
                          <a:cs typeface="Calibri" pitchFamily="34" charset="-120"/>
                        </a:rPr>
                        <a:t>Rejected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ccm-ondemand.bcbsfl.com</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ccm-preprocessor-services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B03A2E"/>
                          </a:solidFill>
                          <a:latin typeface="Calibri" pitchFamily="34" charset="0"/>
                          <a:ea typeface="Calibri" pitchFamily="34" charset="-122"/>
                          <a:cs typeface="Calibri" pitchFamily="34" charset="-120"/>
                        </a:rPr>
                        <a:t>Rejected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ccmpreprocessorservices-prda.apps.ose4-prod…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data-retrieval-services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dataretrievalservices-prod.apps.ose4-prod…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document-composition-services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dcs.apps.ose4-prod…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recon-dashboard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recon-dashboard-prod.apps.ose4-prod…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recon-dashboard-dns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recon-dashboard.bcbsfl.com</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recon-load-services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reconloadbatchservices.apps.ose4-prod…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recon-services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reconservices-prod.apps.ose4-prod…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bl>
          </a:graphicData>
        </a:graphic>
      </p:graphicFrame>
      <p:sp>
        <p:nvSpPr>
          <p:cNvPr id="11" name="Text 8"/>
          <p:cNvSpPr txBox="1"/>
          <p:nvPr/>
        </p:nvSpPr>
        <p:spPr>
          <a:xfrm>
            <a:off x="7726680" y="1371600"/>
            <a:ext cx="3916375"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Project: ccm-preprocessor-prod  (all accepted)</a:t>
            </a:r>
            <a:endParaRPr lang="en-US" sz="13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7726680" y="1691640"/>
          <a:ext cx="3916375" cy="914400"/>
        </p:xfrm>
        <a:graphic>
          <a:graphicData uri="http://schemas.openxmlformats.org/drawingml/2006/table">
            <a:tbl>
              <a:tblPr/>
              <a:tblGrid>
                <a:gridCol w="1965960"/>
                <a:gridCol w="1950415"/>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Host</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solidFill>
                      <a:srgbClr val="1F4FB8"/>
                    </a:solidFill>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ccm-kafka-services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ccmkafkaservices-prda…</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ccm-preprocessor-services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ccmpreprocessorservices-prda…</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ccm-urlshortnener-service</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urlshortener-prod…</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r h="384048">
                <a:tc>
                  <a:txBody>
                    <a:bodyPr/>
                    <a:lstStyle/>
                    <a:p>
                      <a:pPr indent="0" marL="0">
                        <a:buNone/>
                      </a:pPr>
                      <a:r>
                        <a:rPr lang="en-US" sz="1050" b="1" dirty="0">
                          <a:solidFill>
                            <a:srgbClr val="1C2330"/>
                          </a:solidFill>
                          <a:latin typeface="Calibri" pitchFamily="34" charset="0"/>
                          <a:ea typeface="Calibri" pitchFamily="34" charset="-122"/>
                          <a:cs typeface="Calibri" pitchFamily="34" charset="-120"/>
                        </a:rPr>
                        <a:t>recon-realtime-load-service</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c>
                  <a:txBody>
                    <a:bodyPr/>
                    <a:lstStyle/>
                    <a:p>
                      <a:pPr indent="0" marL="0">
                        <a:buNone/>
                      </a:pPr>
                      <a:r>
                        <a:rPr lang="en-US" sz="1050" dirty="0">
                          <a:solidFill>
                            <a:srgbClr val="1C2330"/>
                          </a:solidFill>
                          <a:latin typeface="Calibri" pitchFamily="34" charset="0"/>
                          <a:ea typeface="Calibri" pitchFamily="34" charset="-122"/>
                          <a:cs typeface="Calibri" pitchFamily="34" charset="-120"/>
                        </a:rPr>
                        <a:t>reconloadservices…</a:t>
                      </a:r>
                      <a:endParaRPr lang="en-US" sz="1050" dirty="0">
                        <a:latin typeface="Calibri" charset="0"/>
                        <a:ea typeface="Calibri" charset="0"/>
                        <a:cs typeface="Calibri" charset="0"/>
                      </a:endParaRPr>
                    </a:p>
                  </a:txBody>
                  <a:tcPr marL="76200" marR="76200" marT="38100" marB="38100" anchor="ctr">
                    <a:lnL w="9525" cap="flat" cmpd="sng" algn="ctr">
                      <a:solidFill>
                        <a:srgbClr val="CCD3DD"/>
                      </a:solidFill>
                      <a:prstDash val="solid"/>
                      <a:round/>
                      <a:headEnd type="none" w="med" len="med"/>
                      <a:tailEnd type="none" w="med" len="med"/>
                    </a:lnL>
                    <a:lnR w="9525" cap="flat" cmpd="sng" algn="ctr">
                      <a:solidFill>
                        <a:srgbClr val="CCD3DD"/>
                      </a:solidFill>
                      <a:prstDash val="solid"/>
                      <a:round/>
                      <a:headEnd type="none" w="med" len="med"/>
                      <a:tailEnd type="none" w="med" len="med"/>
                    </a:lnR>
                    <a:lnT w="9525" cap="flat" cmpd="sng" algn="ctr">
                      <a:solidFill>
                        <a:srgbClr val="CCD3DD"/>
                      </a:solidFill>
                      <a:prstDash val="solid"/>
                      <a:round/>
                      <a:headEnd type="none" w="med" len="med"/>
                      <a:tailEnd type="none" w="med" len="med"/>
                    </a:lnT>
                    <a:lnB w="9525" cap="flat" cmpd="sng" algn="ctr">
                      <a:solidFill>
                        <a:srgbClr val="CCD3DD"/>
                      </a:solidFill>
                      <a:prstDash val="solid"/>
                      <a:round/>
                      <a:headEnd type="none" w="med" len="med"/>
                      <a:tailEnd type="none" w="med" len="med"/>
                    </a:lnB>
                  </a:tcPr>
                </a:tc>
              </a:tr>
            </a:tbl>
          </a:graphicData>
        </a:graphic>
      </p:graphicFrame>
      <p:sp>
        <p:nvSpPr>
          <p:cNvPr id="13" name="Shape 9"/>
          <p:cNvSpPr/>
          <p:nvPr/>
        </p:nvSpPr>
        <p:spPr>
          <a:xfrm>
            <a:off x="7726680" y="3840480"/>
            <a:ext cx="3916375" cy="1828800"/>
          </a:xfrm>
          <a:prstGeom prst="roundRect">
            <a:avLst>
              <a:gd name="adj" fmla="val 3000"/>
            </a:avLst>
          </a:prstGeom>
          <a:solidFill>
            <a:srgbClr val="E7EEFB"/>
          </a:solidFill>
          <a:ln/>
        </p:spPr>
      </p:sp>
      <p:sp>
        <p:nvSpPr>
          <p:cNvPr id="14" name="Text 10"/>
          <p:cNvSpPr txBox="1"/>
          <p:nvPr/>
        </p:nvSpPr>
        <p:spPr>
          <a:xfrm>
            <a:off x="7955280" y="3977640"/>
            <a:ext cx="3459175" cy="27432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Cleanup candidates</a:t>
            </a:r>
            <a:endParaRPr lang="en-US" sz="1400" dirty="0"/>
          </a:p>
        </p:txBody>
      </p:sp>
      <p:sp>
        <p:nvSpPr>
          <p:cNvPr id="15" name="Text 11"/>
          <p:cNvSpPr txBox="1"/>
          <p:nvPr/>
        </p:nvSpPr>
        <p:spPr>
          <a:xfrm>
            <a:off x="7955280" y="4315968"/>
            <a:ext cx="3459175" cy="1280160"/>
          </a:xfrm>
          <a:prstGeom prst="rect">
            <a:avLst/>
          </a:prstGeom>
          <a:noFill/>
          <a:ln/>
        </p:spPr>
        <p:txBody>
          <a:bodyPr wrap="square" lIns="0" tIns="0" rIns="0" bIns="0" rtlCol="0" anchor="t"/>
          <a:lstStyle/>
          <a:p>
            <a:pPr indent="0" marL="0">
              <a:buNone/>
            </a:pPr>
            <a:r>
              <a:rPr lang="en-US" sz="1150" dirty="0">
                <a:solidFill>
                  <a:srgbClr val="1C2330"/>
                </a:solidFill>
                <a:latin typeface="Calibri" pitchFamily="34" charset="0"/>
                <a:ea typeface="Calibri" pitchFamily="34" charset="-122"/>
                <a:cs typeface="Calibri" pitchFamily="34" charset="-120"/>
              </a:rPr>
              <a:t>Both rejected routes claim hosts already served elsewhere: </a:t>
            </a:r>
            <a:pPr indent="0" marL="0">
              <a:buNone/>
            </a:pPr>
            <a:r>
              <a:rPr lang="en-US" sz="1150" b="1" dirty="0">
                <a:solidFill>
                  <a:srgbClr val="1C2330"/>
                </a:solidFill>
                <a:latin typeface="Calibri" pitchFamily="34" charset="0"/>
                <a:ea typeface="Calibri" pitchFamily="34" charset="-122"/>
                <a:cs typeface="Calibri" pitchFamily="34" charset="-120"/>
              </a:rPr>
              <a:t>ccm-ondemand-dns</a:t>
            </a:r>
            <a:pPr indent="0" marL="0">
              <a:buNone/>
            </a:pPr>
            <a:r>
              <a:rPr lang="en-US" sz="1150" dirty="0">
                <a:solidFill>
                  <a:srgbClr val="1C2330"/>
                </a:solidFill>
                <a:latin typeface="Calibri" pitchFamily="34" charset="0"/>
                <a:ea typeface="Calibri" pitchFamily="34" charset="-122"/>
                <a:cs typeface="Calibri" pitchFamily="34" charset="-120"/>
              </a:rPr>
              <a:t> duplicates the ccm-ondemand host, and </a:t>
            </a:r>
            <a:pPr indent="0" marL="0">
              <a:buNone/>
            </a:pPr>
            <a:r>
              <a:rPr lang="en-US" sz="1150" b="1" dirty="0">
                <a:solidFill>
                  <a:srgbClr val="1C2330"/>
                </a:solidFill>
                <a:latin typeface="Calibri" pitchFamily="34" charset="0"/>
                <a:ea typeface="Calibri" pitchFamily="34" charset="-122"/>
                <a:cs typeface="Calibri" pitchFamily="34" charset="-120"/>
              </a:rPr>
              <a:t>ccm-preprocessor-services</a:t>
            </a:r>
            <a:pPr indent="0" marL="0">
              <a:buNone/>
            </a:pPr>
            <a:r>
              <a:rPr lang="en-US" sz="1150" dirty="0">
                <a:solidFill>
                  <a:srgbClr val="1C2330"/>
                </a:solidFill>
                <a:latin typeface="Calibri" pitchFamily="34" charset="0"/>
                <a:ea typeface="Calibri" pitchFamily="34" charset="-122"/>
                <a:cs typeface="Calibri" pitchFamily="34" charset="-120"/>
              </a:rPr>
              <a:t> duplicates the host owned by ccm-preprocessor-prod. Confirm and remove. Also confirm TLS termination upstream, since routes list http.</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CONTROLS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Security and access controls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TECHNICAL</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25</a:t>
            </a:r>
            <a:endParaRPr lang="en-US" sz="900" dirty="0"/>
          </a:p>
        </p:txBody>
      </p:sp>
      <p:sp>
        <p:nvSpPr>
          <p:cNvPr id="9" name="Shape 7"/>
          <p:cNvSpPr/>
          <p:nvPr/>
        </p:nvSpPr>
        <p:spPr>
          <a:xfrm>
            <a:off x="548640" y="1463040"/>
            <a:ext cx="5387188" cy="1389888"/>
          </a:xfrm>
          <a:prstGeom prst="roundRect">
            <a:avLst>
              <a:gd name="adj" fmla="val 3947"/>
            </a:avLst>
          </a:prstGeom>
          <a:solidFill>
            <a:srgbClr val="F1F3F6"/>
          </a:solidFill>
          <a:ln/>
        </p:spPr>
      </p:sp>
      <p:sp>
        <p:nvSpPr>
          <p:cNvPr id="10" name="Shape 8"/>
          <p:cNvSpPr/>
          <p:nvPr/>
        </p:nvSpPr>
        <p:spPr>
          <a:xfrm>
            <a:off x="822960" y="1737360"/>
            <a:ext cx="566928" cy="566928"/>
          </a:xfrm>
          <a:prstGeom prst="ellipse">
            <a:avLst/>
          </a:prstGeom>
          <a:solidFill>
            <a:srgbClr val="0F1B2D"/>
          </a:solidFill>
          <a:ln/>
        </p:spPr>
      </p:sp>
      <p:pic>
        <p:nvPicPr>
          <p:cNvPr id="11" name="Image 0" descr="preencoded.png">    </p:cNvPr>
          <p:cNvPicPr>
            <a:picLocks noChangeAspect="1"/>
          </p:cNvPicPr>
          <p:nvPr/>
        </p:nvPicPr>
        <p:blipFill>
          <a:blip r:embed="rId1"/>
          <a:stretch>
            <a:fillRect/>
          </a:stretch>
        </p:blipFill>
        <p:spPr>
          <a:xfrm>
            <a:off x="970361" y="1884761"/>
            <a:ext cx="272125" cy="272125"/>
          </a:xfrm>
          <a:prstGeom prst="rect">
            <a:avLst/>
          </a:prstGeom>
        </p:spPr>
      </p:pic>
      <p:sp>
        <p:nvSpPr>
          <p:cNvPr id="12" name="Text 9"/>
          <p:cNvSpPr txBox="1"/>
          <p:nvPr/>
        </p:nvSpPr>
        <p:spPr>
          <a:xfrm>
            <a:off x="1645920" y="1664208"/>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Identity and roles</a:t>
            </a:r>
            <a:endParaRPr lang="en-US" sz="1500" dirty="0"/>
          </a:p>
        </p:txBody>
      </p:sp>
      <p:sp>
        <p:nvSpPr>
          <p:cNvPr id="13" name="Text 10"/>
          <p:cNvSpPr txBox="1"/>
          <p:nvPr/>
        </p:nvSpPr>
        <p:spPr>
          <a:xfrm>
            <a:off x="1645920" y="2011680"/>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PMI policies gate the Recon Dashboard and on-demand UI. Roles include ccm-ondemand-[env]-users, Read-URL and Update-URL.</a:t>
            </a:r>
            <a:endParaRPr lang="en-US" sz="1200" dirty="0"/>
          </a:p>
        </p:txBody>
      </p:sp>
      <p:sp>
        <p:nvSpPr>
          <p:cNvPr id="14" name="Shape 11"/>
          <p:cNvSpPr/>
          <p:nvPr/>
        </p:nvSpPr>
        <p:spPr>
          <a:xfrm>
            <a:off x="6255868" y="1463040"/>
            <a:ext cx="5387188" cy="1389888"/>
          </a:xfrm>
          <a:prstGeom prst="roundRect">
            <a:avLst>
              <a:gd name="adj" fmla="val 3947"/>
            </a:avLst>
          </a:prstGeom>
          <a:solidFill>
            <a:srgbClr val="F1F3F6"/>
          </a:solidFill>
          <a:ln/>
        </p:spPr>
      </p:sp>
      <p:sp>
        <p:nvSpPr>
          <p:cNvPr id="15" name="Shape 12"/>
          <p:cNvSpPr/>
          <p:nvPr/>
        </p:nvSpPr>
        <p:spPr>
          <a:xfrm>
            <a:off x="6530188" y="1737360"/>
            <a:ext cx="566928" cy="566928"/>
          </a:xfrm>
          <a:prstGeom prst="ellipse">
            <a:avLst/>
          </a:prstGeom>
          <a:solidFill>
            <a:srgbClr val="0F1B2D"/>
          </a:solidFill>
          <a:ln/>
        </p:spPr>
      </p:sp>
      <p:pic>
        <p:nvPicPr>
          <p:cNvPr id="16" name="Image 1" descr="preencoded.png">    </p:cNvPr>
          <p:cNvPicPr>
            <a:picLocks noChangeAspect="1"/>
          </p:cNvPicPr>
          <p:nvPr/>
        </p:nvPicPr>
        <p:blipFill>
          <a:blip r:embed="rId2"/>
          <a:stretch>
            <a:fillRect/>
          </a:stretch>
        </p:blipFill>
        <p:spPr>
          <a:xfrm>
            <a:off x="6677589" y="1884761"/>
            <a:ext cx="272125" cy="272125"/>
          </a:xfrm>
          <a:prstGeom prst="rect">
            <a:avLst/>
          </a:prstGeom>
        </p:spPr>
      </p:pic>
      <p:sp>
        <p:nvSpPr>
          <p:cNvPr id="17" name="Text 13"/>
          <p:cNvSpPr txBox="1"/>
          <p:nvPr/>
        </p:nvSpPr>
        <p:spPr>
          <a:xfrm>
            <a:off x="7353148" y="1664208"/>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API gateway</a:t>
            </a:r>
            <a:endParaRPr lang="en-US" sz="1500" dirty="0"/>
          </a:p>
        </p:txBody>
      </p:sp>
      <p:sp>
        <p:nvSpPr>
          <p:cNvPr id="18" name="Text 14"/>
          <p:cNvSpPr txBox="1"/>
          <p:nvPr/>
        </p:nvSpPr>
        <p:spPr>
          <a:xfrm>
            <a:off x="7353148" y="2011680"/>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Every internal and external API call passes through DataPower. External DivBiz callers use basic auth on the -ext endpoints.</a:t>
            </a:r>
            <a:endParaRPr lang="en-US" sz="1200" dirty="0"/>
          </a:p>
        </p:txBody>
      </p:sp>
      <p:sp>
        <p:nvSpPr>
          <p:cNvPr id="19" name="Shape 15"/>
          <p:cNvSpPr/>
          <p:nvPr/>
        </p:nvSpPr>
        <p:spPr>
          <a:xfrm>
            <a:off x="548640" y="3054096"/>
            <a:ext cx="5387188" cy="1389888"/>
          </a:xfrm>
          <a:prstGeom prst="roundRect">
            <a:avLst>
              <a:gd name="adj" fmla="val 3947"/>
            </a:avLst>
          </a:prstGeom>
          <a:solidFill>
            <a:srgbClr val="F1F3F6"/>
          </a:solidFill>
          <a:ln/>
        </p:spPr>
      </p:sp>
      <p:sp>
        <p:nvSpPr>
          <p:cNvPr id="20" name="Shape 16"/>
          <p:cNvSpPr/>
          <p:nvPr/>
        </p:nvSpPr>
        <p:spPr>
          <a:xfrm>
            <a:off x="822960" y="3328416"/>
            <a:ext cx="566928" cy="566928"/>
          </a:xfrm>
          <a:prstGeom prst="ellipse">
            <a:avLst/>
          </a:prstGeom>
          <a:solidFill>
            <a:srgbClr val="0F1B2D"/>
          </a:solidFill>
          <a:ln/>
        </p:spPr>
      </p:sp>
      <p:pic>
        <p:nvPicPr>
          <p:cNvPr id="21" name="Image 2" descr="preencoded.png">    </p:cNvPr>
          <p:cNvPicPr>
            <a:picLocks noChangeAspect="1"/>
          </p:cNvPicPr>
          <p:nvPr/>
        </p:nvPicPr>
        <p:blipFill>
          <a:blip r:embed="rId3"/>
          <a:stretch>
            <a:fillRect/>
          </a:stretch>
        </p:blipFill>
        <p:spPr>
          <a:xfrm>
            <a:off x="970361" y="3475817"/>
            <a:ext cx="272125" cy="272125"/>
          </a:xfrm>
          <a:prstGeom prst="rect">
            <a:avLst/>
          </a:prstGeom>
        </p:spPr>
      </p:pic>
      <p:sp>
        <p:nvSpPr>
          <p:cNvPr id="22" name="Text 17"/>
          <p:cNvSpPr txBox="1"/>
          <p:nvPr/>
        </p:nvSpPr>
        <p:spPr>
          <a:xfrm>
            <a:off x="1645920" y="3255264"/>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Request validation</a:t>
            </a:r>
            <a:endParaRPr lang="en-US" sz="1500" dirty="0"/>
          </a:p>
        </p:txBody>
      </p:sp>
      <p:sp>
        <p:nvSpPr>
          <p:cNvPr id="23" name="Text 18"/>
          <p:cNvSpPr txBox="1"/>
          <p:nvPr/>
        </p:nvSpPr>
        <p:spPr>
          <a:xfrm>
            <a:off x="1645920" y="3602736"/>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CCM API validates each request and its entitlements; the on-demand path adds JWT inspection and JWT-plus-role validation.</a:t>
            </a:r>
            <a:endParaRPr lang="en-US" sz="1200" dirty="0"/>
          </a:p>
        </p:txBody>
      </p:sp>
      <p:sp>
        <p:nvSpPr>
          <p:cNvPr id="24" name="Shape 19"/>
          <p:cNvSpPr/>
          <p:nvPr/>
        </p:nvSpPr>
        <p:spPr>
          <a:xfrm>
            <a:off x="6255868" y="3054096"/>
            <a:ext cx="5387188" cy="1389888"/>
          </a:xfrm>
          <a:prstGeom prst="roundRect">
            <a:avLst>
              <a:gd name="adj" fmla="val 3947"/>
            </a:avLst>
          </a:prstGeom>
          <a:solidFill>
            <a:srgbClr val="F1F3F6"/>
          </a:solidFill>
          <a:ln/>
        </p:spPr>
      </p:sp>
      <p:sp>
        <p:nvSpPr>
          <p:cNvPr id="25" name="Shape 20"/>
          <p:cNvSpPr/>
          <p:nvPr/>
        </p:nvSpPr>
        <p:spPr>
          <a:xfrm>
            <a:off x="6530188" y="3328416"/>
            <a:ext cx="566928" cy="566928"/>
          </a:xfrm>
          <a:prstGeom prst="ellipse">
            <a:avLst/>
          </a:prstGeom>
          <a:solidFill>
            <a:srgbClr val="0F1B2D"/>
          </a:solidFill>
          <a:ln/>
        </p:spPr>
      </p:sp>
      <p:pic>
        <p:nvPicPr>
          <p:cNvPr id="26" name="Image 3" descr="preencoded.png">    </p:cNvPr>
          <p:cNvPicPr>
            <a:picLocks noChangeAspect="1"/>
          </p:cNvPicPr>
          <p:nvPr/>
        </p:nvPicPr>
        <p:blipFill>
          <a:blip r:embed="rId4"/>
          <a:stretch>
            <a:fillRect/>
          </a:stretch>
        </p:blipFill>
        <p:spPr>
          <a:xfrm>
            <a:off x="6677589" y="3475817"/>
            <a:ext cx="272125" cy="272125"/>
          </a:xfrm>
          <a:prstGeom prst="rect">
            <a:avLst/>
          </a:prstGeom>
        </p:spPr>
      </p:pic>
      <p:sp>
        <p:nvSpPr>
          <p:cNvPr id="27" name="Text 21"/>
          <p:cNvSpPr txBox="1"/>
          <p:nvPr/>
        </p:nvSpPr>
        <p:spPr>
          <a:xfrm>
            <a:off x="7353148" y="3255264"/>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Link safety</a:t>
            </a:r>
            <a:endParaRPr lang="en-US" sz="1500" dirty="0"/>
          </a:p>
        </p:txBody>
      </p:sp>
      <p:sp>
        <p:nvSpPr>
          <p:cNvPr id="28" name="Text 22"/>
          <p:cNvSpPr txBox="1"/>
          <p:nvPr/>
        </p:nvSpPr>
        <p:spPr>
          <a:xfrm>
            <a:off x="7353148" y="3602736"/>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DNS whitelisting in the reusable UI and URL shortener; HTTP encoding on generated URLs.</a:t>
            </a:r>
            <a:endParaRPr lang="en-US" sz="1200" dirty="0"/>
          </a:p>
        </p:txBody>
      </p:sp>
      <p:sp>
        <p:nvSpPr>
          <p:cNvPr id="29" name="Shape 23"/>
          <p:cNvSpPr/>
          <p:nvPr/>
        </p:nvSpPr>
        <p:spPr>
          <a:xfrm>
            <a:off x="548640" y="4645152"/>
            <a:ext cx="5387188" cy="1389888"/>
          </a:xfrm>
          <a:prstGeom prst="roundRect">
            <a:avLst>
              <a:gd name="adj" fmla="val 3947"/>
            </a:avLst>
          </a:prstGeom>
          <a:solidFill>
            <a:srgbClr val="F1F3F6"/>
          </a:solidFill>
          <a:ln/>
        </p:spPr>
      </p:sp>
      <p:sp>
        <p:nvSpPr>
          <p:cNvPr id="30" name="Shape 24"/>
          <p:cNvSpPr/>
          <p:nvPr/>
        </p:nvSpPr>
        <p:spPr>
          <a:xfrm>
            <a:off x="822960" y="4919472"/>
            <a:ext cx="566928" cy="566928"/>
          </a:xfrm>
          <a:prstGeom prst="ellipse">
            <a:avLst/>
          </a:prstGeom>
          <a:solidFill>
            <a:srgbClr val="0F1B2D"/>
          </a:solidFill>
          <a:ln/>
        </p:spPr>
      </p:sp>
      <p:pic>
        <p:nvPicPr>
          <p:cNvPr id="31" name="Image 4" descr="preencoded.png">    </p:cNvPr>
          <p:cNvPicPr>
            <a:picLocks noChangeAspect="1"/>
          </p:cNvPicPr>
          <p:nvPr/>
        </p:nvPicPr>
        <p:blipFill>
          <a:blip r:embed="rId5"/>
          <a:stretch>
            <a:fillRect/>
          </a:stretch>
        </p:blipFill>
        <p:spPr>
          <a:xfrm>
            <a:off x="970361" y="5066873"/>
            <a:ext cx="272125" cy="272125"/>
          </a:xfrm>
          <a:prstGeom prst="rect">
            <a:avLst/>
          </a:prstGeom>
        </p:spPr>
      </p:pic>
      <p:sp>
        <p:nvSpPr>
          <p:cNvPr id="32" name="Text 25"/>
          <p:cNvSpPr txBox="1"/>
          <p:nvPr/>
        </p:nvSpPr>
        <p:spPr>
          <a:xfrm>
            <a:off x="1645920" y="4846320"/>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Network boundary</a:t>
            </a:r>
            <a:endParaRPr lang="en-US" sz="1500" dirty="0"/>
          </a:p>
        </p:txBody>
      </p:sp>
      <p:sp>
        <p:nvSpPr>
          <p:cNvPr id="33" name="Text 26"/>
          <p:cNvSpPr txBox="1"/>
          <p:nvPr/>
        </p:nvSpPr>
        <p:spPr>
          <a:xfrm>
            <a:off x="1645920" y="5193792"/>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Vendor exchange crosses the Florida Blue boundary via securefile.bcbsfl.com SFTP or DataPower REST. MMS images are served from the internet-facing Bloomreach CMS.</a:t>
            </a:r>
            <a:endParaRPr lang="en-US" sz="1200" dirty="0"/>
          </a:p>
        </p:txBody>
      </p:sp>
      <p:sp>
        <p:nvSpPr>
          <p:cNvPr id="34" name="Shape 27"/>
          <p:cNvSpPr/>
          <p:nvPr/>
        </p:nvSpPr>
        <p:spPr>
          <a:xfrm>
            <a:off x="6255868" y="4645152"/>
            <a:ext cx="5387188" cy="1389888"/>
          </a:xfrm>
          <a:prstGeom prst="roundRect">
            <a:avLst>
              <a:gd name="adj" fmla="val 3947"/>
            </a:avLst>
          </a:prstGeom>
          <a:solidFill>
            <a:srgbClr val="F1F3F6"/>
          </a:solidFill>
          <a:ln/>
        </p:spPr>
      </p:sp>
      <p:sp>
        <p:nvSpPr>
          <p:cNvPr id="35" name="Shape 28"/>
          <p:cNvSpPr/>
          <p:nvPr/>
        </p:nvSpPr>
        <p:spPr>
          <a:xfrm>
            <a:off x="6530188" y="4919472"/>
            <a:ext cx="566928" cy="566928"/>
          </a:xfrm>
          <a:prstGeom prst="ellipse">
            <a:avLst/>
          </a:prstGeom>
          <a:solidFill>
            <a:srgbClr val="0F1B2D"/>
          </a:solidFill>
          <a:ln/>
        </p:spPr>
      </p:sp>
      <p:pic>
        <p:nvPicPr>
          <p:cNvPr id="36" name="Image 5" descr="preencoded.png">    </p:cNvPr>
          <p:cNvPicPr>
            <a:picLocks noChangeAspect="1"/>
          </p:cNvPicPr>
          <p:nvPr/>
        </p:nvPicPr>
        <p:blipFill>
          <a:blip r:embed="rId6"/>
          <a:stretch>
            <a:fillRect/>
          </a:stretch>
        </p:blipFill>
        <p:spPr>
          <a:xfrm>
            <a:off x="6677589" y="5066873"/>
            <a:ext cx="272125" cy="272125"/>
          </a:xfrm>
          <a:prstGeom prst="rect">
            <a:avLst/>
          </a:prstGeom>
        </p:spPr>
      </p:pic>
      <p:sp>
        <p:nvSpPr>
          <p:cNvPr id="37" name="Text 29"/>
          <p:cNvSpPr txBox="1"/>
          <p:nvPr/>
        </p:nvSpPr>
        <p:spPr>
          <a:xfrm>
            <a:off x="7353148" y="4846320"/>
            <a:ext cx="4061308" cy="320040"/>
          </a:xfrm>
          <a:prstGeom prst="rect">
            <a:avLst/>
          </a:prstGeom>
          <a:noFill/>
          <a:ln/>
        </p:spPr>
        <p:txBody>
          <a:bodyPr wrap="square" lIns="0" tIns="0" rIns="0" bIns="0" rtlCol="0" anchor="t"/>
          <a:lstStyle/>
          <a:p>
            <a:pPr indent="0" marL="0">
              <a:buNone/>
            </a:pPr>
            <a:r>
              <a:rPr lang="en-US" sz="1500" b="1" dirty="0">
                <a:solidFill>
                  <a:srgbClr val="1C2330"/>
                </a:solidFill>
                <a:latin typeface="Calibri" pitchFamily="34" charset="0"/>
                <a:ea typeface="Calibri" pitchFamily="34" charset="-122"/>
                <a:cs typeface="Calibri" pitchFamily="34" charset="-120"/>
              </a:rPr>
              <a:t>Audit trail</a:t>
            </a:r>
            <a:endParaRPr lang="en-US" sz="1500" dirty="0"/>
          </a:p>
        </p:txBody>
      </p:sp>
      <p:sp>
        <p:nvSpPr>
          <p:cNvPr id="38" name="Text 30"/>
          <p:cNvSpPr txBox="1"/>
          <p:nvPr/>
        </p:nvSpPr>
        <p:spPr>
          <a:xfrm>
            <a:off x="7353148" y="5193792"/>
            <a:ext cx="4061308" cy="777240"/>
          </a:xfrm>
          <a:prstGeom prst="rect">
            <a:avLst/>
          </a:prstGeom>
          <a:noFill/>
          <a:ln/>
        </p:spPr>
        <p:txBody>
          <a:bodyPr wrap="square" lIns="0" tIns="0" rIns="0" bIns="0" rtlCol="0" anchor="t"/>
          <a:lstStyle/>
          <a:p>
            <a:pPr indent="0" marL="0">
              <a:buNone/>
            </a:pPr>
            <a:r>
              <a:rPr lang="en-US" sz="1200" dirty="0">
                <a:solidFill>
                  <a:srgbClr val="596273"/>
                </a:solidFill>
                <a:latin typeface="Calibri" pitchFamily="34" charset="0"/>
                <a:ea typeface="Calibri" pitchFamily="34" charset="-122"/>
                <a:cs typeface="Calibri" pitchFamily="34" charset="-120"/>
              </a:rPr>
              <a:t>Requests, delivery status and URL activity persist in Recon audit tables; application info and error logs go to Splunk.</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4FB8"/>
        </a:solidFill>
      </p:bgPr>
    </p:bg>
    <p:spTree>
      <p:nvGrpSpPr>
        <p:cNvPr id="1" name=""/>
        <p:cNvGrpSpPr/>
        <p:nvPr/>
      </p:nvGrpSpPr>
      <p:grpSpPr>
        <a:xfrm>
          <a:off x="0" y="0"/>
          <a:ext cx="0" cy="0"/>
          <a:chOff x="0" y="0"/>
          <a:chExt cx="0" cy="0"/>
        </a:xfrm>
      </p:grpSpPr>
      <p:sp>
        <p:nvSpPr>
          <p:cNvPr id="2" name="Text 0"/>
          <p:cNvSpPr txBox="1"/>
          <p:nvPr/>
        </p:nvSpPr>
        <p:spPr>
          <a:xfrm>
            <a:off x="1097280" y="2331720"/>
            <a:ext cx="7315200" cy="320040"/>
          </a:xfrm>
          <a:prstGeom prst="rect">
            <a:avLst/>
          </a:prstGeom>
          <a:noFill/>
          <a:ln/>
        </p:spPr>
        <p:txBody>
          <a:bodyPr wrap="square" lIns="0" tIns="0" rIns="0" bIns="0" rtlCol="0" anchor="t"/>
          <a:lstStyle/>
          <a:p>
            <a:pPr indent="0" marL="0">
              <a:buNone/>
            </a:pPr>
            <a:r>
              <a:rPr lang="en-US" sz="1400" b="1" spc="600" kern="0" dirty="0">
                <a:solidFill>
                  <a:srgbClr val="FFD84D"/>
                </a:solidFill>
                <a:latin typeface="Calibri" pitchFamily="34" charset="0"/>
                <a:ea typeface="Calibri" pitchFamily="34" charset="-122"/>
                <a:cs typeface="Calibri" pitchFamily="34" charset="-120"/>
              </a:rPr>
              <a:t>SECTION 03</a:t>
            </a:r>
            <a:endParaRPr lang="en-US" sz="1400" dirty="0"/>
          </a:p>
        </p:txBody>
      </p:sp>
      <p:sp>
        <p:nvSpPr>
          <p:cNvPr id="3" name="Text 1"/>
          <p:cNvSpPr txBox="1"/>
          <p:nvPr/>
        </p:nvSpPr>
        <p:spPr>
          <a:xfrm>
            <a:off x="1097280" y="269748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Volume, roadmap and next steps</a:t>
            </a:r>
            <a:endParaRPr lang="en-US" sz="4800" dirty="0"/>
          </a:p>
        </p:txBody>
      </p:sp>
      <p:sp>
        <p:nvSpPr>
          <p:cNvPr id="4" name="Text 2"/>
          <p:cNvSpPr txBox="1"/>
          <p:nvPr/>
        </p:nvSpPr>
        <p:spPr>
          <a:xfrm>
            <a:off x="1097280" y="3703320"/>
            <a:ext cx="9144000" cy="731520"/>
          </a:xfrm>
          <a:prstGeom prst="rect">
            <a:avLst/>
          </a:prstGeom>
          <a:noFill/>
          <a:ln/>
        </p:spPr>
        <p:txBody>
          <a:bodyPr wrap="square" lIns="0" tIns="0" rIns="0" bIns="0" rtlCol="0" anchor="t"/>
          <a:lstStyle/>
          <a:p>
            <a:pPr indent="0" marL="0">
              <a:buNone/>
            </a:pPr>
            <a:r>
              <a:rPr lang="en-US" sz="1700" dirty="0">
                <a:solidFill>
                  <a:srgbClr val="DCE6FA"/>
                </a:solidFill>
                <a:latin typeface="Calibri" pitchFamily="34" charset="0"/>
                <a:ea typeface="Calibri" pitchFamily="34" charset="-122"/>
                <a:cs typeface="Calibri" pitchFamily="34" charset="-120"/>
              </a:rPr>
              <a:t>Where volume comes from, the Client Letter migration, and what we recommend next.</a:t>
            </a:r>
            <a:endParaRPr lang="en-US" sz="1700" dirty="0"/>
          </a:p>
        </p:txBody>
      </p:sp>
      <p:sp>
        <p:nvSpPr>
          <p:cNvPr id="5" name="Text 3"/>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B9C8E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2025 VOLUME</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Where 24.3M communications came from</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LEADERSHIP</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27</a:t>
            </a:r>
            <a:endParaRPr lang="en-US" sz="900" dirty="0"/>
          </a:p>
        </p:txBody>
      </p:sp>
      <p:graphicFrame>
        <p:nvGraphicFramePr>
          <p:cNvPr id="9" name="Chart 0" descr=""/>
          <p:cNvGraphicFramePr/>
          <p:nvPr/>
        </p:nvGraphicFramePr>
        <p:xfrm>
          <a:off x="548640" y="1371600"/>
          <a:ext cx="7589520" cy="48920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8503920" y="1463040"/>
            <a:ext cx="1554480" cy="548640"/>
          </a:xfrm>
          <a:prstGeom prst="rect">
            <a:avLst/>
          </a:prstGeom>
          <a:noFill/>
          <a:ln/>
        </p:spPr>
        <p:txBody>
          <a:bodyPr wrap="square" lIns="0" tIns="0" rIns="0" bIns="0" rtlCol="0" anchor="ctr"/>
          <a:lstStyle/>
          <a:p>
            <a:pPr indent="0" marL="0">
              <a:buNone/>
            </a:pPr>
            <a:r>
              <a:rPr lang="en-US" sz="2600" b="1" dirty="0">
                <a:solidFill>
                  <a:srgbClr val="16398A"/>
                </a:solidFill>
                <a:latin typeface="Calibri" pitchFamily="34" charset="0"/>
                <a:ea typeface="Calibri" pitchFamily="34" charset="-122"/>
                <a:cs typeface="Calibri" pitchFamily="34" charset="-120"/>
              </a:rPr>
              <a:t>18.25M</a:t>
            </a:r>
            <a:endParaRPr lang="en-US" sz="2600" dirty="0"/>
          </a:p>
        </p:txBody>
      </p:sp>
      <p:sp>
        <p:nvSpPr>
          <p:cNvPr id="11" name="Text 8"/>
          <p:cNvSpPr txBox="1"/>
          <p:nvPr/>
        </p:nvSpPr>
        <p:spPr>
          <a:xfrm>
            <a:off x="10104120" y="1463040"/>
            <a:ext cx="1097280" cy="548640"/>
          </a:xfrm>
          <a:prstGeom prst="rect">
            <a:avLst/>
          </a:prstGeom>
          <a:noFill/>
          <a:ln/>
        </p:spPr>
        <p:txBody>
          <a:bodyPr wrap="square" lIns="0" tIns="0" rIns="0" bIns="0" rtlCol="0" anchor="ctr"/>
          <a:lstStyle/>
          <a:p>
            <a:pPr indent="0" marL="0">
              <a:buNone/>
            </a:pPr>
            <a:r>
              <a:rPr lang="en-US" sz="1300" dirty="0">
                <a:solidFill>
                  <a:srgbClr val="1C2330"/>
                </a:solidFill>
                <a:latin typeface="Calibri" pitchFamily="34" charset="0"/>
                <a:ea typeface="Calibri" pitchFamily="34" charset="-122"/>
                <a:cs typeface="Calibri" pitchFamily="34" charset="-120"/>
              </a:rPr>
              <a:t>Email</a:t>
            </a:r>
            <a:endParaRPr lang="en-US" sz="1300" dirty="0"/>
          </a:p>
        </p:txBody>
      </p:sp>
      <p:sp>
        <p:nvSpPr>
          <p:cNvPr id="12" name="Text 9"/>
          <p:cNvSpPr txBox="1"/>
          <p:nvPr/>
        </p:nvSpPr>
        <p:spPr>
          <a:xfrm>
            <a:off x="11155680" y="1463040"/>
            <a:ext cx="487375" cy="548640"/>
          </a:xfrm>
          <a:prstGeom prst="rect">
            <a:avLst/>
          </a:prstGeom>
          <a:noFill/>
          <a:ln/>
        </p:spPr>
        <p:txBody>
          <a:bodyPr wrap="square" lIns="0" tIns="0" rIns="0" bIns="0" rtlCol="0" anchor="ctr"/>
          <a:lstStyle/>
          <a:p>
            <a:pPr algn="r" indent="0" marL="0">
              <a:buNone/>
            </a:pPr>
            <a:r>
              <a:rPr lang="en-US" sz="1300" dirty="0">
                <a:solidFill>
                  <a:srgbClr val="596273"/>
                </a:solidFill>
                <a:latin typeface="Calibri" pitchFamily="34" charset="0"/>
                <a:ea typeface="Calibri" pitchFamily="34" charset="-122"/>
                <a:cs typeface="Calibri" pitchFamily="34" charset="-120"/>
              </a:rPr>
              <a:t>75%</a:t>
            </a:r>
            <a:endParaRPr lang="en-US" sz="1300" dirty="0"/>
          </a:p>
        </p:txBody>
      </p:sp>
      <p:sp>
        <p:nvSpPr>
          <p:cNvPr id="13" name="Shape 10"/>
          <p:cNvSpPr/>
          <p:nvPr/>
        </p:nvSpPr>
        <p:spPr>
          <a:xfrm>
            <a:off x="8503920" y="2103120"/>
            <a:ext cx="3139135" cy="0"/>
          </a:xfrm>
          <a:prstGeom prst="line">
            <a:avLst/>
          </a:prstGeom>
          <a:noFill/>
          <a:ln w="9525">
            <a:solidFill>
              <a:srgbClr val="CCD3DD"/>
            </a:solidFill>
            <a:prstDash val="solid"/>
          </a:ln>
        </p:spPr>
      </p:sp>
      <p:sp>
        <p:nvSpPr>
          <p:cNvPr id="14" name="Text 11"/>
          <p:cNvSpPr txBox="1"/>
          <p:nvPr/>
        </p:nvSpPr>
        <p:spPr>
          <a:xfrm>
            <a:off x="8503920" y="2176272"/>
            <a:ext cx="1554480" cy="548640"/>
          </a:xfrm>
          <a:prstGeom prst="rect">
            <a:avLst/>
          </a:prstGeom>
          <a:noFill/>
          <a:ln/>
        </p:spPr>
        <p:txBody>
          <a:bodyPr wrap="square" lIns="0" tIns="0" rIns="0" bIns="0" rtlCol="0" anchor="ctr"/>
          <a:lstStyle/>
          <a:p>
            <a:pPr indent="0" marL="0">
              <a:buNone/>
            </a:pPr>
            <a:r>
              <a:rPr lang="en-US" sz="2600" b="1" dirty="0">
                <a:solidFill>
                  <a:srgbClr val="16398A"/>
                </a:solidFill>
                <a:latin typeface="Calibri" pitchFamily="34" charset="0"/>
                <a:ea typeface="Calibri" pitchFamily="34" charset="-122"/>
                <a:cs typeface="Calibri" pitchFamily="34" charset="-120"/>
              </a:rPr>
              <a:t>4.41M</a:t>
            </a:r>
            <a:endParaRPr lang="en-US" sz="2600" dirty="0"/>
          </a:p>
        </p:txBody>
      </p:sp>
      <p:sp>
        <p:nvSpPr>
          <p:cNvPr id="15" name="Text 12"/>
          <p:cNvSpPr txBox="1"/>
          <p:nvPr/>
        </p:nvSpPr>
        <p:spPr>
          <a:xfrm>
            <a:off x="10104120" y="2176272"/>
            <a:ext cx="1097280" cy="548640"/>
          </a:xfrm>
          <a:prstGeom prst="rect">
            <a:avLst/>
          </a:prstGeom>
          <a:noFill/>
          <a:ln/>
        </p:spPr>
        <p:txBody>
          <a:bodyPr wrap="square" lIns="0" tIns="0" rIns="0" bIns="0" rtlCol="0" anchor="ctr"/>
          <a:lstStyle/>
          <a:p>
            <a:pPr indent="0" marL="0">
              <a:buNone/>
            </a:pPr>
            <a:r>
              <a:rPr lang="en-US" sz="1300" dirty="0">
                <a:solidFill>
                  <a:srgbClr val="1C2330"/>
                </a:solidFill>
                <a:latin typeface="Calibri" pitchFamily="34" charset="0"/>
                <a:ea typeface="Calibri" pitchFamily="34" charset="-122"/>
                <a:cs typeface="Calibri" pitchFamily="34" charset="-120"/>
              </a:rPr>
              <a:t>SMS / MMS</a:t>
            </a:r>
            <a:endParaRPr lang="en-US" sz="1300" dirty="0"/>
          </a:p>
        </p:txBody>
      </p:sp>
      <p:sp>
        <p:nvSpPr>
          <p:cNvPr id="16" name="Text 13"/>
          <p:cNvSpPr txBox="1"/>
          <p:nvPr/>
        </p:nvSpPr>
        <p:spPr>
          <a:xfrm>
            <a:off x="11155680" y="2176272"/>
            <a:ext cx="487375" cy="548640"/>
          </a:xfrm>
          <a:prstGeom prst="rect">
            <a:avLst/>
          </a:prstGeom>
          <a:noFill/>
          <a:ln/>
        </p:spPr>
        <p:txBody>
          <a:bodyPr wrap="square" lIns="0" tIns="0" rIns="0" bIns="0" rtlCol="0" anchor="ctr"/>
          <a:lstStyle/>
          <a:p>
            <a:pPr algn="r" indent="0" marL="0">
              <a:buNone/>
            </a:pPr>
            <a:r>
              <a:rPr lang="en-US" sz="1300" dirty="0">
                <a:solidFill>
                  <a:srgbClr val="596273"/>
                </a:solidFill>
                <a:latin typeface="Calibri" pitchFamily="34" charset="0"/>
                <a:ea typeface="Calibri" pitchFamily="34" charset="-122"/>
                <a:cs typeface="Calibri" pitchFamily="34" charset="-120"/>
              </a:rPr>
              <a:t>18%</a:t>
            </a:r>
            <a:endParaRPr lang="en-US" sz="1300" dirty="0"/>
          </a:p>
        </p:txBody>
      </p:sp>
      <p:sp>
        <p:nvSpPr>
          <p:cNvPr id="17" name="Shape 14"/>
          <p:cNvSpPr/>
          <p:nvPr/>
        </p:nvSpPr>
        <p:spPr>
          <a:xfrm>
            <a:off x="8503920" y="2816352"/>
            <a:ext cx="3139135" cy="0"/>
          </a:xfrm>
          <a:prstGeom prst="line">
            <a:avLst/>
          </a:prstGeom>
          <a:noFill/>
          <a:ln w="9525">
            <a:solidFill>
              <a:srgbClr val="CCD3DD"/>
            </a:solidFill>
            <a:prstDash val="solid"/>
          </a:ln>
        </p:spPr>
      </p:sp>
      <p:sp>
        <p:nvSpPr>
          <p:cNvPr id="18" name="Text 15"/>
          <p:cNvSpPr txBox="1"/>
          <p:nvPr/>
        </p:nvSpPr>
        <p:spPr>
          <a:xfrm>
            <a:off x="8503920" y="2889504"/>
            <a:ext cx="1554480" cy="548640"/>
          </a:xfrm>
          <a:prstGeom prst="rect">
            <a:avLst/>
          </a:prstGeom>
          <a:noFill/>
          <a:ln/>
        </p:spPr>
        <p:txBody>
          <a:bodyPr wrap="square" lIns="0" tIns="0" rIns="0" bIns="0" rtlCol="0" anchor="ctr"/>
          <a:lstStyle/>
          <a:p>
            <a:pPr indent="0" marL="0">
              <a:buNone/>
            </a:pPr>
            <a:r>
              <a:rPr lang="en-US" sz="2600" b="1" dirty="0">
                <a:solidFill>
                  <a:srgbClr val="16398A"/>
                </a:solidFill>
                <a:latin typeface="Calibri" pitchFamily="34" charset="0"/>
                <a:ea typeface="Calibri" pitchFamily="34" charset="-122"/>
                <a:cs typeface="Calibri" pitchFamily="34" charset="-120"/>
              </a:rPr>
              <a:t>1.35M</a:t>
            </a:r>
            <a:endParaRPr lang="en-US" sz="2600" dirty="0"/>
          </a:p>
        </p:txBody>
      </p:sp>
      <p:sp>
        <p:nvSpPr>
          <p:cNvPr id="19" name="Text 16"/>
          <p:cNvSpPr txBox="1"/>
          <p:nvPr/>
        </p:nvSpPr>
        <p:spPr>
          <a:xfrm>
            <a:off x="10104120" y="2889504"/>
            <a:ext cx="1097280" cy="548640"/>
          </a:xfrm>
          <a:prstGeom prst="rect">
            <a:avLst/>
          </a:prstGeom>
          <a:noFill/>
          <a:ln/>
        </p:spPr>
        <p:txBody>
          <a:bodyPr wrap="square" lIns="0" tIns="0" rIns="0" bIns="0" rtlCol="0" anchor="ctr"/>
          <a:lstStyle/>
          <a:p>
            <a:pPr indent="0" marL="0">
              <a:buNone/>
            </a:pPr>
            <a:r>
              <a:rPr lang="en-US" sz="1300" dirty="0">
                <a:solidFill>
                  <a:srgbClr val="1C2330"/>
                </a:solidFill>
                <a:latin typeface="Calibri" pitchFamily="34" charset="0"/>
                <a:ea typeface="Calibri" pitchFamily="34" charset="-122"/>
                <a:cs typeface="Calibri" pitchFamily="34" charset="-120"/>
              </a:rPr>
              <a:t>Print</a:t>
            </a:r>
            <a:endParaRPr lang="en-US" sz="1300" dirty="0"/>
          </a:p>
        </p:txBody>
      </p:sp>
      <p:sp>
        <p:nvSpPr>
          <p:cNvPr id="20" name="Text 17"/>
          <p:cNvSpPr txBox="1"/>
          <p:nvPr/>
        </p:nvSpPr>
        <p:spPr>
          <a:xfrm>
            <a:off x="11155680" y="2889504"/>
            <a:ext cx="487375" cy="548640"/>
          </a:xfrm>
          <a:prstGeom prst="rect">
            <a:avLst/>
          </a:prstGeom>
          <a:noFill/>
          <a:ln/>
        </p:spPr>
        <p:txBody>
          <a:bodyPr wrap="square" lIns="0" tIns="0" rIns="0" bIns="0" rtlCol="0" anchor="ctr"/>
          <a:lstStyle/>
          <a:p>
            <a:pPr algn="r" indent="0" marL="0">
              <a:buNone/>
            </a:pPr>
            <a:r>
              <a:rPr lang="en-US" sz="1300" dirty="0">
                <a:solidFill>
                  <a:srgbClr val="596273"/>
                </a:solidFill>
                <a:latin typeface="Calibri" pitchFamily="34" charset="0"/>
                <a:ea typeface="Calibri" pitchFamily="34" charset="-122"/>
                <a:cs typeface="Calibri" pitchFamily="34" charset="-120"/>
              </a:rPr>
              <a:t>6%</a:t>
            </a:r>
            <a:endParaRPr lang="en-US" sz="1300" dirty="0"/>
          </a:p>
        </p:txBody>
      </p:sp>
      <p:sp>
        <p:nvSpPr>
          <p:cNvPr id="21" name="Shape 18"/>
          <p:cNvSpPr/>
          <p:nvPr/>
        </p:nvSpPr>
        <p:spPr>
          <a:xfrm>
            <a:off x="8503920" y="3529584"/>
            <a:ext cx="3139135" cy="0"/>
          </a:xfrm>
          <a:prstGeom prst="line">
            <a:avLst/>
          </a:prstGeom>
          <a:noFill/>
          <a:ln w="9525">
            <a:solidFill>
              <a:srgbClr val="CCD3DD"/>
            </a:solidFill>
            <a:prstDash val="solid"/>
          </a:ln>
        </p:spPr>
      </p:sp>
      <p:sp>
        <p:nvSpPr>
          <p:cNvPr id="22" name="Text 19"/>
          <p:cNvSpPr txBox="1"/>
          <p:nvPr/>
        </p:nvSpPr>
        <p:spPr>
          <a:xfrm>
            <a:off x="8503920" y="3602736"/>
            <a:ext cx="1554480" cy="548640"/>
          </a:xfrm>
          <a:prstGeom prst="rect">
            <a:avLst/>
          </a:prstGeom>
          <a:noFill/>
          <a:ln/>
        </p:spPr>
        <p:txBody>
          <a:bodyPr wrap="square" lIns="0" tIns="0" rIns="0" bIns="0" rtlCol="0" anchor="ctr"/>
          <a:lstStyle/>
          <a:p>
            <a:pPr indent="0" marL="0">
              <a:buNone/>
            </a:pPr>
            <a:r>
              <a:rPr lang="en-US" sz="2600" b="1" dirty="0">
                <a:solidFill>
                  <a:srgbClr val="16398A"/>
                </a:solidFill>
                <a:latin typeface="Calibri" pitchFamily="34" charset="0"/>
                <a:ea typeface="Calibri" pitchFamily="34" charset="-122"/>
                <a:cs typeface="Calibri" pitchFamily="34" charset="-120"/>
              </a:rPr>
              <a:t>307K</a:t>
            </a:r>
            <a:endParaRPr lang="en-US" sz="2600" dirty="0"/>
          </a:p>
        </p:txBody>
      </p:sp>
      <p:sp>
        <p:nvSpPr>
          <p:cNvPr id="23" name="Text 20"/>
          <p:cNvSpPr txBox="1"/>
          <p:nvPr/>
        </p:nvSpPr>
        <p:spPr>
          <a:xfrm>
            <a:off x="10104120" y="3602736"/>
            <a:ext cx="1097280" cy="548640"/>
          </a:xfrm>
          <a:prstGeom prst="rect">
            <a:avLst/>
          </a:prstGeom>
          <a:noFill/>
          <a:ln/>
        </p:spPr>
        <p:txBody>
          <a:bodyPr wrap="square" lIns="0" tIns="0" rIns="0" bIns="0" rtlCol="0" anchor="ctr"/>
          <a:lstStyle/>
          <a:p>
            <a:pPr indent="0" marL="0">
              <a:buNone/>
            </a:pPr>
            <a:r>
              <a:rPr lang="en-US" sz="1300" dirty="0">
                <a:solidFill>
                  <a:srgbClr val="1C2330"/>
                </a:solidFill>
                <a:latin typeface="Calibri" pitchFamily="34" charset="0"/>
                <a:ea typeface="Calibri" pitchFamily="34" charset="-122"/>
                <a:cs typeface="Calibri" pitchFamily="34" charset="-120"/>
              </a:rPr>
              <a:t>Digital</a:t>
            </a:r>
            <a:endParaRPr lang="en-US" sz="1300" dirty="0"/>
          </a:p>
        </p:txBody>
      </p:sp>
      <p:sp>
        <p:nvSpPr>
          <p:cNvPr id="24" name="Text 21"/>
          <p:cNvSpPr txBox="1"/>
          <p:nvPr/>
        </p:nvSpPr>
        <p:spPr>
          <a:xfrm>
            <a:off x="11155680" y="3602736"/>
            <a:ext cx="487375" cy="548640"/>
          </a:xfrm>
          <a:prstGeom prst="rect">
            <a:avLst/>
          </a:prstGeom>
          <a:noFill/>
          <a:ln/>
        </p:spPr>
        <p:txBody>
          <a:bodyPr wrap="square" lIns="0" tIns="0" rIns="0" bIns="0" rtlCol="0" anchor="ctr"/>
          <a:lstStyle/>
          <a:p>
            <a:pPr algn="r" indent="0" marL="0">
              <a:buNone/>
            </a:pPr>
            <a:r>
              <a:rPr lang="en-US" sz="1300" dirty="0">
                <a:solidFill>
                  <a:srgbClr val="596273"/>
                </a:solidFill>
                <a:latin typeface="Calibri" pitchFamily="34" charset="0"/>
                <a:ea typeface="Calibri" pitchFamily="34" charset="-122"/>
                <a:cs typeface="Calibri" pitchFamily="34" charset="-120"/>
              </a:rPr>
              <a:t>1%</a:t>
            </a:r>
            <a:endParaRPr lang="en-US" sz="1300" dirty="0"/>
          </a:p>
        </p:txBody>
      </p:sp>
      <p:sp>
        <p:nvSpPr>
          <p:cNvPr id="25" name="Shape 22"/>
          <p:cNvSpPr/>
          <p:nvPr/>
        </p:nvSpPr>
        <p:spPr>
          <a:xfrm>
            <a:off x="8503920" y="4242816"/>
            <a:ext cx="3139135" cy="0"/>
          </a:xfrm>
          <a:prstGeom prst="line">
            <a:avLst/>
          </a:prstGeom>
          <a:noFill/>
          <a:ln w="9525">
            <a:solidFill>
              <a:srgbClr val="CCD3DD"/>
            </a:solidFill>
            <a:prstDash val="solid"/>
          </a:ln>
        </p:spPr>
      </p:sp>
      <p:sp>
        <p:nvSpPr>
          <p:cNvPr id="26" name="Shape 23"/>
          <p:cNvSpPr/>
          <p:nvPr/>
        </p:nvSpPr>
        <p:spPr>
          <a:xfrm>
            <a:off x="8503920" y="4434840"/>
            <a:ext cx="3139135" cy="1554480"/>
          </a:xfrm>
          <a:prstGeom prst="roundRect">
            <a:avLst>
              <a:gd name="adj" fmla="val 3529"/>
            </a:avLst>
          </a:prstGeom>
          <a:solidFill>
            <a:srgbClr val="0F1B2D"/>
          </a:solidFill>
          <a:ln/>
        </p:spPr>
      </p:sp>
      <p:sp>
        <p:nvSpPr>
          <p:cNvPr id="27" name="Text 24"/>
          <p:cNvSpPr txBox="1"/>
          <p:nvPr/>
        </p:nvSpPr>
        <p:spPr>
          <a:xfrm>
            <a:off x="8732520" y="4572000"/>
            <a:ext cx="2681935" cy="1325880"/>
          </a:xfrm>
          <a:prstGeom prst="rect">
            <a:avLst/>
          </a:prstGeom>
          <a:noFill/>
          <a:ln/>
        </p:spPr>
        <p:txBody>
          <a:bodyPr wrap="square" lIns="0" tIns="0" rIns="0" bIns="0" rtlCol="0" anchor="t"/>
          <a:lstStyle/>
          <a:p>
            <a:pPr indent="0" marL="0">
              <a:buNone/>
            </a:pPr>
            <a:r>
              <a:rPr lang="en-US" sz="1250" b="1" dirty="0">
                <a:solidFill>
                  <a:srgbClr val="FFD84D"/>
                </a:solidFill>
                <a:latin typeface="Calibri" pitchFamily="34" charset="0"/>
                <a:ea typeface="Calibri" pitchFamily="34" charset="-122"/>
                <a:cs typeface="Calibri" pitchFamily="34" charset="-120"/>
              </a:rPr>
              <a:t>Concentration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Payments (PPX) drives 56% of all deliveries, and the top three sources drive 80%. Capacity and incident planning should track the payment cycle.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ROADMAP</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Client Letter retirement and migration to Inspire</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LEADERSHIP</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28</a:t>
            </a:r>
            <a:endParaRPr lang="en-US" sz="900" dirty="0"/>
          </a:p>
        </p:txBody>
      </p:sp>
      <p:sp>
        <p:nvSpPr>
          <p:cNvPr id="9" name="Text 7"/>
          <p:cNvSpPr txBox="1"/>
          <p:nvPr/>
        </p:nvSpPr>
        <p:spPr>
          <a:xfrm>
            <a:off x="548640" y="1325880"/>
            <a:ext cx="11094415" cy="365760"/>
          </a:xfrm>
          <a:prstGeom prst="rect">
            <a:avLst/>
          </a:prstGeom>
          <a:noFill/>
          <a:ln/>
        </p:spPr>
        <p:txBody>
          <a:bodyPr wrap="square" lIns="0" tIns="0" rIns="0" bIns="0" rtlCol="0" anchor="t"/>
          <a:lstStyle/>
          <a:p>
            <a:pPr indent="0" marL="0">
              <a:buNone/>
            </a:pPr>
            <a:r>
              <a:rPr lang="en-US" sz="1400" dirty="0">
                <a:solidFill>
                  <a:srgbClr val="596273"/>
                </a:solidFill>
                <a:latin typeface="Calibri" pitchFamily="34" charset="0"/>
                <a:ea typeface="Calibri" pitchFamily="34" charset="-122"/>
                <a:cs typeface="Calibri" pitchFamily="34" charset="-120"/>
              </a:rPr>
              <a:t>Moving legacy Client Letter templates onto CCM / Inspire to standardize digital and print communication across the enterprise.</a:t>
            </a:r>
            <a:endParaRPr lang="en-US" sz="1400" dirty="0"/>
          </a:p>
        </p:txBody>
      </p:sp>
      <p:sp>
        <p:nvSpPr>
          <p:cNvPr id="10" name="Shape 8"/>
          <p:cNvSpPr/>
          <p:nvPr/>
        </p:nvSpPr>
        <p:spPr>
          <a:xfrm>
            <a:off x="548640" y="1828800"/>
            <a:ext cx="2036003" cy="1417320"/>
          </a:xfrm>
          <a:prstGeom prst="roundRect">
            <a:avLst>
              <a:gd name="adj" fmla="val 3871"/>
            </a:avLst>
          </a:prstGeom>
          <a:solidFill>
            <a:srgbClr val="0F1B2D"/>
          </a:solidFill>
          <a:ln/>
        </p:spPr>
      </p:sp>
      <p:sp>
        <p:nvSpPr>
          <p:cNvPr id="11" name="Text 9"/>
          <p:cNvSpPr txBox="1"/>
          <p:nvPr/>
        </p:nvSpPr>
        <p:spPr>
          <a:xfrm>
            <a:off x="777240" y="1938528"/>
            <a:ext cx="1578803"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442</a:t>
            </a:r>
            <a:endParaRPr lang="en-US" sz="3000" dirty="0"/>
          </a:p>
        </p:txBody>
      </p:sp>
      <p:sp>
        <p:nvSpPr>
          <p:cNvPr id="12" name="Text 10"/>
          <p:cNvSpPr txBox="1"/>
          <p:nvPr/>
        </p:nvSpPr>
        <p:spPr>
          <a:xfrm>
            <a:off x="777240" y="2514600"/>
            <a:ext cx="1578803"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Total templates</a:t>
            </a:r>
            <a:endParaRPr lang="en-US" sz="1300" dirty="0"/>
          </a:p>
        </p:txBody>
      </p:sp>
      <p:sp>
        <p:nvSpPr>
          <p:cNvPr id="13" name="Text 11"/>
          <p:cNvSpPr txBox="1"/>
          <p:nvPr/>
        </p:nvSpPr>
        <p:spPr>
          <a:xfrm>
            <a:off x="777240" y="2788920"/>
            <a:ext cx="1578803" cy="365760"/>
          </a:xfrm>
          <a:prstGeom prst="rect">
            <a:avLst/>
          </a:prstGeom>
          <a:noFill/>
          <a:ln/>
        </p:spPr>
        <p:txBody>
          <a:bodyPr wrap="square" lIns="0" tIns="0" rIns="0" bIns="0" rtlCol="0" anchor="t"/>
          <a:lstStyle/>
          <a:p>
            <a:pPr indent="0" marL="0">
              <a:buNone/>
            </a:pPr>
            <a:r>
              <a:rPr lang="en-US" sz="1100" dirty="0">
                <a:solidFill>
                  <a:srgbClr val="B9C8E6"/>
                </a:solidFill>
                <a:latin typeface="Calibri" pitchFamily="34" charset="0"/>
                <a:ea typeface="Calibri" pitchFamily="34" charset="-122"/>
                <a:cs typeface="Calibri" pitchFamily="34" charset="-120"/>
              </a:rPr>
              <a:t>English and Spanish</a:t>
            </a:r>
            <a:endParaRPr lang="en-US" sz="1100" dirty="0"/>
          </a:p>
        </p:txBody>
      </p:sp>
      <p:sp>
        <p:nvSpPr>
          <p:cNvPr id="14" name="Shape 12"/>
          <p:cNvSpPr/>
          <p:nvPr/>
        </p:nvSpPr>
        <p:spPr>
          <a:xfrm>
            <a:off x="2813243" y="1828800"/>
            <a:ext cx="2036003" cy="1417320"/>
          </a:xfrm>
          <a:prstGeom prst="roundRect">
            <a:avLst>
              <a:gd name="adj" fmla="val 3871"/>
            </a:avLst>
          </a:prstGeom>
          <a:solidFill>
            <a:srgbClr val="E7EEFB"/>
          </a:solidFill>
          <a:ln/>
        </p:spPr>
      </p:sp>
      <p:sp>
        <p:nvSpPr>
          <p:cNvPr id="15" name="Text 13"/>
          <p:cNvSpPr txBox="1"/>
          <p:nvPr/>
        </p:nvSpPr>
        <p:spPr>
          <a:xfrm>
            <a:off x="3041843" y="1938528"/>
            <a:ext cx="1578803" cy="566928"/>
          </a:xfrm>
          <a:prstGeom prst="rect">
            <a:avLst/>
          </a:prstGeom>
          <a:noFill/>
          <a:ln/>
        </p:spPr>
        <p:txBody>
          <a:bodyPr wrap="square" lIns="0" tIns="0" rIns="0" bIns="0" rtlCol="0" anchor="t"/>
          <a:lstStyle/>
          <a:p>
            <a:pPr indent="0" marL="0">
              <a:buNone/>
            </a:pPr>
            <a:r>
              <a:rPr lang="en-US" sz="3000" b="1" dirty="0">
                <a:solidFill>
                  <a:srgbClr val="16398A"/>
                </a:solidFill>
                <a:latin typeface="Calibri" pitchFamily="34" charset="0"/>
                <a:ea typeface="Calibri" pitchFamily="34" charset="-122"/>
                <a:cs typeface="Calibri" pitchFamily="34" charset="-120"/>
              </a:rPr>
              <a:t>274</a:t>
            </a:r>
            <a:endParaRPr lang="en-US" sz="3000" dirty="0"/>
          </a:p>
        </p:txBody>
      </p:sp>
      <p:sp>
        <p:nvSpPr>
          <p:cNvPr id="16" name="Text 14"/>
          <p:cNvSpPr txBox="1"/>
          <p:nvPr/>
        </p:nvSpPr>
        <p:spPr>
          <a:xfrm>
            <a:off x="3041843" y="2514600"/>
            <a:ext cx="1578803"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2025 migrations</a:t>
            </a:r>
            <a:endParaRPr lang="en-US" sz="1300" dirty="0"/>
          </a:p>
        </p:txBody>
      </p:sp>
      <p:sp>
        <p:nvSpPr>
          <p:cNvPr id="17" name="Text 15"/>
          <p:cNvSpPr txBox="1"/>
          <p:nvPr/>
        </p:nvSpPr>
        <p:spPr>
          <a:xfrm>
            <a:off x="3041843" y="2788920"/>
            <a:ext cx="1578803" cy="365760"/>
          </a:xfrm>
          <a:prstGeom prst="rect">
            <a:avLst/>
          </a:prstGeom>
          <a:noFill/>
          <a:ln/>
        </p:spPr>
        <p:txBody>
          <a:bodyPr wrap="square" lIns="0" tIns="0" rIns="0" bIns="0" rtlCol="0" anchor="t"/>
          <a:lstStyle/>
          <a:p>
            <a:pPr indent="0" marL="0">
              <a:buNone/>
            </a:pPr>
            <a:r>
              <a:rPr lang="en-US" sz="1100" dirty="0">
                <a:solidFill>
                  <a:srgbClr val="596273"/>
                </a:solidFill>
                <a:latin typeface="Calibri" pitchFamily="34" charset="0"/>
                <a:ea typeface="Calibri" pitchFamily="34" charset="-122"/>
                <a:cs typeface="Calibri" pitchFamily="34" charset="-120"/>
              </a:rPr>
              <a:t>Critical business communications</a:t>
            </a:r>
            <a:endParaRPr lang="en-US" sz="1100" dirty="0"/>
          </a:p>
        </p:txBody>
      </p:sp>
      <p:sp>
        <p:nvSpPr>
          <p:cNvPr id="18" name="Shape 16"/>
          <p:cNvSpPr/>
          <p:nvPr/>
        </p:nvSpPr>
        <p:spPr>
          <a:xfrm>
            <a:off x="5077846" y="1828800"/>
            <a:ext cx="2036003" cy="1417320"/>
          </a:xfrm>
          <a:prstGeom prst="roundRect">
            <a:avLst>
              <a:gd name="adj" fmla="val 3871"/>
            </a:avLst>
          </a:prstGeom>
          <a:solidFill>
            <a:srgbClr val="E7EEFB"/>
          </a:solidFill>
          <a:ln/>
        </p:spPr>
      </p:sp>
      <p:sp>
        <p:nvSpPr>
          <p:cNvPr id="19" name="Text 17"/>
          <p:cNvSpPr txBox="1"/>
          <p:nvPr/>
        </p:nvSpPr>
        <p:spPr>
          <a:xfrm>
            <a:off x="5306446" y="1938528"/>
            <a:ext cx="1578803" cy="566928"/>
          </a:xfrm>
          <a:prstGeom prst="rect">
            <a:avLst/>
          </a:prstGeom>
          <a:noFill/>
          <a:ln/>
        </p:spPr>
        <p:txBody>
          <a:bodyPr wrap="square" lIns="0" tIns="0" rIns="0" bIns="0" rtlCol="0" anchor="t"/>
          <a:lstStyle/>
          <a:p>
            <a:pPr indent="0" marL="0">
              <a:buNone/>
            </a:pPr>
            <a:r>
              <a:rPr lang="en-US" sz="3000" b="1" dirty="0">
                <a:solidFill>
                  <a:srgbClr val="16398A"/>
                </a:solidFill>
                <a:latin typeface="Calibri" pitchFamily="34" charset="0"/>
                <a:ea typeface="Calibri" pitchFamily="34" charset="-122"/>
                <a:cs typeface="Calibri" pitchFamily="34" charset="-120"/>
              </a:rPr>
              <a:t>168</a:t>
            </a:r>
            <a:endParaRPr lang="en-US" sz="3000" dirty="0"/>
          </a:p>
        </p:txBody>
      </p:sp>
      <p:sp>
        <p:nvSpPr>
          <p:cNvPr id="20" name="Text 18"/>
          <p:cNvSpPr txBox="1"/>
          <p:nvPr/>
        </p:nvSpPr>
        <p:spPr>
          <a:xfrm>
            <a:off x="5306446" y="2514600"/>
            <a:ext cx="1578803"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2026 potential</a:t>
            </a:r>
            <a:endParaRPr lang="en-US" sz="1300" dirty="0"/>
          </a:p>
        </p:txBody>
      </p:sp>
      <p:sp>
        <p:nvSpPr>
          <p:cNvPr id="21" name="Text 19"/>
          <p:cNvSpPr txBox="1"/>
          <p:nvPr/>
        </p:nvSpPr>
        <p:spPr>
          <a:xfrm>
            <a:off x="5306446" y="2788920"/>
            <a:ext cx="1578803" cy="365760"/>
          </a:xfrm>
          <a:prstGeom prst="rect">
            <a:avLst/>
          </a:prstGeom>
          <a:noFill/>
          <a:ln/>
        </p:spPr>
        <p:txBody>
          <a:bodyPr wrap="square" lIns="0" tIns="0" rIns="0" bIns="0" rtlCol="0" anchor="t"/>
          <a:lstStyle/>
          <a:p>
            <a:pPr indent="0" marL="0">
              <a:buNone/>
            </a:pPr>
            <a:r>
              <a:rPr lang="en-US" sz="1100" dirty="0">
                <a:solidFill>
                  <a:srgbClr val="596273"/>
                </a:solidFill>
                <a:latin typeface="Calibri" pitchFamily="34" charset="0"/>
                <a:ea typeface="Calibri" pitchFamily="34" charset="-122"/>
                <a:cs typeface="Calibri" pitchFamily="34" charset="-120"/>
              </a:rPr>
              <a:t>Based on evolving business needs</a:t>
            </a:r>
            <a:endParaRPr lang="en-US" sz="1100" dirty="0"/>
          </a:p>
        </p:txBody>
      </p:sp>
      <p:sp>
        <p:nvSpPr>
          <p:cNvPr id="22" name="Shape 20"/>
          <p:cNvSpPr/>
          <p:nvPr/>
        </p:nvSpPr>
        <p:spPr>
          <a:xfrm>
            <a:off x="7342449" y="1828800"/>
            <a:ext cx="2036003" cy="1417320"/>
          </a:xfrm>
          <a:prstGeom prst="roundRect">
            <a:avLst>
              <a:gd name="adj" fmla="val 3871"/>
            </a:avLst>
          </a:prstGeom>
          <a:solidFill>
            <a:srgbClr val="E7EEFB"/>
          </a:solidFill>
          <a:ln/>
        </p:spPr>
      </p:sp>
      <p:sp>
        <p:nvSpPr>
          <p:cNvPr id="23" name="Text 21"/>
          <p:cNvSpPr txBox="1"/>
          <p:nvPr/>
        </p:nvSpPr>
        <p:spPr>
          <a:xfrm>
            <a:off x="7571049" y="1938528"/>
            <a:ext cx="1578803" cy="566928"/>
          </a:xfrm>
          <a:prstGeom prst="rect">
            <a:avLst/>
          </a:prstGeom>
          <a:noFill/>
          <a:ln/>
        </p:spPr>
        <p:txBody>
          <a:bodyPr wrap="square" lIns="0" tIns="0" rIns="0" bIns="0" rtlCol="0" anchor="t"/>
          <a:lstStyle/>
          <a:p>
            <a:pPr indent="0" marL="0">
              <a:buNone/>
            </a:pPr>
            <a:r>
              <a:rPr lang="en-US" sz="3000" b="1" dirty="0">
                <a:solidFill>
                  <a:srgbClr val="16398A"/>
                </a:solidFill>
                <a:latin typeface="Calibri" pitchFamily="34" charset="0"/>
                <a:ea typeface="Calibri" pitchFamily="34" charset="-122"/>
                <a:cs typeface="Calibri" pitchFamily="34" charset="-120"/>
              </a:rPr>
              <a:t>10+</a:t>
            </a:r>
            <a:endParaRPr lang="en-US" sz="3000" dirty="0"/>
          </a:p>
        </p:txBody>
      </p:sp>
      <p:sp>
        <p:nvSpPr>
          <p:cNvPr id="24" name="Text 22"/>
          <p:cNvSpPr txBox="1"/>
          <p:nvPr/>
        </p:nvSpPr>
        <p:spPr>
          <a:xfrm>
            <a:off x="7571049" y="2514600"/>
            <a:ext cx="1578803"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Systems integrated</a:t>
            </a:r>
            <a:endParaRPr lang="en-US" sz="1300" dirty="0"/>
          </a:p>
        </p:txBody>
      </p:sp>
      <p:sp>
        <p:nvSpPr>
          <p:cNvPr id="25" name="Text 23"/>
          <p:cNvSpPr txBox="1"/>
          <p:nvPr/>
        </p:nvSpPr>
        <p:spPr>
          <a:xfrm>
            <a:off x="7571049" y="2788920"/>
            <a:ext cx="1578803" cy="365760"/>
          </a:xfrm>
          <a:prstGeom prst="rect">
            <a:avLst/>
          </a:prstGeom>
          <a:noFill/>
          <a:ln/>
        </p:spPr>
        <p:txBody>
          <a:bodyPr wrap="square" lIns="0" tIns="0" rIns="0" bIns="0" rtlCol="0" anchor="t"/>
          <a:lstStyle/>
          <a:p>
            <a:pPr indent="0" marL="0">
              <a:buNone/>
            </a:pPr>
            <a:r>
              <a:rPr lang="en-US" sz="1100" dirty="0">
                <a:solidFill>
                  <a:srgbClr val="596273"/>
                </a:solidFill>
                <a:latin typeface="Calibri" pitchFamily="34" charset="0"/>
                <a:ea typeface="Calibri" pitchFamily="34" charset="-122"/>
                <a:cs typeface="Calibri" pitchFamily="34" charset="-120"/>
              </a:rPr>
              <a:t>Uninterrupted communications</a:t>
            </a:r>
            <a:endParaRPr lang="en-US" sz="1100" dirty="0"/>
          </a:p>
        </p:txBody>
      </p:sp>
      <p:sp>
        <p:nvSpPr>
          <p:cNvPr id="26" name="Shape 24"/>
          <p:cNvSpPr/>
          <p:nvPr/>
        </p:nvSpPr>
        <p:spPr>
          <a:xfrm>
            <a:off x="9607052" y="1828800"/>
            <a:ext cx="2036003" cy="1417320"/>
          </a:xfrm>
          <a:prstGeom prst="roundRect">
            <a:avLst>
              <a:gd name="adj" fmla="val 3871"/>
            </a:avLst>
          </a:prstGeom>
          <a:solidFill>
            <a:srgbClr val="E7EEFB"/>
          </a:solidFill>
          <a:ln/>
        </p:spPr>
      </p:sp>
      <p:sp>
        <p:nvSpPr>
          <p:cNvPr id="27" name="Text 25"/>
          <p:cNvSpPr txBox="1"/>
          <p:nvPr/>
        </p:nvSpPr>
        <p:spPr>
          <a:xfrm>
            <a:off x="9835652" y="1938528"/>
            <a:ext cx="1578803" cy="566928"/>
          </a:xfrm>
          <a:prstGeom prst="rect">
            <a:avLst/>
          </a:prstGeom>
          <a:noFill/>
          <a:ln/>
        </p:spPr>
        <p:txBody>
          <a:bodyPr wrap="square" lIns="0" tIns="0" rIns="0" bIns="0" rtlCol="0" anchor="t"/>
          <a:lstStyle/>
          <a:p>
            <a:pPr indent="0" marL="0">
              <a:buNone/>
            </a:pPr>
            <a:r>
              <a:rPr lang="en-US" sz="3000" b="1" dirty="0">
                <a:solidFill>
                  <a:srgbClr val="16398A"/>
                </a:solidFill>
                <a:latin typeface="Calibri" pitchFamily="34" charset="0"/>
                <a:ea typeface="Calibri" pitchFamily="34" charset="-122"/>
                <a:cs typeface="Calibri" pitchFamily="34" charset="-120"/>
              </a:rPr>
              <a:t>3.4M</a:t>
            </a:r>
            <a:endParaRPr lang="en-US" sz="3000" dirty="0"/>
          </a:p>
        </p:txBody>
      </p:sp>
      <p:sp>
        <p:nvSpPr>
          <p:cNvPr id="28" name="Text 26"/>
          <p:cNvSpPr txBox="1"/>
          <p:nvPr/>
        </p:nvSpPr>
        <p:spPr>
          <a:xfrm>
            <a:off x="9835652" y="2514600"/>
            <a:ext cx="1578803" cy="274320"/>
          </a:xfrm>
          <a:prstGeom prst="rect">
            <a:avLst/>
          </a:prstGeom>
          <a:noFill/>
          <a:ln/>
        </p:spPr>
        <p:txBody>
          <a:bodyPr wrap="square" lIns="0" tIns="0" rIns="0" bIns="0" rtlCol="0" anchor="t"/>
          <a:lstStyle/>
          <a:p>
            <a:pPr indent="0" marL="0">
              <a:buNone/>
            </a:pPr>
            <a:r>
              <a:rPr lang="en-US" sz="1300" b="1" dirty="0">
                <a:solidFill>
                  <a:srgbClr val="1C2330"/>
                </a:solidFill>
                <a:latin typeface="Calibri" pitchFamily="34" charset="0"/>
                <a:ea typeface="Calibri" pitchFamily="34" charset="-122"/>
                <a:cs typeface="Calibri" pitchFamily="34" charset="-120"/>
              </a:rPr>
              <a:t>Annual letters</a:t>
            </a:r>
            <a:endParaRPr lang="en-US" sz="1300" dirty="0"/>
          </a:p>
        </p:txBody>
      </p:sp>
      <p:sp>
        <p:nvSpPr>
          <p:cNvPr id="29" name="Text 27"/>
          <p:cNvSpPr txBox="1"/>
          <p:nvPr/>
        </p:nvSpPr>
        <p:spPr>
          <a:xfrm>
            <a:off x="9835652" y="2788920"/>
            <a:ext cx="1578803" cy="365760"/>
          </a:xfrm>
          <a:prstGeom prst="rect">
            <a:avLst/>
          </a:prstGeom>
          <a:noFill/>
          <a:ln/>
        </p:spPr>
        <p:txBody>
          <a:bodyPr wrap="square" lIns="0" tIns="0" rIns="0" bIns="0" rtlCol="0" anchor="t"/>
          <a:lstStyle/>
          <a:p>
            <a:pPr indent="0" marL="0">
              <a:buNone/>
            </a:pPr>
            <a:r>
              <a:rPr lang="en-US" sz="1100" dirty="0">
                <a:solidFill>
                  <a:srgbClr val="596273"/>
                </a:solidFill>
                <a:latin typeface="Calibri" pitchFamily="34" charset="0"/>
                <a:ea typeface="Calibri" pitchFamily="34" charset="-122"/>
                <a:cs typeface="Calibri" pitchFamily="34" charset="-120"/>
              </a:rPr>
              <a:t>Processed through current system</a:t>
            </a:r>
            <a:endParaRPr lang="en-US" sz="1100" dirty="0"/>
          </a:p>
        </p:txBody>
      </p:sp>
      <p:sp>
        <p:nvSpPr>
          <p:cNvPr id="30" name="Shape 28"/>
          <p:cNvSpPr/>
          <p:nvPr/>
        </p:nvSpPr>
        <p:spPr>
          <a:xfrm>
            <a:off x="548640" y="3977640"/>
            <a:ext cx="11094415" cy="0"/>
          </a:xfrm>
          <a:prstGeom prst="line">
            <a:avLst/>
          </a:prstGeom>
          <a:noFill/>
          <a:ln w="25400">
            <a:solidFill>
              <a:srgbClr val="CCD3DD"/>
            </a:solidFill>
            <a:prstDash val="solid"/>
          </a:ln>
        </p:spPr>
      </p:sp>
      <p:sp>
        <p:nvSpPr>
          <p:cNvPr id="31" name="Shape 29"/>
          <p:cNvSpPr/>
          <p:nvPr/>
        </p:nvSpPr>
        <p:spPr>
          <a:xfrm>
            <a:off x="548640" y="3822192"/>
            <a:ext cx="310896" cy="310896"/>
          </a:xfrm>
          <a:prstGeom prst="ellipse">
            <a:avLst/>
          </a:prstGeom>
          <a:solidFill>
            <a:srgbClr val="0F1B2D"/>
          </a:solidFill>
          <a:ln/>
        </p:spPr>
      </p:sp>
      <p:sp>
        <p:nvSpPr>
          <p:cNvPr id="32" name="Text 30"/>
          <p:cNvSpPr txBox="1"/>
          <p:nvPr/>
        </p:nvSpPr>
        <p:spPr>
          <a:xfrm>
            <a:off x="548640"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3" name="Text 31"/>
          <p:cNvSpPr txBox="1"/>
          <p:nvPr/>
        </p:nvSpPr>
        <p:spPr>
          <a:xfrm>
            <a:off x="548640" y="4251960"/>
            <a:ext cx="2499284" cy="27432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2025</a:t>
            </a:r>
            <a:endParaRPr lang="en-US" sz="1400" dirty="0"/>
          </a:p>
        </p:txBody>
      </p:sp>
      <p:sp>
        <p:nvSpPr>
          <p:cNvPr id="34" name="Text 32"/>
          <p:cNvSpPr txBox="1"/>
          <p:nvPr/>
        </p:nvSpPr>
        <p:spPr>
          <a:xfrm>
            <a:off x="548640" y="4544568"/>
            <a:ext cx="2453564" cy="548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Core templates migrated in English and Spanish</a:t>
            </a:r>
            <a:endParaRPr lang="en-US" sz="1200" dirty="0"/>
          </a:p>
        </p:txBody>
      </p:sp>
      <p:sp>
        <p:nvSpPr>
          <p:cNvPr id="35" name="Shape 33"/>
          <p:cNvSpPr/>
          <p:nvPr/>
        </p:nvSpPr>
        <p:spPr>
          <a:xfrm>
            <a:off x="3322244" y="3822192"/>
            <a:ext cx="310896" cy="310896"/>
          </a:xfrm>
          <a:prstGeom prst="ellipse">
            <a:avLst/>
          </a:prstGeom>
          <a:solidFill>
            <a:srgbClr val="0F1B2D"/>
          </a:solidFill>
          <a:ln/>
        </p:spPr>
      </p:sp>
      <p:sp>
        <p:nvSpPr>
          <p:cNvPr id="36" name="Text 34"/>
          <p:cNvSpPr txBox="1"/>
          <p:nvPr/>
        </p:nvSpPr>
        <p:spPr>
          <a:xfrm>
            <a:off x="3322244"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7" name="Text 35"/>
          <p:cNvSpPr txBox="1"/>
          <p:nvPr/>
        </p:nvSpPr>
        <p:spPr>
          <a:xfrm>
            <a:off x="3322244" y="4251960"/>
            <a:ext cx="2499284" cy="27432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2025</a:t>
            </a:r>
            <a:endParaRPr lang="en-US" sz="1400" dirty="0"/>
          </a:p>
        </p:txBody>
      </p:sp>
      <p:sp>
        <p:nvSpPr>
          <p:cNvPr id="38" name="Text 36"/>
          <p:cNvSpPr txBox="1"/>
          <p:nvPr/>
        </p:nvSpPr>
        <p:spPr>
          <a:xfrm>
            <a:off x="3322244" y="4544568"/>
            <a:ext cx="2453564" cy="548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Historical Client Letters available in Content Central</a:t>
            </a:r>
            <a:endParaRPr lang="en-US" sz="1200" dirty="0"/>
          </a:p>
        </p:txBody>
      </p:sp>
      <p:sp>
        <p:nvSpPr>
          <p:cNvPr id="39" name="Shape 37"/>
          <p:cNvSpPr/>
          <p:nvPr/>
        </p:nvSpPr>
        <p:spPr>
          <a:xfrm>
            <a:off x="6095848" y="3822192"/>
            <a:ext cx="310896" cy="310896"/>
          </a:xfrm>
          <a:prstGeom prst="ellipse">
            <a:avLst/>
          </a:prstGeom>
          <a:solidFill>
            <a:srgbClr val="1F4FB8"/>
          </a:solidFill>
          <a:ln/>
        </p:spPr>
      </p:sp>
      <p:sp>
        <p:nvSpPr>
          <p:cNvPr id="40" name="Text 38"/>
          <p:cNvSpPr txBox="1"/>
          <p:nvPr/>
        </p:nvSpPr>
        <p:spPr>
          <a:xfrm>
            <a:off x="6095848"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9"/>
          <p:cNvSpPr txBox="1"/>
          <p:nvPr/>
        </p:nvSpPr>
        <p:spPr>
          <a:xfrm>
            <a:off x="6095848" y="4251960"/>
            <a:ext cx="2499284" cy="27432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End of 2025</a:t>
            </a:r>
            <a:endParaRPr lang="en-US" sz="1400" dirty="0"/>
          </a:p>
        </p:txBody>
      </p:sp>
      <p:sp>
        <p:nvSpPr>
          <p:cNvPr id="42" name="Text 40"/>
          <p:cNvSpPr txBox="1"/>
          <p:nvPr/>
        </p:nvSpPr>
        <p:spPr>
          <a:xfrm>
            <a:off x="6095848" y="4544568"/>
            <a:ext cx="2453564" cy="548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Decommission Client Letter</a:t>
            </a:r>
            <a:endParaRPr lang="en-US" sz="1200" dirty="0"/>
          </a:p>
        </p:txBody>
      </p:sp>
      <p:sp>
        <p:nvSpPr>
          <p:cNvPr id="43" name="Shape 41"/>
          <p:cNvSpPr/>
          <p:nvPr/>
        </p:nvSpPr>
        <p:spPr>
          <a:xfrm>
            <a:off x="8869451" y="3822192"/>
            <a:ext cx="310896" cy="310896"/>
          </a:xfrm>
          <a:prstGeom prst="ellipse">
            <a:avLst/>
          </a:prstGeom>
          <a:solidFill>
            <a:srgbClr val="0F1B2D"/>
          </a:solidFill>
          <a:ln/>
        </p:spPr>
      </p:sp>
      <p:sp>
        <p:nvSpPr>
          <p:cNvPr id="44" name="Text 42"/>
          <p:cNvSpPr txBox="1"/>
          <p:nvPr/>
        </p:nvSpPr>
        <p:spPr>
          <a:xfrm>
            <a:off x="8869451"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Text 43"/>
          <p:cNvSpPr txBox="1"/>
          <p:nvPr/>
        </p:nvSpPr>
        <p:spPr>
          <a:xfrm>
            <a:off x="8869451" y="4251960"/>
            <a:ext cx="2499284" cy="274320"/>
          </a:xfrm>
          <a:prstGeom prst="rect">
            <a:avLst/>
          </a:prstGeom>
          <a:noFill/>
          <a:ln/>
        </p:spPr>
        <p:txBody>
          <a:bodyPr wrap="square" lIns="0" tIns="0" rIns="0" bIns="0" rtlCol="0" anchor="t"/>
          <a:lstStyle/>
          <a:p>
            <a:pPr indent="0" marL="0">
              <a:buNone/>
            </a:pPr>
            <a:r>
              <a:rPr lang="en-US" sz="1400" b="1" dirty="0">
                <a:solidFill>
                  <a:srgbClr val="16398A"/>
                </a:solidFill>
                <a:latin typeface="Calibri" pitchFamily="34" charset="0"/>
                <a:ea typeface="Calibri" pitchFamily="34" charset="-122"/>
                <a:cs typeface="Calibri" pitchFamily="34" charset="-120"/>
              </a:rPr>
              <a:t>2026</a:t>
            </a:r>
            <a:endParaRPr lang="en-US" sz="1400" dirty="0"/>
          </a:p>
        </p:txBody>
      </p:sp>
      <p:sp>
        <p:nvSpPr>
          <p:cNvPr id="46" name="Text 44"/>
          <p:cNvSpPr txBox="1"/>
          <p:nvPr/>
        </p:nvSpPr>
        <p:spPr>
          <a:xfrm>
            <a:off x="8869451" y="4544568"/>
            <a:ext cx="2453564" cy="548640"/>
          </a:xfrm>
          <a:prstGeom prst="rect">
            <a:avLst/>
          </a:prstGeom>
          <a:noFill/>
          <a:ln/>
        </p:spPr>
        <p:txBody>
          <a:bodyPr wrap="square" lIns="0" tIns="0" rIns="0" bIns="0" rtlCol="0" anchor="t"/>
          <a:lstStyle/>
          <a:p>
            <a:pPr indent="0" marL="0">
              <a:buNone/>
            </a:pPr>
            <a:r>
              <a:rPr lang="en-US" sz="1200" dirty="0">
                <a:solidFill>
                  <a:srgbClr val="1C2330"/>
                </a:solidFill>
                <a:latin typeface="Calibri" pitchFamily="34" charset="0"/>
                <a:ea typeface="Calibri" pitchFamily="34" charset="-122"/>
                <a:cs typeface="Calibri" pitchFamily="34" charset="-120"/>
              </a:rPr>
              <a:t>Additional templates migrated based on business needs</a:t>
            </a:r>
            <a:endParaRPr lang="en-US" sz="1200" dirty="0"/>
          </a:p>
        </p:txBody>
      </p:sp>
      <p:sp>
        <p:nvSpPr>
          <p:cNvPr id="47" name="Text 45"/>
          <p:cNvSpPr txBox="1"/>
          <p:nvPr/>
        </p:nvSpPr>
        <p:spPr>
          <a:xfrm>
            <a:off x="548640" y="5349240"/>
            <a:ext cx="5120640" cy="731520"/>
          </a:xfrm>
          <a:prstGeom prst="rect">
            <a:avLst/>
          </a:prstGeom>
          <a:noFill/>
          <a:ln/>
        </p:spPr>
        <p:txBody>
          <a:bodyPr wrap="square" lIns="0" tIns="0" rIns="0" bIns="0" rtlCol="0" anchor="t"/>
          <a:lstStyle/>
          <a:p>
            <a:pPr indent="0" marL="0">
              <a:buNone/>
            </a:pPr>
            <a:r>
              <a:rPr lang="en-US" sz="1200" b="1" dirty="0">
                <a:solidFill>
                  <a:srgbClr val="1C2330"/>
                </a:solidFill>
                <a:latin typeface="Calibri" pitchFamily="34" charset="0"/>
                <a:ea typeface="Calibri" pitchFamily="34" charset="-122"/>
                <a:cs typeface="Calibri" pitchFamily="34" charset="-120"/>
              </a:rPr>
              <a:t>Integration paths: </a:t>
            </a:r>
            <a:pPr indent="0" marL="0">
              <a:buNone/>
            </a:pPr>
            <a:r>
              <a:rPr lang="en-US" sz="1200" dirty="0">
                <a:solidFill>
                  <a:srgbClr val="1C2330"/>
                </a:solidFill>
                <a:latin typeface="Calibri" pitchFamily="34" charset="0"/>
                <a:ea typeface="Calibri" pitchFamily="34" charset="-122"/>
                <a:cs typeface="Calibri" pitchFamily="34" charset="-120"/>
              </a:rPr>
              <a:t>API (system-to-system), Batch (high-volume scheduled), OnDemand (reusable UI for real-time letters).</a:t>
            </a:r>
            <a:endParaRPr lang="en-US" sz="1200" dirty="0"/>
          </a:p>
        </p:txBody>
      </p:sp>
      <p:sp>
        <p:nvSpPr>
          <p:cNvPr id="48" name="Shape 46"/>
          <p:cNvSpPr/>
          <p:nvPr/>
        </p:nvSpPr>
        <p:spPr>
          <a:xfrm>
            <a:off x="5989320" y="5257800"/>
            <a:ext cx="5653735" cy="914400"/>
          </a:xfrm>
          <a:prstGeom prst="roundRect">
            <a:avLst>
              <a:gd name="adj" fmla="val 6000"/>
            </a:avLst>
          </a:prstGeom>
          <a:solidFill>
            <a:srgbClr val="E7EEFB"/>
          </a:solidFill>
          <a:ln/>
        </p:spPr>
      </p:sp>
      <p:sp>
        <p:nvSpPr>
          <p:cNvPr id="49" name="Text 47"/>
          <p:cNvSpPr txBox="1"/>
          <p:nvPr/>
        </p:nvSpPr>
        <p:spPr>
          <a:xfrm>
            <a:off x="6172200" y="5303520"/>
            <a:ext cx="5287975" cy="822960"/>
          </a:xfrm>
          <a:prstGeom prst="rect">
            <a:avLst/>
          </a:prstGeom>
          <a:noFill/>
          <a:ln/>
        </p:spPr>
        <p:txBody>
          <a:bodyPr wrap="square" lIns="0" tIns="0" rIns="0" bIns="0" rtlCol="0" anchor="ctr"/>
          <a:lstStyle/>
          <a:p>
            <a:pPr indent="0" marL="0">
              <a:buNone/>
            </a:pPr>
            <a:r>
              <a:rPr lang="en-US" sz="1150" b="1" dirty="0">
                <a:solidFill>
                  <a:srgbClr val="1C2330"/>
                </a:solidFill>
                <a:latin typeface="Calibri" pitchFamily="34" charset="0"/>
                <a:ea typeface="Calibri" pitchFamily="34" charset="-122"/>
                <a:cs typeface="Calibri" pitchFamily="34" charset="-120"/>
              </a:rPr>
              <a:t>Historical letters: </a:t>
            </a:r>
            <a:pPr indent="0" marL="0">
              <a:buNone/>
            </a:pPr>
            <a:r>
              <a:rPr lang="en-US" sz="1150" dirty="0">
                <a:solidFill>
                  <a:srgbClr val="1C2330"/>
                </a:solidFill>
                <a:latin typeface="Calibri" pitchFamily="34" charset="0"/>
                <a:ea typeface="Calibri" pitchFamily="34" charset="-122"/>
                <a:cs typeface="Calibri" pitchFamily="34" charset="-120"/>
              </a:rPr>
              <a:t>full history stays in the existing Client Letter database; the latest 3 years are available through Content Central using the current ecosystem and UI.</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NEXT STEPS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Observations and recommended actions</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LEADERSHIP</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29</a:t>
            </a:r>
            <a:endParaRPr lang="en-US" sz="900" dirty="0"/>
          </a:p>
        </p:txBody>
      </p:sp>
      <p:sp>
        <p:nvSpPr>
          <p:cNvPr id="9" name="Text 7"/>
          <p:cNvSpPr txBox="1"/>
          <p:nvPr/>
        </p:nvSpPr>
        <p:spPr>
          <a:xfrm>
            <a:off x="1097280" y="1371600"/>
            <a:ext cx="4572000" cy="228600"/>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OBSERVATION</a:t>
            </a:r>
            <a:endParaRPr lang="en-US" sz="1000" dirty="0"/>
          </a:p>
        </p:txBody>
      </p:sp>
      <p:sp>
        <p:nvSpPr>
          <p:cNvPr id="10" name="Text 8"/>
          <p:cNvSpPr txBox="1"/>
          <p:nvPr/>
        </p:nvSpPr>
        <p:spPr>
          <a:xfrm>
            <a:off x="6675120" y="1371600"/>
            <a:ext cx="4572000" cy="228600"/>
          </a:xfrm>
          <a:prstGeom prst="rect">
            <a:avLst/>
          </a:prstGeom>
          <a:noFill/>
          <a:ln/>
        </p:spPr>
        <p:txBody>
          <a:bodyPr wrap="square" lIns="0" tIns="0" rIns="0" bIns="0" rtlCol="0" anchor="t"/>
          <a:lstStyle/>
          <a:p>
            <a:pPr indent="0" marL="0">
              <a:buNone/>
            </a:pPr>
            <a:r>
              <a:rPr lang="en-US" sz="1000" b="1" spc="100" kern="0" dirty="0">
                <a:solidFill>
                  <a:srgbClr val="1F4FB8"/>
                </a:solidFill>
                <a:latin typeface="Calibri" pitchFamily="34" charset="0"/>
                <a:ea typeface="Calibri" pitchFamily="34" charset="-122"/>
                <a:cs typeface="Calibri" pitchFamily="34" charset="-120"/>
              </a:rPr>
              <a:t>RECOMMENDED ACTION</a:t>
            </a:r>
            <a:endParaRPr lang="en-US" sz="1000" dirty="0"/>
          </a:p>
        </p:txBody>
      </p:sp>
      <p:sp>
        <p:nvSpPr>
          <p:cNvPr id="11" name="Shape 9"/>
          <p:cNvSpPr/>
          <p:nvPr/>
        </p:nvSpPr>
        <p:spPr>
          <a:xfrm>
            <a:off x="548640" y="1764792"/>
            <a:ext cx="365760" cy="365760"/>
          </a:xfrm>
          <a:prstGeom prst="ellipse">
            <a:avLst/>
          </a:prstGeom>
          <a:solidFill>
            <a:srgbClr val="0F1B2D"/>
          </a:solidFill>
          <a:ln/>
        </p:spPr>
      </p:sp>
      <p:sp>
        <p:nvSpPr>
          <p:cNvPr id="12" name="Text 10"/>
          <p:cNvSpPr txBox="1"/>
          <p:nvPr/>
        </p:nvSpPr>
        <p:spPr>
          <a:xfrm>
            <a:off x="548640" y="1764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1097280" y="1691640"/>
            <a:ext cx="5577840" cy="822960"/>
          </a:xfrm>
          <a:prstGeom prst="rect">
            <a:avLst/>
          </a:prstGeom>
          <a:noFill/>
          <a:ln/>
        </p:spPr>
        <p:txBody>
          <a:bodyPr wrap="square" lIns="0" tIns="0" rIns="0" bIns="0" rtlCol="0" anchor="t"/>
          <a:lstStyle/>
          <a:p>
            <a:pPr indent="0" marL="0">
              <a:buNone/>
            </a:pPr>
            <a:r>
              <a:rPr lang="en-US" sz="1350" b="1" dirty="0">
                <a:solidFill>
                  <a:srgbClr val="1C2330"/>
                </a:solidFill>
                <a:latin typeface="Calibri" pitchFamily="34" charset="0"/>
                <a:ea typeface="Calibri" pitchFamily="34" charset="-122"/>
                <a:cs typeface="Calibri" pitchFamily="34" charset="-120"/>
              </a:rPr>
              <a:t>Monitoring gaps on the API tier</a:t>
            </a:r>
            <a:endParaRPr lang="en-US" sz="1350" dirty="0"/>
          </a:p>
          <a:p>
            <a:pPr indent="0" marL="0">
              <a:buNone/>
            </a:pPr>
            <a:r>
              <a:rPr lang="en-US" sz="1150" dirty="0">
                <a:solidFill>
                  <a:srgbClr val="596273"/>
                </a:solidFill>
                <a:latin typeface="Calibri" pitchFamily="34" charset="0"/>
                <a:ea typeface="Calibri" pitchFamily="34" charset="-122"/>
                <a:cs typeface="Calibri" pitchFamily="34" charset="-120"/>
              </a:rPr>
              <a:t>CCM web and APIs on OpenShift show no alerts and need more logging; Inspire needs more alerts; Power BI has none.</a:t>
            </a:r>
            <a:endParaRPr lang="en-US" sz="1350" dirty="0"/>
          </a:p>
        </p:txBody>
      </p:sp>
      <p:sp>
        <p:nvSpPr>
          <p:cNvPr id="14" name="Shape 12"/>
          <p:cNvSpPr/>
          <p:nvPr/>
        </p:nvSpPr>
        <p:spPr>
          <a:xfrm>
            <a:off x="6675120" y="1709928"/>
            <a:ext cx="4967935" cy="731520"/>
          </a:xfrm>
          <a:prstGeom prst="roundRect">
            <a:avLst>
              <a:gd name="adj" fmla="val 7500"/>
            </a:avLst>
          </a:prstGeom>
          <a:solidFill>
            <a:srgbClr val="E7EEFB"/>
          </a:solidFill>
          <a:ln/>
        </p:spPr>
      </p:sp>
      <p:sp>
        <p:nvSpPr>
          <p:cNvPr id="15" name="Text 13"/>
          <p:cNvSpPr txBox="1"/>
          <p:nvPr/>
        </p:nvSpPr>
        <p:spPr>
          <a:xfrm>
            <a:off x="6858000" y="1709928"/>
            <a:ext cx="4602175" cy="731520"/>
          </a:xfrm>
          <a:prstGeom prst="rect">
            <a:avLst/>
          </a:prstGeom>
          <a:noFill/>
          <a:ln/>
        </p:spPr>
        <p:txBody>
          <a:bodyPr wrap="square" lIns="0" tIns="0" rIns="0" bIns="0" rtlCol="0" anchor="ctr"/>
          <a:lstStyle/>
          <a:p>
            <a:pPr indent="0" marL="0">
              <a:buNone/>
            </a:pPr>
            <a:r>
              <a:rPr lang="en-US" sz="1250" dirty="0">
                <a:solidFill>
                  <a:srgbClr val="1C2330"/>
                </a:solidFill>
                <a:latin typeface="Calibri" pitchFamily="34" charset="0"/>
                <a:ea typeface="Calibri" pitchFamily="34" charset="-122"/>
                <a:cs typeface="Calibri" pitchFamily="34" charset="-120"/>
              </a:rPr>
              <a:t>Stand up alerting and log coverage for OpenShift services first, then Inspire.</a:t>
            </a:r>
            <a:endParaRPr lang="en-US" sz="1250" dirty="0"/>
          </a:p>
        </p:txBody>
      </p:sp>
      <p:sp>
        <p:nvSpPr>
          <p:cNvPr id="16" name="Shape 14"/>
          <p:cNvSpPr/>
          <p:nvPr/>
        </p:nvSpPr>
        <p:spPr>
          <a:xfrm>
            <a:off x="548640" y="2679192"/>
            <a:ext cx="365760" cy="365760"/>
          </a:xfrm>
          <a:prstGeom prst="ellipse">
            <a:avLst/>
          </a:prstGeom>
          <a:solidFill>
            <a:srgbClr val="0F1B2D"/>
          </a:solidFill>
          <a:ln/>
        </p:spPr>
      </p:sp>
      <p:sp>
        <p:nvSpPr>
          <p:cNvPr id="17" name="Text 15"/>
          <p:cNvSpPr txBox="1"/>
          <p:nvPr/>
        </p:nvSpPr>
        <p:spPr>
          <a:xfrm>
            <a:off x="548640" y="2679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1097280" y="2606040"/>
            <a:ext cx="5577840" cy="822960"/>
          </a:xfrm>
          <a:prstGeom prst="rect">
            <a:avLst/>
          </a:prstGeom>
          <a:noFill/>
          <a:ln/>
        </p:spPr>
        <p:txBody>
          <a:bodyPr wrap="square" lIns="0" tIns="0" rIns="0" bIns="0" rtlCol="0" anchor="t"/>
          <a:lstStyle/>
          <a:p>
            <a:pPr indent="0" marL="0">
              <a:buNone/>
            </a:pPr>
            <a:r>
              <a:rPr lang="en-US" sz="1350" b="1" dirty="0">
                <a:solidFill>
                  <a:srgbClr val="1C2330"/>
                </a:solidFill>
                <a:latin typeface="Calibri" pitchFamily="34" charset="0"/>
                <a:ea typeface="Calibri" pitchFamily="34" charset="-122"/>
                <a:cs typeface="Calibri" pitchFamily="34" charset="-120"/>
              </a:rPr>
              <a:t>Architecture record is dated</a:t>
            </a:r>
            <a:endParaRPr lang="en-US" sz="1350" dirty="0"/>
          </a:p>
          <a:p>
            <a:pPr indent="0" marL="0">
              <a:buNone/>
            </a:pPr>
            <a:r>
              <a:rPr lang="en-US" sz="1150" dirty="0">
                <a:solidFill>
                  <a:srgbClr val="596273"/>
                </a:solidFill>
                <a:latin typeface="Calibri" pitchFamily="34" charset="0"/>
                <a:ea typeface="Calibri" pitchFamily="34" charset="-122"/>
                <a:cs typeface="Calibri" pitchFamily="34" charset="-120"/>
              </a:rPr>
              <a:t>Physical architecture is from 2019–2020; print vendors differ between views (O’Neil, Highmark, Forge).</a:t>
            </a:r>
            <a:endParaRPr lang="en-US" sz="1350" dirty="0"/>
          </a:p>
        </p:txBody>
      </p:sp>
      <p:sp>
        <p:nvSpPr>
          <p:cNvPr id="19" name="Shape 17"/>
          <p:cNvSpPr/>
          <p:nvPr/>
        </p:nvSpPr>
        <p:spPr>
          <a:xfrm>
            <a:off x="6675120" y="2624328"/>
            <a:ext cx="4967935" cy="731520"/>
          </a:xfrm>
          <a:prstGeom prst="roundRect">
            <a:avLst>
              <a:gd name="adj" fmla="val 7500"/>
            </a:avLst>
          </a:prstGeom>
          <a:solidFill>
            <a:srgbClr val="E7EEFB"/>
          </a:solidFill>
          <a:ln/>
        </p:spPr>
      </p:sp>
      <p:sp>
        <p:nvSpPr>
          <p:cNvPr id="20" name="Text 18"/>
          <p:cNvSpPr txBox="1"/>
          <p:nvPr/>
        </p:nvSpPr>
        <p:spPr>
          <a:xfrm>
            <a:off x="6858000" y="2624328"/>
            <a:ext cx="4602175" cy="731520"/>
          </a:xfrm>
          <a:prstGeom prst="rect">
            <a:avLst/>
          </a:prstGeom>
          <a:noFill/>
          <a:ln/>
        </p:spPr>
        <p:txBody>
          <a:bodyPr wrap="square" lIns="0" tIns="0" rIns="0" bIns="0" rtlCol="0" anchor="ctr"/>
          <a:lstStyle/>
          <a:p>
            <a:pPr indent="0" marL="0">
              <a:buNone/>
            </a:pPr>
            <a:r>
              <a:rPr lang="en-US" sz="1250" dirty="0">
                <a:solidFill>
                  <a:srgbClr val="1C2330"/>
                </a:solidFill>
                <a:latin typeface="Calibri" pitchFamily="34" charset="0"/>
                <a:ea typeface="Calibri" pitchFamily="34" charset="-122"/>
                <a:cs typeface="Calibri" pitchFamily="34" charset="-120"/>
              </a:rPr>
              <a:t>Refresh the physical view and vendor list; publish one current source of truth.</a:t>
            </a:r>
            <a:endParaRPr lang="en-US" sz="1250" dirty="0"/>
          </a:p>
        </p:txBody>
      </p:sp>
      <p:sp>
        <p:nvSpPr>
          <p:cNvPr id="21" name="Shape 19"/>
          <p:cNvSpPr/>
          <p:nvPr/>
        </p:nvSpPr>
        <p:spPr>
          <a:xfrm>
            <a:off x="548640" y="3593592"/>
            <a:ext cx="365760" cy="365760"/>
          </a:xfrm>
          <a:prstGeom prst="ellipse">
            <a:avLst/>
          </a:prstGeom>
          <a:solidFill>
            <a:srgbClr val="0F1B2D"/>
          </a:solidFill>
          <a:ln/>
        </p:spPr>
      </p:sp>
      <p:sp>
        <p:nvSpPr>
          <p:cNvPr id="22" name="Text 20"/>
          <p:cNvSpPr txBox="1"/>
          <p:nvPr/>
        </p:nvSpPr>
        <p:spPr>
          <a:xfrm>
            <a:off x="548640" y="35935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1097280" y="3520440"/>
            <a:ext cx="5577840" cy="822960"/>
          </a:xfrm>
          <a:prstGeom prst="rect">
            <a:avLst/>
          </a:prstGeom>
          <a:noFill/>
          <a:ln/>
        </p:spPr>
        <p:txBody>
          <a:bodyPr wrap="square" lIns="0" tIns="0" rIns="0" bIns="0" rtlCol="0" anchor="t"/>
          <a:lstStyle/>
          <a:p>
            <a:pPr indent="0" marL="0">
              <a:buNone/>
            </a:pPr>
            <a:r>
              <a:rPr lang="en-US" sz="1350" b="1" dirty="0">
                <a:solidFill>
                  <a:srgbClr val="1C2330"/>
                </a:solidFill>
                <a:latin typeface="Calibri" pitchFamily="34" charset="0"/>
                <a:ea typeface="Calibri" pitchFamily="34" charset="-122"/>
                <a:cs typeface="Calibri" pitchFamily="34" charset="-120"/>
              </a:rPr>
              <a:t>Route hygiene</a:t>
            </a:r>
            <a:endParaRPr lang="en-US" sz="1350" dirty="0"/>
          </a:p>
          <a:p>
            <a:pPr indent="0" marL="0">
              <a:buNone/>
            </a:pPr>
            <a:r>
              <a:rPr lang="en-US" sz="1150" dirty="0">
                <a:solidFill>
                  <a:srgbClr val="596273"/>
                </a:solidFill>
                <a:latin typeface="Calibri" pitchFamily="34" charset="0"/>
                <a:ea typeface="Calibri" pitchFamily="34" charset="-122"/>
                <a:cs typeface="Calibri" pitchFamily="34" charset="-120"/>
              </a:rPr>
              <a:t>Two rejected production routes duplicate hosts already served; routes list http.</a:t>
            </a:r>
            <a:endParaRPr lang="en-US" sz="1350" dirty="0"/>
          </a:p>
        </p:txBody>
      </p:sp>
      <p:sp>
        <p:nvSpPr>
          <p:cNvPr id="24" name="Shape 22"/>
          <p:cNvSpPr/>
          <p:nvPr/>
        </p:nvSpPr>
        <p:spPr>
          <a:xfrm>
            <a:off x="6675120" y="3538728"/>
            <a:ext cx="4967935" cy="731520"/>
          </a:xfrm>
          <a:prstGeom prst="roundRect">
            <a:avLst>
              <a:gd name="adj" fmla="val 7500"/>
            </a:avLst>
          </a:prstGeom>
          <a:solidFill>
            <a:srgbClr val="E7EEFB"/>
          </a:solidFill>
          <a:ln/>
        </p:spPr>
      </p:sp>
      <p:sp>
        <p:nvSpPr>
          <p:cNvPr id="25" name="Text 23"/>
          <p:cNvSpPr txBox="1"/>
          <p:nvPr/>
        </p:nvSpPr>
        <p:spPr>
          <a:xfrm>
            <a:off x="6858000" y="3538728"/>
            <a:ext cx="4602175" cy="731520"/>
          </a:xfrm>
          <a:prstGeom prst="rect">
            <a:avLst/>
          </a:prstGeom>
          <a:noFill/>
          <a:ln/>
        </p:spPr>
        <p:txBody>
          <a:bodyPr wrap="square" lIns="0" tIns="0" rIns="0" bIns="0" rtlCol="0" anchor="ctr"/>
          <a:lstStyle/>
          <a:p>
            <a:pPr indent="0" marL="0">
              <a:buNone/>
            </a:pPr>
            <a:r>
              <a:rPr lang="en-US" sz="1250" dirty="0">
                <a:solidFill>
                  <a:srgbClr val="1C2330"/>
                </a:solidFill>
                <a:latin typeface="Calibri" pitchFamily="34" charset="0"/>
                <a:ea typeface="Calibri" pitchFamily="34" charset="-122"/>
                <a:cs typeface="Calibri" pitchFamily="34" charset="-120"/>
              </a:rPr>
              <a:t>Remove duplicates after confirmation and document where TLS terminates.</a:t>
            </a:r>
            <a:endParaRPr lang="en-US" sz="1250" dirty="0"/>
          </a:p>
        </p:txBody>
      </p:sp>
      <p:sp>
        <p:nvSpPr>
          <p:cNvPr id="26" name="Shape 24"/>
          <p:cNvSpPr/>
          <p:nvPr/>
        </p:nvSpPr>
        <p:spPr>
          <a:xfrm>
            <a:off x="548640" y="4507992"/>
            <a:ext cx="365760" cy="365760"/>
          </a:xfrm>
          <a:prstGeom prst="ellipse">
            <a:avLst/>
          </a:prstGeom>
          <a:solidFill>
            <a:srgbClr val="0F1B2D"/>
          </a:solidFill>
          <a:ln/>
        </p:spPr>
      </p:sp>
      <p:sp>
        <p:nvSpPr>
          <p:cNvPr id="27" name="Text 25"/>
          <p:cNvSpPr txBox="1"/>
          <p:nvPr/>
        </p:nvSpPr>
        <p:spPr>
          <a:xfrm>
            <a:off x="548640" y="4507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097280" y="4434840"/>
            <a:ext cx="5577840" cy="822960"/>
          </a:xfrm>
          <a:prstGeom prst="rect">
            <a:avLst/>
          </a:prstGeom>
          <a:noFill/>
          <a:ln/>
        </p:spPr>
        <p:txBody>
          <a:bodyPr wrap="square" lIns="0" tIns="0" rIns="0" bIns="0" rtlCol="0" anchor="t"/>
          <a:lstStyle/>
          <a:p>
            <a:pPr indent="0" marL="0">
              <a:buNone/>
            </a:pPr>
            <a:r>
              <a:rPr lang="en-US" sz="1350" b="1" dirty="0">
                <a:solidFill>
                  <a:srgbClr val="1C2330"/>
                </a:solidFill>
                <a:latin typeface="Calibri" pitchFamily="34" charset="0"/>
                <a:ea typeface="Calibri" pitchFamily="34" charset="-122"/>
                <a:cs typeface="Calibri" pitchFamily="34" charset="-120"/>
              </a:rPr>
              <a:t>Volume concentration</a:t>
            </a:r>
            <a:endParaRPr lang="en-US" sz="1350" dirty="0"/>
          </a:p>
          <a:p>
            <a:pPr indent="0" marL="0">
              <a:buNone/>
            </a:pPr>
            <a:r>
              <a:rPr lang="en-US" sz="1150" dirty="0">
                <a:solidFill>
                  <a:srgbClr val="596273"/>
                </a:solidFill>
                <a:latin typeface="Calibri" pitchFamily="34" charset="0"/>
                <a:ea typeface="Calibri" pitchFamily="34" charset="-122"/>
                <a:cs typeface="Calibri" pitchFamily="34" charset="-120"/>
              </a:rPr>
              <a:t>PPX is 56% of volume; top three sources are 80%.</a:t>
            </a:r>
            <a:endParaRPr lang="en-US" sz="1350" dirty="0"/>
          </a:p>
        </p:txBody>
      </p:sp>
      <p:sp>
        <p:nvSpPr>
          <p:cNvPr id="29" name="Shape 27"/>
          <p:cNvSpPr/>
          <p:nvPr/>
        </p:nvSpPr>
        <p:spPr>
          <a:xfrm>
            <a:off x="6675120" y="4453128"/>
            <a:ext cx="4967935" cy="731520"/>
          </a:xfrm>
          <a:prstGeom prst="roundRect">
            <a:avLst>
              <a:gd name="adj" fmla="val 7500"/>
            </a:avLst>
          </a:prstGeom>
          <a:solidFill>
            <a:srgbClr val="E7EEFB"/>
          </a:solidFill>
          <a:ln/>
        </p:spPr>
      </p:sp>
      <p:sp>
        <p:nvSpPr>
          <p:cNvPr id="30" name="Text 28"/>
          <p:cNvSpPr txBox="1"/>
          <p:nvPr/>
        </p:nvSpPr>
        <p:spPr>
          <a:xfrm>
            <a:off x="6858000" y="4453128"/>
            <a:ext cx="4602175" cy="731520"/>
          </a:xfrm>
          <a:prstGeom prst="rect">
            <a:avLst/>
          </a:prstGeom>
          <a:noFill/>
          <a:ln/>
        </p:spPr>
        <p:txBody>
          <a:bodyPr wrap="square" lIns="0" tIns="0" rIns="0" bIns="0" rtlCol="0" anchor="ctr"/>
          <a:lstStyle/>
          <a:p>
            <a:pPr indent="0" marL="0">
              <a:buNone/>
            </a:pPr>
            <a:r>
              <a:rPr lang="en-US" sz="1250" dirty="0">
                <a:solidFill>
                  <a:srgbClr val="1C2330"/>
                </a:solidFill>
                <a:latin typeface="Calibri" pitchFamily="34" charset="0"/>
                <a:ea typeface="Calibri" pitchFamily="34" charset="-122"/>
                <a:cs typeface="Calibri" pitchFamily="34" charset="-120"/>
              </a:rPr>
              <a:t>Align capacity tests and runbooks to payment-cycle peaks.</a:t>
            </a:r>
            <a:endParaRPr lang="en-US" sz="1250" dirty="0"/>
          </a:p>
        </p:txBody>
      </p:sp>
      <p:sp>
        <p:nvSpPr>
          <p:cNvPr id="31" name="Shape 29"/>
          <p:cNvSpPr/>
          <p:nvPr/>
        </p:nvSpPr>
        <p:spPr>
          <a:xfrm>
            <a:off x="548640" y="5422392"/>
            <a:ext cx="365760" cy="365760"/>
          </a:xfrm>
          <a:prstGeom prst="ellipse">
            <a:avLst/>
          </a:prstGeom>
          <a:solidFill>
            <a:srgbClr val="0F1B2D"/>
          </a:solidFill>
          <a:ln/>
        </p:spPr>
      </p:sp>
      <p:sp>
        <p:nvSpPr>
          <p:cNvPr id="32" name="Text 30"/>
          <p:cNvSpPr txBox="1"/>
          <p:nvPr/>
        </p:nvSpPr>
        <p:spPr>
          <a:xfrm>
            <a:off x="548640" y="5422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txBox="1"/>
          <p:nvPr/>
        </p:nvSpPr>
        <p:spPr>
          <a:xfrm>
            <a:off x="1097280" y="5349240"/>
            <a:ext cx="5577840" cy="822960"/>
          </a:xfrm>
          <a:prstGeom prst="rect">
            <a:avLst/>
          </a:prstGeom>
          <a:noFill/>
          <a:ln/>
        </p:spPr>
        <p:txBody>
          <a:bodyPr wrap="square" lIns="0" tIns="0" rIns="0" bIns="0" rtlCol="0" anchor="t"/>
          <a:lstStyle/>
          <a:p>
            <a:pPr indent="0" marL="0">
              <a:buNone/>
            </a:pPr>
            <a:r>
              <a:rPr lang="en-US" sz="1350" b="1" dirty="0">
                <a:solidFill>
                  <a:srgbClr val="1C2330"/>
                </a:solidFill>
                <a:latin typeface="Calibri" pitchFamily="34" charset="0"/>
                <a:ea typeface="Calibri" pitchFamily="34" charset="-122"/>
                <a:cs typeface="Calibri" pitchFamily="34" charset="-120"/>
              </a:rPr>
              <a:t>Client Letter milestone</a:t>
            </a:r>
            <a:endParaRPr lang="en-US" sz="1350" dirty="0"/>
          </a:p>
          <a:p>
            <a:pPr indent="0" marL="0">
              <a:buNone/>
            </a:pPr>
            <a:r>
              <a:rPr lang="en-US" sz="1150" dirty="0">
                <a:solidFill>
                  <a:srgbClr val="596273"/>
                </a:solidFill>
                <a:latin typeface="Calibri" pitchFamily="34" charset="0"/>
                <a:ea typeface="Calibri" pitchFamily="34" charset="-122"/>
                <a:cs typeface="Calibri" pitchFamily="34" charset="-120"/>
              </a:rPr>
              <a:t>Decommission was planned for end of 2025 with 168 templates as 2026 potential.</a:t>
            </a:r>
            <a:endParaRPr lang="en-US" sz="1350" dirty="0"/>
          </a:p>
        </p:txBody>
      </p:sp>
      <p:sp>
        <p:nvSpPr>
          <p:cNvPr id="34" name="Shape 32"/>
          <p:cNvSpPr/>
          <p:nvPr/>
        </p:nvSpPr>
        <p:spPr>
          <a:xfrm>
            <a:off x="6675120" y="5367528"/>
            <a:ext cx="4967935" cy="731520"/>
          </a:xfrm>
          <a:prstGeom prst="roundRect">
            <a:avLst>
              <a:gd name="adj" fmla="val 7500"/>
            </a:avLst>
          </a:prstGeom>
          <a:solidFill>
            <a:srgbClr val="E7EEFB"/>
          </a:solidFill>
          <a:ln/>
        </p:spPr>
      </p:sp>
      <p:sp>
        <p:nvSpPr>
          <p:cNvPr id="35" name="Text 33"/>
          <p:cNvSpPr txBox="1"/>
          <p:nvPr/>
        </p:nvSpPr>
        <p:spPr>
          <a:xfrm>
            <a:off x="6858000" y="5367528"/>
            <a:ext cx="4602175" cy="731520"/>
          </a:xfrm>
          <a:prstGeom prst="rect">
            <a:avLst/>
          </a:prstGeom>
          <a:noFill/>
          <a:ln/>
        </p:spPr>
        <p:txBody>
          <a:bodyPr wrap="square" lIns="0" tIns="0" rIns="0" bIns="0" rtlCol="0" anchor="ctr"/>
          <a:lstStyle/>
          <a:p>
            <a:pPr indent="0" marL="0">
              <a:buNone/>
            </a:pPr>
            <a:r>
              <a:rPr lang="en-US" sz="1250" dirty="0">
                <a:solidFill>
                  <a:srgbClr val="1C2330"/>
                </a:solidFill>
                <a:latin typeface="Calibri" pitchFamily="34" charset="0"/>
                <a:ea typeface="Calibri" pitchFamily="34" charset="-122"/>
                <a:cs typeface="Calibri" pitchFamily="34" charset="-120"/>
              </a:rPr>
              <a:t>Report current status and a committed 2026 migration backlog.</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REFERENCE</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Glossary</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1737360"/>
                <a:gridCol w="3657600"/>
              </a:tblGrid>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ASO</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Administrative Services Only (self-funded groups)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Binder payment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First premium payment that turns a prospect into a member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CAM Inventories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Service that feeds items into Message Center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CCM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Customer Communication Management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CIAM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Customer Identity and Access Management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CoC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Continuity of Care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Content Central / ECMS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Archive of communication PDFs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Control-M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Batch job scheduler for CCM batch</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DataPower (DP)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API gateway in front of all CCM services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EMB</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Enrollment and Billing</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EWoC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Enterprise Work Center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FEP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Federal Employee Program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HCCID</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Member identifier passed to CCM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263640" y="1417320"/>
          <a:ext cx="5394960" cy="914400"/>
        </p:xfrm>
        <a:graphic>
          <a:graphicData uri="http://schemas.openxmlformats.org/drawingml/2006/table">
            <a:tbl>
              <a:tblPr/>
              <a:tblGrid>
                <a:gridCol w="1737360"/>
                <a:gridCol w="3657600"/>
              </a:tblGrid>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Inspire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Quadient Inspire, the composition platform (R15)</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MAAGC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Medicare Appeals and Grievance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MKTA</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Marketing Analytics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MSMQ</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Microsoft Message Queuing, used for touchpoints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P360</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Preferences 360: profile, preferences and consents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PCP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Primary Care Physician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PMI</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Access policy layer that grants CCM roles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PPX</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Payments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Recon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Reconciliation store (SQL Server) and dashboard</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SFMC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Salesforce Marketing Cloud (email)</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U65 / O65</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Under 65 / over 65 member segments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UBYP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Unbox Your Plan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r h="356616">
                <a:tc>
                  <a:txBody>
                    <a:bodyPr/>
                    <a:lstStyle/>
                    <a:p>
                      <a:pPr indent="0" marL="0">
                        <a:buNone/>
                      </a:pPr>
                      <a:r>
                        <a:rPr lang="en-US" sz="1100" b="1" dirty="0">
                          <a:solidFill>
                            <a:srgbClr val="16398A"/>
                          </a:solidFill>
                          <a:latin typeface="Calibri" pitchFamily="34" charset="0"/>
                          <a:ea typeface="Calibri" pitchFamily="34" charset="-122"/>
                          <a:cs typeface="Calibri" pitchFamily="34" charset="-120"/>
                        </a:rPr>
                        <a:t>VIVR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c>
                  <a:txBody>
                    <a:bodyPr/>
                    <a:lstStyle/>
                    <a:p>
                      <a:pPr indent="0" marL="0">
                        <a:buNone/>
                      </a:pPr>
                      <a:r>
                        <a:rPr lang="en-US" sz="1100" dirty="0">
                          <a:solidFill>
                            <a:srgbClr val="1C2330"/>
                          </a:solidFill>
                          <a:latin typeface="Calibri" pitchFamily="34" charset="0"/>
                          <a:ea typeface="Calibri" pitchFamily="34" charset="-122"/>
                          <a:cs typeface="Calibri" pitchFamily="34" charset="-120"/>
                        </a:rPr>
                        <a:t>Visual Interactive Voice Recognition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CD3DD"/>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sp>
      <p:sp>
        <p:nvSpPr>
          <p:cNvPr id="3" name="Text 1"/>
          <p:cNvSpPr txBox="1"/>
          <p:nvPr/>
        </p:nvSpPr>
        <p:spPr>
          <a:xfrm>
            <a:off x="548640" y="237744"/>
            <a:ext cx="7772400" cy="256032"/>
          </a:xfrm>
          <a:prstGeom prst="rect">
            <a:avLst/>
          </a:prstGeom>
          <a:noFill/>
          <a:ln/>
        </p:spPr>
        <p:txBody>
          <a:bodyPr wrap="square" lIns="0" tIns="0" rIns="0" bIns="0" rtlCol="0" anchor="t"/>
          <a:lstStyle/>
          <a:p>
            <a:pPr indent="0" marL="0">
              <a:buNone/>
            </a:pPr>
            <a:r>
              <a:rPr lang="en-US" sz="1100" b="1" spc="400" kern="0" dirty="0">
                <a:solidFill>
                  <a:srgbClr val="E8612C"/>
                </a:solidFill>
                <a:latin typeface="Calibri" pitchFamily="34" charset="0"/>
                <a:ea typeface="Calibri" pitchFamily="34" charset="-122"/>
                <a:cs typeface="Calibri" pitchFamily="34" charset="-120"/>
              </a:rPr>
              <a:t>APPENDIX</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Calibri" pitchFamily="34" charset="0"/>
                <a:ea typeface="Calibri" pitchFamily="34" charset="-122"/>
                <a:cs typeface="Calibri" pitchFamily="34" charset="-120"/>
              </a:rPr>
              <a:t>2025 volume detail by source (Jan 1 – Sep 2)</a:t>
            </a:r>
            <a:endParaRPr lang="en-US" sz="2700" dirty="0"/>
          </a:p>
        </p:txBody>
      </p:sp>
      <p:sp>
        <p:nvSpPr>
          <p:cNvPr id="5" name="Shape 3"/>
          <p:cNvSpPr/>
          <p:nvPr/>
        </p:nvSpPr>
        <p:spPr>
          <a:xfrm>
            <a:off x="9905695" y="384048"/>
            <a:ext cx="1737360" cy="329184"/>
          </a:xfrm>
          <a:prstGeom prst="rect">
            <a:avLst/>
          </a:prstGeom>
          <a:solidFill>
            <a:srgbClr val="1F4FB8"/>
          </a:solidFill>
          <a:ln/>
        </p:spPr>
      </p:sp>
      <p:sp>
        <p:nvSpPr>
          <p:cNvPr id="6" name="Text 4"/>
          <p:cNvSpPr txBox="1"/>
          <p:nvPr/>
        </p:nvSpPr>
        <p:spPr>
          <a:xfrm>
            <a:off x="9905695" y="384048"/>
            <a:ext cx="173736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ALL AUDIENCES</a:t>
            </a:r>
            <a:endParaRPr lang="en-US" sz="9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indent="0" marL="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algn="r" indent="0" marL="0">
              <a:buNone/>
            </a:pPr>
            <a:r>
              <a:rPr lang="en-US" sz="900" dirty="0">
                <a:solidFill>
                  <a:srgbClr val="596273"/>
                </a:solidFill>
                <a:latin typeface="Calibri" pitchFamily="34" charset="0"/>
                <a:ea typeface="Calibri" pitchFamily="34" charset="-122"/>
                <a:cs typeface="Calibr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22392" cy="914400"/>
        </p:xfrm>
        <a:graphic>
          <a:graphicData uri="http://schemas.openxmlformats.org/drawingml/2006/table">
            <a:tbl>
              <a:tblPr/>
              <a:tblGrid>
                <a:gridCol w="1399032"/>
                <a:gridCol w="896112"/>
                <a:gridCol w="804672"/>
                <a:gridCol w="804672"/>
                <a:gridCol w="694944"/>
                <a:gridCol w="822960"/>
              </a:tblGrid>
              <a:tr h="30175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PPX</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12,590,612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1,097,257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13,687,869</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CIAM</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1,250,101</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2,693,983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3,944,084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Email Registration</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Provider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MKTA</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711,096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11,218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88,495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810,809</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PCP</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71,157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21,904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448,316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93,064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634,441</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Contracts</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VIVR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1,587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327,854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16,824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346,265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HLP</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Medicare</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66,226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52,711</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118,937</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Digital Inquiry</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ESR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422392" cy="914400"/>
        </p:xfrm>
        <a:graphic>
          <a:graphicData uri="http://schemas.openxmlformats.org/drawingml/2006/table">
            <a:tbl>
              <a:tblPr/>
              <a:tblGrid>
                <a:gridCol w="1399032"/>
                <a:gridCol w="896112"/>
                <a:gridCol w="804672"/>
                <a:gridCol w="804672"/>
                <a:gridCol w="694944"/>
                <a:gridCol w="822960"/>
              </a:tblGrid>
              <a:tr h="30175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1F4FB8"/>
                    </a:solidFill>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EMB</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UBYP</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CoC</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AnG</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ECIR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Cost Estimate</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2,830</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2,883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MEDADV</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SAO</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ISR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Preferences 360</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FEP</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Truli</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Interoperability</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IDR</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dirty="0">
                          <a:solidFill>
                            <a:srgbClr val="1C23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tcPr>
                </a:tc>
              </a:tr>
              <a:tr h="301752">
                <a:tc>
                  <a:txBody>
                    <a:bodyPr/>
                    <a:lstStyle/>
                    <a:p>
                      <a:pPr indent="0" marL="0">
                        <a:buNone/>
                      </a:pPr>
                      <a:r>
                        <a:rPr lang="en-US" sz="950" b="1" dirty="0">
                          <a:solidFill>
                            <a:srgbClr val="1C2330"/>
                          </a:solidFill>
                          <a:latin typeface="Calibri" pitchFamily="34" charset="0"/>
                          <a:ea typeface="Calibri" pitchFamily="34" charset="-122"/>
                          <a:cs typeface="Calibri" pitchFamily="34" charset="-120"/>
                        </a:rPr>
                        <a:t>All sources</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18,250,926</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4,412,775</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1,354,279</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307,032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c>
                  <a:txBody>
                    <a:bodyPr/>
                    <a:lstStyle/>
                    <a:p>
                      <a:pPr algn="r" indent="0" marL="0">
                        <a:buNone/>
                      </a:pPr>
                      <a:r>
                        <a:rPr lang="en-US" sz="950" b="1" dirty="0">
                          <a:solidFill>
                            <a:srgbClr val="1C2330"/>
                          </a:solidFill>
                          <a:latin typeface="Calibri" pitchFamily="34" charset="0"/>
                          <a:ea typeface="Calibri" pitchFamily="34" charset="-122"/>
                          <a:cs typeface="Calibri" pitchFamily="34" charset="-120"/>
                        </a:rPr>
                        <a:t>24,325,012</a:t>
                      </a:r>
                      <a:endParaRPr lang="en-US" sz="950" dirty="0">
                        <a:latin typeface="Calibri" charset="0"/>
                        <a:ea typeface="Calibri" charset="0"/>
                        <a:cs typeface="Calibri" charset="0"/>
                      </a:endParaRPr>
                    </a:p>
                  </a:txBody>
                  <a:tcPr marL="50800" marR="50800" marT="12700" marB="12700" anchor="ctr">
                    <a:lnL w="6350" cap="flat" cmpd="sng" algn="ctr">
                      <a:solidFill>
                        <a:srgbClr val="CCD3DD"/>
                      </a:solidFill>
                      <a:prstDash val="solid"/>
                      <a:round/>
                      <a:headEnd type="none" w="med" len="med"/>
                      <a:tailEnd type="none" w="med" len="med"/>
                    </a:lnL>
                    <a:lnR w="6350" cap="flat" cmpd="sng" algn="ctr">
                      <a:solidFill>
                        <a:srgbClr val="CCD3DD"/>
                      </a:solidFill>
                      <a:prstDash val="solid"/>
                      <a:round/>
                      <a:headEnd type="none" w="med" len="med"/>
                      <a:tailEnd type="none" w="med" len="med"/>
                    </a:lnR>
                    <a:lnT w="6350" cap="flat" cmpd="sng" algn="ctr">
                      <a:solidFill>
                        <a:srgbClr val="CCD3DD"/>
                      </a:solidFill>
                      <a:prstDash val="solid"/>
                      <a:round/>
                      <a:headEnd type="none" w="med" len="med"/>
                      <a:tailEnd type="none" w="med" len="med"/>
                    </a:lnT>
                    <a:lnB w="6350" cap="flat" cmpd="sng" algn="ctr">
                      <a:solidFill>
                        <a:srgbClr val="CCD3DD"/>
                      </a:solidFill>
                      <a:prstDash val="solid"/>
                      <a:round/>
                      <a:headEnd type="none" w="med" len="med"/>
                      <a:tailEnd type="none" w="med" len="med"/>
                    </a:lnB>
                    <a:solidFill>
                      <a:srgbClr val="E7EEF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GuideWell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CCM Architecture Deep Dive</dc:title>
  <dc:subject>PptxGenJS Presentation</dc:subject>
  <dc:creator>PptxGenJS</dc:creator>
  <cp:lastModifiedBy>PptxGenJS</cp:lastModifiedBy>
  <cp:revision>1</cp:revision>
  <dcterms:created xsi:type="dcterms:W3CDTF">2026-09-27T21:43:06Z</dcterms:created>
  <dcterms:modified xsi:type="dcterms:W3CDTF">2026-09-27T21:43:06Z</dcterms:modified>
</cp:coreProperties>
</file>