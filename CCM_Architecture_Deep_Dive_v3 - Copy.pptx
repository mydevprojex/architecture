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spPr>
            <a:solidFill>
              <a:srgbClr val="1E4F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SMS program</c:v>
                  </c:pt>
                  <c:pt idx="1">
                    <c:v>VIVR</c:v>
                  </c:pt>
                  <c:pt idx="2">
                    <c:v>Contracts</c:v>
                  </c:pt>
                  <c:pt idx="3">
                    <c:v>Agent</c:v>
                  </c:pt>
                  <c:pt idx="4">
                    <c:v>PCP</c:v>
                  </c:pt>
                  <c:pt idx="5">
                    <c:v>MKTA</c:v>
                  </c:pt>
                  <c:pt idx="6">
                    <c:v>Provider</c:v>
                  </c:pt>
                  <c:pt idx="7">
                    <c:v>Email Registration</c:v>
                  </c:pt>
                  <c:pt idx="8">
                    <c:v>CIAM</c:v>
                  </c:pt>
                  <c:pt idx="9">
                    <c:v>PPX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1587</c:v>
                </c:pt>
                <c:pt idx="2">
                  <c:v>0</c:v>
                </c:pt>
                <c:pt idx="3">
                  <c:v>544878</c:v>
                </c:pt>
                <c:pt idx="4">
                  <c:v>71157</c:v>
                </c:pt>
                <c:pt idx="5">
                  <c:v>711096</c:v>
                </c:pt>
                <c:pt idx="6">
                  <c:v>1089967</c:v>
                </c:pt>
                <c:pt idx="7">
                  <c:v>1739803</c:v>
                </c:pt>
                <c:pt idx="8">
                  <c:v>1250101</c:v>
                </c:pt>
                <c:pt idx="9">
                  <c:v>12590612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SMS program</c:v>
                  </c:pt>
                  <c:pt idx="1">
                    <c:v>VIVR</c:v>
                  </c:pt>
                  <c:pt idx="2">
                    <c:v>Contracts</c:v>
                  </c:pt>
                  <c:pt idx="3">
                    <c:v>Agent</c:v>
                  </c:pt>
                  <c:pt idx="4">
                    <c:v>PCP</c:v>
                  </c:pt>
                  <c:pt idx="5">
                    <c:v>MKTA</c:v>
                  </c:pt>
                  <c:pt idx="6">
                    <c:v>Provider</c:v>
                  </c:pt>
                  <c:pt idx="7">
                    <c:v>Email Registration</c:v>
                  </c:pt>
                  <c:pt idx="8">
                    <c:v>CIAM</c:v>
                  </c:pt>
                  <c:pt idx="9">
                    <c:v>PPX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207848</c:v>
                </c:pt>
                <c:pt idx="1">
                  <c:v>327854</c:v>
                </c:pt>
                <c:pt idx="2">
                  <c:v>0</c:v>
                </c:pt>
                <c:pt idx="3">
                  <c:v>0</c:v>
                </c:pt>
                <c:pt idx="4">
                  <c:v>21904</c:v>
                </c:pt>
                <c:pt idx="5">
                  <c:v>11218</c:v>
                </c:pt>
                <c:pt idx="6">
                  <c:v>0</c:v>
                </c:pt>
                <c:pt idx="7">
                  <c:v>0</c:v>
                </c:pt>
                <c:pt idx="8">
                  <c:v>2693983</c:v>
                </c:pt>
                <c:pt idx="9">
                  <c:v>1097257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Print</c:v>
                </c:pt>
              </c:strCache>
            </c:strRef>
          </c:tx>
          <c:spPr>
            <a:solidFill>
              <a:srgbClr val="141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SMS program</c:v>
                  </c:pt>
                  <c:pt idx="1">
                    <c:v>VIVR</c:v>
                  </c:pt>
                  <c:pt idx="2">
                    <c:v>Contracts</c:v>
                  </c:pt>
                  <c:pt idx="3">
                    <c:v>Agent</c:v>
                  </c:pt>
                  <c:pt idx="4">
                    <c:v>PCP</c:v>
                  </c:pt>
                  <c:pt idx="5">
                    <c:v>MKTA</c:v>
                  </c:pt>
                  <c:pt idx="6">
                    <c:v>Provider</c:v>
                  </c:pt>
                  <c:pt idx="7">
                    <c:v>Email Registration</c:v>
                  </c:pt>
                  <c:pt idx="8">
                    <c:v>CIAM</c:v>
                  </c:pt>
                  <c:pt idx="9">
                    <c:v>PPX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16824</c:v>
                </c:pt>
                <c:pt idx="2">
                  <c:v>544145</c:v>
                </c:pt>
                <c:pt idx="3">
                  <c:v>0</c:v>
                </c:pt>
                <c:pt idx="4">
                  <c:v>448316</c:v>
                </c:pt>
                <c:pt idx="5">
                  <c:v>88495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3B8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SMS program</c:v>
                  </c:pt>
                  <c:pt idx="1">
                    <c:v>VIVR</c:v>
                  </c:pt>
                  <c:pt idx="2">
                    <c:v>Contracts</c:v>
                  </c:pt>
                  <c:pt idx="3">
                    <c:v>Agent</c:v>
                  </c:pt>
                  <c:pt idx="4">
                    <c:v>PCP</c:v>
                  </c:pt>
                  <c:pt idx="5">
                    <c:v>MKTA</c:v>
                  </c:pt>
                  <c:pt idx="6">
                    <c:v>Provider</c:v>
                  </c:pt>
                  <c:pt idx="7">
                    <c:v>Email Registration</c:v>
                  </c:pt>
                  <c:pt idx="8">
                    <c:v>CIAM</c:v>
                  </c:pt>
                  <c:pt idx="9">
                    <c:v>PPX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93064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3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9EBE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Concise reference for leadership and delivery teams. 2025 volumes are as of September 2,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 and the three strategic imperatives from the CCM vision. Detail follows: inventory (3–4), architecture (5–9), shared services (10), volume and roadmap (11–13).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= OpenShift deployments with routes (rejected duplicates excluded) plus the SMS/MMS response handler. API endpoints = logical endpoints named in design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layered view of CCM in the IT Contact Platform pattern. The audiences column replaces a separate constituents slide: members (U65, O65, groups, Truli), prospects before binder payment, delegates including caregivers (limited access, not ASO), agents, providers, and internal business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pick one of three entry paths. All traffic passes DataPower, is enriched with P360 and GWDP/CIP data and composed in Inspire. Vendors deliver per channel and a PDF is archived. Receipts return to Recon; Recon Services create touchpoints; Kafka tells source systems and EWoC what was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paths converge on the same Inspire production, delivery, archive and Recon tracking, so suppression and reporting work the same regardless of entry point. On-demand is the confirmed Option 2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status from the physical architecture legend (2019–2020); "—" means not marked. The OpenShift API tier has no alerts and needs more logging. Duplicate rejected routes: ccm-ondemand-dns and ccm-preprocessor-services in ccm-dcs-prod. Validate hosts before operational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 shortener: links are created in Recon Dashboard or by applications and embedded in SMS templates. SMS lookup: CCM externalizes /lookups and /commRequest to DivBiz so a number can be checked before sending; VOIP numbers are ineligible.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reconcile exactly to the channel report (24,325,012). Capacity and incident planning should track the payment cycle. Full detail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Milestones are the plan of record. Confirm decommission status against the end-of-2025 milestone and how many of the 168 potential 2026 templates are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Customer Communications Delivered by Channel, 2025, as of September 2,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5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2D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COMMUNICATION MANAGEMENT (CCM) PLATFORM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architecture, delivery and roadmap  ·  GuideWell internal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at a glance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68919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68919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68919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2025 YTD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430207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30207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430207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paths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91495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91495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591495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migrating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1417320"/>
            <a:ext cx="6720840" cy="48463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1417320"/>
            <a:ext cx="6720840" cy="54864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1417320"/>
            <a:ext cx="54864" cy="4846320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1536192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3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CCM DOES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1810512"/>
            <a:ext cx="6263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2A358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691640" y="193852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channel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and delivers email, SMS/MMS, print and digital communications to members, prospects, delegates, agents and providers.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77240" y="2907792"/>
            <a:ext cx="6263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0120" y="3108960"/>
            <a:ext cx="548640" cy="548640"/>
          </a:xfrm>
          <a:prstGeom prst="ellipse">
            <a:avLst/>
          </a:prstGeom>
          <a:solidFill>
            <a:srgbClr val="2A3585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691640" y="30358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API, scheduled batch, and an on-demand letter builder embedded in EWoC, Claims Workflow and OPL/Quest.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77240" y="4005072"/>
            <a:ext cx="6263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2A358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4340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691640" y="41330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at scale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24.3M communications delivered Jan 1 – Sep 2, 2025. Payments (PPX) alone drives 56%.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777240" y="5102352"/>
            <a:ext cx="6263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60120" y="5303520"/>
            <a:ext cx="548640" cy="548640"/>
          </a:xfrm>
          <a:prstGeom prst="ellipse">
            <a:avLst/>
          </a:prstGeom>
          <a:solidFill>
            <a:srgbClr val="2A358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44068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691640" y="52303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end to end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delivery receipt and archived PDF lands in Recon, powering self-service tracking, suppression, reprint and audit.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498080" y="1417320"/>
            <a:ext cx="4144975" cy="48463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38" name="Shape 32"/>
          <p:cNvSpPr/>
          <p:nvPr/>
        </p:nvSpPr>
        <p:spPr>
          <a:xfrm>
            <a:off x="7498080" y="1417320"/>
            <a:ext cx="4144975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9" name="Shape 33"/>
          <p:cNvSpPr/>
          <p:nvPr/>
        </p:nvSpPr>
        <p:spPr>
          <a:xfrm>
            <a:off x="7498080" y="1417320"/>
            <a:ext cx="54864" cy="48463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680960" y="1536192"/>
            <a:ext cx="3870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IMPERATIVES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726680" y="1810512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909560" y="2084832"/>
            <a:ext cx="658368" cy="658368"/>
          </a:xfrm>
          <a:prstGeom prst="ellipse">
            <a:avLst/>
          </a:prstGeom>
          <a:solidFill>
            <a:srgbClr val="2F8F57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7909560" y="20848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44" name="Text 38"/>
          <p:cNvSpPr txBox="1"/>
          <p:nvPr/>
        </p:nvSpPr>
        <p:spPr>
          <a:xfrm>
            <a:off x="8732520" y="2011680"/>
            <a:ext cx="2544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onboards new communications quickly.</a:t>
            </a:r>
            <a:endParaRPr lang="en-US" sz="1600" dirty="0"/>
          </a:p>
        </p:txBody>
      </p:sp>
      <p:sp>
        <p:nvSpPr>
          <p:cNvPr id="45" name="Shape 39"/>
          <p:cNvSpPr/>
          <p:nvPr/>
        </p:nvSpPr>
        <p:spPr>
          <a:xfrm>
            <a:off x="7726680" y="3273552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909560" y="3547872"/>
            <a:ext cx="658368" cy="6583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7909560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48" name="Text 42"/>
          <p:cNvSpPr txBox="1"/>
          <p:nvPr/>
        </p:nvSpPr>
        <p:spPr>
          <a:xfrm>
            <a:off x="8732520" y="3474720"/>
            <a:ext cx="2544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the way the member asked (P360). EWoC, MWS and PPX today; OPL and Quest next.</a:t>
            </a:r>
            <a:endParaRPr lang="en-US" sz="1600" dirty="0"/>
          </a:p>
        </p:txBody>
      </p:sp>
      <p:sp>
        <p:nvSpPr>
          <p:cNvPr id="49" name="Shape 43"/>
          <p:cNvSpPr/>
          <p:nvPr/>
        </p:nvSpPr>
        <p:spPr>
          <a:xfrm>
            <a:off x="7726680" y="4736592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7909560" y="5010912"/>
            <a:ext cx="658368" cy="658368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909560" y="5010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52" name="Text 46"/>
          <p:cNvSpPr txBox="1"/>
          <p:nvPr/>
        </p:nvSpPr>
        <p:spPr>
          <a:xfrm>
            <a:off x="8732520" y="4937760"/>
            <a:ext cx="2544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maintains communications with minimal IT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INVENTORY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by the numbers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89888"/>
            <a:ext cx="2622728" cy="384048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1389888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applications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39848" y="138988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1773936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865376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Dashboard · On-Demand Reusable UI · Inspire Interactive · Inspire Designer · Power BI reports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2536" y="1389888"/>
            <a:ext cx="2622728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00552" y="1389888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63744" y="138988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372536" y="1773936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00552" y="1865376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ccm-dcs-prod · 4 in ccm-preprocessor-prod · SMS/MMS Response Handler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6432" y="1389888"/>
            <a:ext cx="2622728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1389888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87639" y="138988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196432" y="1773936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4448" y="1865376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API · Template Lookup · URL shortener · Comm Request · Line-type lookup · phoneNumbers · Send Messages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20327" y="1389888"/>
            <a:ext cx="2622728" cy="384048"/>
          </a:xfrm>
          <a:prstGeom prst="rect">
            <a:avLst/>
          </a:prstGeom>
          <a:solidFill>
            <a:srgbClr val="C959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8343" y="1389888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scheduled jobs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138988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020327" y="1773936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8343" y="1865376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Preprocessor · Scaler file consolidation · Recon Batch Load · Recon Services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2622728" cy="384048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" y="3017520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39848" y="3017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48640" y="3401568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" y="3493008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SQL Server 2019 (Recon, Interactive, Scaler, Content Manager) · P360 (PostgreSQL) · GWDP SailFish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72536" y="3017520"/>
            <a:ext cx="2622728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500552" y="3017520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data stores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263744" y="3017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3372536" y="3401568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00552" y="3493008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 / Content Central archive · NAS network share · Google Analytics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6432" y="3017520"/>
            <a:ext cx="2622728" cy="384048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24448" y="3017520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R15 servers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87639" y="3017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196432" y="3401568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24448" y="3493008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×6 · Interactive ×5 · License Manager ×2 · Content Manager on all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20327" y="3017520"/>
            <a:ext cx="2622728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148343" y="3017520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projects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911535" y="3017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9020327" y="3401568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8343" y="3493008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ccm-dcs-prod · ccm-preprocessor-prod · sms-handler-prod · 13 routes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4645152"/>
            <a:ext cx="2622728" cy="384048"/>
          </a:xfrm>
          <a:prstGeom prst="rect">
            <a:avLst/>
          </a:prstGeom>
          <a:solidFill>
            <a:srgbClr val="C9591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76656" y="4645152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2439848" y="464515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548640" y="5029200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76656" y="5120640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Quadient · Twilio · Salesforce MC · O’Neil · Highmark · Forge · Bloomreach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72536" y="4645152"/>
            <a:ext cx="2622728" cy="384048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500552" y="4645152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infrastructure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263744" y="464515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3372536" y="5029200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500552" y="5120640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DataPower/APIC · NetScaler · PMI · Control-M · Hadoop/Spark · Kafka · Splunk · MSMQ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96432" y="4645152"/>
            <a:ext cx="2622728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324448" y="4645152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source systems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087639" y="464515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6196432" y="5029200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324448" y="5120640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PPX, CIAM, EWoC, Claims, ECIR, VIVR, Contracts, PCP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020327" y="4645152"/>
            <a:ext cx="2622728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148343" y="4645152"/>
            <a:ext cx="184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911535" y="464515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9020327" y="5029200"/>
            <a:ext cx="26227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48343" y="5120640"/>
            <a:ext cx="2366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SMS/MMS · Print · Digital (Message Center), plus PDF archive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6217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CCM architecture diagrams, OpenShift route listings and the physical architecture. Confirm against the CMDB.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INVENTORY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applications and backend services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17320"/>
                <a:gridCol w="4434840"/>
                <a:gridCol w="27249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57"/>
                    </a:solidFill>
                  </a:tcPr>
                </a:tc>
              </a:tr>
              <a:tr h="27432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APPLICATIONS  · 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self-service: tracking, suppression, templates, contracts, short URLs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 · recon-dashboard.bcbsfl.com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 On-Demand Reusable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(React/Node)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lookup and hand-off to Inspire Interactive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 · ccm-ondemand.bcbsfl.com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 Interactive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 authoring, approval and submission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 R15 · P413–P417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 Designer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design and data transformation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Quadient Inspire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CCM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SMS, print and URL audit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srsps0063 · CCM_Reports_Prod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SERVICES  · 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data-retrieval-services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retrieval for CCM consumers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document-composition-services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composition services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recon-load-services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Content Central content IDs in Recon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 creation (MSMQ) and reprocessing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ccm-dcs-prod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ccm-preprocessor-services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 Request, line-type lookup, preprocessor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ccm-preprocessor-prod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ccm-kafka-services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/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 content ID and EWoC task ID to 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ccm-preprocessor-prod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ccm-urlshortnener-service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shortener, /ccm/api/v1/urlshortener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ccm-preprocessor-prod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recon-realtime-load-service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load of request details into Recon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ccm-preprocessor-prod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SMS/MMS Response Handler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SMS/MMS delivery status into Recon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sms-handler-prod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21792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Purpose inferred from route name; confirm with owning team. Two rejected duplicate routes in ccm-dcs-prod are excluded.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by layer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68919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68919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68919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430207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30207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430207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91495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91495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591495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371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1645920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28216"/>
            <a:ext cx="192024" cy="19202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14400" y="1645920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2066544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192024" cy="1920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14400" y="2066544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48640" y="2487168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9464"/>
            <a:ext cx="192024" cy="1920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14400" y="2487168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3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" y="2907792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0088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4400" y="2907792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8640" y="3328416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10712"/>
            <a:ext cx="192024" cy="19202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4400" y="3328416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3749040"/>
            <a:ext cx="13716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31336"/>
            <a:ext cx="192024" cy="19202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14400" y="3749040"/>
            <a:ext cx="987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4279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 CONTACT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48640" y="4553712"/>
            <a:ext cx="36576" cy="932688"/>
          </a:xfrm>
          <a:prstGeom prst="rect">
            <a:avLst/>
          </a:prstGeom>
          <a:solidFill>
            <a:srgbClr val="6A30D8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658368" y="453542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CCM/Inspire is a Shared Service. Its APIs sit behind the API gateway; its events flow on the event bus.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2057400" y="1371600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40" name="Shape 32"/>
          <p:cNvSpPr/>
          <p:nvPr/>
        </p:nvSpPr>
        <p:spPr>
          <a:xfrm>
            <a:off x="2057400" y="1371600"/>
            <a:ext cx="7955280" cy="45720"/>
          </a:xfrm>
          <a:prstGeom prst="rect">
            <a:avLst/>
          </a:prstGeom>
          <a:solidFill>
            <a:srgbClr val="2F8F57"/>
          </a:solidFill>
          <a:ln/>
        </p:spPr>
      </p:sp>
      <p:sp>
        <p:nvSpPr>
          <p:cNvPr id="41" name="Shape 33"/>
          <p:cNvSpPr/>
          <p:nvPr/>
        </p:nvSpPr>
        <p:spPr>
          <a:xfrm>
            <a:off x="2057400" y="1371600"/>
            <a:ext cx="45720" cy="662940"/>
          </a:xfrm>
          <a:prstGeom prst="rect">
            <a:avLst/>
          </a:prstGeom>
          <a:solidFill>
            <a:srgbClr val="2F8F57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2221992" y="14356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DELIVERY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2221992" y="1645920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295144" y="167335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45" name="Text 37"/>
          <p:cNvSpPr txBox="1"/>
          <p:nvPr/>
        </p:nvSpPr>
        <p:spPr>
          <a:xfrm>
            <a:off x="2295144" y="181051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SFMC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3772814" y="1645920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845966" y="167335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MMS</a:t>
            </a:r>
            <a:endParaRPr lang="en-US" sz="700" dirty="0"/>
          </a:p>
        </p:txBody>
      </p:sp>
      <p:sp>
        <p:nvSpPr>
          <p:cNvPr id="48" name="Text 40"/>
          <p:cNvSpPr txBox="1"/>
          <p:nvPr/>
        </p:nvSpPr>
        <p:spPr>
          <a:xfrm>
            <a:off x="3845966" y="181051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750" dirty="0"/>
          </a:p>
        </p:txBody>
      </p:sp>
      <p:sp>
        <p:nvSpPr>
          <p:cNvPr id="49" name="Shape 41"/>
          <p:cNvSpPr/>
          <p:nvPr/>
        </p:nvSpPr>
        <p:spPr>
          <a:xfrm>
            <a:off x="5323637" y="1645920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5396789" y="167335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1" name="Text 43"/>
          <p:cNvSpPr txBox="1"/>
          <p:nvPr/>
        </p:nvSpPr>
        <p:spPr>
          <a:xfrm>
            <a:off x="5396789" y="181051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O’Neil, Highmark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6874459" y="1645920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6947611" y="167335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54" name="Text 46"/>
          <p:cNvSpPr txBox="1"/>
          <p:nvPr/>
        </p:nvSpPr>
        <p:spPr>
          <a:xfrm>
            <a:off x="6947611" y="181051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Center</a:t>
            </a:r>
            <a:endParaRPr lang="en-US" sz="750" dirty="0"/>
          </a:p>
        </p:txBody>
      </p:sp>
      <p:sp>
        <p:nvSpPr>
          <p:cNvPr id="55" name="Shape 47"/>
          <p:cNvSpPr/>
          <p:nvPr/>
        </p:nvSpPr>
        <p:spPr>
          <a:xfrm>
            <a:off x="8425282" y="1645920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8498434" y="167335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700" dirty="0"/>
          </a:p>
        </p:txBody>
      </p:sp>
      <p:sp>
        <p:nvSpPr>
          <p:cNvPr id="57" name="Text 49"/>
          <p:cNvSpPr txBox="1"/>
          <p:nvPr/>
        </p:nvSpPr>
        <p:spPr>
          <a:xfrm>
            <a:off x="8498434" y="1810512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 / Content Central</a:t>
            </a:r>
            <a:endParaRPr lang="en-US" sz="750" dirty="0"/>
          </a:p>
        </p:txBody>
      </p:sp>
      <p:sp>
        <p:nvSpPr>
          <p:cNvPr id="58" name="Shape 50"/>
          <p:cNvSpPr/>
          <p:nvPr/>
        </p:nvSpPr>
        <p:spPr>
          <a:xfrm>
            <a:off x="2057400" y="2098548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59" name="Shape 51"/>
          <p:cNvSpPr/>
          <p:nvPr/>
        </p:nvSpPr>
        <p:spPr>
          <a:xfrm>
            <a:off x="2057400" y="2098548"/>
            <a:ext cx="7955280" cy="45720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60" name="Shape 52"/>
          <p:cNvSpPr/>
          <p:nvPr/>
        </p:nvSpPr>
        <p:spPr>
          <a:xfrm>
            <a:off x="2057400" y="2098548"/>
            <a:ext cx="45720" cy="662940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61" name="Text 53"/>
          <p:cNvSpPr txBox="1"/>
          <p:nvPr/>
        </p:nvSpPr>
        <p:spPr>
          <a:xfrm>
            <a:off x="2221992" y="21625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A3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IDENTITY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2221992" y="2372868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2295144" y="240030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POLICIES</a:t>
            </a:r>
            <a:endParaRPr lang="en-US" sz="700" dirty="0"/>
          </a:p>
        </p:txBody>
      </p:sp>
      <p:sp>
        <p:nvSpPr>
          <p:cNvPr id="64" name="Text 56"/>
          <p:cNvSpPr txBox="1"/>
          <p:nvPr/>
        </p:nvSpPr>
        <p:spPr>
          <a:xfrm>
            <a:off x="2295144" y="253746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750" dirty="0"/>
          </a:p>
        </p:txBody>
      </p:sp>
      <p:sp>
        <p:nvSpPr>
          <p:cNvPr id="65" name="Shape 57"/>
          <p:cNvSpPr/>
          <p:nvPr/>
        </p:nvSpPr>
        <p:spPr>
          <a:xfrm>
            <a:off x="4160520" y="2372868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4233672" y="240030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 CHECKS</a:t>
            </a:r>
            <a:endParaRPr lang="en-US" sz="700" dirty="0"/>
          </a:p>
        </p:txBody>
      </p:sp>
      <p:sp>
        <p:nvSpPr>
          <p:cNvPr id="67" name="Text 59"/>
          <p:cNvSpPr txBox="1"/>
          <p:nvPr/>
        </p:nvSpPr>
        <p:spPr>
          <a:xfrm>
            <a:off x="4233672" y="253746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path</a:t>
            </a:r>
            <a:endParaRPr lang="en-US" sz="750" dirty="0"/>
          </a:p>
        </p:txBody>
      </p:sp>
      <p:sp>
        <p:nvSpPr>
          <p:cNvPr id="68" name="Shape 60"/>
          <p:cNvSpPr/>
          <p:nvPr/>
        </p:nvSpPr>
        <p:spPr>
          <a:xfrm>
            <a:off x="6099048" y="2372868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6172200" y="240030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VALIDATION</a:t>
            </a:r>
            <a:endParaRPr lang="en-US" sz="700" dirty="0"/>
          </a:p>
        </p:txBody>
      </p:sp>
      <p:sp>
        <p:nvSpPr>
          <p:cNvPr id="70" name="Text 62"/>
          <p:cNvSpPr txBox="1"/>
          <p:nvPr/>
        </p:nvSpPr>
        <p:spPr>
          <a:xfrm>
            <a:off x="6172200" y="253746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</a:t>
            </a:r>
            <a:endParaRPr lang="en-US" sz="750" dirty="0"/>
          </a:p>
        </p:txBody>
      </p:sp>
      <p:sp>
        <p:nvSpPr>
          <p:cNvPr id="71" name="Shape 63"/>
          <p:cNvSpPr/>
          <p:nvPr/>
        </p:nvSpPr>
        <p:spPr>
          <a:xfrm>
            <a:off x="8037576" y="2372868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8110728" y="240030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WHITELIST</a:t>
            </a:r>
            <a:endParaRPr lang="en-US" sz="700" dirty="0"/>
          </a:p>
        </p:txBody>
      </p:sp>
      <p:sp>
        <p:nvSpPr>
          <p:cNvPr id="73" name="Text 65"/>
          <p:cNvSpPr txBox="1"/>
          <p:nvPr/>
        </p:nvSpPr>
        <p:spPr>
          <a:xfrm>
            <a:off x="8110728" y="253746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and URLs</a:t>
            </a:r>
            <a:endParaRPr lang="en-US" sz="750" dirty="0"/>
          </a:p>
        </p:txBody>
      </p:sp>
      <p:sp>
        <p:nvSpPr>
          <p:cNvPr id="74" name="Shape 66"/>
          <p:cNvSpPr/>
          <p:nvPr/>
        </p:nvSpPr>
        <p:spPr>
          <a:xfrm>
            <a:off x="2057400" y="2825496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75" name="Shape 67"/>
          <p:cNvSpPr/>
          <p:nvPr/>
        </p:nvSpPr>
        <p:spPr>
          <a:xfrm>
            <a:off x="2057400" y="2825496"/>
            <a:ext cx="7955280" cy="45720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76" name="Shape 68"/>
          <p:cNvSpPr/>
          <p:nvPr/>
        </p:nvSpPr>
        <p:spPr>
          <a:xfrm>
            <a:off x="2057400" y="2825496"/>
            <a:ext cx="45720" cy="662940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77" name="Text 69"/>
          <p:cNvSpPr txBox="1"/>
          <p:nvPr/>
        </p:nvSpPr>
        <p:spPr>
          <a:xfrm>
            <a:off x="2221992" y="28895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78" name="Shape 70"/>
          <p:cNvSpPr/>
          <p:nvPr/>
        </p:nvSpPr>
        <p:spPr>
          <a:xfrm>
            <a:off x="2221992" y="3099816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2295144" y="31272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DASHBOARD</a:t>
            </a:r>
            <a:endParaRPr lang="en-US" sz="700" dirty="0"/>
          </a:p>
        </p:txBody>
      </p:sp>
      <p:sp>
        <p:nvSpPr>
          <p:cNvPr id="80" name="Text 72"/>
          <p:cNvSpPr txBox="1"/>
          <p:nvPr/>
        </p:nvSpPr>
        <p:spPr>
          <a:xfrm>
            <a:off x="2295144" y="326440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self-service</a:t>
            </a:r>
            <a:endParaRPr lang="en-US" sz="750" dirty="0"/>
          </a:p>
        </p:txBody>
      </p:sp>
      <p:sp>
        <p:nvSpPr>
          <p:cNvPr id="81" name="Shape 73"/>
          <p:cNvSpPr/>
          <p:nvPr/>
        </p:nvSpPr>
        <p:spPr>
          <a:xfrm>
            <a:off x="4160520" y="3099816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4233672" y="31272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UI</a:t>
            </a:r>
            <a:endParaRPr lang="en-US" sz="700" dirty="0"/>
          </a:p>
        </p:txBody>
      </p:sp>
      <p:sp>
        <p:nvSpPr>
          <p:cNvPr id="83" name="Text 75"/>
          <p:cNvSpPr txBox="1"/>
          <p:nvPr/>
        </p:nvSpPr>
        <p:spPr>
          <a:xfrm>
            <a:off x="4233672" y="326440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letter builder</a:t>
            </a:r>
            <a:endParaRPr lang="en-US" sz="750" dirty="0"/>
          </a:p>
        </p:txBody>
      </p:sp>
      <p:sp>
        <p:nvSpPr>
          <p:cNvPr id="84" name="Shape 76"/>
          <p:cNvSpPr/>
          <p:nvPr/>
        </p:nvSpPr>
        <p:spPr>
          <a:xfrm>
            <a:off x="6099048" y="3099816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6172200" y="31272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INTERACTIVE</a:t>
            </a:r>
            <a:endParaRPr lang="en-US" sz="700" dirty="0"/>
          </a:p>
        </p:txBody>
      </p:sp>
      <p:sp>
        <p:nvSpPr>
          <p:cNvPr id="86" name="Text 78"/>
          <p:cNvSpPr txBox="1"/>
          <p:nvPr/>
        </p:nvSpPr>
        <p:spPr>
          <a:xfrm>
            <a:off x="6172200" y="326440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Authoring, approval</a:t>
            </a:r>
            <a:endParaRPr lang="en-US" sz="750" dirty="0"/>
          </a:p>
        </p:txBody>
      </p:sp>
      <p:sp>
        <p:nvSpPr>
          <p:cNvPr id="87" name="Shape 79"/>
          <p:cNvSpPr/>
          <p:nvPr/>
        </p:nvSpPr>
        <p:spPr>
          <a:xfrm>
            <a:off x="8037576" y="3099816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8" name="Text 80"/>
          <p:cNvSpPr txBox="1"/>
          <p:nvPr/>
        </p:nvSpPr>
        <p:spPr>
          <a:xfrm>
            <a:off x="8110728" y="31272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00" dirty="0"/>
          </a:p>
        </p:txBody>
      </p:sp>
      <p:sp>
        <p:nvSpPr>
          <p:cNvPr id="89" name="Text 81"/>
          <p:cNvSpPr txBox="1"/>
          <p:nvPr/>
        </p:nvSpPr>
        <p:spPr>
          <a:xfrm>
            <a:off x="8110728" y="326440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reporting</a:t>
            </a:r>
            <a:endParaRPr lang="en-US" sz="750" dirty="0"/>
          </a:p>
        </p:txBody>
      </p:sp>
      <p:sp>
        <p:nvSpPr>
          <p:cNvPr id="90" name="Shape 82"/>
          <p:cNvSpPr/>
          <p:nvPr/>
        </p:nvSpPr>
        <p:spPr>
          <a:xfrm>
            <a:off x="2057400" y="3552444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91" name="Shape 83"/>
          <p:cNvSpPr/>
          <p:nvPr/>
        </p:nvSpPr>
        <p:spPr>
          <a:xfrm>
            <a:off x="2057400" y="3552444"/>
            <a:ext cx="7955280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2" name="Shape 84"/>
          <p:cNvSpPr/>
          <p:nvPr/>
        </p:nvSpPr>
        <p:spPr>
          <a:xfrm>
            <a:off x="2057400" y="3552444"/>
            <a:ext cx="45720" cy="6629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3" name="Text 85"/>
          <p:cNvSpPr txBox="1"/>
          <p:nvPr/>
        </p:nvSpPr>
        <p:spPr>
          <a:xfrm>
            <a:off x="2221992" y="36164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800" dirty="0"/>
          </a:p>
        </p:txBody>
      </p:sp>
      <p:sp>
        <p:nvSpPr>
          <p:cNvPr id="94" name="Shape 86"/>
          <p:cNvSpPr/>
          <p:nvPr/>
        </p:nvSpPr>
        <p:spPr>
          <a:xfrm>
            <a:off x="2221992" y="3826764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2295144" y="385419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API</a:t>
            </a:r>
            <a:endParaRPr lang="en-US" sz="700" dirty="0"/>
          </a:p>
        </p:txBody>
      </p:sp>
      <p:sp>
        <p:nvSpPr>
          <p:cNvPr id="96" name="Text 88"/>
          <p:cNvSpPr txBox="1"/>
          <p:nvPr/>
        </p:nvSpPr>
        <p:spPr>
          <a:xfrm>
            <a:off x="2295144" y="399135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</a:t>
            </a:r>
            <a:endParaRPr lang="en-US" sz="750" dirty="0"/>
          </a:p>
        </p:txBody>
      </p:sp>
      <p:sp>
        <p:nvSpPr>
          <p:cNvPr id="97" name="Shape 89"/>
          <p:cNvSpPr/>
          <p:nvPr/>
        </p:nvSpPr>
        <p:spPr>
          <a:xfrm>
            <a:off x="3772814" y="3826764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3845966" y="385419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700" dirty="0"/>
          </a:p>
        </p:txBody>
      </p:sp>
      <p:sp>
        <p:nvSpPr>
          <p:cNvPr id="99" name="Text 91"/>
          <p:cNvSpPr txBox="1"/>
          <p:nvPr/>
        </p:nvSpPr>
        <p:spPr>
          <a:xfrm>
            <a:off x="3845966" y="399135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Comm Request</a:t>
            </a:r>
            <a:endParaRPr lang="en-US" sz="750" dirty="0"/>
          </a:p>
        </p:txBody>
      </p:sp>
      <p:sp>
        <p:nvSpPr>
          <p:cNvPr id="100" name="Shape 92"/>
          <p:cNvSpPr/>
          <p:nvPr/>
        </p:nvSpPr>
        <p:spPr>
          <a:xfrm>
            <a:off x="5323637" y="3826764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5396789" y="385419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</a:t>
            </a:r>
            <a:endParaRPr lang="en-US" sz="700" dirty="0"/>
          </a:p>
        </p:txBody>
      </p:sp>
      <p:sp>
        <p:nvSpPr>
          <p:cNvPr id="102" name="Text 94"/>
          <p:cNvSpPr txBox="1"/>
          <p:nvPr/>
        </p:nvSpPr>
        <p:spPr>
          <a:xfrm>
            <a:off x="5396789" y="399135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Base62 short links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6874459" y="3826764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04" name="Text 96"/>
          <p:cNvSpPr txBox="1"/>
          <p:nvPr/>
        </p:nvSpPr>
        <p:spPr>
          <a:xfrm>
            <a:off x="6947611" y="385419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SERVICES</a:t>
            </a:r>
            <a:endParaRPr lang="en-US" sz="700" dirty="0"/>
          </a:p>
        </p:txBody>
      </p:sp>
      <p:sp>
        <p:nvSpPr>
          <p:cNvPr id="105" name="Text 97"/>
          <p:cNvSpPr txBox="1"/>
          <p:nvPr/>
        </p:nvSpPr>
        <p:spPr>
          <a:xfrm>
            <a:off x="6947611" y="399135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ID events</a:t>
            </a:r>
            <a:endParaRPr lang="en-US" sz="750" dirty="0"/>
          </a:p>
        </p:txBody>
      </p:sp>
      <p:sp>
        <p:nvSpPr>
          <p:cNvPr id="106" name="Shape 98"/>
          <p:cNvSpPr/>
          <p:nvPr/>
        </p:nvSpPr>
        <p:spPr>
          <a:xfrm>
            <a:off x="8425282" y="3826764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07" name="Text 99"/>
          <p:cNvSpPr txBox="1"/>
          <p:nvPr/>
        </p:nvSpPr>
        <p:spPr>
          <a:xfrm>
            <a:off x="8498434" y="385419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SERVICES</a:t>
            </a:r>
            <a:endParaRPr lang="en-US" sz="700" dirty="0"/>
          </a:p>
        </p:txBody>
      </p:sp>
      <p:sp>
        <p:nvSpPr>
          <p:cNvPr id="108" name="Text 100"/>
          <p:cNvSpPr txBox="1"/>
          <p:nvPr/>
        </p:nvSpPr>
        <p:spPr>
          <a:xfrm>
            <a:off x="8498434" y="3991356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touchpoints</a:t>
            </a:r>
            <a:endParaRPr lang="en-US" sz="750" dirty="0"/>
          </a:p>
        </p:txBody>
      </p:sp>
      <p:sp>
        <p:nvSpPr>
          <p:cNvPr id="109" name="Shape 101"/>
          <p:cNvSpPr/>
          <p:nvPr/>
        </p:nvSpPr>
        <p:spPr>
          <a:xfrm>
            <a:off x="2057400" y="4279392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0" name="Shape 102"/>
          <p:cNvSpPr/>
          <p:nvPr/>
        </p:nvSpPr>
        <p:spPr>
          <a:xfrm>
            <a:off x="2057400" y="4279392"/>
            <a:ext cx="7955280" cy="45720"/>
          </a:xfrm>
          <a:prstGeom prst="rect">
            <a:avLst/>
          </a:prstGeom>
          <a:solidFill>
            <a:srgbClr val="6A30D8"/>
          </a:solidFill>
          <a:ln/>
        </p:spPr>
      </p:sp>
      <p:sp>
        <p:nvSpPr>
          <p:cNvPr id="111" name="Shape 103"/>
          <p:cNvSpPr/>
          <p:nvPr/>
        </p:nvSpPr>
        <p:spPr>
          <a:xfrm>
            <a:off x="2057400" y="4279392"/>
            <a:ext cx="45720" cy="662940"/>
          </a:xfrm>
          <a:prstGeom prst="rect">
            <a:avLst/>
          </a:prstGeom>
          <a:solidFill>
            <a:srgbClr val="6A30D8"/>
          </a:solidFill>
          <a:ln/>
        </p:spPr>
      </p:sp>
      <p:sp>
        <p:nvSpPr>
          <p:cNvPr id="112" name="Text 104"/>
          <p:cNvSpPr txBox="1"/>
          <p:nvPr/>
        </p:nvSpPr>
        <p:spPr>
          <a:xfrm>
            <a:off x="2221992" y="4343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A3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INTEGRATION</a:t>
            </a:r>
            <a:endParaRPr lang="en-US" sz="800" dirty="0"/>
          </a:p>
        </p:txBody>
      </p:sp>
      <p:sp>
        <p:nvSpPr>
          <p:cNvPr id="113" name="Shape 105"/>
          <p:cNvSpPr/>
          <p:nvPr/>
        </p:nvSpPr>
        <p:spPr>
          <a:xfrm>
            <a:off x="2221992" y="4553712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14" name="Text 106"/>
          <p:cNvSpPr txBox="1"/>
          <p:nvPr/>
        </p:nvSpPr>
        <p:spPr>
          <a:xfrm>
            <a:off x="2295144" y="458114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DESIGNER</a:t>
            </a:r>
            <a:endParaRPr lang="en-US" sz="700" dirty="0"/>
          </a:p>
        </p:txBody>
      </p:sp>
      <p:sp>
        <p:nvSpPr>
          <p:cNvPr id="115" name="Text 107"/>
          <p:cNvSpPr txBox="1"/>
          <p:nvPr/>
        </p:nvSpPr>
        <p:spPr>
          <a:xfrm>
            <a:off x="2295144" y="471830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design</a:t>
            </a:r>
            <a:endParaRPr lang="en-US" sz="750" dirty="0"/>
          </a:p>
        </p:txBody>
      </p:sp>
      <p:sp>
        <p:nvSpPr>
          <p:cNvPr id="116" name="Shape 108"/>
          <p:cNvSpPr/>
          <p:nvPr/>
        </p:nvSpPr>
        <p:spPr>
          <a:xfrm>
            <a:off x="3772814" y="4553712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17" name="Text 109"/>
          <p:cNvSpPr txBox="1"/>
          <p:nvPr/>
        </p:nvSpPr>
        <p:spPr>
          <a:xfrm>
            <a:off x="3845966" y="458114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SCALER</a:t>
            </a:r>
            <a:endParaRPr lang="en-US" sz="700" dirty="0"/>
          </a:p>
        </p:txBody>
      </p:sp>
      <p:sp>
        <p:nvSpPr>
          <p:cNvPr id="118" name="Text 110"/>
          <p:cNvSpPr txBox="1"/>
          <p:nvPr/>
        </p:nvSpPr>
        <p:spPr>
          <a:xfrm>
            <a:off x="3845966" y="471830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folder, real-time</a:t>
            </a:r>
            <a:endParaRPr lang="en-US" sz="750" dirty="0"/>
          </a:p>
        </p:txBody>
      </p:sp>
      <p:sp>
        <p:nvSpPr>
          <p:cNvPr id="119" name="Shape 111"/>
          <p:cNvSpPr/>
          <p:nvPr/>
        </p:nvSpPr>
        <p:spPr>
          <a:xfrm>
            <a:off x="5323637" y="4553712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20" name="Text 112"/>
          <p:cNvSpPr txBox="1"/>
          <p:nvPr/>
        </p:nvSpPr>
        <p:spPr>
          <a:xfrm>
            <a:off x="5396789" y="458114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</a:t>
            </a:r>
            <a:endParaRPr lang="en-US" sz="700" dirty="0"/>
          </a:p>
        </p:txBody>
      </p:sp>
      <p:sp>
        <p:nvSpPr>
          <p:cNvPr id="121" name="Text 113"/>
          <p:cNvSpPr txBox="1"/>
          <p:nvPr/>
        </p:nvSpPr>
        <p:spPr>
          <a:xfrm>
            <a:off x="5396789" y="471830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output</a:t>
            </a:r>
            <a:endParaRPr lang="en-US" sz="750" dirty="0"/>
          </a:p>
        </p:txBody>
      </p:sp>
      <p:sp>
        <p:nvSpPr>
          <p:cNvPr id="122" name="Shape 114"/>
          <p:cNvSpPr/>
          <p:nvPr/>
        </p:nvSpPr>
        <p:spPr>
          <a:xfrm>
            <a:off x="6874459" y="4553712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23" name="Text 115"/>
          <p:cNvSpPr txBox="1"/>
          <p:nvPr/>
        </p:nvSpPr>
        <p:spPr>
          <a:xfrm>
            <a:off x="6947611" y="458114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</a:t>
            </a:r>
            <a:endParaRPr lang="en-US" sz="700" dirty="0"/>
          </a:p>
        </p:txBody>
      </p:sp>
      <p:sp>
        <p:nvSpPr>
          <p:cNvPr id="124" name="Text 116"/>
          <p:cNvSpPr txBox="1"/>
          <p:nvPr/>
        </p:nvSpPr>
        <p:spPr>
          <a:xfrm>
            <a:off x="6947611" y="471830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50" dirty="0"/>
          </a:p>
        </p:txBody>
      </p:sp>
      <p:sp>
        <p:nvSpPr>
          <p:cNvPr id="125" name="Shape 117"/>
          <p:cNvSpPr/>
          <p:nvPr/>
        </p:nvSpPr>
        <p:spPr>
          <a:xfrm>
            <a:off x="8425282" y="4553712"/>
            <a:ext cx="1477670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26" name="Text 118"/>
          <p:cNvSpPr txBox="1"/>
          <p:nvPr/>
        </p:nvSpPr>
        <p:spPr>
          <a:xfrm>
            <a:off x="8498434" y="458114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700" dirty="0"/>
          </a:p>
        </p:txBody>
      </p:sp>
      <p:sp>
        <p:nvSpPr>
          <p:cNvPr id="127" name="Text 119"/>
          <p:cNvSpPr txBox="1"/>
          <p:nvPr/>
        </p:nvSpPr>
        <p:spPr>
          <a:xfrm>
            <a:off x="8498434" y="4718304"/>
            <a:ext cx="133136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750" dirty="0"/>
          </a:p>
        </p:txBody>
      </p:sp>
      <p:sp>
        <p:nvSpPr>
          <p:cNvPr id="128" name="Shape 120"/>
          <p:cNvSpPr/>
          <p:nvPr/>
        </p:nvSpPr>
        <p:spPr>
          <a:xfrm>
            <a:off x="2057400" y="5006340"/>
            <a:ext cx="7955280" cy="6629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29" name="Shape 121"/>
          <p:cNvSpPr/>
          <p:nvPr/>
        </p:nvSpPr>
        <p:spPr>
          <a:xfrm>
            <a:off x="2057400" y="5006340"/>
            <a:ext cx="7955280" cy="4572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30" name="Shape 122"/>
          <p:cNvSpPr/>
          <p:nvPr/>
        </p:nvSpPr>
        <p:spPr>
          <a:xfrm>
            <a:off x="2057400" y="5006340"/>
            <a:ext cx="45720" cy="66294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31" name="Text 123"/>
          <p:cNvSpPr txBox="1"/>
          <p:nvPr/>
        </p:nvSpPr>
        <p:spPr>
          <a:xfrm>
            <a:off x="2221992" y="50703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32" name="Shape 124"/>
          <p:cNvSpPr/>
          <p:nvPr/>
        </p:nvSpPr>
        <p:spPr>
          <a:xfrm>
            <a:off x="2221992" y="5280660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33" name="Text 125"/>
          <p:cNvSpPr txBox="1"/>
          <p:nvPr/>
        </p:nvSpPr>
        <p:spPr>
          <a:xfrm>
            <a:off x="2295144" y="530809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700" dirty="0"/>
          </a:p>
        </p:txBody>
      </p:sp>
      <p:sp>
        <p:nvSpPr>
          <p:cNvPr id="134" name="Text 126"/>
          <p:cNvSpPr txBox="1"/>
          <p:nvPr/>
        </p:nvSpPr>
        <p:spPr>
          <a:xfrm>
            <a:off x="2295144" y="54452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2019</a:t>
            </a:r>
            <a:endParaRPr lang="en-US" sz="750" dirty="0"/>
          </a:p>
        </p:txBody>
      </p:sp>
      <p:sp>
        <p:nvSpPr>
          <p:cNvPr id="135" name="Shape 127"/>
          <p:cNvSpPr/>
          <p:nvPr/>
        </p:nvSpPr>
        <p:spPr>
          <a:xfrm>
            <a:off x="4160520" y="5280660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36" name="Text 128"/>
          <p:cNvSpPr txBox="1"/>
          <p:nvPr/>
        </p:nvSpPr>
        <p:spPr>
          <a:xfrm>
            <a:off x="4233672" y="530809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P360</a:t>
            </a:r>
            <a:endParaRPr lang="en-US" sz="700" dirty="0"/>
          </a:p>
        </p:txBody>
      </p:sp>
      <p:sp>
        <p:nvSpPr>
          <p:cNvPr id="137" name="Text 129"/>
          <p:cNvSpPr txBox="1"/>
          <p:nvPr/>
        </p:nvSpPr>
        <p:spPr>
          <a:xfrm>
            <a:off x="4233672" y="54452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consents</a:t>
            </a:r>
            <a:endParaRPr lang="en-US" sz="750" dirty="0"/>
          </a:p>
        </p:txBody>
      </p:sp>
      <p:sp>
        <p:nvSpPr>
          <p:cNvPr id="138" name="Shape 130"/>
          <p:cNvSpPr/>
          <p:nvPr/>
        </p:nvSpPr>
        <p:spPr>
          <a:xfrm>
            <a:off x="6099048" y="5280660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39" name="Text 131"/>
          <p:cNvSpPr txBox="1"/>
          <p:nvPr/>
        </p:nvSpPr>
        <p:spPr>
          <a:xfrm>
            <a:off x="6172200" y="530809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GWDP SAILFISH</a:t>
            </a:r>
            <a:endParaRPr lang="en-US" sz="700" dirty="0"/>
          </a:p>
        </p:txBody>
      </p:sp>
      <p:sp>
        <p:nvSpPr>
          <p:cNvPr id="140" name="Text 132"/>
          <p:cNvSpPr txBox="1"/>
          <p:nvPr/>
        </p:nvSpPr>
        <p:spPr>
          <a:xfrm>
            <a:off x="6172200" y="54452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</a:t>
            </a:r>
            <a:endParaRPr lang="en-US" sz="750" dirty="0"/>
          </a:p>
        </p:txBody>
      </p:sp>
      <p:sp>
        <p:nvSpPr>
          <p:cNvPr id="141" name="Shape 133"/>
          <p:cNvSpPr/>
          <p:nvPr/>
        </p:nvSpPr>
        <p:spPr>
          <a:xfrm>
            <a:off x="8037576" y="5280660"/>
            <a:ext cx="1865376" cy="3337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42" name="Text 134"/>
          <p:cNvSpPr txBox="1"/>
          <p:nvPr/>
        </p:nvSpPr>
        <p:spPr>
          <a:xfrm>
            <a:off x="8110728" y="530809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CENTRAL</a:t>
            </a:r>
            <a:endParaRPr lang="en-US" sz="700" dirty="0"/>
          </a:p>
        </p:txBody>
      </p:sp>
      <p:sp>
        <p:nvSpPr>
          <p:cNvPr id="143" name="Text 135"/>
          <p:cNvSpPr txBox="1"/>
          <p:nvPr/>
        </p:nvSpPr>
        <p:spPr>
          <a:xfrm>
            <a:off x="8110728" y="54452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archive</a:t>
            </a:r>
            <a:endParaRPr lang="en-US" sz="750" dirty="0"/>
          </a:p>
        </p:txBody>
      </p:sp>
      <p:sp>
        <p:nvSpPr>
          <p:cNvPr id="144" name="Shape 136"/>
          <p:cNvSpPr/>
          <p:nvPr/>
        </p:nvSpPr>
        <p:spPr>
          <a:xfrm>
            <a:off x="10149840" y="1371600"/>
            <a:ext cx="1493215" cy="4572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45" name="Text 137"/>
          <p:cNvSpPr txBox="1"/>
          <p:nvPr/>
        </p:nvSpPr>
        <p:spPr>
          <a:xfrm>
            <a:off x="10149840" y="1463040"/>
            <a:ext cx="1493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ECOSYSTEM</a:t>
            </a:r>
            <a:endParaRPr lang="en-US" sz="800" dirty="0"/>
          </a:p>
        </p:txBody>
      </p:sp>
      <p:sp>
        <p:nvSpPr>
          <p:cNvPr id="146" name="Shape 138"/>
          <p:cNvSpPr/>
          <p:nvPr/>
        </p:nvSpPr>
        <p:spPr>
          <a:xfrm>
            <a:off x="10149840" y="1755648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47" name="Text 139"/>
          <p:cNvSpPr txBox="1"/>
          <p:nvPr/>
        </p:nvSpPr>
        <p:spPr>
          <a:xfrm>
            <a:off x="10149840" y="1755648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Quadient</a:t>
            </a:r>
            <a:endParaRPr lang="en-US" sz="850" dirty="0"/>
          </a:p>
        </p:txBody>
      </p:sp>
      <p:sp>
        <p:nvSpPr>
          <p:cNvPr id="148" name="Shape 140"/>
          <p:cNvSpPr/>
          <p:nvPr/>
        </p:nvSpPr>
        <p:spPr>
          <a:xfrm>
            <a:off x="10149840" y="2066544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49" name="Text 141"/>
          <p:cNvSpPr txBox="1"/>
          <p:nvPr/>
        </p:nvSpPr>
        <p:spPr>
          <a:xfrm>
            <a:off x="10149840" y="2066544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850" dirty="0"/>
          </a:p>
        </p:txBody>
      </p:sp>
      <p:sp>
        <p:nvSpPr>
          <p:cNvPr id="150" name="Shape 142"/>
          <p:cNvSpPr/>
          <p:nvPr/>
        </p:nvSpPr>
        <p:spPr>
          <a:xfrm>
            <a:off x="10149840" y="2377440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1" name="Text 143"/>
          <p:cNvSpPr txBox="1"/>
          <p:nvPr/>
        </p:nvSpPr>
        <p:spPr>
          <a:xfrm>
            <a:off x="10149840" y="2377440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</a:t>
            </a:r>
            <a:endParaRPr lang="en-US" sz="850" dirty="0"/>
          </a:p>
        </p:txBody>
      </p:sp>
      <p:sp>
        <p:nvSpPr>
          <p:cNvPr id="152" name="Shape 144"/>
          <p:cNvSpPr/>
          <p:nvPr/>
        </p:nvSpPr>
        <p:spPr>
          <a:xfrm>
            <a:off x="10149840" y="2688336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3" name="Text 145"/>
          <p:cNvSpPr txBox="1"/>
          <p:nvPr/>
        </p:nvSpPr>
        <p:spPr>
          <a:xfrm>
            <a:off x="10149840" y="2688336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O’Neil</a:t>
            </a:r>
            <a:endParaRPr lang="en-US" sz="850" dirty="0"/>
          </a:p>
        </p:txBody>
      </p:sp>
      <p:sp>
        <p:nvSpPr>
          <p:cNvPr id="154" name="Shape 146"/>
          <p:cNvSpPr/>
          <p:nvPr/>
        </p:nvSpPr>
        <p:spPr>
          <a:xfrm>
            <a:off x="10149840" y="2999232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5" name="Text 147"/>
          <p:cNvSpPr txBox="1"/>
          <p:nvPr/>
        </p:nvSpPr>
        <p:spPr>
          <a:xfrm>
            <a:off x="10149840" y="2999232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Highmark</a:t>
            </a:r>
            <a:endParaRPr lang="en-US" sz="850" dirty="0"/>
          </a:p>
        </p:txBody>
      </p:sp>
      <p:sp>
        <p:nvSpPr>
          <p:cNvPr id="156" name="Shape 148"/>
          <p:cNvSpPr/>
          <p:nvPr/>
        </p:nvSpPr>
        <p:spPr>
          <a:xfrm>
            <a:off x="10149840" y="3310128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7" name="Text 149"/>
          <p:cNvSpPr txBox="1"/>
          <p:nvPr/>
        </p:nvSpPr>
        <p:spPr>
          <a:xfrm>
            <a:off x="10149840" y="3310128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850" dirty="0"/>
          </a:p>
        </p:txBody>
      </p:sp>
      <p:sp>
        <p:nvSpPr>
          <p:cNvPr id="158" name="Shape 150"/>
          <p:cNvSpPr/>
          <p:nvPr/>
        </p:nvSpPr>
        <p:spPr>
          <a:xfrm>
            <a:off x="10149840" y="3621024"/>
            <a:ext cx="1493215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9" name="Text 151"/>
          <p:cNvSpPr txBox="1"/>
          <p:nvPr/>
        </p:nvSpPr>
        <p:spPr>
          <a:xfrm>
            <a:off x="10149840" y="3621024"/>
            <a:ext cx="1493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Bloomreach</a:t>
            </a:r>
            <a:endParaRPr lang="en-US" sz="850" dirty="0"/>
          </a:p>
        </p:txBody>
      </p:sp>
      <p:sp>
        <p:nvSpPr>
          <p:cNvPr id="160" name="Shape 152"/>
          <p:cNvSpPr/>
          <p:nvPr/>
        </p:nvSpPr>
        <p:spPr>
          <a:xfrm>
            <a:off x="10149840" y="4069080"/>
            <a:ext cx="1493215" cy="4572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61" name="Text 153"/>
          <p:cNvSpPr txBox="1"/>
          <p:nvPr/>
        </p:nvSpPr>
        <p:spPr>
          <a:xfrm>
            <a:off x="10149840" y="4160520"/>
            <a:ext cx="1493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162" name="Shape 154"/>
          <p:cNvSpPr/>
          <p:nvPr/>
        </p:nvSpPr>
        <p:spPr>
          <a:xfrm>
            <a:off x="10149840" y="4453128"/>
            <a:ext cx="1493215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63" name="Text 155"/>
          <p:cNvSpPr txBox="1"/>
          <p:nvPr/>
        </p:nvSpPr>
        <p:spPr>
          <a:xfrm>
            <a:off x="10186416" y="4453128"/>
            <a:ext cx="14200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tracking</a:t>
            </a:r>
            <a:endParaRPr lang="en-US" sz="850" dirty="0"/>
          </a:p>
        </p:txBody>
      </p:sp>
      <p:sp>
        <p:nvSpPr>
          <p:cNvPr id="164" name="Shape 156"/>
          <p:cNvSpPr/>
          <p:nvPr/>
        </p:nvSpPr>
        <p:spPr>
          <a:xfrm>
            <a:off x="10149840" y="4837176"/>
            <a:ext cx="1493215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65" name="Text 157"/>
          <p:cNvSpPr txBox="1"/>
          <p:nvPr/>
        </p:nvSpPr>
        <p:spPr>
          <a:xfrm>
            <a:off x="10186416" y="4837176"/>
            <a:ext cx="14200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Preference-driven delivery</a:t>
            </a:r>
            <a:endParaRPr lang="en-US" sz="850" dirty="0"/>
          </a:p>
        </p:txBody>
      </p:sp>
      <p:sp>
        <p:nvSpPr>
          <p:cNvPr id="166" name="Shape 158"/>
          <p:cNvSpPr/>
          <p:nvPr/>
        </p:nvSpPr>
        <p:spPr>
          <a:xfrm>
            <a:off x="10149840" y="5221224"/>
            <a:ext cx="1493215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67" name="Text 159"/>
          <p:cNvSpPr txBox="1"/>
          <p:nvPr/>
        </p:nvSpPr>
        <p:spPr>
          <a:xfrm>
            <a:off x="10186416" y="5221224"/>
            <a:ext cx="14200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Suppress, reprint, audit</a:t>
            </a:r>
            <a:endParaRPr lang="en-US" sz="850" dirty="0"/>
          </a:p>
        </p:txBody>
      </p:sp>
      <p:sp>
        <p:nvSpPr>
          <p:cNvPr id="168" name="Shape 160"/>
          <p:cNvSpPr/>
          <p:nvPr/>
        </p:nvSpPr>
        <p:spPr>
          <a:xfrm>
            <a:off x="0" y="5760720"/>
            <a:ext cx="12191695" cy="658368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169" name="Shape 161"/>
          <p:cNvSpPr/>
          <p:nvPr/>
        </p:nvSpPr>
        <p:spPr>
          <a:xfrm>
            <a:off x="548640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70" name="Text 162"/>
          <p:cNvSpPr txBox="1"/>
          <p:nvPr/>
        </p:nvSpPr>
        <p:spPr>
          <a:xfrm>
            <a:off x="548640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integration paths</a:t>
            </a:r>
            <a:endParaRPr lang="en-US" sz="1000" dirty="0"/>
          </a:p>
        </p:txBody>
      </p:sp>
      <p:sp>
        <p:nvSpPr>
          <p:cNvPr id="171" name="Shape 163"/>
          <p:cNvSpPr/>
          <p:nvPr/>
        </p:nvSpPr>
        <p:spPr>
          <a:xfrm>
            <a:off x="2415997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72" name="Text 164"/>
          <p:cNvSpPr txBox="1"/>
          <p:nvPr/>
        </p:nvSpPr>
        <p:spPr>
          <a:xfrm>
            <a:off x="2415997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(Kafka)</a:t>
            </a:r>
            <a:endParaRPr lang="en-US" sz="1000" dirty="0"/>
          </a:p>
        </p:txBody>
      </p:sp>
      <p:sp>
        <p:nvSpPr>
          <p:cNvPr id="173" name="Shape 165"/>
          <p:cNvSpPr/>
          <p:nvPr/>
        </p:nvSpPr>
        <p:spPr>
          <a:xfrm>
            <a:off x="4283354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74" name="Text 166"/>
          <p:cNvSpPr txBox="1"/>
          <p:nvPr/>
        </p:nvSpPr>
        <p:spPr>
          <a:xfrm>
            <a:off x="4283354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Preference-driven (P360)</a:t>
            </a:r>
            <a:endParaRPr lang="en-US" sz="1000" dirty="0"/>
          </a:p>
        </p:txBody>
      </p:sp>
      <p:sp>
        <p:nvSpPr>
          <p:cNvPr id="175" name="Shape 167"/>
          <p:cNvSpPr/>
          <p:nvPr/>
        </p:nvSpPr>
        <p:spPr>
          <a:xfrm>
            <a:off x="6150712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76" name="Text 168"/>
          <p:cNvSpPr txBox="1"/>
          <p:nvPr/>
        </p:nvSpPr>
        <p:spPr>
          <a:xfrm>
            <a:off x="6150712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self-service</a:t>
            </a:r>
            <a:endParaRPr lang="en-US" sz="1000" dirty="0"/>
          </a:p>
        </p:txBody>
      </p:sp>
      <p:sp>
        <p:nvSpPr>
          <p:cNvPr id="177" name="Shape 169"/>
          <p:cNvSpPr/>
          <p:nvPr/>
        </p:nvSpPr>
        <p:spPr>
          <a:xfrm>
            <a:off x="8018069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78" name="Text 170"/>
          <p:cNvSpPr txBox="1"/>
          <p:nvPr/>
        </p:nvSpPr>
        <p:spPr>
          <a:xfrm>
            <a:off x="8018069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tracking</a:t>
            </a:r>
            <a:endParaRPr lang="en-US" sz="1000" dirty="0"/>
          </a:p>
        </p:txBody>
      </p:sp>
      <p:sp>
        <p:nvSpPr>
          <p:cNvPr id="179" name="Shape 171"/>
          <p:cNvSpPr/>
          <p:nvPr/>
        </p:nvSpPr>
        <p:spPr>
          <a:xfrm>
            <a:off x="9885426" y="5870448"/>
            <a:ext cx="1757629" cy="438912"/>
          </a:xfrm>
          <a:prstGeom prst="rect">
            <a:avLst/>
          </a:prstGeom>
          <a:solidFill>
            <a:srgbClr val="CFE8F6"/>
          </a:solidFill>
          <a:ln/>
        </p:spPr>
      </p:sp>
      <p:sp>
        <p:nvSpPr>
          <p:cNvPr id="180" name="Text 172"/>
          <p:cNvSpPr txBox="1"/>
          <p:nvPr/>
        </p:nvSpPr>
        <p:spPr>
          <a:xfrm>
            <a:off x="9885426" y="5870448"/>
            <a:ext cx="17576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&amp; Build" (Quadient)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communication flows end to end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1737360" cy="338328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17320"/>
            <a:ext cx="1737360" cy="54864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417320"/>
            <a:ext cx="54864" cy="3383280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" y="182880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182880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EWoC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24028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224028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Workflow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265176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65176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/ Quest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306324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06324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(PPX)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47472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347472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388620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88620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Connect / EDE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4297680"/>
            <a:ext cx="1444752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29768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more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1417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PATH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1709928"/>
            <a:ext cx="1920240" cy="73152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624328" y="1801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UI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build letters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2075688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14600" y="2551176"/>
            <a:ext cx="1920240" cy="73152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624328" y="264261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API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0" y="2916936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14600" y="3392424"/>
            <a:ext cx="1920240" cy="73152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624328" y="348386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batch files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0" y="3758184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14600" y="4251960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C0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2514600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</a:t>
            </a:r>
            <a:pPr algn="ctr"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P360 · GWDP · CIP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5152" y="1709928"/>
            <a:ext cx="384048" cy="3090672"/>
          </a:xfrm>
          <a:prstGeom prst="rect">
            <a:avLst/>
          </a:prstGeom>
          <a:solidFill>
            <a:srgbClr val="D9DEE6"/>
          </a:solidFill>
          <a:ln/>
        </p:spPr>
      </p:sp>
      <p:sp>
        <p:nvSpPr>
          <p:cNvPr id="41" name="Text 39"/>
          <p:cNvSpPr txBox="1"/>
          <p:nvPr/>
        </p:nvSpPr>
        <p:spPr>
          <a:xfrm rot="16200000">
            <a:off x="3291840" y="306324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 GATEWAY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34840" y="2075688"/>
            <a:ext cx="210312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434840" y="2916936"/>
            <a:ext cx="210312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434840" y="3758184"/>
            <a:ext cx="210312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257800" y="1417320"/>
            <a:ext cx="2331720" cy="3383280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394960" y="15270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Quadient Inspire R15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394960" y="1965960"/>
            <a:ext cx="2057400" cy="128016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513832" y="2057400"/>
            <a:ext cx="1819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Designer: template design · Interactive: authoring and approval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94960" y="3383280"/>
            <a:ext cx="2057400" cy="128016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513832" y="3474720"/>
            <a:ext cx="1819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intake · Content Manager · Production Server output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29200" y="3246120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818120" y="1417320"/>
            <a:ext cx="2240280" cy="338328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53" name="Shape 51"/>
          <p:cNvSpPr/>
          <p:nvPr/>
        </p:nvSpPr>
        <p:spPr>
          <a:xfrm>
            <a:off x="7818120" y="1417320"/>
            <a:ext cx="2240280" cy="54864"/>
          </a:xfrm>
          <a:prstGeom prst="rect">
            <a:avLst/>
          </a:prstGeom>
          <a:solidFill>
            <a:srgbClr val="2F8F57"/>
          </a:solidFill>
          <a:ln/>
        </p:spPr>
      </p:sp>
      <p:sp>
        <p:nvSpPr>
          <p:cNvPr id="54" name="Shape 52"/>
          <p:cNvSpPr/>
          <p:nvPr/>
        </p:nvSpPr>
        <p:spPr>
          <a:xfrm>
            <a:off x="7818120" y="1417320"/>
            <a:ext cx="54864" cy="3383280"/>
          </a:xfrm>
          <a:prstGeom prst="rect">
            <a:avLst/>
          </a:prstGeom>
          <a:solidFill>
            <a:srgbClr val="2F8F5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01000" y="1536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82712" y="1828800"/>
            <a:ext cx="19385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74152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SFMC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982712" y="2404872"/>
            <a:ext cx="19385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74152" y="2404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MMS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982712" y="2980944"/>
            <a:ext cx="19385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074152" y="29809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O’Neil, Highmark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982712" y="3557016"/>
            <a:ext cx="19385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074152" y="35570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Center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982712" y="4133088"/>
            <a:ext cx="19385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74152" y="41330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 / Content Central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589520" y="3108960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287000" y="1691640"/>
            <a:ext cx="135605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90708" y="1920240"/>
            <a:ext cx="548640" cy="548640"/>
          </a:xfrm>
          <a:prstGeom prst="ellipse">
            <a:avLst/>
          </a:prstGeom>
          <a:solidFill>
            <a:srgbClr val="1E4FC0"/>
          </a:solidFill>
          <a:ln/>
        </p:spPr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7868" y="2057400"/>
            <a:ext cx="274320" cy="274320"/>
          </a:xfrm>
          <a:prstGeom prst="rect">
            <a:avLst/>
          </a:prstGeom>
        </p:spPr>
      </p:pic>
      <p:sp>
        <p:nvSpPr>
          <p:cNvPr id="70" name="Text 67"/>
          <p:cNvSpPr txBox="1"/>
          <p:nvPr/>
        </p:nvSpPr>
        <p:spPr>
          <a:xfrm>
            <a:off x="10287000" y="2606040"/>
            <a:ext cx="1356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10378440" y="2926080"/>
            <a:ext cx="1173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prospects, delegates, agents, providers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10058400" y="2788920"/>
            <a:ext cx="228600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73" name="Shape 70"/>
          <p:cNvSpPr/>
          <p:nvPr/>
        </p:nvSpPr>
        <p:spPr>
          <a:xfrm>
            <a:off x="548640" y="5029200"/>
            <a:ext cx="11094415" cy="132588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74" name="Shape 71"/>
          <p:cNvSpPr/>
          <p:nvPr/>
        </p:nvSpPr>
        <p:spPr>
          <a:xfrm>
            <a:off x="548640" y="5029200"/>
            <a:ext cx="11094415" cy="54864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75" name="Shape 72"/>
          <p:cNvSpPr/>
          <p:nvPr/>
        </p:nvSpPr>
        <p:spPr>
          <a:xfrm>
            <a:off x="548640" y="5029200"/>
            <a:ext cx="54864" cy="132588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731520" y="514807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FEEDBACK LOOP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731520" y="5440680"/>
            <a:ext cx="196285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822960" y="5458968"/>
            <a:ext cx="1779971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Dashboard · Power BI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self-service and audit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 flipH="1">
            <a:off x="2694371" y="5824728"/>
            <a:ext cx="228600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tailEnd type="triangle"/>
          </a:ln>
        </p:spPr>
      </p:sp>
      <p:sp>
        <p:nvSpPr>
          <p:cNvPr id="80" name="Shape 77"/>
          <p:cNvSpPr/>
          <p:nvPr/>
        </p:nvSpPr>
        <p:spPr>
          <a:xfrm>
            <a:off x="2922971" y="5440680"/>
            <a:ext cx="196285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014411" y="5458968"/>
            <a:ext cx="1779971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Services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Touchpoints via MSMQ; reprocessing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 flipH="1">
            <a:off x="4885822" y="5824728"/>
            <a:ext cx="228600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5114422" y="5440680"/>
            <a:ext cx="196285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205862" y="5458968"/>
            <a:ext cx="1779971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(SQL Server)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status, content ID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 flipH="1">
            <a:off x="7077273" y="5824728"/>
            <a:ext cx="228600" cy="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7305873" y="5440680"/>
            <a:ext cx="196285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397313" y="5458968"/>
            <a:ext cx="1779971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receipts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SFTP inbox; SMS response handler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9497324" y="5440680"/>
            <a:ext cx="1962851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9588764" y="5458968"/>
            <a:ext cx="1779971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ID back to sources and EWoC → Message Center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8458200" y="4800600"/>
            <a:ext cx="0" cy="640080"/>
          </a:xfrm>
          <a:prstGeom prst="line">
            <a:avLst/>
          </a:prstGeom>
          <a:noFill/>
          <a:ln w="19050">
            <a:solidFill>
              <a:srgbClr val="2E7D6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entry paths, one delivery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545738" cy="48463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17320"/>
            <a:ext cx="3545738" cy="54864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417320"/>
            <a:ext cx="54864" cy="4846320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53619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REUSABLE UI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185623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composing one-off letters while working a case.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37744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2560320"/>
            <a:ext cx="310896" cy="310896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243230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app (EWoC, Claims Workflow, OPL/Quest) opens the UI and passes data via postMessage.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337560"/>
            <a:ext cx="310896" cy="310896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20954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Lookup returns only templates the user is entitled to.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114800"/>
            <a:ext cx="310896" cy="310896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398678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API saves the request in Recon, creates an Inspire ticket and returns its URL.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70916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4892040"/>
            <a:ext cx="310896" cy="310896"/>
          </a:xfrm>
          <a:prstGeom prst="ellipse">
            <a:avLst/>
          </a:prstGeom>
          <a:solidFill>
            <a:srgbClr val="3B8FD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76402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and submits the letter in Inspire Interactive; Kafka notifies the source app.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532120"/>
            <a:ext cx="317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role ccm-ondemand-[env]-users; JWT + role validation.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22978" y="1417320"/>
            <a:ext cx="3545738" cy="48463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33" name="Shape 31"/>
          <p:cNvSpPr/>
          <p:nvPr/>
        </p:nvSpPr>
        <p:spPr>
          <a:xfrm>
            <a:off x="4322978" y="1417320"/>
            <a:ext cx="3545738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4" name="Shape 32"/>
          <p:cNvSpPr/>
          <p:nvPr/>
        </p:nvSpPr>
        <p:spPr>
          <a:xfrm>
            <a:off x="4322978" y="1417320"/>
            <a:ext cx="54864" cy="48463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05858" y="153619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CCM API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24146" y="185623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single messages triggered by a system.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05858" y="237744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5586" y="2560320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615586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036210" y="243230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app calls the CCM API via DataPower with HCCID, template, image URL and profile.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05858" y="315468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5586" y="3337560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615586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036210" y="320954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entitlements validated; rejections return to the caller.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05858" y="393192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5586" y="4114800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615586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36210" y="398678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mapped to party ID; profile and preferences pulled from P360; request saved to Recon.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05858" y="470916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5586" y="4892040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615586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036210" y="476402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composes, archives the PDF and delivers per channel.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524146" y="5532120"/>
            <a:ext cx="317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entitlement validation at the API.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97317" y="1417320"/>
            <a:ext cx="3545738" cy="48463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55" name="Shape 53"/>
          <p:cNvSpPr/>
          <p:nvPr/>
        </p:nvSpPr>
        <p:spPr>
          <a:xfrm>
            <a:off x="8097317" y="1417320"/>
            <a:ext cx="3545738" cy="54864"/>
          </a:xfrm>
          <a:prstGeom prst="rect">
            <a:avLst/>
          </a:prstGeom>
          <a:solidFill>
            <a:srgbClr val="6A30D8"/>
          </a:solidFill>
          <a:ln/>
        </p:spPr>
      </p:sp>
      <p:sp>
        <p:nvSpPr>
          <p:cNvPr id="56" name="Shape 54"/>
          <p:cNvSpPr/>
          <p:nvPr/>
        </p:nvSpPr>
        <p:spPr>
          <a:xfrm>
            <a:off x="8097317" y="1417320"/>
            <a:ext cx="54864" cy="4846320"/>
          </a:xfrm>
          <a:prstGeom prst="rect">
            <a:avLst/>
          </a:prstGeom>
          <a:solidFill>
            <a:srgbClr val="6A30D8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80197" y="1536192"/>
            <a:ext cx="3271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A3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PREPROCESSOR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298485" y="185623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A3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scheduled communications.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280197" y="237744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89925" y="2560320"/>
            <a:ext cx="310896" cy="310896"/>
          </a:xfrm>
          <a:prstGeom prst="ellipse">
            <a:avLst/>
          </a:prstGeom>
          <a:solidFill>
            <a:srgbClr val="6A30D8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89925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810549" y="243230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app drops an input file; layout is defined in configuration.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280197" y="315468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89925" y="3337560"/>
            <a:ext cx="310896" cy="310896"/>
          </a:xfrm>
          <a:prstGeom prst="ellipse">
            <a:avLst/>
          </a:prstGeom>
          <a:solidFill>
            <a:srgbClr val="6A30D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389925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810549" y="320954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 runs the Spark preprocessor on Hadoop to parse and validate.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280197" y="393192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89925" y="4114800"/>
            <a:ext cx="310896" cy="310896"/>
          </a:xfrm>
          <a:prstGeom prst="ellipse">
            <a:avLst/>
          </a:prstGeom>
          <a:solidFill>
            <a:srgbClr val="6A30D8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389925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8810549" y="398678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enriched from P360 and GWDP SailFish; one request per channel per template config.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280197" y="4709160"/>
            <a:ext cx="319826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89925" y="4892040"/>
            <a:ext cx="310896" cy="310896"/>
          </a:xfrm>
          <a:prstGeom prst="ellipse">
            <a:avLst/>
          </a:prstGeom>
          <a:solidFill>
            <a:srgbClr val="6A30D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389925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8810549" y="4764024"/>
            <a:ext cx="25581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composes, archives and delivers; rejected records return as a file.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8298485" y="5532120"/>
            <a:ext cx="317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A3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 </a:t>
            </a:r>
            <a:pPr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records returned in a rejected-requests file.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channel is handed off and confirmed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48840"/>
                <a:gridCol w="4069080"/>
                <a:gridCol w="34564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Hand-off from CCM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status back to CCM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Marketing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via DataPower; email links to Message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file via SFTP inbox → Recon Batch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MMS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via DataPower; Twilio pulls MMS images from Bloomreach and transcodes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SMS/MMS Response Handler → Recon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O’Neil, Highmark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consolidated file per vendor per day via SFTP outbox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file via SFTP inbox → Recon Batch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event → EWoC → CAM Inventories → Message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ID tracked in Recon; member reads after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ECMS / Content Central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generated and uploaded over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ID stored by Recon Load Services; failures retried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vendors vary by source: CCM diagrams show O’Neil and Highmark; the IT Contact vendor list and Systems Integration view show Forge. Confirm the current set.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estate and monitoring coverage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53312"/>
            <a:ext cx="11094415" cy="731520"/>
          </a:xfrm>
          <a:prstGeom prst="rect">
            <a:avLst/>
          </a:prstGeom>
          <a:solidFill>
            <a:srgbClr val="FBF1E3"/>
          </a:solidFill>
          <a:ln w="15875">
            <a:solidFill>
              <a:srgbClr val="D9A4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89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EDGE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1627632"/>
            <a:ext cx="2054291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CF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627632"/>
            <a:ext cx="2054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 · advocates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77251" y="1627632"/>
            <a:ext cx="2054291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CF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77251" y="1627632"/>
            <a:ext cx="2054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68702" y="1627632"/>
            <a:ext cx="2054291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CF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68702" y="1627632"/>
            <a:ext cx="2054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policies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0153" y="1627632"/>
            <a:ext cx="2054291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CF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0153" y="1627632"/>
            <a:ext cx="2054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 · api.bcbsfl.com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51604" y="1627632"/>
            <a:ext cx="2054291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CF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51604" y="1627632"/>
            <a:ext cx="20542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DivBiz external (basic auth)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212848"/>
            <a:ext cx="11094415" cy="1691640"/>
          </a:xfrm>
          <a:prstGeom prst="rect">
            <a:avLst/>
          </a:prstGeom>
          <a:ln w="15875">
            <a:solidFill>
              <a:srgbClr val="1E4FC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" y="22677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(OSE) · OSE4-PROD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267712"/>
            <a:ext cx="6385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services  ·  2 duplicate rejected routes in ccm-dcs-prod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2542032"/>
            <a:ext cx="3484778" cy="384048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3816" y="2542032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ccm-dcs-prod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39058" y="254203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85800" y="2926080"/>
            <a:ext cx="348477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" y="3017520"/>
            <a:ext cx="32287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" y="2999232"/>
            <a:ext cx="32287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Dashboard, On-Demand UI, composition, data retrieval, Recon load and services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53458" y="2542032"/>
            <a:ext cx="3484778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481474" y="2542032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ccm-preprocessor-prod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06717" y="254203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4353458" y="2926080"/>
            <a:ext cx="348477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1474" y="3017520"/>
            <a:ext cx="32287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481474" y="2999232"/>
            <a:ext cx="32287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and Comm Request APIs, Kafka services, URL shortener, real-time load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21117" y="2542032"/>
            <a:ext cx="3484778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49133" y="2542032"/>
            <a:ext cx="2707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sms-handler-prod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254203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021117" y="2926080"/>
            <a:ext cx="348477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49133" y="3017520"/>
            <a:ext cx="32287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149133" y="2999232"/>
            <a:ext cx="32287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SMS/MMS response handler writing delivery status to Recon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023360"/>
            <a:ext cx="11094415" cy="1691640"/>
          </a:xfrm>
          <a:prstGeom prst="rect">
            <a:avLst/>
          </a:prstGeom>
          <a:ln w="15875">
            <a:solidFill>
              <a:srgbClr val="3D4757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685800" y="40782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ON-PREMISES SERVERS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4078224"/>
            <a:ext cx="5470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servers or brokers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5800" y="4352544"/>
            <a:ext cx="2054291" cy="384048"/>
          </a:xfrm>
          <a:prstGeom prst="rect">
            <a:avLst/>
          </a:prstGeom>
          <a:solidFill>
            <a:srgbClr val="C9591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3816" y="4352544"/>
            <a:ext cx="12770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R15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008571" y="43525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85800" y="4736592"/>
            <a:ext cx="2054291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3816" y="4828032"/>
            <a:ext cx="1798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13816" y="4809744"/>
            <a:ext cx="17982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P407–412, Interactive P413–417, License P405–406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77251" y="4352544"/>
            <a:ext cx="2054291" cy="384048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005267" y="4352544"/>
            <a:ext cx="12770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200022" y="43525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2877251" y="4736592"/>
            <a:ext cx="2054291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05267" y="4828032"/>
            <a:ext cx="1798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3005267" y="4809744"/>
            <a:ext cx="17982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 + Spark on Hadoop · edclhdpp432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68702" y="4352544"/>
            <a:ext cx="2054291" cy="384048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196718" y="4352544"/>
            <a:ext cx="12770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2019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391473" y="43525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5068702" y="4736592"/>
            <a:ext cx="2054291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96718" y="4828032"/>
            <a:ext cx="1798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5196718" y="4809744"/>
            <a:ext cx="17982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SQLPX0105 Recon · SQLPD9747 Inspire DBs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260153" y="4352544"/>
            <a:ext cx="2054291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88169" y="4352544"/>
            <a:ext cx="12770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8582924" y="43525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260153" y="4736592"/>
            <a:ext cx="2054291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88169" y="4828032"/>
            <a:ext cx="1798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7388169" y="4809744"/>
            <a:ext cx="17982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edclkfkp404–406 :6667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451604" y="4352544"/>
            <a:ext cx="2054291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579620" y="4352544"/>
            <a:ext cx="12770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774375" y="435254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9451604" y="4736592"/>
            <a:ext cx="2054291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579620" y="4828032"/>
            <a:ext cx="1798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9579620" y="4809744"/>
            <a:ext cx="17982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srsps0063 · CCM_Reports_Prod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Logs: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5824728"/>
            <a:ext cx="11094415" cy="576072"/>
          </a:xfrm>
          <a:prstGeom prst="rect">
            <a:avLst/>
          </a:prstGeom>
          <a:solidFill>
            <a:srgbClr val="EEF2FB"/>
          </a:solidFill>
          <a:ln w="15875">
            <a:solidFill>
              <a:srgbClr val="1E4FC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85800" y="5998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BROKERED EGRESS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377440" y="5907024"/>
            <a:ext cx="22112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77440" y="5907024"/>
            <a:ext cx="221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 REST → Twilio, SFMC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698416" y="5907024"/>
            <a:ext cx="22112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698416" y="5907024"/>
            <a:ext cx="221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securefile → print vendors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019392" y="5907024"/>
            <a:ext cx="22112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019392" y="5907024"/>
            <a:ext cx="221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lookups.twilio.com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340367" y="5907024"/>
            <a:ext cx="221124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340367" y="5907024"/>
            <a:ext cx="221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Bloomreach CMS (MMS images)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AND NEW SERVICES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 and SMS line-type lookup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11094415" cy="233172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371600"/>
            <a:ext cx="11094415" cy="54864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71600"/>
            <a:ext cx="54864" cy="2331720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49047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  ·  /CCM/API/V1/URLSHORTENER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1783080"/>
            <a:ext cx="2834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Dashboard users (Read-URL, Update-URL); Smart IVR and other apps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240280"/>
            <a:ext cx="19293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59098" y="1783080"/>
            <a:ext cx="1463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50538" y="1783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22138" y="2240280"/>
            <a:ext cx="19293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15077" y="1783080"/>
            <a:ext cx="3017520" cy="914400"/>
          </a:xfrm>
          <a:prstGeom prst="rect">
            <a:avLst/>
          </a:prstGeom>
          <a:solidFill>
            <a:srgbClr val="3B8F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06517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7-char Base62 key (~3.5 trillion), DNS whitelist, HTTP encoding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32597" y="2240280"/>
            <a:ext cx="19293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25535" y="1783080"/>
            <a:ext cx="2834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16975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(SQL)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URL saved; request written to audit tables; logs to Splunk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260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long_url, expire_date, app_id, transaction_id     </a:t>
            </a:r>
            <a:pPr indent="0" marL="0">
              <a:buNone/>
            </a:pPr>
            <a:r>
              <a:rPr lang="en-US" sz="11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long_url, short_url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11094415" cy="23774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886200"/>
            <a:ext cx="11094415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886200"/>
            <a:ext cx="54864" cy="2377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00507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LINE-TYPE LOOKUP  ·  NEW, REQUIRED FOR SALES CONNECT / EDE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297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Connect / EDE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DivBiz, external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4754880"/>
            <a:ext cx="31485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40938" y="429768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32378" y="4297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DataPower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· ccmpreprocessor-ext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26938" y="4754880"/>
            <a:ext cx="31485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41797" y="4297680"/>
            <a:ext cx="3108960" cy="9144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33237" y="4297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Line Type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/lookupLineType in commRequest; recorded in Recon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50757" y="4754880"/>
            <a:ext cx="314858" cy="0"/>
          </a:xfrm>
          <a:prstGeom prst="line">
            <a:avLst/>
          </a:prstGeom>
          <a:noFill/>
          <a:ln w="19050">
            <a:solidFill>
              <a:srgbClr val="5A62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265615" y="429768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57055" y="4297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Lookup API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lookups.twilio.com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4406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textable (not VOIP): 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Request → Inspire → /ccm/api/v1/sms/sendMessages → Twilio → customer. Internal apps (ECIR, CIAM, P360) keep using the internal /commrequest endpoint.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VOLUME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24.3M communications came from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07631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07631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07631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68919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68919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68919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MMS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430207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30207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430207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91495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91495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307K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0591495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1371600"/>
            <a:ext cx="7863840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1371600"/>
            <a:ext cx="7863840" cy="5486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1371600"/>
            <a:ext cx="54864" cy="4937760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14904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SOURCES BY CHANNEL · JAN 1 – SEP 2, 2025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31520" y="1691640"/>
          <a:ext cx="75438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641080" y="1371600"/>
            <a:ext cx="3001975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26" name="Shape 23"/>
          <p:cNvSpPr/>
          <p:nvPr/>
        </p:nvSpPr>
        <p:spPr>
          <a:xfrm>
            <a:off x="8641080" y="1371600"/>
            <a:ext cx="3001975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7" name="Shape 24"/>
          <p:cNvSpPr/>
          <p:nvPr/>
        </p:nvSpPr>
        <p:spPr>
          <a:xfrm>
            <a:off x="8641080" y="1371600"/>
            <a:ext cx="54864" cy="493776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823960" y="1490472"/>
            <a:ext cx="2727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823960" y="1783080"/>
            <a:ext cx="2654503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61120" y="18745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0" y="1874520"/>
            <a:ext cx="1310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deliveries come from Payments (PPX)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823960" y="2880360"/>
            <a:ext cx="2654503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0" y="2971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10058400" y="2971800"/>
            <a:ext cx="1310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top three sources: PPX, CIAM, Email Registration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823960" y="3977640"/>
            <a:ext cx="2654503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961120" y="4069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0" y="4069080"/>
            <a:ext cx="1310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volume is email; print is 6%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823960" y="5074920"/>
            <a:ext cx="2654503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961120" y="5166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5166360"/>
            <a:ext cx="1310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programs sent volume in 2025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Letter retirement and migration to Inspire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30207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30207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430207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91495" y="155448"/>
            <a:ext cx="1051560" cy="87782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91495" y="182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0591495" y="676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/ yr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legacy Client Letter templates onto CCM / Inspire to standardize digital and print communication across the enterprise.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2602154" cy="384048"/>
          </a:xfrm>
          <a:prstGeom prst="rect">
            <a:avLst/>
          </a:prstGeom>
          <a:solidFill>
            <a:srgbClr val="0E1A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" y="1874520"/>
            <a:ext cx="1824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migrations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19274" y="1874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2258568"/>
            <a:ext cx="260215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2350008"/>
            <a:ext cx="2346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business communications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79394" y="1874520"/>
            <a:ext cx="2602154" cy="384048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07410" y="1874520"/>
            <a:ext cx="1824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potential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50028" y="1874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9394" y="2258568"/>
            <a:ext cx="260215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07410" y="2350008"/>
            <a:ext cx="2346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evolving business needs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0148" y="1874520"/>
            <a:ext cx="2602154" cy="384048"/>
          </a:xfrm>
          <a:prstGeom prst="rect">
            <a:avLst/>
          </a:prstGeom>
          <a:solidFill>
            <a:srgbClr val="1F6E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38164" y="1874520"/>
            <a:ext cx="1824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80781" y="1874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10148" y="2258568"/>
            <a:ext cx="260215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38164" y="2350008"/>
            <a:ext cx="2346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communications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40901" y="1874520"/>
            <a:ext cx="2602154" cy="384048"/>
          </a:xfrm>
          <a:prstGeom prst="rect">
            <a:avLst/>
          </a:prstGeom>
          <a:solidFill>
            <a:srgbClr val="3D47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68917" y="1874520"/>
            <a:ext cx="1824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911535" y="1874520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040901" y="2258568"/>
            <a:ext cx="260215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68917" y="2350008"/>
            <a:ext cx="2346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batch, on-demand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291840"/>
            <a:ext cx="11094415" cy="178308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291840"/>
            <a:ext cx="11094415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3291840"/>
            <a:ext cx="54864" cy="17830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341071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(PLAN OF RECORD)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" y="3886200"/>
            <a:ext cx="10545775" cy="0"/>
          </a:xfrm>
          <a:prstGeom prst="line">
            <a:avLst/>
          </a:prstGeom>
          <a:noFill/>
          <a:ln w="25400">
            <a:solidFill>
              <a:srgbClr val="D3D8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3730752"/>
            <a:ext cx="310896" cy="310896"/>
          </a:xfrm>
          <a:prstGeom prst="ellipse">
            <a:avLst/>
          </a:prstGeom>
          <a:solidFill>
            <a:srgbClr val="1E4FC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160520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templates migrated, English and Spanish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59404" y="3730752"/>
            <a:ext cx="310896" cy="310896"/>
          </a:xfrm>
          <a:prstGeom prst="ellipse">
            <a:avLst/>
          </a:prstGeom>
          <a:solidFill>
            <a:srgbClr val="1E4FC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459404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459404" y="4160520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Client Letters in Content Central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95848" y="3730752"/>
            <a:ext cx="310896" cy="3108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09584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095848" y="4160520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Client Letter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732291" y="3730752"/>
            <a:ext cx="310896" cy="310896"/>
          </a:xfrm>
          <a:prstGeom prst="ellipse">
            <a:avLst/>
          </a:prstGeom>
          <a:solidFill>
            <a:srgbClr val="1E4FC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32291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732291" y="4160520"/>
            <a:ext cx="23621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4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templates based on business needs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257800"/>
            <a:ext cx="11094415" cy="100584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" y="5257800"/>
            <a:ext cx="11094415" cy="54864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" y="5257800"/>
            <a:ext cx="54864" cy="1005840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31520" y="537667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LETTERS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stays in the existing Client Letter database. The latest 3 years are available through Content Central using the current ecosystem and UI.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and recommended actions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5989320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371600"/>
            <a:ext cx="5989320" cy="54864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71600"/>
            <a:ext cx="54864" cy="4937760"/>
          </a:xfrm>
          <a:prstGeom prst="rect">
            <a:avLst/>
          </a:prstGeom>
          <a:solidFill>
            <a:srgbClr val="2A35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49047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3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4876495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371600"/>
            <a:ext cx="4876495" cy="5486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1371600"/>
            <a:ext cx="54864" cy="493776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1490472"/>
            <a:ext cx="4602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1783080"/>
            <a:ext cx="5669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" y="1984248"/>
            <a:ext cx="365760" cy="365760"/>
          </a:xfrm>
          <a:prstGeom prst="ellipse">
            <a:avLst/>
          </a:prstGeom>
          <a:solidFill>
            <a:srgbClr val="2A35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181965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gaps on the API tier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APIs have no alerts and need more logs; Inspire needs more alerts; Power BI has none.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783080"/>
            <a:ext cx="4529023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178308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alerting and log coverage to OpenShift services first, then Inspire.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" y="2670048"/>
            <a:ext cx="5669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2871216"/>
            <a:ext cx="365760" cy="365760"/>
          </a:xfrm>
          <a:prstGeom prst="ellipse">
            <a:avLst/>
          </a:prstGeom>
          <a:solidFill>
            <a:srgbClr val="2A358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039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270662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record is dated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view is from 2019–2020; print vendor lists disagree across sources.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49440" y="2670048"/>
            <a:ext cx="4529023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6600" y="2670048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physical view and vendor list as one source of truth.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1520" y="3557016"/>
            <a:ext cx="5669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" y="3758184"/>
            <a:ext cx="365760" cy="365760"/>
          </a:xfrm>
          <a:prstGeom prst="ellipse">
            <a:avLst/>
          </a:prstGeom>
          <a:solidFill>
            <a:srgbClr val="2A358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35935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hygiene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rejected production routes duplicate hosts already served; routes list http.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949440" y="3557016"/>
            <a:ext cx="4529023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86600" y="3557016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document where TLS terminates.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31520" y="4443984"/>
            <a:ext cx="5669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" y="4645152"/>
            <a:ext cx="365760" cy="365760"/>
          </a:xfrm>
          <a:prstGeom prst="ellipse">
            <a:avLst/>
          </a:prstGeom>
          <a:solidFill>
            <a:srgbClr val="2A358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353312" y="44805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PPX is 56% of volume; the top three sources are 80%.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949440" y="4443984"/>
            <a:ext cx="4529023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86600" y="4443984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capacity tests and runbooks to payment-cycle peaks.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31520" y="5330952"/>
            <a:ext cx="5669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" y="5532120"/>
            <a:ext cx="365760" cy="365760"/>
          </a:xfrm>
          <a:prstGeom prst="ellipse">
            <a:avLst/>
          </a:prstGeom>
          <a:solidFill>
            <a:srgbClr val="2A358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50392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353312" y="536752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Letter milestone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was planned for end of 2025; 168 templates are 2026 potential.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949440" y="5330952"/>
            <a:ext cx="4529023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86600" y="5330952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current status and a committed 2026 backlog.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5422392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371600"/>
            <a:ext cx="5422392" cy="5486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71600"/>
            <a:ext cx="54864" cy="4937760"/>
          </a:xfrm>
          <a:prstGeom prst="rect">
            <a:avLst/>
          </a:prstGeom>
          <a:solidFill>
            <a:srgbClr val="1E4FC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5074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375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Services Only (self-funded groups)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Binder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premium payment; turns a prospect into a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Inventories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that feeds items into Message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Communication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Identity and Access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Central / ECMS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of communication PDFs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Control-M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job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in front of CCM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Work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Federal Employee 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identifier passed to CCM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Quadient Inspire composition platform (R15)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17920" y="1371600"/>
            <a:ext cx="5422392" cy="4937760"/>
          </a:xfrm>
          <a:prstGeom prst="rect">
            <a:avLst/>
          </a:prstGeom>
          <a:solidFill>
            <a:srgbClr val="E9EBEF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0" y="1371600"/>
            <a:ext cx="5422392" cy="54864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1371600"/>
            <a:ext cx="54864" cy="4937760"/>
          </a:xfrm>
          <a:prstGeom prst="rect">
            <a:avLst/>
          </a:prstGeom>
          <a:solidFill>
            <a:srgbClr val="2E7D6B"/>
          </a:solidFill>
          <a:ln/>
        </p:spPr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72768"/>
          <a:ext cx="5074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375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MSMQ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Message Queuing (touchpoints)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 360: profile, preferences, consents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 Physician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policy layer that grants CCM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store (SQL Server) and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Marketing Cloud (email)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U65 / O65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65 / over 65 member segments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UBYP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Unbox Your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Interactive Voice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 · 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of Care · Appeals and Grievances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volume by source (Jan 1 – Sep 2)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solidFill>
            <a:srgbClr val="1E4F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5695" y="402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AUDIENCES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Architecture Deep Dive  |  GuideWell internal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896112"/>
                <a:gridCol w="804672"/>
                <a:gridCol w="804672"/>
                <a:gridCol w="694944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12,590,612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1,097,257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13,687,869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1,250,101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2,693,983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3,944,084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Registration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1,739,803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1,739,803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1,089,967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1,089,967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711,096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810,809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71,157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93,064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634,441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327,854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346,265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207,848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207,848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155,969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155,969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52,711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118,937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Inquiry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106,984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106,984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106,984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106,984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896112"/>
                <a:gridCol w="804672"/>
                <a:gridCol w="804672"/>
                <a:gridCol w="694944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C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UBYP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77,373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77,373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53,803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MEDADV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 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18,250,926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4,412,775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1,354,279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307,032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C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24,325,012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GuideWell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CCM Architecture Deep Dive</dc:title>
  <dc:subject>PptxGenJS Presentation</dc:subject>
  <dc:creator>PptxGenJS</dc:creator>
  <cp:lastModifiedBy>PptxGenJS</cp:lastModifiedBy>
  <cp:revision>1</cp:revision>
  <dcterms:created xsi:type="dcterms:W3CDTF">2026-09-27T21:58:09Z</dcterms:created>
  <dcterms:modified xsi:type="dcterms:W3CDTF">2026-09-27T21:58:09Z</dcterms:modified>
</cp:coreProperties>
</file>